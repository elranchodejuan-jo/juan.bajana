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slides/charts/chart1.xml" ContentType="application/vnd.openxmlformats-officedocument.drawingml.chart+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fa77bf98cb804bcc" /><Relationship Type="http://schemas.openxmlformats.org/officeDocument/2006/relationships/extended-properties" Target="/docProps/app.xml" Id="Rc5a9db465b3c45f0" /><Relationship Type="http://schemas.openxmlformats.org/officeDocument/2006/relationships/officeDocument" Target="/ppt/presentation.xml" Id="Rae8c47cbcf554bec" /></Relationships>
</file>

<file path=ppt/presentation.xml><?xml version="1.0" encoding="utf-8"?>
<p:presentation xmlns:p="http://schemas.openxmlformats.org/presentationml/2006/main">
  <p:sldMasterIdLst>
    <p:sldMasterId xmlns:r="http://schemas.openxmlformats.org/officeDocument/2006/relationships" id="2147483648" r:id="R4b2789307bdf41b6"/>
  </p:sldMasterIdLst>
  <p:notesMasterIdLst>
    <p:notesMasterId xmlns:r="http://schemas.openxmlformats.org/officeDocument/2006/relationships" r:id="R0793ed549629417f"/>
  </p:notesMasterIdLst>
  <p:sldIdLst>
    <p:sldId xmlns:r="http://schemas.openxmlformats.org/officeDocument/2006/relationships" id="256" r:id="R03392eadb4524440"/>
    <p:sldId xmlns:r="http://schemas.openxmlformats.org/officeDocument/2006/relationships" id="257" r:id="R62859d5e9f764ba6"/>
    <p:sldId xmlns:r="http://schemas.openxmlformats.org/officeDocument/2006/relationships" id="258" r:id="Raf6461916647456d"/>
    <p:sldId xmlns:r="http://schemas.openxmlformats.org/officeDocument/2006/relationships" id="259" r:id="R14af539819ad4b13"/>
    <p:sldId xmlns:r="http://schemas.openxmlformats.org/officeDocument/2006/relationships" id="260" r:id="R13e49f54017c416b"/>
    <p:sldId xmlns:r="http://schemas.openxmlformats.org/officeDocument/2006/relationships" id="261" r:id="Ra40a4332d28f40b0"/>
    <p:sldId xmlns:r="http://schemas.openxmlformats.org/officeDocument/2006/relationships" id="262" r:id="R6c77069f9d854854"/>
    <p:sldId xmlns:r="http://schemas.openxmlformats.org/officeDocument/2006/relationships" id="263" r:id="R9fcfefa67eb64eac"/>
    <p:sldId xmlns:r="http://schemas.openxmlformats.org/officeDocument/2006/relationships" id="264" r:id="R5b0ad031098d484b"/>
    <p:sldId xmlns:r="http://schemas.openxmlformats.org/officeDocument/2006/relationships" id="265" r:id="R6d597909ccd04bf0"/>
    <p:sldId xmlns:r="http://schemas.openxmlformats.org/officeDocument/2006/relationships" id="266" r:id="R13b87f19a2a440a1"/>
    <p:sldId xmlns:r="http://schemas.openxmlformats.org/officeDocument/2006/relationships" id="267" r:id="R3860cf0f00794f6c"/>
    <p:sldId xmlns:r="http://schemas.openxmlformats.org/officeDocument/2006/relationships" id="268" r:id="R58e33d4061da44d5"/>
    <p:sldId xmlns:r="http://schemas.openxmlformats.org/officeDocument/2006/relationships" id="269" r:id="Ra29dfcf5b1c34b59"/>
    <p:sldId xmlns:r="http://schemas.openxmlformats.org/officeDocument/2006/relationships" id="270" r:id="R954bb2320e4c4e9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9244a4bea744708" /><Relationship Type="http://schemas.openxmlformats.org/officeDocument/2006/relationships/slideMaster" Target="/ppt/slideMasters/slideMaster1.xml" Id="R4b2789307bdf41b6" /><Relationship Type="http://schemas.openxmlformats.org/officeDocument/2006/relationships/notesMaster" Target="/ppt/notesMasters/notesMaster1.xml" Id="R0793ed549629417f" /><Relationship Type="http://schemas.openxmlformats.org/officeDocument/2006/relationships/presProps" Target="/ppt/presProps.xml" Id="Rdcfcfe4a840c4653" /><Relationship Type="http://schemas.openxmlformats.org/officeDocument/2006/relationships/tableStyles" Target="/ppt/tableStyles.xml" Id="Rc4c66d4763c54ddf" /><Relationship Type="http://schemas.openxmlformats.org/officeDocument/2006/relationships/slide" Target="/ppt/slides/slide1.xml" Id="R03392eadb4524440" /><Relationship Type="http://schemas.openxmlformats.org/officeDocument/2006/relationships/slide" Target="/ppt/slides/slide2.xml" Id="R62859d5e9f764ba6" /><Relationship Type="http://schemas.openxmlformats.org/officeDocument/2006/relationships/slide" Target="/ppt/slides/slide3.xml" Id="Raf6461916647456d" /><Relationship Type="http://schemas.openxmlformats.org/officeDocument/2006/relationships/slide" Target="/ppt/slides/slide4.xml" Id="R14af539819ad4b13" /><Relationship Type="http://schemas.openxmlformats.org/officeDocument/2006/relationships/slide" Target="/ppt/slides/slide5.xml" Id="R13e49f54017c416b" /><Relationship Type="http://schemas.openxmlformats.org/officeDocument/2006/relationships/slide" Target="/ppt/slides/slide6.xml" Id="Ra40a4332d28f40b0" /><Relationship Type="http://schemas.openxmlformats.org/officeDocument/2006/relationships/slide" Target="/ppt/slides/slide7.xml" Id="R6c77069f9d854854" /><Relationship Type="http://schemas.openxmlformats.org/officeDocument/2006/relationships/slide" Target="/ppt/slides/slide8.xml" Id="R9fcfefa67eb64eac" /><Relationship Type="http://schemas.openxmlformats.org/officeDocument/2006/relationships/slide" Target="/ppt/slides/slide9.xml" Id="R5b0ad031098d484b" /><Relationship Type="http://schemas.openxmlformats.org/officeDocument/2006/relationships/slide" Target="/ppt/slides/slide10.xml" Id="R6d597909ccd04bf0" /><Relationship Type="http://schemas.openxmlformats.org/officeDocument/2006/relationships/slide" Target="/ppt/slides/slide11.xml" Id="R13b87f19a2a440a1" /><Relationship Type="http://schemas.openxmlformats.org/officeDocument/2006/relationships/slide" Target="/ppt/slides/slide12.xml" Id="R3860cf0f00794f6c" /><Relationship Type="http://schemas.openxmlformats.org/officeDocument/2006/relationships/slide" Target="/ppt/slides/slide13.xml" Id="R58e33d4061da44d5" /><Relationship Type="http://schemas.openxmlformats.org/officeDocument/2006/relationships/slide" Target="/ppt/slides/slide14.xml" Id="Ra29dfcf5b1c34b59" /><Relationship Type="http://schemas.openxmlformats.org/officeDocument/2006/relationships/slide" Target="/ppt/slides/slide15.xml" Id="R954bb2320e4c4e9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3768def568f481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9aa5ccdeeec4639" /><Relationship Type="http://schemas.openxmlformats.org/officeDocument/2006/relationships/notesMaster" Target="/ppt/notesMasters/notesMaster1.xml" Id="R20f7b2805ef444d3" /></Relationships>
</file>

<file path=ppt/notesSlides/_rels/notesSlide2.xml.rels>&#65279;<?xml version="1.0" encoding="utf-8"?><Relationships xmlns="http://schemas.openxmlformats.org/package/2006/relationships"><Relationship Type="http://schemas.openxmlformats.org/officeDocument/2006/relationships/slide" Target="/ppt/slides/slide2.xml" Id="R6578354273094693" /><Relationship Type="http://schemas.openxmlformats.org/officeDocument/2006/relationships/notesMaster" Target="/ppt/notesMasters/notesMaster1.xml" Id="R965c862c83134705" /></Relationships>
</file>

<file path=ppt/notesSlides/_rels/notesSlide3.xml.rels>&#65279;<?xml version="1.0" encoding="utf-8"?><Relationships xmlns="http://schemas.openxmlformats.org/package/2006/relationships"><Relationship Type="http://schemas.openxmlformats.org/officeDocument/2006/relationships/slide" Target="/ppt/slides/slide3.xml" Id="Rb3b841247490420e" /><Relationship Type="http://schemas.openxmlformats.org/officeDocument/2006/relationships/notesMaster" Target="/ppt/notesMasters/notesMaster1.xml" Id="R6ed046bc12584d09" /></Relationships>
</file>

<file path=ppt/notesSlides/_rels/notesSlide4.xml.rels>&#65279;<?xml version="1.0" encoding="utf-8"?><Relationships xmlns="http://schemas.openxmlformats.org/package/2006/relationships"><Relationship Type="http://schemas.openxmlformats.org/officeDocument/2006/relationships/slide" Target="/ppt/slides/slide4.xml" Id="Rb5c560df9fc7433a" /><Relationship Type="http://schemas.openxmlformats.org/officeDocument/2006/relationships/notesMaster" Target="/ppt/notesMasters/notesMaster1.xml" Id="R2dcb6739f77d427f" /></Relationships>
</file>

<file path=ppt/notesSlides/_rels/notesSlide5.xml.rels>&#65279;<?xml version="1.0" encoding="utf-8"?><Relationships xmlns="http://schemas.openxmlformats.org/package/2006/relationships"><Relationship Type="http://schemas.openxmlformats.org/officeDocument/2006/relationships/slide" Target="/ppt/slides/slide5.xml" Id="Rce08beea7f4649f6" /><Relationship Type="http://schemas.openxmlformats.org/officeDocument/2006/relationships/notesMaster" Target="/ppt/notesMasters/notesMaster1.xml" Id="R7d1392568fd349a0" /></Relationships>
</file>

<file path=ppt/notesSlides/_rels/notesSlide6.xml.rels>&#65279;<?xml version="1.0" encoding="utf-8"?><Relationships xmlns="http://schemas.openxmlformats.org/package/2006/relationships"><Relationship Type="http://schemas.openxmlformats.org/officeDocument/2006/relationships/slide" Target="/ppt/slides/slide6.xml" Id="R42468344cd244d89" /><Relationship Type="http://schemas.openxmlformats.org/officeDocument/2006/relationships/notesMaster" Target="/ppt/notesMasters/notesMaster1.xml" Id="Reb6c5a87618c4050" /></Relationships>
</file>

<file path=ppt/notesSlides/_rels/notesSlide7.xml.rels>&#65279;<?xml version="1.0" encoding="utf-8"?><Relationships xmlns="http://schemas.openxmlformats.org/package/2006/relationships"><Relationship Type="http://schemas.openxmlformats.org/officeDocument/2006/relationships/slide" Target="/ppt/slides/slide7.xml" Id="R67b6d1e5b9974f0a" /><Relationship Type="http://schemas.openxmlformats.org/officeDocument/2006/relationships/notesMaster" Target="/ppt/notesMasters/notesMaster1.xml" Id="R6ce8962bc0364518" /></Relationships>
</file>

<file path=ppt/notesSlides/_rels/notesSlide8.xml.rels>&#65279;<?xml version="1.0" encoding="utf-8"?><Relationships xmlns="http://schemas.openxmlformats.org/package/2006/relationships"><Relationship Type="http://schemas.openxmlformats.org/officeDocument/2006/relationships/slide" Target="/ppt/slides/slide8.xml" Id="Rb55401093bab44ad" /><Relationship Type="http://schemas.openxmlformats.org/officeDocument/2006/relationships/notesMaster" Target="/ppt/notesMasters/notesMaster1.xml" Id="R1714953096d744fd" /></Relationships>
</file>

<file path=ppt/notesSlides/_rels/notesSlide9.xml.rels>&#65279;<?xml version="1.0" encoding="utf-8"?><Relationships xmlns="http://schemas.openxmlformats.org/package/2006/relationships"><Relationship Type="http://schemas.openxmlformats.org/officeDocument/2006/relationships/slide" Target="/ppt/slides/slide9.xml" Id="Rbe1bf45fdab54ff2" /><Relationship Type="http://schemas.openxmlformats.org/officeDocument/2006/relationships/notesMaster" Target="/ppt/notesMasters/notesMaster1.xml" Id="Rea5c6dce02ff45e0"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33315f1a7a1445ee" /><Relationship Type="http://schemas.openxmlformats.org/officeDocument/2006/relationships/notesMaster" Target="/ppt/notesMasters/notesMaster1.xml" Id="R11afdb750e454a5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a9031788f9fa476e" /><Relationship Type="http://schemas.openxmlformats.org/officeDocument/2006/relationships/notesMaster" Target="/ppt/notesMasters/notesMaster1.xml" Id="Rb957ffb10e9445a4"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c7c718a2dc814586" /><Relationship Type="http://schemas.openxmlformats.org/officeDocument/2006/relationships/notesMaster" Target="/ppt/notesMasters/notesMaster1.xml" Id="Rb64854e3c8cb4879"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f8b217bae9ae4d53" /><Relationship Type="http://schemas.openxmlformats.org/officeDocument/2006/relationships/notesMaster" Target="/ppt/notesMasters/notesMaster1.xml" Id="R9a814a4a7faa499e"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be0c0df0819d4414" /><Relationship Type="http://schemas.openxmlformats.org/officeDocument/2006/relationships/notesMaster" Target="/ppt/notesMasters/notesMaster1.xml" Id="R0fe2821f1cdc4129"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a0750b827f7f4b5a" /><Relationship Type="http://schemas.openxmlformats.org/officeDocument/2006/relationships/notesMaster" Target="/ppt/notesMasters/notesMaster1.xml" Id="R5c784a2a4e8c4f6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GUION DE EXPOSICIÓN</a:t>
            </a:r>
          </a:p>
          <a:p xmlns:a="http://schemas.openxmlformats.org/drawingml/2006/main">
            <a:r>
              <a:t>Iniciar con la pregunta: ¿un pH dentro del intervalo de referencia excluye un trastorno ácido-base? Recoger una hipótesis y recuperarla en las preguntas finales. La exposición relaciona un resultado medido con los mecanismos que lo explican: amortiguación química, ventilación y función renal. Se estudiará cómo distinguir un cambio primario de una respuesta secundaria y cómo integrar el tipo de muestra con la historia. Los dos casos son construcciones didácticas, no registros de pacientes.</a:t>
            </a:r>
          </a:p>
          <a:p xmlns:a="http://schemas.openxmlformats.org/drawingml/2006/main">
            <a:r>
              <a:t/>
            </a:r>
          </a:p>
          <a:p xmlns:a="http://schemas.openxmlformats.org/drawingml/2006/main">
            <a:r>
              <a:t/>
            </a:r>
          </a:p>
          <a:p xmlns:a="http://schemas.openxmlformats.org/drawingml/2006/main">
            <a:r>
              <a:t/>
            </a:r>
          </a:p>
          <a:p xmlns:a="http://schemas.openxmlformats.org/drawingml/2006/main">
            <a:r>
              <a:t>REFERENCIAS VANCOUVER</a:t>
            </a:r>
          </a:p>
          <a:p xmlns:a="http://schemas.openxmlformats.org/drawingml/2006/main">
            <a:r>
              <a:t>1. Cornell University. Overview [Internet]. eClinPath; [citado 17 oct 2026]. Disponible en: https://eclinpath.com/chemistry/acid-base/overview/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GUION DE EXPOSICIÓN</a:t>
            </a:r>
          </a:p>
          <a:p xmlns:a="http://schemas.openxmlformats.org/drawingml/2006/main">
            <a:r>
              <a:t>El pH expresa el estado ácido-base de la muestra. Acidemia indica un pH inferior al intervalo de referencia pertinente y alcalemia uno superior. Estos términos describen el resultado. Precisar la especie y si la muestra es arterial o venosa antes de interpretar una cifra. No asignar un intervalo humano a todas las especies, edades o analizadores. En la siguiente diapositiva se introducen los nombres de los procesos que pueden modificar ese resultado.</a:t>
            </a:r>
          </a:p>
          <a:p xmlns:a="http://schemas.openxmlformats.org/drawingml/2006/main">
            <a:r>
              <a:t/>
            </a:r>
          </a:p>
          <a:p xmlns:a="http://schemas.openxmlformats.org/drawingml/2006/main">
            <a:r>
              <a:t/>
            </a:r>
          </a:p>
          <a:p xmlns:a="http://schemas.openxmlformats.org/drawingml/2006/main">
            <a:r>
              <a:t/>
            </a:r>
          </a:p>
          <a:p xmlns:a="http://schemas.openxmlformats.org/drawingml/2006/main">
            <a:r>
              <a:t>REFERENCIAS VANCOUVER</a:t>
            </a:r>
          </a:p>
          <a:p xmlns:a="http://schemas.openxmlformats.org/drawingml/2006/main">
            <a:r>
              <a:t>1. Cornell University. Overview [Internet]. eClinPath; [citado 17 oct 2026]. Disponible en: https://eclinpath.com/chemistry/acid-base/overview/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GUION DE EXPOSICIÓN</a:t>
            </a:r>
          </a:p>
          <a:p xmlns:a="http://schemas.openxmlformats.org/drawingml/2006/main">
            <a:r>
              <a:t>Acidosis y alcalosis son procesos: la primera tiende a disminuir el pH y la segunda a aumentarlo. Se diferencian de acidemia y alcalemia, que describen el estado observado. La acumulación de ácido, pérdida de base o retención de CO₂ puede acidificar. La pérdida de ácido, ganancia de base o eliminación excesiva de CO₂ respecto de su producción puede alcalinizar. Un proceso puede coexistir con otro de efecto opuesto; por eso el pH final no identifica por sí solo los mecanismos presentes. Usar esta distinción durante toda la exposición: primero nombrar el resultado y después razonar qué procesos lo explican.</a:t>
            </a:r>
          </a:p>
          <a:p xmlns:a="http://schemas.openxmlformats.org/drawingml/2006/main">
            <a:r>
              <a:t/>
            </a:r>
          </a:p>
          <a:p xmlns:a="http://schemas.openxmlformats.org/drawingml/2006/main">
            <a:r>
              <a:t/>
            </a:r>
          </a:p>
          <a:p xmlns:a="http://schemas.openxmlformats.org/drawingml/2006/main">
            <a:r>
              <a:t/>
            </a:r>
          </a:p>
          <a:p xmlns:a="http://schemas.openxmlformats.org/drawingml/2006/main">
            <a:r>
              <a:t>REFERENCIAS VANCOUVER</a:t>
            </a:r>
          </a:p>
          <a:p xmlns:a="http://schemas.openxmlformats.org/drawingml/2006/main">
            <a:r>
              <a:t>1. Cornell University. Overview [Internet]. eClinPath; [citado 17 oct 2026]. Disponible en: https://eclinpath.com/chemistry/acid-base/overview/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GUION DE EXPOSICIÓN</a:t>
            </a:r>
          </a:p>
          <a:p xmlns:a="http://schemas.openxmlformats.org/drawingml/2006/main">
            <a:r>
              <a:t>Presentar primero el conjunto de mecanismos que regula el equilibrio ácido-base. Los amortiguadores químicos aceptan o liberan H⁺ y atenúan los cambios inmediatos. La ventilación alveolar controla la eliminación de CO₂. La función renal conserva bicarbonato y participa en la excreción neta de ácido, reponiendo base. La amortiguación química comienza de inmediato, la regulación respiratoria responde rápidamente y la adaptación renal se desarrolla durante horas a días. Estos mecanismos funcionan de forma integrada y se complementan. El sistema bicarbonato es uno de los amortiguadores y se conecta con pulmones y riñones; no representa por sí solo todo el sistema regulador.</a:t>
            </a:r>
          </a:p>
          <a:p xmlns:a="http://schemas.openxmlformats.org/drawingml/2006/main">
            <a:r>
              <a:t/>
            </a:r>
          </a:p>
          <a:p xmlns:a="http://schemas.openxmlformats.org/drawingml/2006/main">
            <a:r>
              <a:t/>
            </a:r>
          </a:p>
          <a:p xmlns:a="http://schemas.openxmlformats.org/drawingml/2006/main">
            <a:r>
              <a:t/>
            </a:r>
          </a:p>
          <a:p xmlns:a="http://schemas.openxmlformats.org/drawingml/2006/main">
            <a:r>
              <a:t>REFERENCIAS VANCOUVER</a:t>
            </a:r>
          </a:p>
          <a:p xmlns:a="http://schemas.openxmlformats.org/drawingml/2006/main">
            <a:r>
              <a:t>1. Cornell University. Overview [Internet]. eClinPath; [citado 17 oct 2026]. Disponible en: https://eclinpath.com/chemistry/acid-base/overview/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GUION DE EXPOSICIÓN</a:t>
            </a:r>
          </a:p>
          <a:p xmlns:a="http://schemas.openxmlformats.org/drawingml/2006/main">
            <a:r>
              <a:t>Recorrer la reacción reversible de izquierda a derecha y después en sentido contrario. No se trata de etapas irreversibles: las flechas representan relaciones de un mismo equilibrio. El modelo de Henderson–Hasselbalch relaciona el pH con bicarbonato y CO₂ disuelto. A 37 °C se emplean aquí las aproximaciones pK = 6,1 y solubilidad del CO₂ = 0,03 mmol·L⁻¹·mmHg⁻¹. Con HCO₃⁻ de 24 mmol/L y PCO₂ de 40 mmHg, el CO₂ disuelto es 1,2 mmol/L; la relación 20:1 corresponde a bicarbonato frente a CO₂ disuelto, nunca a bicarbonato frente a PCO₂. La hemoglobina, proteínas y fosfatos también amortiguan. Limitar el cambio del pH no equivale a eliminar toda la carga ácida.</a:t>
            </a:r>
          </a:p>
          <a:p xmlns:a="http://schemas.openxmlformats.org/drawingml/2006/main">
            <a:r>
              <a:t/>
            </a:r>
          </a:p>
          <a:p xmlns:a="http://schemas.openxmlformats.org/drawingml/2006/main">
            <a:r>
              <a:t/>
            </a:r>
          </a:p>
          <a:p xmlns:a="http://schemas.openxmlformats.org/drawingml/2006/main">
            <a:r>
              <a:t/>
            </a:r>
          </a:p>
          <a:p xmlns:a="http://schemas.openxmlformats.org/drawingml/2006/main">
            <a:r>
              <a:t>REFERENCIAS VANCOUVER</a:t>
            </a:r>
          </a:p>
          <a:p xmlns:a="http://schemas.openxmlformats.org/drawingml/2006/main">
            <a:r>
              <a:t>2. Baquero-Parrado JR. Consideraciones clínicas y regulación del equilibrio ácido-base en ganado bovino. Rev UDCA Actual Divulg Cient. 2008;11(2):85-100. Disponible en: https://doi.org/10.31910/rudca.v11.n2.2008.626</a:t>
            </a:r>
          </a:p>
          <a:p xmlns:a="http://schemas.openxmlformats.org/drawingml/2006/main">
            <a:r>
              <a:t/>
            </a:r>
          </a:p>
          <a:p xmlns:a="http://schemas.openxmlformats.org/drawingml/2006/main">
            <a:r>
              <a:t>3. Cornell University. Response to disturbances [Internet]. eClinPath; [citado 17 oct 2026]. Disponible en: https://eclinpath.com/chemistry/acid-base/compensation/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GUION DE EXPOSICIÓN</a:t>
            </a:r>
          </a:p>
          <a:p xmlns:a="http://schemas.openxmlformats.org/drawingml/2006/main">
            <a:r>
              <a:t>La variable útil es la ventilación alveolar, no la frecuencia respiratoria aislada. Para una producción de CO₂ constante, una reducción del volumen ventilado útil eleva la PCO₂, mientras que un incremento la reduce. El esquema compara estados estacionarios. La relación matemática general procede de la ecuación alveolar: PCO₂ es proporcional a producción de CO₂ dividida por ventilación alveolar. Para el ejercicio se elige 100 % de ventilación relativa y PCO₂ de 40 mmHg como referencia: PCO₂ = 40 / (ventilación relativa / 100). Así, 50 %, 100 % y 150 % corresponden a 80, 40 y 26,7 mmHg. No son intervalos universales ni datos de una especie. Se asume CO₂ inspirado despreciable y aproximación alveolar a arterial. No se representa dinámica temporal, espacio muerto ni desigualdad ventilación/perfusión.</a:t>
            </a:r>
          </a:p>
          <a:p xmlns:a="http://schemas.openxmlformats.org/drawingml/2006/main">
            <a:r>
              <a:t/>
            </a:r>
          </a:p>
          <a:p xmlns:a="http://schemas.openxmlformats.org/drawingml/2006/main">
            <a:r>
              <a:t/>
            </a:r>
          </a:p>
          <a:p xmlns:a="http://schemas.openxmlformats.org/drawingml/2006/main">
            <a:r>
              <a:t/>
            </a:r>
          </a:p>
          <a:p xmlns:a="http://schemas.openxmlformats.org/drawingml/2006/main">
            <a:r>
              <a:t>REFERENCIAS VANCOUVER</a:t>
            </a:r>
          </a:p>
          <a:p xmlns:a="http://schemas.openxmlformats.org/drawingml/2006/main">
            <a:r>
              <a:t>4. Cornell University. Types of disturbances [Internet]. eClinPath; [citado 17 oct 2026]. Disponible en: https://eclinpath.com/chemistry/acid-base/types-of-disturbances/</a:t>
            </a:r>
          </a:p>
          <a:p xmlns:a="http://schemas.openxmlformats.org/drawingml/2006/main">
            <a:r>
              <a:t/>
            </a:r>
          </a:p>
          <a:p xmlns:a="http://schemas.openxmlformats.org/drawingml/2006/main">
            <a:r>
              <a:t>5. Abnormal ventilation, abnormal gas exchange [material docente en Internet]. Columbia University; [sin fecha] [citado 18 oct 2026]. p. 6. Disponible en: https://www.columbia.edu/itc/hs/medical/pathophys/pulmonary/2008/abnormalColor.pdf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GUION DE EXPOSICIÓN</a:t>
            </a:r>
          </a:p>
          <a:p xmlns:a="http://schemas.openxmlformats.org/drawingml/2006/main">
            <a:r>
              <a:t>Distinguir dos balances. Recuperar bicarbonato filtrado conserva una base que ya estaba en el organismo; la secreción tubular de H⁺ que permite esa recuperación no genera por sí sola base neta. En cambio, la excreción neta de ácido, como NH₄⁺ y ácido titulable, se asocia con reposición de bicarbonato en sangre. La amoniogénesis renal utiliza glutamina. La figura es un esquema funcional, no una nefrona anatómica ni la anatomía específica de una especie. Estas funciones no son tres periodos sucesivos. En la alcalosis, el riñón también puede aumentar la excreción de bicarbonato si el volumen y los electrolitos lo permiten. La respuesta depende de la función renal y del tiempo disponible.</a:t>
            </a:r>
          </a:p>
          <a:p xmlns:a="http://schemas.openxmlformats.org/drawingml/2006/main">
            <a:r>
              <a:t/>
            </a:r>
          </a:p>
          <a:p xmlns:a="http://schemas.openxmlformats.org/drawingml/2006/main">
            <a:r>
              <a:t/>
            </a:r>
          </a:p>
          <a:p xmlns:a="http://schemas.openxmlformats.org/drawingml/2006/main">
            <a:r>
              <a:t/>
            </a:r>
          </a:p>
          <a:p xmlns:a="http://schemas.openxmlformats.org/drawingml/2006/main">
            <a:r>
              <a:t>REFERENCIAS VANCOUVER</a:t>
            </a:r>
          </a:p>
          <a:p xmlns:a="http://schemas.openxmlformats.org/drawingml/2006/main">
            <a:r>
              <a:t>6. Cornell University. Physiology [Internet]. eClinPath; [citado 17 oct 2026]. Disponible en: https://eclinpath.com/chemistry/kidney/physiology/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GUION DE EXPOSICIÓN</a:t>
            </a:r>
          </a:p>
          <a:p xmlns:a="http://schemas.openxmlformats.org/drawingml/2006/main">
            <a:r>
              <a:t>Integrar los cuatro patrones tradicionales. En acidosis metabólica la ganancia de ácidos, pérdida de base o menor excreción renal favorecen descenso del bicarbonato. En alcalosis metabólica, la pérdida o el secuestro de HCl y ciertos aportes de base favorecen su aumento. En bovinos con enfermedad abomasal puede existir alcalosis hipoclorémica y añadirse acidosis si se altera la perfusión. En los trastornos respiratorios, el cambio primario de PCO₂ refleja la relación entre producción y eliminación de CO₂. Hipoventilar favorece retención y acidosis respiratoria, e hiperventilar puede favorecer alcalosis respiratoria. Estos patrones expresan tendencias: un valor aislado no establece primariedad. Un HCO₃⁻ bajo también puede acompañar adaptación renal a alcalosis respiratoria.</a:t>
            </a:r>
          </a:p>
          <a:p xmlns:a="http://schemas.openxmlformats.org/drawingml/2006/main">
            <a:r>
              <a:t/>
            </a:r>
          </a:p>
          <a:p xmlns:a="http://schemas.openxmlformats.org/drawingml/2006/main">
            <a:r>
              <a:t/>
            </a:r>
          </a:p>
          <a:p xmlns:a="http://schemas.openxmlformats.org/drawingml/2006/main">
            <a:r>
              <a:t/>
            </a:r>
          </a:p>
          <a:p xmlns:a="http://schemas.openxmlformats.org/drawingml/2006/main">
            <a:r>
              <a:t>REFERENCIAS VANCOUVER</a:t>
            </a:r>
          </a:p>
          <a:p xmlns:a="http://schemas.openxmlformats.org/drawingml/2006/main">
            <a:r>
              <a:t>4. Cornell University. Types of disturbances [Internet]. eClinPath; [citado 17 oct 2026]. Disponible en: https://eclinpath.com/chemistry/acid-base/types-of-disturbances/</a:t>
            </a:r>
          </a:p>
          <a:p xmlns:a="http://schemas.openxmlformats.org/drawingml/2006/main">
            <a:r>
              <a:t/>
            </a:r>
          </a:p>
          <a:p xmlns:a="http://schemas.openxmlformats.org/drawingml/2006/main">
            <a:r>
              <a:t>7. Cornell University. Bicarbonate [Internet]. eClinPath; [citado 17 oct 2026]. Disponible en: https://eclinpath.com/chemistry/acid-base/chemistry-tests/bicarbonate/</a:t>
            </a:r>
          </a:p>
          <a:p xmlns:a="http://schemas.openxmlformats.org/drawingml/2006/main">
            <a:r>
              <a:t/>
            </a:r>
          </a:p>
          <a:p xmlns:a="http://schemas.openxmlformats.org/drawingml/2006/main">
            <a:r>
              <a:t>8. Braun U, Nuss K, Reif S, Hilbe M, Gerspach C. Left and right displaced abomasum and abomasal volvulus: comparison of clinical, laboratory and ultrasonographic findings in 1982 dairy cows. Acta Vet Scand. 2022;64:40. Disponible en: https://doi.org/10.1186/s13028-022-00656-9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GUION DE EXPOSICIÓN</a:t>
            </a:r>
          </a:p>
          <a:p xmlns:a="http://schemas.openxmlformats.org/drawingml/2006/main">
            <a:r>
              <a:t>Compensar significa reducir el efecto del proceso primario sobre el pH. En los trastornos metabólicos participa una respuesta ventilatoria; en los respiratorios se distinguen amortiguación inicial y adaptación renal posterior. La respuesta ventilatoria empieza antes que la adaptación renal completa, pero no se presentan horas concretas como reglas universales. Un pequeño aumento de HCO₃⁻ en una acidosis respiratoria reciente puede proceder de la amortiguación, sin probar cronicidad. Un trastorno mixto contiene dos o más procesos primarios, cuyos efectos pueden sumarse u oponerse. La especie y la duración condicionan lo esperable: una regla cuantitativa desarrollada en perros no se aplica automáticamente a terneros. Un pH cercano al basal tampoco demuestra curación.</a:t>
            </a:r>
          </a:p>
          <a:p xmlns:a="http://schemas.openxmlformats.org/drawingml/2006/main">
            <a:r>
              <a:t/>
            </a:r>
          </a:p>
          <a:p xmlns:a="http://schemas.openxmlformats.org/drawingml/2006/main">
            <a:r>
              <a:t/>
            </a:r>
          </a:p>
          <a:p xmlns:a="http://schemas.openxmlformats.org/drawingml/2006/main">
            <a:r>
              <a:t/>
            </a:r>
          </a:p>
          <a:p xmlns:a="http://schemas.openxmlformats.org/drawingml/2006/main">
            <a:r>
              <a:t>REFERENCIAS VANCOUVER</a:t>
            </a:r>
          </a:p>
          <a:p xmlns:a="http://schemas.openxmlformats.org/drawingml/2006/main">
            <a:r>
              <a:t>3. Cornell University. Response to disturbances [Internet]. eClinPath; [citado 17 oct 2026]. Disponible en: https://eclinpath.com/chemistry/acid-base/compensation/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GUION DE EXPOSICIÓN</a:t>
            </a:r>
          </a:p>
          <a:p xmlns:a="http://schemas.openxmlformats.org/drawingml/2006/main">
            <a:r>
              <a:t>Comenzar por especie, edad, tipo de muestra y condiciones de obtención. El gasómetro mide pH y PCO₂ y suele calcular bicarbonato. Aire y demora pueden alterar los resultados. Luego comparar el pH con el criterio aplicable y relacionarlo con PCO₂ y HCO₃⁻. Finalmente integrar la dirección de la respuesta, electrolitos e historia. La PO₂ venosa no sustituye a la arterial para evaluar oxigenación pulmonar. En esta exposición se incluye potasio en la fórmula de la brecha aniónica: AG = (Na⁺ + K⁺) − (Cl⁻ + HCO₃⁻). El intervalo del laboratorio debe corresponder a esa fórmula. Una elevación orienta a aniones no medidos sin identificar cuál; la albúmina baja puede enmascararla y la electroneutralidad de la sangre se conserva.</a:t>
            </a:r>
          </a:p>
          <a:p xmlns:a="http://schemas.openxmlformats.org/drawingml/2006/main">
            <a:r>
              <a:t/>
            </a:r>
          </a:p>
          <a:p xmlns:a="http://schemas.openxmlformats.org/drawingml/2006/main">
            <a:r>
              <a:t/>
            </a:r>
          </a:p>
          <a:p xmlns:a="http://schemas.openxmlformats.org/drawingml/2006/main">
            <a:r>
              <a:t/>
            </a:r>
          </a:p>
          <a:p xmlns:a="http://schemas.openxmlformats.org/drawingml/2006/main">
            <a:r>
              <a:t>REFERENCIAS VANCOUVER</a:t>
            </a:r>
          </a:p>
          <a:p xmlns:a="http://schemas.openxmlformats.org/drawingml/2006/main">
            <a:r>
              <a:t>9. Cornell University. Laboratory detection [Internet]. eClinPath; [citado 17 oct 2026]. Disponible en: https://eclinpath.com/chemistry/acid-base/laboratory-detection/</a:t>
            </a:r>
          </a:p>
          <a:p xmlns:a="http://schemas.openxmlformats.org/drawingml/2006/main">
            <a:r>
              <a:t/>
            </a:r>
          </a:p>
          <a:p xmlns:a="http://schemas.openxmlformats.org/drawingml/2006/main">
            <a:r>
              <a:t>10. Cornell University. Anion gap [Internet]. eClinPath; [citado 17 oct 2026]. Disponible en: https://eclinpath.com/chemistry/acid-base/chemistry-tests/anion-gap/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GUION DE EXPOSICIÓN</a:t>
            </a:r>
          </a:p>
          <a:p xmlns:a="http://schemas.openxmlformats.org/drawingml/2006/main">
            <a:r>
              <a:t>Presentar el gráfico como una relación matemática estática. Cada curva mantiene fijo HCO₃⁻ y muestra pH calculado al variar PCO₂ entre 20 y 80 mmHg. Las tres series usan HCO₃⁻ de 12, 24 y 36 mmol/L; estos valores se tomaron de los ejemplos didácticos del contenido y no son rangos clínicos. Con bicarbonato fijo, elevar PCO₂ reduce el pH. Con PCO₂ fija, elevar bicarbonato lo incrementa. Comparar 24/40 con 36/60: ambos conservan la relación y dan aproximadamente pH 7,40. El cálculo no decide si existe compensación o un trastorno mixto. Las constantes son aproximadas a 37 °C. No representa paso del tiempo, compensación automática, adaptación renal, temperatura específica de especie ni contribuciones independientes de hemoglobina, proteínas o fosfatos. Cada punto del gráfico es calculado por pH = 6,1 + log₁₀[HCO₃⁻/(0,03 × PCO₂)].</a:t>
            </a:r>
          </a:p>
          <a:p xmlns:a="http://schemas.openxmlformats.org/drawingml/2006/main">
            <a:r>
              <a:t/>
            </a:r>
          </a:p>
          <a:p xmlns:a="http://schemas.openxmlformats.org/drawingml/2006/main">
            <a:r>
              <a:t>Punto didáctico inicial: HCO₃⁻ 24 mmol/L; PCO₂ 40 mmHg; pH 7,40. Referencia matemática para comparar cambios; no representa un intervalo veterinario.</a:t>
            </a:r>
          </a:p>
          <a:p xmlns:a="http://schemas.openxmlformats.org/drawingml/2006/main">
            <a:r>
              <a:t>Menor bicarbonato: HCO₃⁻ 12 mmol/L; PCO₂ 40 mmHg; pH 7,10. Con PCO₂ fija, reducir bicarbonato disminuye el pH calculado.</a:t>
            </a:r>
          </a:p>
          <a:p xmlns:a="http://schemas.openxmlformats.org/drawingml/2006/main">
            <a:r>
              <a:t>Mayor CO₂: HCO₃⁻ 24 mmol/L; PCO₂ 60 mmHg; pH 7,22. Con bicarbonato fijo, aumentar PCO₂ disminuye el pH calculado.</a:t>
            </a:r>
          </a:p>
          <a:p xmlns:a="http://schemas.openxmlformats.org/drawingml/2006/main">
            <a:r>
              <a:t>Proporción conservada: HCO₃⁻ 36 mmol/L; PCO₂ 60 mmHg; pH 7,40. La misma relación produce el mismo pH; el cálculo no decide si existe compensación o un trastorno mixto.</a:t>
            </a:r>
          </a:p>
          <a:p xmlns:a="http://schemas.openxmlformats.org/drawingml/2006/main">
            <a:r>
              <a:t>Valores del ternero: HCO₃⁻ 10 mmol/L; PCO₂ 30 mmHg; pH 7,15. Valores construidos para el caso venoso; interpretar con sus antecedentes.</a:t>
            </a:r>
          </a:p>
          <a:p xmlns:a="http://schemas.openxmlformats.org/drawingml/2006/main">
            <a:r>
              <a:t>Valores del perro: HCO₃⁻ 27 mmol/L; PCO₂ 60 mmHg; pH 7,28. Valores construidos para el caso arterial agudo; el modelo no determina la duración.</a:t>
            </a:r>
          </a:p>
          <a:p xmlns:a="http://schemas.openxmlformats.org/drawingml/2006/main">
            <a:r>
              <a:t/>
            </a:r>
          </a:p>
          <a:p xmlns:a="http://schemas.openxmlformats.org/drawingml/2006/main">
            <a:r>
              <a:t>REFERENCIAS VANCOUVER</a:t>
            </a:r>
          </a:p>
          <a:p xmlns:a="http://schemas.openxmlformats.org/drawingml/2006/main">
            <a:r>
              <a:t>2. Baquero-Parrado JR. Consideraciones clínicas y regulación del equilibrio ácido-base en ganado bovino. Rev UDCA Actual Divulg Cient. 2008;11(2):85-100. Disponible en: https://doi.org/10.31910/rudca.v11.n2.2008.626</a:t>
            </a:r>
          </a:p>
          <a:p xmlns:a="http://schemas.openxmlformats.org/drawingml/2006/main">
            <a:r>
              <a:t/>
            </a:r>
          </a:p>
          <a:p xmlns:a="http://schemas.openxmlformats.org/drawingml/2006/main">
            <a:r>
              <a:t>9. Cornell University. Laboratory detection [Internet]. eClinPath; [citado 17 oct 2026]. Disponible en: https://eclinpath.com/chemistry/acid-base/laboratory-detection/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GUION DE EXPOSICIÓN</a:t>
            </a:r>
          </a:p>
          <a:p xmlns:a="http://schemas.openxmlformats.org/drawingml/2006/main">
            <a:r>
              <a:t>Solicitar que el grupo elija una opción y justifique el mecanismo. Estas tres preguntas recuperan el significado del pH, la relación entre bicarbonato y CO₂ y el balance renal. Las respuestas se encuentran sólo en estas notas para permitir la discusión antes de revelarlas.</a:t>
            </a:r>
          </a:p>
          <a:p xmlns:a="http://schemas.openxmlformats.org/drawingml/2006/main">
            <a:r>
              <a:t/>
            </a:r>
          </a:p>
          <a:p xmlns:a="http://schemas.openxmlformats.org/drawingml/2006/main">
            <a:r>
              <a:t>1. Un pH dentro del intervalo de referencia significa que…</a:t>
            </a:r>
          </a:p>
          <a:p xmlns:a="http://schemas.openxmlformats.org/drawingml/2006/main">
            <a:r>
              <a:t>Opciones: A. No puede existir ningún trastorno ácido-base.</a:t>
            </a:r>
          </a:p>
          <a:p xmlns:a="http://schemas.openxmlformats.org/drawingml/2006/main">
            <a:r>
              <a:t>B. Hay que revisar PCO₂, HCO₃⁻ y el contexto.</a:t>
            </a:r>
          </a:p>
          <a:p xmlns:a="http://schemas.openxmlformats.org/drawingml/2006/main">
            <a:r>
              <a:t>C. El paciente está completamente compensado y recuperado.</a:t>
            </a:r>
          </a:p>
          <a:p xmlns:a="http://schemas.openxmlformats.org/drawingml/2006/main">
            <a:r>
              <a:t>Respuesta: Hay que revisar PCO₂, HCO₃⁻ y el contexto.</a:t>
            </a:r>
          </a:p>
          <a:p xmlns:a="http://schemas.openxmlformats.org/drawingml/2006/main">
            <a:r>
              <a:t>Explicación: Los efectos de procesos opuestos pueden contrarrestarse. El pH es el resultado conjunto, no una prueba de ausencia de procesos. La recuperación no se demuestra con el pH aislado.</a:t>
            </a:r>
          </a:p>
          <a:p xmlns:a="http://schemas.openxmlformats.org/drawingml/2006/main">
            <a:r>
              <a:t>1. Cornell University. Overview [Internet]. eClinPath; [citado 17 oct 2026]. Disponible en: https://eclinpath.com/chemistry/acid-base/overview/</a:t>
            </a:r>
          </a:p>
          <a:p xmlns:a="http://schemas.openxmlformats.org/drawingml/2006/main">
            <a:r>
              <a:t/>
            </a:r>
          </a:p>
          <a:p xmlns:a="http://schemas.openxmlformats.org/drawingml/2006/main">
            <a:r>
              <a:t>4. Cornell University. Types of disturbances [Internet]. eClinPath; [citado 17 oct 2026]. Disponible en: https://eclinpath.com/chemistry/acid-base/types-of-disturbances/</a:t>
            </a:r>
          </a:p>
          <a:p xmlns:a="http://schemas.openxmlformats.org/drawingml/2006/main">
            <a:r>
              <a:t/>
            </a:r>
          </a:p>
          <a:p xmlns:a="http://schemas.openxmlformats.org/drawingml/2006/main">
            <a:r>
              <a:t>2. En el simulador, si HCO₃⁻ permanece fijo y aumenta PCO₂, ¿qué ocurre con el pH?</a:t>
            </a:r>
          </a:p>
          <a:p xmlns:a="http://schemas.openxmlformats.org/drawingml/2006/main">
            <a:r>
              <a:t>Opciones: A. Aumenta.</a:t>
            </a:r>
          </a:p>
          <a:p xmlns:a="http://schemas.openxmlformats.org/drawingml/2006/main">
            <a:r>
              <a:t>B. Disminuye.</a:t>
            </a:r>
          </a:p>
          <a:p xmlns:a="http://schemas.openxmlformats.org/drawingml/2006/main">
            <a:r>
              <a:t>C. No cambia.</a:t>
            </a:r>
          </a:p>
          <a:p xmlns:a="http://schemas.openxmlformats.org/drawingml/2006/main">
            <a:r>
              <a:t>Respuesta: Disminuye.</a:t>
            </a:r>
          </a:p>
          <a:p xmlns:a="http://schemas.openxmlformats.org/drawingml/2006/main">
            <a:r>
              <a:t>Explicación: Aumenta el denominador y disminuye la relación de la ecuación. Con bicarbonato fijo, más CO₂ disuelto reduce el pH calculado. Para conservar el pH debe conservarse la proporción, no solo una entrada.</a:t>
            </a:r>
          </a:p>
          <a:p xmlns:a="http://schemas.openxmlformats.org/drawingml/2006/main">
            <a:r>
              <a:t>2. Baquero-Parrado JR. Consideraciones clínicas y regulación del equilibrio ácido-base en ganado bovino. Rev UDCA Actual Divulg Cient. 2008;11(2):85-100. Disponible en: https://doi.org/10.31910/rudca.v11.n2.2008.626</a:t>
            </a:r>
          </a:p>
          <a:p xmlns:a="http://schemas.openxmlformats.org/drawingml/2006/main">
            <a:r>
              <a:t/>
            </a:r>
          </a:p>
          <a:p xmlns:a="http://schemas.openxmlformats.org/drawingml/2006/main">
            <a:r>
              <a:t>3. ¿Qué distingue recuperar bicarbonato de generar bicarbonato nuevo?</a:t>
            </a:r>
          </a:p>
          <a:p xmlns:a="http://schemas.openxmlformats.org/drawingml/2006/main">
            <a:r>
              <a:t>Opciones: A. Son dos nombres de exactamente el mismo balance.</a:t>
            </a:r>
          </a:p>
          <a:p xmlns:a="http://schemas.openxmlformats.org/drawingml/2006/main">
            <a:r>
              <a:t>B. La excreción neta de ácido permite reponer bicarbonato.</a:t>
            </a:r>
          </a:p>
          <a:p xmlns:a="http://schemas.openxmlformats.org/drawingml/2006/main">
            <a:r>
              <a:t>C. Todo bicarbonato nuevo procede de los pulmones.</a:t>
            </a:r>
          </a:p>
          <a:p xmlns:a="http://schemas.openxmlformats.org/drawingml/2006/main">
            <a:r>
              <a:t>Respuesta: La excreción neta de ácido permite reponer bicarbonato.</a:t>
            </a:r>
          </a:p>
          <a:p xmlns:a="http://schemas.openxmlformats.org/drawingml/2006/main">
            <a:r>
              <a:t>Explicación: Recuperar lo filtrado conserva base; excretar ácido neto repone base. Es diferente de evitar la pérdida urinaria del bicarbonato que ya existía. La ventilación controla CO₂; la función renal participa en el balance de base.</a:t>
            </a:r>
          </a:p>
          <a:p xmlns:a="http://schemas.openxmlformats.org/drawingml/2006/main">
            <a:r>
              <a:t>6. Cornell University. Physiology [Internet]. eClinPath; [citado 17 oct 2026]. Disponible en: https://eclinpath.com/chemistry/kidney/physiology/</a:t>
            </a:r>
          </a:p>
          <a:p xmlns:a="http://schemas.openxmlformats.org/drawingml/2006/main">
            <a:r>
              <a:t/>
            </a:r>
          </a:p>
          <a:p xmlns:a="http://schemas.openxmlformats.org/drawingml/2006/main">
            <a:r>
              <a:t>REFERENCIAS VANCOUVER</a:t>
            </a:r>
          </a:p>
          <a:p xmlns:a="http://schemas.openxmlformats.org/drawingml/2006/main">
            <a:r>
              <a:t>1. Cornell University. Overview [Internet]. eClinPath; [citado 17 oct 2026]. Disponible en: https://eclinpath.com/chemistry/acid-base/overview/</a:t>
            </a:r>
          </a:p>
          <a:p xmlns:a="http://schemas.openxmlformats.org/drawingml/2006/main">
            <a:r>
              <a:t/>
            </a:r>
          </a:p>
          <a:p xmlns:a="http://schemas.openxmlformats.org/drawingml/2006/main">
            <a:r>
              <a:t>2. Baquero-Parrado JR. Consideraciones clínicas y regulación del equilibrio ácido-base en ganado bovino. Rev UDCA Actual Divulg Cient. 2008;11(2):85-100. Disponible en: https://doi.org/10.31910/rudca.v11.n2.2008.626</a:t>
            </a:r>
          </a:p>
          <a:p xmlns:a="http://schemas.openxmlformats.org/drawingml/2006/main">
            <a:r>
              <a:t/>
            </a:r>
          </a:p>
          <a:p xmlns:a="http://schemas.openxmlformats.org/drawingml/2006/main">
            <a:r>
              <a:t>4. Cornell University. Types of disturbances [Internet]. eClinPath; [citado 17 oct 2026]. Disponible en: https://eclinpath.com/chemistry/acid-base/types-of-disturbances/</a:t>
            </a:r>
          </a:p>
          <a:p xmlns:a="http://schemas.openxmlformats.org/drawingml/2006/main">
            <a:r>
              <a:t/>
            </a:r>
          </a:p>
          <a:p xmlns:a="http://schemas.openxmlformats.org/drawingml/2006/main">
            <a:r>
              <a:t>6. Cornell University. Physiology [Internet]. eClinPath; [citado 17 oct 2026]. Disponible en: https://eclinpath.com/chemistry/kidney/physiology/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GUION DE EXPOSICIÓN</a:t>
            </a:r>
          </a:p>
          <a:p xmlns:a="http://schemas.openxmlformats.org/drawingml/2006/main">
            <a:r>
              <a:t>Leer primero la edad, la historia y la muestra. Los valores fueron construidos para razonar. La interpretación mejor sustentada es acidosis metabólica en el contexto de diarrea, cuya composición y causa requieren caracterización. La PCO₂ reducida atenúa el descenso del pH; su dirección no demuestra que sea una compensación bovina cuantitativamente adecuada. No aplicar una ecuación canina. Pedir al grupo un dato adicional que distinga pérdidas digestivas de acumulación de ácidos. La brecha no identifica D-lactato y hace falta un intervalo de laboratorio compatible con la fórmula.</a:t>
            </a:r>
          </a:p>
          <a:p xmlns:a="http://schemas.openxmlformats.org/drawingml/2006/main">
            <a:r>
              <a:t/>
            </a:r>
          </a:p>
          <a:p xmlns:a="http://schemas.openxmlformats.org/drawingml/2006/main">
            <a:r>
              <a:t>DATOS Y RAZONAMIENTO COMPLETO</a:t>
            </a:r>
          </a:p>
          <a:p xmlns:a="http://schemas.openxmlformats.org/drawingml/2006/main">
            <a:r>
              <a:t>Escenario construido para enseñanza. Diarrea acuosa de 24 horas, menor ingestión de leche y debilidad. Se obtiene la muestra al iniciar la evaluación. No se ha identificado el agente causal.</a:t>
            </a:r>
          </a:p>
          <a:p xmlns:a="http://schemas.openxmlformats.org/drawingml/2006/main">
            <a:r>
              <a:t>Sangre venosa yugular; valores expresados a 37 °C para este ejercicio.</a:t>
            </a:r>
          </a:p>
          <a:p xmlns:a="http://schemas.openxmlformats.org/drawingml/2006/main">
            <a:r>
              <a:t>Valores sintéticos matemáticamente coherentes. No corresponden a un paciente ni se tomaron de una tabla de resultados publicada.</a:t>
            </a:r>
          </a:p>
          <a:p xmlns:a="http://schemas.openxmlformats.org/drawingml/2006/main">
            <a:r>
              <a:t>Para nombrar acidemia en este ejercicio se utiliza el criterio pH venoso &lt;7,35 aplicado por Jung et al. a terneros Hanwoo con diarrea. Es una clasificación del estudio, no un intervalo validado para todas las razas, edades o analizadores.</a:t>
            </a:r>
          </a:p>
          <a:p xmlns:a="http://schemas.openxmlformats.org/drawingml/2006/main">
            <a:r>
              <a:t/>
            </a:r>
          </a:p>
          <a:p xmlns:a="http://schemas.openxmlformats.org/drawingml/2006/main">
            <a:r>
              <a:t>Resultado del pH: 7,15 cumple el criterio de acidemia seleccionado para el ejercicio.</a:t>
            </a:r>
          </a:p>
          <a:p xmlns:a="http://schemas.openxmlformats.org/drawingml/2006/main">
            <a:r>
              <a:t/>
            </a:r>
          </a:p>
          <a:p xmlns:a="http://schemas.openxmlformats.org/drawingml/2006/main">
            <a:r>
              <a:t>Componente principal: HCO₃⁻ de 10 mmol/L, acidemia y diarrea apoyan acidosis metabólica.</a:t>
            </a:r>
          </a:p>
          <a:p xmlns:a="http://schemas.openxmlformats.org/drawingml/2006/main">
            <a:r>
              <a:t/>
            </a:r>
          </a:p>
          <a:p xmlns:a="http://schemas.openxmlformats.org/drawingml/2006/main">
            <a:r>
              <a:t>Dirección de la respuesta: Una disminución de PCO₂ atenúa el descenso del pH. No se usa una ecuación canina para decidir si 30 mmHg es una compensación bovina adecuada.</a:t>
            </a:r>
          </a:p>
          <a:p xmlns:a="http://schemas.openxmlformats.org/drawingml/2006/main">
            <a:r>
              <a:t/>
            </a:r>
          </a:p>
          <a:p xmlns:a="http://schemas.openxmlformats.org/drawingml/2006/main">
            <a:r>
              <a:t>Cálculo y límite: AG = (135 + 4,8) − (102 + 10) = 27,8 mmol/L. Hace falta el intervalo del laboratorio y el contexto proteico para clasificarla; no demuestra lactacidemia.</a:t>
            </a:r>
          </a:p>
          <a:p xmlns:a="http://schemas.openxmlformats.org/drawingml/2006/main">
            <a:r>
              <a:t/>
            </a:r>
          </a:p>
          <a:p xmlns:a="http://schemas.openxmlformats.org/drawingml/2006/main">
            <a:r>
              <a:t>Lo que falta: Considerar pérdidas digestivas, perfusión y fermentación. Diferenciar L-lactato de D-lactato y no inferir el agente causal a partir de la gasometría.</a:t>
            </a:r>
          </a:p>
          <a:p xmlns:a="http://schemas.openxmlformats.org/drawingml/2006/main">
            <a:r>
              <a:t/>
            </a:r>
          </a:p>
          <a:p xmlns:a="http://schemas.openxmlformats.org/drawingml/2006/main">
            <a:r>
              <a:t>RESPUESTAS DISCUTIDAS</a:t>
            </a:r>
          </a:p>
          <a:p xmlns:a="http://schemas.openxmlformats.org/drawingml/2006/main">
            <a:r>
              <a:t>Correcta: Acidosis metabólica; causa por caracterizar.</a:t>
            </a:r>
          </a:p>
          <a:p xmlns:a="http://schemas.openxmlformats.org/drawingml/2006/main">
            <a:r>
              <a:t>El pH bajo y el HCO₃⁻ reducido apoyan un proceso metabólico acidificante. La causa exacta y la adecuación de la respuesta requieren más información.</a:t>
            </a:r>
          </a:p>
          <a:p xmlns:a="http://schemas.openxmlformats.org/drawingml/2006/main">
            <a:r>
              <a:t/>
            </a:r>
          </a:p>
          <a:p xmlns:a="http://schemas.openxmlformats.org/drawingml/2006/main">
            <a:r>
              <a:t>Incorrecta: Alcalosis respiratoria como única explicación.</a:t>
            </a:r>
          </a:p>
          <a:p xmlns:a="http://schemas.openxmlformats.org/drawingml/2006/main">
            <a:r>
              <a:t>La PCO₂ baja no explica por sí sola la acidemia; debe relacionarse con el bicarbonato marcadamente reducido y el contexto.</a:t>
            </a:r>
          </a:p>
          <a:p xmlns:a="http://schemas.openxmlformats.org/drawingml/2006/main">
            <a:r>
              <a:t/>
            </a:r>
          </a:p>
          <a:p xmlns:a="http://schemas.openxmlformats.org/drawingml/2006/main">
            <a:r>
              <a:t>Incorrecta: Acidosis por D-lactato demostrada.</a:t>
            </a:r>
          </a:p>
          <a:p xmlns:a="http://schemas.openxmlformats.org/drawingml/2006/main">
            <a:r>
              <a:t>No se midió D-lactato. Ni el pH ni la brecha identifican por sí solos el anión responsable.</a:t>
            </a:r>
          </a:p>
          <a:p xmlns:a="http://schemas.openxmlformats.org/drawingml/2006/main">
            <a:r>
              <a:t/>
            </a:r>
          </a:p>
          <a:p xmlns:a="http://schemas.openxmlformats.org/drawingml/2006/main">
            <a:r>
              <a:t>Comprobación matemática: 6,1 + log₁₀[10/(0,03 × 30)] = 7.145757490560675; redondeado 7,15. (135 + 4,8) − (102 + 10) = 27,8 mmol/L.</a:t>
            </a:r>
          </a:p>
          <a:p xmlns:a="http://schemas.openxmlformats.org/drawingml/2006/main">
            <a:r>
              <a:t/>
            </a:r>
          </a:p>
          <a:p xmlns:a="http://schemas.openxmlformats.org/drawingml/2006/main">
            <a:r>
              <a:t>IMAGEN</a:t>
            </a:r>
          </a:p>
          <a:p xmlns:a="http://schemas.openxmlformats.org/drawingml/2006/main">
            <a:r>
              <a:t>Ilustración contextual generada con IA para enseñanza. No corresponde a un paciente real.</a:t>
            </a:r>
          </a:p>
          <a:p xmlns:a="http://schemas.openxmlformats.org/drawingml/2006/main">
            <a:r>
              <a:t/>
            </a:r>
          </a:p>
          <a:p xmlns:a="http://schemas.openxmlformats.org/drawingml/2006/main">
            <a:r>
              <a:t>REFERENCIAS VANCOUVER</a:t>
            </a:r>
          </a:p>
          <a:p xmlns:a="http://schemas.openxmlformats.org/drawingml/2006/main">
            <a:r>
              <a:t>3. Cornell University. Response to disturbances [Internet]. eClinPath; [citado 17 oct 2026]. Disponible en: https://eclinpath.com/chemistry/acid-base/compensation/</a:t>
            </a:r>
          </a:p>
          <a:p xmlns:a="http://schemas.openxmlformats.org/drawingml/2006/main">
            <a:r>
              <a:t/>
            </a:r>
          </a:p>
          <a:p xmlns:a="http://schemas.openxmlformats.org/drawingml/2006/main">
            <a:r>
              <a:t>7. Cornell University. Bicarbonate [Internet]. eClinPath; [citado 17 oct 2026]. Disponible en: https://eclinpath.com/chemistry/acid-base/chemistry-tests/bicarbonate/</a:t>
            </a:r>
          </a:p>
          <a:p xmlns:a="http://schemas.openxmlformats.org/drawingml/2006/main">
            <a:r>
              <a:t/>
            </a:r>
          </a:p>
          <a:p xmlns:a="http://schemas.openxmlformats.org/drawingml/2006/main">
            <a:r>
              <a:t>10. Cornell University. Anion gap [Internet]. eClinPath; [citado 17 oct 2026]. Disponible en: https://eclinpath.com/chemistry/acid-base/chemistry-tests/anion-gap/</a:t>
            </a:r>
          </a:p>
          <a:p xmlns:a="http://schemas.openxmlformats.org/drawingml/2006/main">
            <a:r>
              <a:t/>
            </a:r>
          </a:p>
          <a:p xmlns:a="http://schemas.openxmlformats.org/drawingml/2006/main">
            <a:r>
              <a:t>11. Jung Y, Ku JY, Kim B, Kim Y, Park KM, Baek J, et al. Determining lactate concentrations in Korean indigenous calves and evaluating its role as a predictor for acidemia in calf diarrhea. BMC Vet Res. 2024;20:373. Disponible en: https://doi.org/10.1186/s12917-024-04235-0</a:t>
            </a:r>
          </a:p>
          <a:p xmlns:a="http://schemas.openxmlformats.org/drawingml/2006/main">
            <a:r>
              <a:t/>
            </a:r>
          </a:p>
          <a:p xmlns:a="http://schemas.openxmlformats.org/drawingml/2006/main">
            <a:r>
              <a:t>12. Burgos RA, Manosalva C, Alarcón P, Navarro M, Quiroga J, Morán G, et al. The D-lactate enigma: exploring the inflammatory influence of D-lactate in cattle. Front Vet Sci. 2024;11:1509399. Disponible en: https://doi.org/10.3389/fvets.2024.1509399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GUION DE EXPOSICIÓN</a:t>
            </a:r>
          </a:p>
          <a:p xmlns:a="http://schemas.openxmlformats.org/drawingml/2006/main">
            <a:r>
              <a:t>Comparar el panel previo con el actual antes de nombrar el trastorno. En el caso, la ventilación alveolar disminuye durante anestesia y a los veinte minutos aumenta PCO₂ mientras desciende pH. La secuencia es compatible con acidosis respiratoria aguda por retención de CO₂. El aumento discreto de HCO₃⁻ puede acompañar la amortiguación inicial; no acredita adaptación renal crónica completa. El dato previo es comparación del mismo escenario sintético, no un intervalo poblacional canino. Tampoco se ha dado PaO₂ para evaluar oxigenación.</a:t>
            </a:r>
          </a:p>
          <a:p xmlns:a="http://schemas.openxmlformats.org/drawingml/2006/main">
            <a:r>
              <a:t/>
            </a:r>
          </a:p>
          <a:p xmlns:a="http://schemas.openxmlformats.org/drawingml/2006/main">
            <a:r>
              <a:t>DATOS Y RAZONAMIENTO COMPLETO</a:t>
            </a:r>
          </a:p>
          <a:p xmlns:a="http://schemas.openxmlformats.org/drawingml/2006/main">
            <a:r>
              <a:t>Escenario construido para enseñanza. Durante anestesia, disminuye la ventilación alveolar. A los 20 minutos se obtiene una gasometría arterial. En este escenario se dispone de una medición previa para comparar.</a:t>
            </a:r>
          </a:p>
          <a:p xmlns:a="http://schemas.openxmlformats.org/drawingml/2006/main">
            <a:r>
              <a:t>Sangre arterial antes y durante el episodio; valores expresados a 37 °C para este ejercicio.</a:t>
            </a:r>
          </a:p>
          <a:p xmlns:a="http://schemas.openxmlformats.org/drawingml/2006/main">
            <a:r>
              <a:t>Ambos paneles son sintéticos. El valor previo es un punto de comparación del mismo caso, no un intervalo poblacional canino.</a:t>
            </a:r>
          </a:p>
          <a:p xmlns:a="http://schemas.openxmlformats.org/drawingml/2006/main">
            <a:r>
              <a:t>Se interpreta la secuencia conocida de hipoventilación, aumento de PCO₂ y descenso de pH. No se presenta un rango de referencia universal.</a:t>
            </a:r>
          </a:p>
          <a:p xmlns:a="http://schemas.openxmlformats.org/drawingml/2006/main">
            <a:r>
              <a:t/>
            </a:r>
          </a:p>
          <a:p xmlns:a="http://schemas.openxmlformats.org/drawingml/2006/main">
            <a:r>
              <a:t>Cambio del pH: El pH pasó de 7,40 a 7,28: la dirección del cambio es acidificante.</a:t>
            </a:r>
          </a:p>
          <a:p xmlns:a="http://schemas.openxmlformats.org/drawingml/2006/main">
            <a:r>
              <a:t/>
            </a:r>
          </a:p>
          <a:p xmlns:a="http://schemas.openxmlformats.org/drawingml/2006/main">
            <a:r>
              <a:t>Cambio primario compatible: PCO₂ de 40 a 60 mmHg junto a hipoventilación: retención de CO₂, compatible con acidosis respiratoria.</a:t>
            </a:r>
          </a:p>
          <a:p xmlns:a="http://schemas.openxmlformats.org/drawingml/2006/main">
            <a:r>
              <a:t/>
            </a:r>
          </a:p>
          <a:p xmlns:a="http://schemas.openxmlformats.org/drawingml/2006/main">
            <a:r>
              <a:t>Respuesta reciente: El HCO₃⁻ discretamente mayor es compatible con amortiguación inicial. No debe llamarse compensación renal completa.</a:t>
            </a:r>
          </a:p>
          <a:p xmlns:a="http://schemas.openxmlformats.org/drawingml/2006/main">
            <a:r>
              <a:t/>
            </a:r>
          </a:p>
          <a:p xmlns:a="http://schemas.openxmlformats.org/drawingml/2006/main">
            <a:r>
              <a:t>Límites de la conclusión: Los datos no identifican por sí solos la causa de hipoventilación ni cuantifican la oxigenación; no se proporcionó PaO₂.</a:t>
            </a:r>
          </a:p>
          <a:p xmlns:a="http://schemas.openxmlformats.org/drawingml/2006/main">
            <a:r>
              <a:t/>
            </a:r>
          </a:p>
          <a:p xmlns:a="http://schemas.openxmlformats.org/drawingml/2006/main">
            <a:r>
              <a:t>RESPUESTAS DISCUTIDAS</a:t>
            </a:r>
          </a:p>
          <a:p xmlns:a="http://schemas.openxmlformats.org/drawingml/2006/main">
            <a:r>
              <a:t>Correcta: Acidosis respiratoria aguda por retención de CO₂.</a:t>
            </a:r>
          </a:p>
          <a:p xmlns:a="http://schemas.openxmlformats.org/drawingml/2006/main">
            <a:r>
              <a:t>La PCO₂ aumentó mientras cayó el pH y se documentó menor ventilación alveolar. La secuencia apoya el mecanismo respiratorio.</a:t>
            </a:r>
          </a:p>
          <a:p xmlns:a="http://schemas.openxmlformats.org/drawingml/2006/main">
            <a:r>
              <a:t/>
            </a:r>
          </a:p>
          <a:p xmlns:a="http://schemas.openxmlformats.org/drawingml/2006/main">
            <a:r>
              <a:t>Incorrecta: Alcalosis metabólica primaria.</a:t>
            </a:r>
          </a:p>
          <a:p xmlns:a="http://schemas.openxmlformats.org/drawingml/2006/main">
            <a:r>
              <a:t>Un aumento discreto de HCO₃⁻ puede acompañar la amortiguación de un cambio respiratorio agudo. No explica el descenso de pH como proceso único.</a:t>
            </a:r>
          </a:p>
          <a:p xmlns:a="http://schemas.openxmlformats.org/drawingml/2006/main">
            <a:r>
              <a:t/>
            </a:r>
          </a:p>
          <a:p xmlns:a="http://schemas.openxmlformats.org/drawingml/2006/main">
            <a:r>
              <a:t>Incorrecta: Compensación renal crónica completa.</a:t>
            </a:r>
          </a:p>
          <a:p xmlns:a="http://schemas.openxmlformats.org/drawingml/2006/main">
            <a:r>
              <a:t>Veinte minutos y estos valores no demuestran adaptación renal crónica; el tiempo y la evolución importan.</a:t>
            </a:r>
          </a:p>
          <a:p xmlns:a="http://schemas.openxmlformats.org/drawingml/2006/main">
            <a:r>
              <a:t/>
            </a:r>
          </a:p>
          <a:p xmlns:a="http://schemas.openxmlformats.org/drawingml/2006/main">
            <a:r>
              <a:t>Comprobación matemática: punto previo 7.401029995663981 y actual 6,1 + log₁₀[27/(0,03 × 60)] = 7.276091259055681; redondeados 7,40 y 7,28.</a:t>
            </a:r>
          </a:p>
          <a:p xmlns:a="http://schemas.openxmlformats.org/drawingml/2006/main">
            <a:r>
              <a:t/>
            </a:r>
          </a:p>
          <a:p xmlns:a="http://schemas.openxmlformats.org/drawingml/2006/main">
            <a:r>
              <a:t>IMAGEN</a:t>
            </a:r>
          </a:p>
          <a:p xmlns:a="http://schemas.openxmlformats.org/drawingml/2006/main">
            <a:r>
              <a:t>Ilustración contextual generada con IA para enseñanza. No corresponde a un paciente real.</a:t>
            </a:r>
          </a:p>
          <a:p xmlns:a="http://schemas.openxmlformats.org/drawingml/2006/main">
            <a:r>
              <a:t/>
            </a:r>
          </a:p>
          <a:p xmlns:a="http://schemas.openxmlformats.org/drawingml/2006/main">
            <a:r>
              <a:t>REFERENCIAS VANCOUVER</a:t>
            </a:r>
          </a:p>
          <a:p xmlns:a="http://schemas.openxmlformats.org/drawingml/2006/main">
            <a:r>
              <a:t>1. Cornell University. Overview [Internet]. eClinPath; [citado 17 oct 2026]. Disponible en: https://eclinpath.com/chemistry/acid-base/overview/</a:t>
            </a:r>
          </a:p>
          <a:p xmlns:a="http://schemas.openxmlformats.org/drawingml/2006/main">
            <a:r>
              <a:t/>
            </a:r>
          </a:p>
          <a:p xmlns:a="http://schemas.openxmlformats.org/drawingml/2006/main">
            <a:r>
              <a:t>3. Cornell University. Response to disturbances [Internet]. eClinPath; [citado 17 oct 2026]. Disponible en: https://eclinpath.com/chemistry/acid-base/compensation/</a:t>
            </a:r>
          </a:p>
          <a:p xmlns:a="http://schemas.openxmlformats.org/drawingml/2006/main">
            <a:r>
              <a:t/>
            </a:r>
          </a:p>
          <a:p xmlns:a="http://schemas.openxmlformats.org/drawingml/2006/main">
            <a:r>
              <a:t>4. Cornell University. Types of disturbances [Internet]. eClinPath; [citado 17 oct 2026]. Disponible en: https://eclinpath.com/chemistry/acid-base/types-of-disturbances/</a:t>
            </a:r>
          </a:p>
          <a:p xmlns:a="http://schemas.openxmlformats.org/drawingml/2006/main">
            <a:r>
              <a:t/>
            </a:r>
          </a:p>
          <a:p xmlns:a="http://schemas.openxmlformats.org/drawingml/2006/main">
            <a:r>
              <a:t>9. Cornell University. Laboratory detection [Internet]. eClinPath; [citado 17 oct 2026]. Disponible en: https://eclinpath.com/chemistry/acid-base/laboratory-detection/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GUION DE EXPOSICIÓN</a:t>
            </a:r>
          </a:p>
          <a:p xmlns:a="http://schemas.openxmlformats.org/drawingml/2006/main">
            <a:r>
              <a:t>Bibliografía en orden de primera aparición. Las diapositivas conservan los números canónicos del informe y del contenido de la exposición. Se presentan títulos abreviados para lectura proyectada; estas notas incluyen las referencias completas y sus URL. Fuentes consultadas el 17 y 18 de octubre de 2026.</a:t>
            </a:r>
          </a:p>
          <a:p xmlns:a="http://schemas.openxmlformats.org/drawingml/2006/main">
            <a:r>
              <a:t/>
            </a:r>
          </a:p>
          <a:p xmlns:a="http://schemas.openxmlformats.org/drawingml/2006/main">
            <a:r>
              <a:t>1. Cornell University. Overview [Internet]. eClinPath; [citado 17 oct 2026]. Disponible en: https://eclinpath.com/chemistry/acid-base/overview/</a:t>
            </a:r>
          </a:p>
          <a:p xmlns:a="http://schemas.openxmlformats.org/drawingml/2006/main">
            <a:r>
              <a:t/>
            </a:r>
          </a:p>
          <a:p xmlns:a="http://schemas.openxmlformats.org/drawingml/2006/main">
            <a:r>
              <a:t>2. Baquero-Parrado JR. Consideraciones clínicas y regulación del equilibrio ácido-base en ganado bovino. Rev UDCA Actual Divulg Cient. 2008;11(2):85-100. Disponible en: https://doi.org/10.31910/rudca.v11.n2.2008.626</a:t>
            </a:r>
          </a:p>
          <a:p xmlns:a="http://schemas.openxmlformats.org/drawingml/2006/main">
            <a:r>
              <a:t/>
            </a:r>
          </a:p>
          <a:p xmlns:a="http://schemas.openxmlformats.org/drawingml/2006/main">
            <a:r>
              <a:t>3. Cornell University. Response to disturbances [Internet]. eClinPath; [citado 17 oct 2026]. Disponible en: https://eclinpath.com/chemistry/acid-base/compensation/</a:t>
            </a:r>
          </a:p>
          <a:p xmlns:a="http://schemas.openxmlformats.org/drawingml/2006/main">
            <a:r>
              <a:t/>
            </a:r>
          </a:p>
          <a:p xmlns:a="http://schemas.openxmlformats.org/drawingml/2006/main">
            <a:r>
              <a:t>4. Cornell University. Types of disturbances [Internet]. eClinPath; [citado 17 oct 2026]. Disponible en: https://eclinpath.com/chemistry/acid-base/types-of-disturbances/</a:t>
            </a:r>
          </a:p>
          <a:p xmlns:a="http://schemas.openxmlformats.org/drawingml/2006/main">
            <a:r>
              <a:t/>
            </a:r>
          </a:p>
          <a:p xmlns:a="http://schemas.openxmlformats.org/drawingml/2006/main">
            <a:r>
              <a:t>5. Abnormal ventilation, abnormal gas exchange [material docente en Internet]. Columbia University; [sin fecha] [citado 18 oct 2026]. p. 6. Disponible en: https://www.columbia.edu/itc/hs/medical/pathophys/pulmonary/2008/abnormalColor.pdf</a:t>
            </a:r>
          </a:p>
          <a:p xmlns:a="http://schemas.openxmlformats.org/drawingml/2006/main">
            <a:r>
              <a:t/>
            </a:r>
          </a:p>
          <a:p xmlns:a="http://schemas.openxmlformats.org/drawingml/2006/main">
            <a:r>
              <a:t>6. Cornell University. Physiology [Internet]. eClinPath; [citado 17 oct 2026]. Disponible en: https://eclinpath.com/chemistry/kidney/physiology/</a:t>
            </a:r>
          </a:p>
          <a:p xmlns:a="http://schemas.openxmlformats.org/drawingml/2006/main">
            <a:r>
              <a:t/>
            </a:r>
          </a:p>
          <a:p xmlns:a="http://schemas.openxmlformats.org/drawingml/2006/main">
            <a:r>
              <a:t>7. Cornell University. Bicarbonate [Internet]. eClinPath; [citado 17 oct 2026]. Disponible en: https://eclinpath.com/chemistry/acid-base/chemistry-tests/bicarbonate/</a:t>
            </a:r>
          </a:p>
          <a:p xmlns:a="http://schemas.openxmlformats.org/drawingml/2006/main">
            <a:r>
              <a:t/>
            </a:r>
          </a:p>
          <a:p xmlns:a="http://schemas.openxmlformats.org/drawingml/2006/main">
            <a:r>
              <a:t>8. Braun U, Nuss K, Reif S, Hilbe M, Gerspach C. Left and right displaced abomasum and abomasal volvulus: comparison of clinical, laboratory and ultrasonographic findings in 1982 dairy cows. Acta Vet Scand. 2022;64:40. Disponible en: https://doi.org/10.1186/s13028-022-00656-9</a:t>
            </a:r>
          </a:p>
          <a:p xmlns:a="http://schemas.openxmlformats.org/drawingml/2006/main">
            <a:r>
              <a:t/>
            </a:r>
          </a:p>
          <a:p xmlns:a="http://schemas.openxmlformats.org/drawingml/2006/main">
            <a:r>
              <a:t>9. Cornell University. Laboratory detection [Internet]. eClinPath; [citado 17 oct 2026]. Disponible en: https://eclinpath.com/chemistry/acid-base/laboratory-detection/</a:t>
            </a:r>
          </a:p>
          <a:p xmlns:a="http://schemas.openxmlformats.org/drawingml/2006/main">
            <a:r>
              <a:t/>
            </a:r>
          </a:p>
          <a:p xmlns:a="http://schemas.openxmlformats.org/drawingml/2006/main">
            <a:r>
              <a:t>10. Cornell University. Anion gap [Internet]. eClinPath; [citado 17 oct 2026]. Disponible en: https://eclinpath.com/chemistry/acid-base/chemistry-tests/anion-gap/</a:t>
            </a:r>
          </a:p>
          <a:p xmlns:a="http://schemas.openxmlformats.org/drawingml/2006/main">
            <a:r>
              <a:t/>
            </a:r>
          </a:p>
          <a:p xmlns:a="http://schemas.openxmlformats.org/drawingml/2006/main">
            <a:r>
              <a:t>11. Jung Y, Ku JY, Kim B, Kim Y, Park KM, Baek J, et al. Determining lactate concentrations in Korean indigenous calves and evaluating its role as a predictor for acidemia in calf diarrhea. BMC Vet Res. 2024;20:373. Disponible en: https://doi.org/10.1186/s12917-024-04235-0</a:t>
            </a:r>
          </a:p>
          <a:p xmlns:a="http://schemas.openxmlformats.org/drawingml/2006/main">
            <a:r>
              <a:t/>
            </a:r>
          </a:p>
          <a:p xmlns:a="http://schemas.openxmlformats.org/drawingml/2006/main">
            <a:r>
              <a:t>12. Burgos RA, Manosalva C, Alarcón P, Navarro M, Quiroga J, Morán G, et al. The D-lactate enigma: exploring the inflammatory influence of D-lactate in cattle. Front Vet Sci. 2024;11:1509399. Disponible en: https://doi.org/10.3389/fvets.2024.1509399</a:t>
            </a:r>
          </a:p>
          <a:p xmlns:a="http://schemas.openxmlformats.org/drawingml/2006/main">
            <a:r>
              <a:t/>
            </a:r>
          </a:p>
          <a:p xmlns:a="http://schemas.openxmlformats.org/drawingml/2006/main">
            <a:r>
              <a:t>MATERIALES DE LA EXPOSICIÓN</a:t>
            </a:r>
          </a:p>
          <a:p xmlns:a="http://schemas.openxmlformats.org/drawingml/2006/main">
            <a:r>
              <a:t>https://vetjb.com/exposiciones/fisiopatologia/equilibrio-acido-base/</a:t>
            </a:r>
          </a:p>
          <a:p xmlns:a="http://schemas.openxmlformats.org/drawingml/2006/main">
            <a:r>
              <a:t>La página reúne los materiales de estudio y las versiones descargables.</a:t>
            </a:r>
          </a:p>
          <a:p xmlns:a="http://schemas.openxmlformats.org/drawingml/2006/main">
            <a:r>
              <a:t/>
            </a:r>
          </a:p>
          <a:p xmlns:a="http://schemas.openxmlformats.org/drawingml/2006/main">
            <a:r>
              <a:t>REFERENCIAS VANCOUVER</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75e667d6ed147b7"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5092a98a622e4bf4"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f6e8b1d2c78f4cc7"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60581e0644d44c4b"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1098b89504134131"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29b81277c292467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B99C897-ADC3-4563-8CCF-00D4C299AE2A}"/>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B6063AF7-9D90-4C8E-968B-15E74C5456F5}"/>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DFE78840-27F9-4ED3-AC6A-03F32DE763B4}"/>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F6F71F0-2605-43DC-85F1-DBA471D7407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61D96B82-698B-4AD8-8F71-F5C883D48D0C}"/>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50E9E580-E08D-45C6-B8FD-4AA5194E28E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37D1F2F-74F0-430B-8E7C-ABBCE323EF8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DA9EBD32-8BD3-4216-8575-877204041203}"/>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B58125A-D5FD-4B3A-A877-6A36F4A3CCE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BFC33CD-30B6-4A66-AF2B-B592E1D141B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92565a716d54f7c" /><Relationship Type="http://schemas.openxmlformats.org/officeDocument/2006/relationships/slideLayout" Target="/ppt/slideLayouts/slideLayout1.xml" Id="Rb6ebdd4afcad4125" /><Relationship Type="http://schemas.openxmlformats.org/officeDocument/2006/relationships/slideLayout" Target="/ppt/slideLayouts/slideLayout2.xml" Id="R1c665fa81afb434d" /><Relationship Type="http://schemas.openxmlformats.org/officeDocument/2006/relationships/slideLayout" Target="/ppt/slideLayouts/slideLayout3.xml" Id="R7ee187053ff54892" /><Relationship Type="http://schemas.openxmlformats.org/officeDocument/2006/relationships/slideLayout" Target="/ppt/slideLayouts/slideLayout4.xml" Id="R9f1ca5339cd640dd" /><Relationship Type="http://schemas.openxmlformats.org/officeDocument/2006/relationships/slideLayout" Target="/ppt/slideLayouts/slideLayout5.xml" Id="R96d6bad6aca04776" /><Relationship Type="http://schemas.openxmlformats.org/officeDocument/2006/relationships/slideLayout" Target="/ppt/slideLayouts/slideLayout6.xml" Id="R882a6b88cbff4e3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6ebdd4afcad4125"/>
    <p:sldLayoutId xmlns:r="http://schemas.openxmlformats.org/officeDocument/2006/relationships" id="2147483650" r:id="R1c665fa81afb434d"/>
    <p:sldLayoutId xmlns:r="http://schemas.openxmlformats.org/officeDocument/2006/relationships" id="2147483651" r:id="R7ee187053ff54892"/>
    <p:sldLayoutId xmlns:r="http://schemas.openxmlformats.org/officeDocument/2006/relationships" id="2147483652" r:id="R9f1ca5339cd640dd"/>
    <p:sldLayoutId xmlns:r="http://schemas.openxmlformats.org/officeDocument/2006/relationships" id="2147483653" r:id="R96d6bad6aca04776"/>
    <p:sldLayoutId xmlns:r="http://schemas.openxmlformats.org/officeDocument/2006/relationships" id="2147483654" r:id="R882a6b88cbff4e3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15d2c71ec78742c6" /><Relationship Type="http://schemas.openxmlformats.org/officeDocument/2006/relationships/notesSlide" Target="/ppt/notesSlides/notesSlide1.xml" Id="R4653aa9d97904860"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1009f25e6b5f4ed8" /><Relationship Type="http://schemas.openxmlformats.org/officeDocument/2006/relationships/notesSlide" Target="/ppt/notesSlides/notesSlide2.xml" Id="R91c473ca1411437c"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5ba9921ffdaa4e23" /><Relationship Type="http://schemas.openxmlformats.org/officeDocument/2006/relationships/notesSlide" Target="/ppt/notesSlides/notesSlide3.xml" Id="Rd4b8ba2608ad432e"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34b68db09b224564" /><Relationship Type="http://schemas.openxmlformats.org/officeDocument/2006/relationships/notesSlide" Target="/ppt/notesSlides/notesSlide4.xml" Id="R360ba09b61ee4e88"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52dd05b19e344058" /><Relationship Type="http://schemas.openxmlformats.org/officeDocument/2006/relationships/image" Target="/ppt/media/image.png" Id="R680880ac8079442c" /><Relationship Type="http://schemas.openxmlformats.org/officeDocument/2006/relationships/notesSlide" Target="/ppt/notesSlides/notesSlide5.xml" Id="R97d37e0121af4bd2"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020669b2b9f14945" /><Relationship Type="http://schemas.openxmlformats.org/officeDocument/2006/relationships/image" Target="/ppt/media/image2.png" Id="R303f175439f14f48" /><Relationship Type="http://schemas.openxmlformats.org/officeDocument/2006/relationships/notesSlide" Target="/ppt/notesSlides/notesSlide6.xml" Id="Rfd9154deae4147f9"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161438a815fa4204" /><Relationship Type="http://schemas.openxmlformats.org/officeDocument/2006/relationships/image" Target="/ppt/media/image3.png" Id="R487e3612ae7041e9" /><Relationship Type="http://schemas.openxmlformats.org/officeDocument/2006/relationships/notesSlide" Target="/ppt/notesSlides/notesSlide7.xml" Id="R6f74837058dd44ce"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30608082df464d7c" /><Relationship Type="http://schemas.openxmlformats.org/officeDocument/2006/relationships/notesSlide" Target="/ppt/notesSlides/notesSlide8.xml" Id="R9c854b82fc9a4a73"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0fc40ddcba1e4528" /><Relationship Type="http://schemas.openxmlformats.org/officeDocument/2006/relationships/notesSlide" Target="/ppt/notesSlides/notesSlide9.xml" Id="R10c3638e2d66459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21121caba35140e2" /><Relationship Type="http://schemas.openxmlformats.org/officeDocument/2006/relationships/notesSlide" Target="/ppt/notesSlides/notesSlide10.xml" Id="R9be6ac253f9f4418"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ff06b8d643ec4ac8" /><Relationship Type="http://schemas.openxmlformats.org/officeDocument/2006/relationships/chart" Target="/ppt/slides/charts/chart1.xml" Id="R3477422ed5db48e6" /><Relationship Type="http://schemas.openxmlformats.org/officeDocument/2006/relationships/notesSlide" Target="/ppt/notesSlides/notesSlide11.xml" Id="R878a3b10f2f641e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f55ea7c44a1c4f01" /><Relationship Type="http://schemas.openxmlformats.org/officeDocument/2006/relationships/notesSlide" Target="/ppt/notesSlides/notesSlide12.xml" Id="Ra0e22e1c28774a0e"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ee2405ae5dc24204" /><Relationship Type="http://schemas.openxmlformats.org/officeDocument/2006/relationships/image" Target="/ppt/media/image4.png" Id="Re593b12cb0b9463f" /><Relationship Type="http://schemas.openxmlformats.org/officeDocument/2006/relationships/notesSlide" Target="/ppt/notesSlides/notesSlide13.xml" Id="Rd49d018f727e4d7f"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85fc49b9d16543f6" /><Relationship Type="http://schemas.openxmlformats.org/officeDocument/2006/relationships/image" Target="/ppt/media/image5.png" Id="Rc46e4817592a43aa" /><Relationship Type="http://schemas.openxmlformats.org/officeDocument/2006/relationships/notesSlide" Target="/ppt/notesSlides/notesSlide14.xml" Id="R36ad5ada01ec4572"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8bd7df698f464aeb" /><Relationship Type="http://schemas.openxmlformats.org/officeDocument/2006/relationships/notesSlide" Target="/ppt/notesSlides/notesSlide15.xml" Id="Rcb16c3f6adcb4d0e"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scatterChart>
        <c:scatterStyle val="line"/>
        <c:varyColors val="0"/>
        <c:ser>
          <c:idx val="0"/>
          <c:order val="0"/>
          <c:tx>
            <c:v>HCO₃⁻ 12 mmol/L</c:v>
          </c:tx>
          <c:spPr>
            <a:solidFill xmlns:a="http://schemas.openxmlformats.org/drawingml/2006/main">
              <a:srgbClr val="7DAA78"/>
            </a:solidFill>
            <a:ln xmlns:a="http://schemas.openxmlformats.org/drawingml/2006/main" w="28575">
              <a:solidFill>
                <a:srgbClr val="7DAA78"/>
              </a:solidFill>
              <a:prstDash val="solid"/>
            </a:ln>
          </c:spPr>
          <c:marker>
            <c:symbol val="none"/>
          </c:marker>
          <c:xVal>
            <c:numRef>
              <c:f>'Chart Data'!$A$2:$A$14</c:f>
              <c:numCache>
                <c:formatCode>General</c:formatCode>
                <c:ptCount val="13"/>
                <c:pt idx="0">
                  <c:v>20</c:v>
                </c:pt>
                <c:pt idx="1">
                  <c:v>25</c:v>
                </c:pt>
                <c:pt idx="2">
                  <c:v>30</c:v>
                </c:pt>
                <c:pt idx="3">
                  <c:v>35</c:v>
                </c:pt>
                <c:pt idx="4">
                  <c:v>40</c:v>
                </c:pt>
                <c:pt idx="5">
                  <c:v>45</c:v>
                </c:pt>
                <c:pt idx="6">
                  <c:v>50</c:v>
                </c:pt>
                <c:pt idx="7">
                  <c:v>55</c:v>
                </c:pt>
                <c:pt idx="8">
                  <c:v>60</c:v>
                </c:pt>
                <c:pt idx="9">
                  <c:v>65</c:v>
                </c:pt>
                <c:pt idx="10">
                  <c:v>70</c:v>
                </c:pt>
                <c:pt idx="11">
                  <c:v>75</c:v>
                </c:pt>
                <c:pt idx="12">
                  <c:v>80</c:v>
                </c:pt>
              </c:numCache>
            </c:numRef>
          </c:xVal>
          <c:yVal>
            <c:numRef>
              <c:f>'Chart Data'!$B$2:$B$14</c:f>
              <c:numCache>
                <c:formatCode>0.0</c:formatCode>
                <c:ptCount val="13"/>
                <c:pt idx="0">
                  <c:v>7.40103</c:v>
                </c:pt>
                <c:pt idx="1">
                  <c:v>7.30411998</c:v>
                </c:pt>
                <c:pt idx="2">
                  <c:v>7.22493874</c:v>
                </c:pt>
                <c:pt idx="3">
                  <c:v>7.15799195</c:v>
                </c:pt>
                <c:pt idx="4">
                  <c:v>7.1</c:v>
                </c:pt>
                <c:pt idx="5">
                  <c:v>7.04884748</c:v>
                </c:pt>
                <c:pt idx="6">
                  <c:v>7.00308999</c:v>
                </c:pt>
                <c:pt idx="7">
                  <c:v>6.9616973</c:v>
                </c:pt>
                <c:pt idx="8">
                  <c:v>6.92390874</c:v>
                </c:pt>
                <c:pt idx="9">
                  <c:v>6.88914663</c:v>
                </c:pt>
                <c:pt idx="10">
                  <c:v>6.85696195</c:v>
                </c:pt>
                <c:pt idx="11">
                  <c:v>6.82699873</c:v>
                </c:pt>
                <c:pt idx="12">
                  <c:v>6.79897</c:v>
                </c:pt>
              </c:numCache>
            </c:numRef>
          </c:yVal>
        </c:ser>
        <c:ser>
          <c:idx val="1"/>
          <c:order val="1"/>
          <c:tx>
            <c:v>HCO₃⁻ 24 mmol/L</c:v>
          </c:tx>
          <c:spPr>
            <a:solidFill xmlns:a="http://schemas.openxmlformats.org/drawingml/2006/main">
              <a:srgbClr val="367653"/>
            </a:solidFill>
            <a:ln xmlns:a="http://schemas.openxmlformats.org/drawingml/2006/main" w="28575">
              <a:solidFill>
                <a:srgbClr val="367653"/>
              </a:solidFill>
              <a:prstDash val="solid"/>
            </a:ln>
          </c:spPr>
          <c:marker>
            <c:symbol val="none"/>
          </c:marker>
          <c:xVal>
            <c:numRef>
              <c:f>'Chart Data'!$C$2:$C$14</c:f>
              <c:numCache>
                <c:formatCode>General</c:formatCode>
                <c:ptCount val="13"/>
                <c:pt idx="0">
                  <c:v>20</c:v>
                </c:pt>
                <c:pt idx="1">
                  <c:v>25</c:v>
                </c:pt>
                <c:pt idx="2">
                  <c:v>30</c:v>
                </c:pt>
                <c:pt idx="3">
                  <c:v>35</c:v>
                </c:pt>
                <c:pt idx="4">
                  <c:v>40</c:v>
                </c:pt>
                <c:pt idx="5">
                  <c:v>45</c:v>
                </c:pt>
                <c:pt idx="6">
                  <c:v>50</c:v>
                </c:pt>
                <c:pt idx="7">
                  <c:v>55</c:v>
                </c:pt>
                <c:pt idx="8">
                  <c:v>60</c:v>
                </c:pt>
                <c:pt idx="9">
                  <c:v>65</c:v>
                </c:pt>
                <c:pt idx="10">
                  <c:v>70</c:v>
                </c:pt>
                <c:pt idx="11">
                  <c:v>75</c:v>
                </c:pt>
                <c:pt idx="12">
                  <c:v>80</c:v>
                </c:pt>
              </c:numCache>
            </c:numRef>
          </c:xVal>
          <c:yVal>
            <c:numRef>
              <c:f>'Chart Data'!$D$2:$D$14</c:f>
              <c:numCache>
                <c:formatCode>0.0</c:formatCode>
                <c:ptCount val="13"/>
                <c:pt idx="0">
                  <c:v>7.70205999</c:v>
                </c:pt>
                <c:pt idx="1">
                  <c:v>7.60514998</c:v>
                </c:pt>
                <c:pt idx="2">
                  <c:v>7.52596873</c:v>
                </c:pt>
                <c:pt idx="3">
                  <c:v>7.45902194</c:v>
                </c:pt>
                <c:pt idx="4">
                  <c:v>7.40103</c:v>
                </c:pt>
                <c:pt idx="5">
                  <c:v>7.34987747</c:v>
                </c:pt>
                <c:pt idx="6">
                  <c:v>7.30411998</c:v>
                </c:pt>
                <c:pt idx="7">
                  <c:v>7.2627273</c:v>
                </c:pt>
                <c:pt idx="8">
                  <c:v>7.22493874</c:v>
                </c:pt>
                <c:pt idx="9">
                  <c:v>7.19017663</c:v>
                </c:pt>
                <c:pt idx="10">
                  <c:v>7.15799195</c:v>
                </c:pt>
                <c:pt idx="11">
                  <c:v>7.12802872</c:v>
                </c:pt>
                <c:pt idx="12">
                  <c:v>7.1</c:v>
                </c:pt>
              </c:numCache>
            </c:numRef>
          </c:yVal>
        </c:ser>
        <c:ser>
          <c:idx val="2"/>
          <c:order val="2"/>
          <c:tx>
            <c:v>HCO₃⁻ 36 mmol/L</c:v>
          </c:tx>
          <c:spPr>
            <a:solidFill xmlns:a="http://schemas.openxmlformats.org/drawingml/2006/main">
              <a:srgbClr val="174A35"/>
            </a:solidFill>
            <a:ln xmlns:a="http://schemas.openxmlformats.org/drawingml/2006/main" w="28575">
              <a:solidFill>
                <a:srgbClr val="174A35"/>
              </a:solidFill>
              <a:prstDash val="solid"/>
            </a:ln>
          </c:spPr>
          <c:marker>
            <c:symbol val="none"/>
          </c:marker>
          <c:xVal>
            <c:numRef>
              <c:f>'Chart Data'!$E$2:$E$14</c:f>
              <c:numCache>
                <c:formatCode>General</c:formatCode>
                <c:ptCount val="13"/>
                <c:pt idx="0">
                  <c:v>20</c:v>
                </c:pt>
                <c:pt idx="1">
                  <c:v>25</c:v>
                </c:pt>
                <c:pt idx="2">
                  <c:v>30</c:v>
                </c:pt>
                <c:pt idx="3">
                  <c:v>35</c:v>
                </c:pt>
                <c:pt idx="4">
                  <c:v>40</c:v>
                </c:pt>
                <c:pt idx="5">
                  <c:v>45</c:v>
                </c:pt>
                <c:pt idx="6">
                  <c:v>50</c:v>
                </c:pt>
                <c:pt idx="7">
                  <c:v>55</c:v>
                </c:pt>
                <c:pt idx="8">
                  <c:v>60</c:v>
                </c:pt>
                <c:pt idx="9">
                  <c:v>65</c:v>
                </c:pt>
                <c:pt idx="10">
                  <c:v>70</c:v>
                </c:pt>
                <c:pt idx="11">
                  <c:v>75</c:v>
                </c:pt>
                <c:pt idx="12">
                  <c:v>80</c:v>
                </c:pt>
              </c:numCache>
            </c:numRef>
          </c:xVal>
          <c:yVal>
            <c:numRef>
              <c:f>'Chart Data'!$F$2:$F$14</c:f>
              <c:numCache>
                <c:formatCode>0.0</c:formatCode>
                <c:ptCount val="13"/>
                <c:pt idx="0">
                  <c:v>7.87815125</c:v>
                </c:pt>
                <c:pt idx="1">
                  <c:v>7.78124124</c:v>
                </c:pt>
                <c:pt idx="2">
                  <c:v>7.70205999</c:v>
                </c:pt>
                <c:pt idx="3">
                  <c:v>7.6351132</c:v>
                </c:pt>
                <c:pt idx="4">
                  <c:v>7.57712125</c:v>
                </c:pt>
                <c:pt idx="5">
                  <c:v>7.52596873</c:v>
                </c:pt>
                <c:pt idx="6">
                  <c:v>7.48021124</c:v>
                </c:pt>
                <c:pt idx="7">
                  <c:v>7.43881856</c:v>
                </c:pt>
                <c:pt idx="8">
                  <c:v>7.40103</c:v>
                </c:pt>
                <c:pt idx="9">
                  <c:v>7.36626789</c:v>
                </c:pt>
                <c:pt idx="10">
                  <c:v>7.33408321</c:v>
                </c:pt>
                <c:pt idx="11">
                  <c:v>7.30411998</c:v>
                </c:pt>
                <c:pt idx="12">
                  <c:v>7.27609126</c:v>
                </c:pt>
              </c:numCache>
            </c:numRef>
          </c:yVal>
        </c:ser>
        <c:dLbls>
          <c:txPr>
            <a:bodyPr xmlns:a="http://schemas.openxmlformats.org/drawingml/2006/main" anchorCtr="1"/>
            <a:lstStyle xmlns:a="http://schemas.openxmlformats.org/drawingml/2006/main"/>
            <a:p xmlns:a="http://schemas.openxmlformats.org/drawingml/2006/main">
              <a:pPr>
                <a:defRPr>
                  <a:latin typeface="Times New Roman"/>
                  <a:ea typeface="Times New Roman"/>
                  <a:cs typeface="Times New Roman"/>
                </a:defRPr>
              </a:pPr>
            </a:p>
          </c:txPr>
          <c:showLegendKey val="0"/>
          <c:showVal val="0"/>
          <c:showCatName val="0"/>
          <c:showSerName val="0"/>
          <c:showPercent val="0"/>
          <c:showBubbleSize val="0"/>
          <c:showLeaderLines val="0"/>
        </c:dLbls>
        <c:axId val="48650112"/>
        <c:axId val="48672768"/>
      </c:scatterChart>
      <c:valAx>
        <c:axId val="48672768"/>
        <c:scaling>
          <c:orientation val="minMax"/>
          <c:max val="8"/>
          <c:min val="6.8"/>
        </c:scaling>
        <c:delete val="0"/>
        <c:axPos val="l"/>
        <c:majorGridlines>
          <c:spPr>
            <a:ln xmlns:a="http://schemas.openxmlformats.org/drawingml/2006/main" w="9525">
              <a:solidFill>
                <a:srgbClr val="DDE7DB"/>
              </a:solidFill>
              <a:prstDash val="solid"/>
            </a:ln>
          </c:spPr>
        </c:majorGridlines>
        <c:title>
          <c:tx>
            <c:rich>
              <a:bodyPr xmlns:a="http://schemas.openxmlformats.org/drawingml/2006/main"/>
              <a:lstStyle xmlns:a="http://schemas.openxmlformats.org/drawingml/2006/main"/>
              <a:p xmlns:a="http://schemas.openxmlformats.org/drawingml/2006/main">
                <a:r>
                  <a:rPr sz="1800">
                    <a:solidFill>
                      <a:srgbClr val="181818"/>
                    </a:solidFill>
                    <a:latin typeface="Times New Roman"/>
                    <a:ea typeface="Times New Roman"/>
                    <a:cs typeface="Times New Roman"/>
                  </a:rPr>
                  <a:t>pH calculado</a:t>
                </a:r>
              </a:p>
            </c:rich>
          </c:tx>
          <c:overlay val="0"/>
          <c:txPr>
            <a:bodyPr xmlns:a="http://schemas.openxmlformats.org/drawingml/2006/main" anchorCtr="1"/>
            <a:lstStyle xmlns:a="http://schemas.openxmlformats.org/drawingml/2006/main"/>
            <a:p xmlns:a="http://schemas.openxmlformats.org/drawingml/2006/main">
              <a:pPr>
                <a:defRPr sz="1800">
                  <a:solidFill>
                    <a:srgbClr val="181818"/>
                  </a:solidFill>
                  <a:latin typeface="Times New Roman"/>
                  <a:ea typeface="Times New Roman"/>
                  <a:cs typeface="Times New Roman"/>
                </a:defRPr>
              </a:pPr>
            </a:p>
          </c:txPr>
        </c:title>
        <c:numFmt formatCode="0.0"/>
        <c:majorTickMark val="none"/>
        <c:minorTickMark val="none"/>
        <c:spPr>
          <a:ln xmlns:a="http://schemas.openxmlformats.org/drawingml/2006/main" w="9525">
            <a:solidFill>
              <a:srgbClr val="515151"/>
            </a:solidFill>
            <a:prstDash val="solid"/>
          </a:ln>
        </c:spPr>
        <c:txPr>
          <a:bodyPr xmlns:a="http://schemas.openxmlformats.org/drawingml/2006/main" anchorCtr="1"/>
          <a:lstStyle xmlns:a="http://schemas.openxmlformats.org/drawingml/2006/main"/>
          <a:p xmlns:a="http://schemas.openxmlformats.org/drawingml/2006/main">
            <a:pPr>
              <a:defRPr sz="1650">
                <a:solidFill>
                  <a:srgbClr val="181818"/>
                </a:solidFill>
                <a:latin typeface="Times New Roman"/>
                <a:ea typeface="Times New Roman"/>
                <a:cs typeface="Times New Roman"/>
              </a:defRPr>
            </a:pPr>
          </a:p>
        </c:txPr>
        <c:crossAx val="48650112"/>
        <c:majorUnit val="0.2"/>
      </c:valAx>
      <c:valAx>
        <c:axId val="48650112"/>
        <c:scaling>
          <c:orientation val="minMax"/>
          <c:max val="80"/>
          <c:min val="20"/>
        </c:scaling>
        <c:delete val="0"/>
        <c:axPos val="b"/>
        <c:majorGridlines>
          <c:spPr>
            <a:ln xmlns:a="http://schemas.openxmlformats.org/drawingml/2006/main" w="9525">
              <a:solidFill>
                <a:srgbClr val="DDE7DB"/>
              </a:solidFill>
              <a:prstDash val="solid"/>
            </a:ln>
          </c:spPr>
        </c:majorGridlines>
        <c:title>
          <c:tx>
            <c:rich>
              <a:bodyPr xmlns:a="http://schemas.openxmlformats.org/drawingml/2006/main"/>
              <a:lstStyle xmlns:a="http://schemas.openxmlformats.org/drawingml/2006/main"/>
              <a:p xmlns:a="http://schemas.openxmlformats.org/drawingml/2006/main">
                <a:r>
                  <a:rPr sz="1800">
                    <a:solidFill>
                      <a:srgbClr val="181818"/>
                    </a:solidFill>
                    <a:latin typeface="Times New Roman"/>
                    <a:ea typeface="Times New Roman"/>
                    <a:cs typeface="Times New Roman"/>
                  </a:rPr>
                  <a:t>PCO₂ (mmHg)</a:t>
                </a:r>
              </a:p>
            </c:rich>
          </c:tx>
          <c:overlay val="0"/>
          <c:txPr>
            <a:bodyPr xmlns:a="http://schemas.openxmlformats.org/drawingml/2006/main" anchorCtr="1"/>
            <a:lstStyle xmlns:a="http://schemas.openxmlformats.org/drawingml/2006/main"/>
            <a:p xmlns:a="http://schemas.openxmlformats.org/drawingml/2006/main">
              <a:pPr>
                <a:defRPr sz="1800">
                  <a:solidFill>
                    <a:srgbClr val="181818"/>
                  </a:solidFill>
                  <a:latin typeface="Times New Roman"/>
                  <a:ea typeface="Times New Roman"/>
                  <a:cs typeface="Times New Roman"/>
                </a:defRPr>
              </a:pPr>
            </a:p>
          </c:txPr>
        </c:title>
        <c:numFmt formatCode="0"/>
        <c:majorTickMark val="none"/>
        <c:minorTickMark val="none"/>
        <c:spPr>
          <a:ln xmlns:a="http://schemas.openxmlformats.org/drawingml/2006/main" w="9525">
            <a:solidFill>
              <a:srgbClr val="515151"/>
            </a:solidFill>
            <a:prstDash val="solid"/>
          </a:ln>
        </c:spPr>
        <c:txPr>
          <a:bodyPr xmlns:a="http://schemas.openxmlformats.org/drawingml/2006/main" anchorCtr="1"/>
          <a:lstStyle xmlns:a="http://schemas.openxmlformats.org/drawingml/2006/main"/>
          <a:p xmlns:a="http://schemas.openxmlformats.org/drawingml/2006/main">
            <a:pPr>
              <a:defRPr sz="1650">
                <a:solidFill>
                  <a:srgbClr val="181818"/>
                </a:solidFill>
                <a:latin typeface="Times New Roman"/>
                <a:ea typeface="Times New Roman"/>
                <a:cs typeface="Times New Roman"/>
              </a:defRPr>
            </a:pPr>
          </a:p>
        </c:txPr>
        <c:crossAx val="48672768"/>
        <c:majorUnit val="20"/>
      </c:valAx>
      <c:spPr>
        <a:solidFill xmlns:a="http://schemas.openxmlformats.org/drawingml/2006/main">
          <a:srgbClr val="FFFFFF"/>
        </a:solidFill>
        <a:ln xmlns:a="http://schemas.openxmlformats.org/drawingml/2006/main" w="0">
          <a:noFill/>
          <a:prstDash val="solid"/>
        </a:ln>
      </c:spPr>
    </c:plotArea>
    <c:legend>
      <c:legendPos val="b"/>
      <c:overlay val="0"/>
      <c:txPr>
        <a:bodyPr xmlns:a="http://schemas.openxmlformats.org/drawingml/2006/main" anchorCtr="1"/>
        <a:lstStyle xmlns:a="http://schemas.openxmlformats.org/drawingml/2006/main"/>
        <a:p xmlns:a="http://schemas.openxmlformats.org/drawingml/2006/main">
          <a:pPr>
            <a:defRPr sz="1575">
              <a:solidFill>
                <a:srgbClr val="181818"/>
              </a:solidFill>
              <a:latin typeface="Times New Roman"/>
              <a:ea typeface="Times New Roman"/>
              <a:cs typeface="Times New Roman"/>
            </a:defRPr>
          </a:pPr>
        </a:p>
      </c:txPr>
    </c:legend>
    <c:plotVisOnly val="1"/>
  </c:chart>
  <c:spPr>
    <a:solidFill xmlns:a="http://schemas.openxmlformats.org/drawingml/2006/main">
      <a:srgbClr val="FFFFFF"/>
    </a:solidFill>
    <a:ln xmlns:a="http://schemas.openxmlformats.org/drawingml/2006/main" w="0">
      <a:noFill/>
      <a:prstDash val="solid"/>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lide-title">
            <a:extLst xmlns:a="http://schemas.openxmlformats.org/drawingml/2006/main">
              <a:ext uri="{FF2B5EF4-FFF2-40B4-BE49-F238E27FC236}">
                <a16:creationId xmlns:a16="http://schemas.microsoft.com/office/drawing/2014/main" id="{FF3F3CD0-85F6-4A49-966E-EEF32DAF69F5}"/>
              </a:ext>
            </a:extLst>
          </p:cNvPr>
          <p:cNvSpPr>
            <a:spLocks xmlns:a="http://schemas.openxmlformats.org/drawingml/2006/main" noGrp="1"/>
          </p:cNvSpPr>
          <p:nvPr/>
        </p:nvSpPr>
        <p:spPr>
          <a:xfrm xmlns:a="http://schemas.openxmlformats.org/drawingml/2006/main">
            <a:off x="609600" y="390525"/>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400" b="1">
                <a:solidFill>
                  <a:srgbClr val="174A35"/>
                </a:solidFill>
                <a:latin typeface="Times New Roman"/>
                <a:ea typeface="Times New Roman"/>
                <a:cs typeface="Times New Roman"/>
              </a:defRPr>
            </a:defPPr>
            <a:lvl1pPr algn="l">
              <a:defRPr sz="3400" b="1">
                <a:solidFill>
                  <a:srgbClr val="174A35"/>
                </a:solidFill>
                <a:latin typeface="Times New Roman"/>
                <a:ea typeface="Times New Roman"/>
                <a:cs typeface="Times New Roman"/>
              </a:defRPr>
            </a:lvl1pPr>
            <a:lvl2pPr algn="l">
              <a:defRPr sz="3400" b="1">
                <a:solidFill>
                  <a:srgbClr val="174A35"/>
                </a:solidFill>
                <a:latin typeface="Times New Roman"/>
                <a:ea typeface="Times New Roman"/>
                <a:cs typeface="Times New Roman"/>
              </a:defRPr>
            </a:lvl2pPr>
            <a:lvl3pPr algn="l">
              <a:defRPr sz="3400" b="1">
                <a:solidFill>
                  <a:srgbClr val="174A35"/>
                </a:solidFill>
                <a:latin typeface="Times New Roman"/>
                <a:ea typeface="Times New Roman"/>
                <a:cs typeface="Times New Roman"/>
              </a:defRPr>
            </a:lvl3pPr>
            <a:lvl4pPr algn="l">
              <a:defRPr sz="3400" b="1">
                <a:solidFill>
                  <a:srgbClr val="174A35"/>
                </a:solidFill>
                <a:latin typeface="Times New Roman"/>
                <a:ea typeface="Times New Roman"/>
                <a:cs typeface="Times New Roman"/>
              </a:defRPr>
            </a:lvl4pPr>
            <a:lvl5pPr algn="l">
              <a:defRPr sz="3400" b="1">
                <a:solidFill>
                  <a:srgbClr val="174A35"/>
                </a:solidFill>
                <a:latin typeface="Times New Roman"/>
                <a:ea typeface="Times New Roman"/>
                <a:cs typeface="Times New Roman"/>
              </a:defRPr>
            </a:lvl5pPr>
            <a:lvl6pPr algn="l">
              <a:defRPr sz="3400" b="1">
                <a:solidFill>
                  <a:srgbClr val="174A35"/>
                </a:solidFill>
                <a:latin typeface="Times New Roman"/>
                <a:ea typeface="Times New Roman"/>
                <a:cs typeface="Times New Roman"/>
              </a:defRPr>
            </a:lvl6pPr>
            <a:lvl7pPr algn="l">
              <a:defRPr sz="3400" b="1">
                <a:solidFill>
                  <a:srgbClr val="174A35"/>
                </a:solidFill>
                <a:latin typeface="Times New Roman"/>
                <a:ea typeface="Times New Roman"/>
                <a:cs typeface="Times New Roman"/>
              </a:defRPr>
            </a:lvl7pPr>
            <a:lvl8pPr algn="l">
              <a:defRPr sz="3400" b="1">
                <a:solidFill>
                  <a:srgbClr val="174A35"/>
                </a:solidFill>
                <a:latin typeface="Times New Roman"/>
                <a:ea typeface="Times New Roman"/>
                <a:cs typeface="Times New Roman"/>
              </a:defRPr>
            </a:lvl8pPr>
            <a:lvl9pPr algn="l">
              <a:defRPr sz="3400" b="1">
                <a:solidFill>
                  <a:srgbClr val="174A35"/>
                </a:solidFill>
                <a:latin typeface="Times New Roman"/>
                <a:ea typeface="Times New Roman"/>
                <a:cs typeface="Times New Roman"/>
              </a:defRPr>
            </a:lvl9pPr>
          </a:lstStyle>
          <a:p xmlns:a="http://schemas.openxmlformats.org/drawingml/2006/main">
            <a:pPr algn="l">
              <a:defRPr sz="3400" b="1">
                <a:solidFill>
                  <a:srgbClr val="174A35"/>
                </a:solidFill>
                <a:latin typeface="Times New Roman"/>
                <a:ea typeface="Times New Roman"/>
                <a:cs typeface="Times New Roman"/>
              </a:defRPr>
            </a:pPr>
            <a:r>
              <a:rPr sz="3400" b="1">
                <a:solidFill>
                  <a:srgbClr val="174A35"/>
                </a:solidFill>
                <a:latin typeface="Times New Roman"/>
                <a:ea typeface="Times New Roman"/>
                <a:cs typeface="Times New Roman"/>
              </a:rPr>
              <a:t>Fisiopatología del</a:t>
            </a:r>
          </a:p>
          <a:p xmlns:a="http://schemas.openxmlformats.org/drawingml/2006/main">
            <a:pPr algn="l">
              <a:defRPr sz="3400" b="1">
                <a:solidFill>
                  <a:srgbClr val="174A35"/>
                </a:solidFill>
                <a:latin typeface="Times New Roman"/>
                <a:ea typeface="Times New Roman"/>
                <a:cs typeface="Times New Roman"/>
              </a:defRPr>
            </a:pPr>
            <a:r>
              <a:rPr sz="3400" b="1">
                <a:solidFill>
                  <a:srgbClr val="174A35"/>
                </a:solidFill>
                <a:latin typeface="Times New Roman"/>
                <a:ea typeface="Times New Roman"/>
                <a:cs typeface="Times New Roman"/>
              </a:rPr>
              <a:t>equilibrio ácido-base</a:t>
            </a:r>
          </a:p>
        </p:txBody>
      </p:sp>
      <p:sp>
        <p:nvSpPr>
          <p:cNvPr id="2" name="page-number">
            <a:extLst xmlns:a="http://schemas.openxmlformats.org/drawingml/2006/main">
              <a:ext uri="{FF2B5EF4-FFF2-40B4-BE49-F238E27FC236}">
                <a16:creationId xmlns:a16="http://schemas.microsoft.com/office/drawing/2014/main" id="{A99BC7CF-CD9E-4FD8-8ECD-7FDF8CB51020}"/>
              </a:ext>
            </a:extLst>
          </p:cNvPr>
          <p:cNvSpPr>
            <a:spLocks xmlns:a="http://schemas.openxmlformats.org/drawingml/2006/main" noGrp="1"/>
          </p:cNvSpPr>
          <p:nvPr/>
        </p:nvSpPr>
        <p:spPr>
          <a:xfrm xmlns:a="http://schemas.openxmlformats.org/drawingml/2006/main">
            <a:off x="11077575" y="64198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00" b="0">
                <a:solidFill>
                  <a:srgbClr val="367653"/>
                </a:solidFill>
                <a:latin typeface="Times New Roman"/>
                <a:ea typeface="Times New Roman"/>
                <a:cs typeface="Times New Roman"/>
              </a:defRPr>
            </a:defPPr>
            <a:lvl1pPr algn="r">
              <a:defRPr sz="1200" b="0">
                <a:solidFill>
                  <a:srgbClr val="367653"/>
                </a:solidFill>
                <a:latin typeface="Times New Roman"/>
                <a:ea typeface="Times New Roman"/>
                <a:cs typeface="Times New Roman"/>
              </a:defRPr>
            </a:lvl1pPr>
            <a:lvl2pPr algn="r">
              <a:defRPr sz="1200" b="0">
                <a:solidFill>
                  <a:srgbClr val="367653"/>
                </a:solidFill>
                <a:latin typeface="Times New Roman"/>
                <a:ea typeface="Times New Roman"/>
                <a:cs typeface="Times New Roman"/>
              </a:defRPr>
            </a:lvl2pPr>
            <a:lvl3pPr algn="r">
              <a:defRPr sz="1200" b="0">
                <a:solidFill>
                  <a:srgbClr val="367653"/>
                </a:solidFill>
                <a:latin typeface="Times New Roman"/>
                <a:ea typeface="Times New Roman"/>
                <a:cs typeface="Times New Roman"/>
              </a:defRPr>
            </a:lvl3pPr>
            <a:lvl4pPr algn="r">
              <a:defRPr sz="1200" b="0">
                <a:solidFill>
                  <a:srgbClr val="367653"/>
                </a:solidFill>
                <a:latin typeface="Times New Roman"/>
                <a:ea typeface="Times New Roman"/>
                <a:cs typeface="Times New Roman"/>
              </a:defRPr>
            </a:lvl4pPr>
            <a:lvl5pPr algn="r">
              <a:defRPr sz="1200" b="0">
                <a:solidFill>
                  <a:srgbClr val="367653"/>
                </a:solidFill>
                <a:latin typeface="Times New Roman"/>
                <a:ea typeface="Times New Roman"/>
                <a:cs typeface="Times New Roman"/>
              </a:defRPr>
            </a:lvl5pPr>
            <a:lvl6pPr algn="r">
              <a:defRPr sz="1200" b="0">
                <a:solidFill>
                  <a:srgbClr val="367653"/>
                </a:solidFill>
                <a:latin typeface="Times New Roman"/>
                <a:ea typeface="Times New Roman"/>
                <a:cs typeface="Times New Roman"/>
              </a:defRPr>
            </a:lvl6pPr>
            <a:lvl7pPr algn="r">
              <a:defRPr sz="1200" b="0">
                <a:solidFill>
                  <a:srgbClr val="367653"/>
                </a:solidFill>
                <a:latin typeface="Times New Roman"/>
                <a:ea typeface="Times New Roman"/>
                <a:cs typeface="Times New Roman"/>
              </a:defRPr>
            </a:lvl7pPr>
            <a:lvl8pPr algn="r">
              <a:defRPr sz="1200" b="0">
                <a:solidFill>
                  <a:srgbClr val="367653"/>
                </a:solidFill>
                <a:latin typeface="Times New Roman"/>
                <a:ea typeface="Times New Roman"/>
                <a:cs typeface="Times New Roman"/>
              </a:defRPr>
            </a:lvl8pPr>
            <a:lvl9pPr algn="r">
              <a:defRPr sz="1200" b="0">
                <a:solidFill>
                  <a:srgbClr val="367653"/>
                </a:solidFill>
                <a:latin typeface="Times New Roman"/>
                <a:ea typeface="Times New Roman"/>
                <a:cs typeface="Times New Roman"/>
              </a:defRPr>
            </a:lvl9pPr>
          </a:lstStyle>
          <a:p xmlns:a="http://schemas.openxmlformats.org/drawingml/2006/main">
            <a:pPr algn="r">
              <a:defRPr sz="1200" b="0">
                <a:solidFill>
                  <a:srgbClr val="367653"/>
                </a:solidFill>
                <a:latin typeface="Times New Roman"/>
                <a:ea typeface="Times New Roman"/>
                <a:cs typeface="Times New Roman"/>
              </a:defRPr>
            </a:pPr>
            <a:r>
              <a:rPr sz="1200" b="0">
                <a:solidFill>
                  <a:srgbClr val="367653"/>
                </a:solidFill>
                <a:latin typeface="Times New Roman"/>
                <a:ea typeface="Times New Roman"/>
                <a:cs typeface="Times New Roman"/>
              </a:rPr>
              <a:t>01</a:t>
            </a:r>
          </a:p>
        </p:txBody>
      </p:sp>
      <p:sp>
        <p:nvSpPr>
          <p:cNvPr id="3" name="sources">
            <a:extLst xmlns:a="http://schemas.openxmlformats.org/drawingml/2006/main">
              <a:ext uri="{FF2B5EF4-FFF2-40B4-BE49-F238E27FC236}">
                <a16:creationId xmlns:a16="http://schemas.microsoft.com/office/drawing/2014/main" id="{08C842F0-768D-41F4-A868-2C60490718A5}"/>
              </a:ext>
            </a:extLst>
          </p:cNvPr>
          <p:cNvSpPr>
            <a:spLocks xmlns:a="http://schemas.openxmlformats.org/drawingml/2006/main" noGrp="1"/>
          </p:cNvSpPr>
          <p:nvPr/>
        </p:nvSpPr>
        <p:spPr>
          <a:xfrm xmlns:a="http://schemas.openxmlformats.org/drawingml/2006/main">
            <a:off x="609600" y="6419850"/>
            <a:ext cx="10287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200" b="0">
                <a:solidFill>
                  <a:srgbClr val="515151"/>
                </a:solidFill>
                <a:latin typeface="Times New Roman"/>
                <a:ea typeface="Times New Roman"/>
                <a:cs typeface="Times New Roman"/>
              </a:defRPr>
            </a:defPPr>
            <a:lvl1pPr algn="l">
              <a:defRPr sz="1200" b="0">
                <a:solidFill>
                  <a:srgbClr val="515151"/>
                </a:solidFill>
                <a:latin typeface="Times New Roman"/>
                <a:ea typeface="Times New Roman"/>
                <a:cs typeface="Times New Roman"/>
              </a:defRPr>
            </a:lvl1pPr>
            <a:lvl2pPr algn="l">
              <a:defRPr sz="1200" b="0">
                <a:solidFill>
                  <a:srgbClr val="515151"/>
                </a:solidFill>
                <a:latin typeface="Times New Roman"/>
                <a:ea typeface="Times New Roman"/>
                <a:cs typeface="Times New Roman"/>
              </a:defRPr>
            </a:lvl2pPr>
            <a:lvl3pPr algn="l">
              <a:defRPr sz="1200" b="0">
                <a:solidFill>
                  <a:srgbClr val="515151"/>
                </a:solidFill>
                <a:latin typeface="Times New Roman"/>
                <a:ea typeface="Times New Roman"/>
                <a:cs typeface="Times New Roman"/>
              </a:defRPr>
            </a:lvl3pPr>
            <a:lvl4pPr algn="l">
              <a:defRPr sz="1200" b="0">
                <a:solidFill>
                  <a:srgbClr val="515151"/>
                </a:solidFill>
                <a:latin typeface="Times New Roman"/>
                <a:ea typeface="Times New Roman"/>
                <a:cs typeface="Times New Roman"/>
              </a:defRPr>
            </a:lvl4pPr>
            <a:lvl5pPr algn="l">
              <a:defRPr sz="1200" b="0">
                <a:solidFill>
                  <a:srgbClr val="515151"/>
                </a:solidFill>
                <a:latin typeface="Times New Roman"/>
                <a:ea typeface="Times New Roman"/>
                <a:cs typeface="Times New Roman"/>
              </a:defRPr>
            </a:lvl5pPr>
            <a:lvl6pPr algn="l">
              <a:defRPr sz="1200" b="0">
                <a:solidFill>
                  <a:srgbClr val="515151"/>
                </a:solidFill>
                <a:latin typeface="Times New Roman"/>
                <a:ea typeface="Times New Roman"/>
                <a:cs typeface="Times New Roman"/>
              </a:defRPr>
            </a:lvl6pPr>
            <a:lvl7pPr algn="l">
              <a:defRPr sz="1200" b="0">
                <a:solidFill>
                  <a:srgbClr val="515151"/>
                </a:solidFill>
                <a:latin typeface="Times New Roman"/>
                <a:ea typeface="Times New Roman"/>
                <a:cs typeface="Times New Roman"/>
              </a:defRPr>
            </a:lvl7pPr>
            <a:lvl8pPr algn="l">
              <a:defRPr sz="1200" b="0">
                <a:solidFill>
                  <a:srgbClr val="515151"/>
                </a:solidFill>
                <a:latin typeface="Times New Roman"/>
                <a:ea typeface="Times New Roman"/>
                <a:cs typeface="Times New Roman"/>
              </a:defRPr>
            </a:lvl8pPr>
            <a:lvl9pPr algn="l">
              <a:defRPr sz="1200" b="0">
                <a:solidFill>
                  <a:srgbClr val="515151"/>
                </a:solidFill>
                <a:latin typeface="Times New Roman"/>
                <a:ea typeface="Times New Roman"/>
                <a:cs typeface="Times New Roman"/>
              </a:defRPr>
            </a:lvl9pPr>
          </a:lstStyle>
          <a:p xmlns:a="http://schemas.openxmlformats.org/drawingml/2006/main">
            <a:pPr algn="l">
              <a:defRPr sz="1200" b="0">
                <a:solidFill>
                  <a:srgbClr val="515151"/>
                </a:solidFill>
                <a:latin typeface="Times New Roman"/>
                <a:ea typeface="Times New Roman"/>
                <a:cs typeface="Times New Roman"/>
              </a:defRPr>
            </a:pPr>
            <a:r>
              <a:rPr sz="1200" b="0">
                <a:solidFill>
                  <a:srgbClr val="515151"/>
                </a:solidFill>
                <a:latin typeface="Times New Roman"/>
                <a:ea typeface="Times New Roman"/>
                <a:cs typeface="Times New Roman"/>
              </a:rPr>
              <a:t>Fuentes: [1]</a:t>
            </a:r>
          </a:p>
        </p:txBody>
      </p:sp>
      <p:sp>
        <p:nvSpPr>
          <p:cNvPr id="4" name="text">
            <a:extLst xmlns:a="http://schemas.openxmlformats.org/drawingml/2006/main">
              <a:ext uri="{FF2B5EF4-FFF2-40B4-BE49-F238E27FC236}">
                <a16:creationId xmlns:a16="http://schemas.microsoft.com/office/drawing/2014/main" id="{B5D79CA7-FD33-4884-9BE7-9E1ECDFA1AE4}"/>
              </a:ext>
            </a:extLst>
          </p:cNvPr>
          <p:cNvSpPr>
            <a:spLocks xmlns:a="http://schemas.openxmlformats.org/drawingml/2006/main" noGrp="1"/>
          </p:cNvSpPr>
          <p:nvPr/>
        </p:nvSpPr>
        <p:spPr>
          <a:xfrm xmlns:a="http://schemas.openxmlformats.org/drawingml/2006/main">
            <a:off x="609600" y="1743075"/>
            <a:ext cx="10477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600" b="1">
                <a:solidFill>
                  <a:srgbClr val="181818"/>
                </a:solidFill>
                <a:latin typeface="Times New Roman"/>
                <a:ea typeface="Times New Roman"/>
                <a:cs typeface="Times New Roman"/>
              </a:defRPr>
            </a:defPPr>
            <a:lvl1pPr algn="l">
              <a:defRPr sz="2600" b="1">
                <a:solidFill>
                  <a:srgbClr val="181818"/>
                </a:solidFill>
                <a:latin typeface="Times New Roman"/>
                <a:ea typeface="Times New Roman"/>
                <a:cs typeface="Times New Roman"/>
              </a:defRPr>
            </a:lvl1pPr>
            <a:lvl2pPr algn="l">
              <a:defRPr sz="2600" b="1">
                <a:solidFill>
                  <a:srgbClr val="181818"/>
                </a:solidFill>
                <a:latin typeface="Times New Roman"/>
                <a:ea typeface="Times New Roman"/>
                <a:cs typeface="Times New Roman"/>
              </a:defRPr>
            </a:lvl2pPr>
            <a:lvl3pPr algn="l">
              <a:defRPr sz="2600" b="1">
                <a:solidFill>
                  <a:srgbClr val="181818"/>
                </a:solidFill>
                <a:latin typeface="Times New Roman"/>
                <a:ea typeface="Times New Roman"/>
                <a:cs typeface="Times New Roman"/>
              </a:defRPr>
            </a:lvl3pPr>
            <a:lvl4pPr algn="l">
              <a:defRPr sz="2600" b="1">
                <a:solidFill>
                  <a:srgbClr val="181818"/>
                </a:solidFill>
                <a:latin typeface="Times New Roman"/>
                <a:ea typeface="Times New Roman"/>
                <a:cs typeface="Times New Roman"/>
              </a:defRPr>
            </a:lvl4pPr>
            <a:lvl5pPr algn="l">
              <a:defRPr sz="2600" b="1">
                <a:solidFill>
                  <a:srgbClr val="181818"/>
                </a:solidFill>
                <a:latin typeface="Times New Roman"/>
                <a:ea typeface="Times New Roman"/>
                <a:cs typeface="Times New Roman"/>
              </a:defRPr>
            </a:lvl5pPr>
            <a:lvl6pPr algn="l">
              <a:defRPr sz="2600" b="1">
                <a:solidFill>
                  <a:srgbClr val="181818"/>
                </a:solidFill>
                <a:latin typeface="Times New Roman"/>
                <a:ea typeface="Times New Roman"/>
                <a:cs typeface="Times New Roman"/>
              </a:defRPr>
            </a:lvl6pPr>
            <a:lvl7pPr algn="l">
              <a:defRPr sz="2600" b="1">
                <a:solidFill>
                  <a:srgbClr val="181818"/>
                </a:solidFill>
                <a:latin typeface="Times New Roman"/>
                <a:ea typeface="Times New Roman"/>
                <a:cs typeface="Times New Roman"/>
              </a:defRPr>
            </a:lvl7pPr>
            <a:lvl8pPr algn="l">
              <a:defRPr sz="2600" b="1">
                <a:solidFill>
                  <a:srgbClr val="181818"/>
                </a:solidFill>
                <a:latin typeface="Times New Roman"/>
                <a:ea typeface="Times New Roman"/>
                <a:cs typeface="Times New Roman"/>
              </a:defRPr>
            </a:lvl8pPr>
            <a:lvl9pPr algn="l">
              <a:defRPr sz="2600" b="1">
                <a:solidFill>
                  <a:srgbClr val="181818"/>
                </a:solidFill>
                <a:latin typeface="Times New Roman"/>
                <a:ea typeface="Times New Roman"/>
                <a:cs typeface="Times New Roman"/>
              </a:defRPr>
            </a:lvl9pPr>
          </a:lstStyle>
          <a:p xmlns:a="http://schemas.openxmlformats.org/drawingml/2006/main">
            <a:pPr algn="l">
              <a:defRPr sz="2600" b="1">
                <a:solidFill>
                  <a:srgbClr val="181818"/>
                </a:solidFill>
                <a:latin typeface="Times New Roman"/>
                <a:ea typeface="Times New Roman"/>
                <a:cs typeface="Times New Roman"/>
              </a:defRPr>
            </a:pPr>
            <a:r>
              <a:rPr sz="2600" b="1">
                <a:solidFill>
                  <a:srgbClr val="181818"/>
                </a:solidFill>
                <a:latin typeface="Times New Roman"/>
                <a:ea typeface="Times New Roman"/>
                <a:cs typeface="Times New Roman"/>
              </a:rPr>
              <a:t>Universidad Técnica de Machala</a:t>
            </a:r>
          </a:p>
        </p:txBody>
      </p:sp>
      <p:sp>
        <p:nvSpPr>
          <p:cNvPr id="5" name="text">
            <a:extLst xmlns:a="http://schemas.openxmlformats.org/drawingml/2006/main">
              <a:ext uri="{FF2B5EF4-FFF2-40B4-BE49-F238E27FC236}">
                <a16:creationId xmlns:a16="http://schemas.microsoft.com/office/drawing/2014/main" id="{F00F5F87-A96F-4E4D-B623-16E4D93C3A0E}"/>
              </a:ext>
            </a:extLst>
          </p:cNvPr>
          <p:cNvSpPr>
            <a:spLocks xmlns:a="http://schemas.openxmlformats.org/drawingml/2006/main" noGrp="1"/>
          </p:cNvSpPr>
          <p:nvPr/>
        </p:nvSpPr>
        <p:spPr>
          <a:xfrm xmlns:a="http://schemas.openxmlformats.org/drawingml/2006/main">
            <a:off x="609600" y="2305050"/>
            <a:ext cx="10477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400" b="0">
                <a:solidFill>
                  <a:srgbClr val="181818"/>
                </a:solidFill>
                <a:latin typeface="Times New Roman"/>
                <a:ea typeface="Times New Roman"/>
                <a:cs typeface="Times New Roman"/>
              </a:defRPr>
            </a:defPPr>
            <a:lvl1pPr algn="l">
              <a:defRPr sz="2400" b="0">
                <a:solidFill>
                  <a:srgbClr val="181818"/>
                </a:solidFill>
                <a:latin typeface="Times New Roman"/>
                <a:ea typeface="Times New Roman"/>
                <a:cs typeface="Times New Roman"/>
              </a:defRPr>
            </a:lvl1pPr>
            <a:lvl2pPr algn="l">
              <a:defRPr sz="2400" b="0">
                <a:solidFill>
                  <a:srgbClr val="181818"/>
                </a:solidFill>
                <a:latin typeface="Times New Roman"/>
                <a:ea typeface="Times New Roman"/>
                <a:cs typeface="Times New Roman"/>
              </a:defRPr>
            </a:lvl2pPr>
            <a:lvl3pPr algn="l">
              <a:defRPr sz="2400" b="0">
                <a:solidFill>
                  <a:srgbClr val="181818"/>
                </a:solidFill>
                <a:latin typeface="Times New Roman"/>
                <a:ea typeface="Times New Roman"/>
                <a:cs typeface="Times New Roman"/>
              </a:defRPr>
            </a:lvl3pPr>
            <a:lvl4pPr algn="l">
              <a:defRPr sz="2400" b="0">
                <a:solidFill>
                  <a:srgbClr val="181818"/>
                </a:solidFill>
                <a:latin typeface="Times New Roman"/>
                <a:ea typeface="Times New Roman"/>
                <a:cs typeface="Times New Roman"/>
              </a:defRPr>
            </a:lvl4pPr>
            <a:lvl5pPr algn="l">
              <a:defRPr sz="2400" b="0">
                <a:solidFill>
                  <a:srgbClr val="181818"/>
                </a:solidFill>
                <a:latin typeface="Times New Roman"/>
                <a:ea typeface="Times New Roman"/>
                <a:cs typeface="Times New Roman"/>
              </a:defRPr>
            </a:lvl5pPr>
            <a:lvl6pPr algn="l">
              <a:defRPr sz="2400" b="0">
                <a:solidFill>
                  <a:srgbClr val="181818"/>
                </a:solidFill>
                <a:latin typeface="Times New Roman"/>
                <a:ea typeface="Times New Roman"/>
                <a:cs typeface="Times New Roman"/>
              </a:defRPr>
            </a:lvl6pPr>
            <a:lvl7pPr algn="l">
              <a:defRPr sz="2400" b="0">
                <a:solidFill>
                  <a:srgbClr val="181818"/>
                </a:solidFill>
                <a:latin typeface="Times New Roman"/>
                <a:ea typeface="Times New Roman"/>
                <a:cs typeface="Times New Roman"/>
              </a:defRPr>
            </a:lvl7pPr>
            <a:lvl8pPr algn="l">
              <a:defRPr sz="2400" b="0">
                <a:solidFill>
                  <a:srgbClr val="181818"/>
                </a:solidFill>
                <a:latin typeface="Times New Roman"/>
                <a:ea typeface="Times New Roman"/>
                <a:cs typeface="Times New Roman"/>
              </a:defRPr>
            </a:lvl8pPr>
            <a:lvl9pPr algn="l">
              <a:defRPr sz="2400" b="0">
                <a:solidFill>
                  <a:srgbClr val="181818"/>
                </a:solidFill>
                <a:latin typeface="Times New Roman"/>
                <a:ea typeface="Times New Roman"/>
                <a:cs typeface="Times New Roman"/>
              </a:defRPr>
            </a:lvl9pPr>
          </a:lstStyle>
          <a:p xmlns:a="http://schemas.openxmlformats.org/drawingml/2006/main">
            <a:pPr algn="l">
              <a:defRPr sz="2400" b="0">
                <a:solidFill>
                  <a:srgbClr val="181818"/>
                </a:solidFill>
                <a:latin typeface="Times New Roman"/>
                <a:ea typeface="Times New Roman"/>
                <a:cs typeface="Times New Roman"/>
              </a:defRPr>
            </a:pPr>
            <a:r>
              <a:rPr sz="2400" b="0">
                <a:solidFill>
                  <a:srgbClr val="181818"/>
                </a:solidFill>
                <a:latin typeface="Times New Roman"/>
                <a:ea typeface="Times New Roman"/>
                <a:cs typeface="Times New Roman"/>
              </a:rPr>
              <a:t>Medicina Veterinaria · Fisiopatología</a:t>
            </a:r>
          </a:p>
        </p:txBody>
      </p:sp>
      <p:sp>
        <p:nvSpPr>
          <p:cNvPr id="6" name="text">
            <a:extLst xmlns:a="http://schemas.openxmlformats.org/drawingml/2006/main">
              <a:ext uri="{FF2B5EF4-FFF2-40B4-BE49-F238E27FC236}">
                <a16:creationId xmlns:a16="http://schemas.microsoft.com/office/drawing/2014/main" id="{8365AE36-9DFD-4DCE-B8E5-36BB0D8C201B}"/>
              </a:ext>
            </a:extLst>
          </p:cNvPr>
          <p:cNvSpPr>
            <a:spLocks xmlns:a="http://schemas.openxmlformats.org/drawingml/2006/main" noGrp="1"/>
          </p:cNvSpPr>
          <p:nvPr/>
        </p:nvSpPr>
        <p:spPr>
          <a:xfrm xmlns:a="http://schemas.openxmlformats.org/drawingml/2006/main">
            <a:off x="609600" y="3181350"/>
            <a:ext cx="10477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600" b="1">
                <a:solidFill>
                  <a:srgbClr val="181818"/>
                </a:solidFill>
                <a:latin typeface="Times New Roman"/>
                <a:ea typeface="Times New Roman"/>
                <a:cs typeface="Times New Roman"/>
              </a:defRPr>
            </a:defPPr>
            <a:lvl1pPr algn="l">
              <a:defRPr sz="2600" b="1">
                <a:solidFill>
                  <a:srgbClr val="181818"/>
                </a:solidFill>
                <a:latin typeface="Times New Roman"/>
                <a:ea typeface="Times New Roman"/>
                <a:cs typeface="Times New Roman"/>
              </a:defRPr>
            </a:lvl1pPr>
            <a:lvl2pPr algn="l">
              <a:defRPr sz="2600" b="1">
                <a:solidFill>
                  <a:srgbClr val="181818"/>
                </a:solidFill>
                <a:latin typeface="Times New Roman"/>
                <a:ea typeface="Times New Roman"/>
                <a:cs typeface="Times New Roman"/>
              </a:defRPr>
            </a:lvl2pPr>
            <a:lvl3pPr algn="l">
              <a:defRPr sz="2600" b="1">
                <a:solidFill>
                  <a:srgbClr val="181818"/>
                </a:solidFill>
                <a:latin typeface="Times New Roman"/>
                <a:ea typeface="Times New Roman"/>
                <a:cs typeface="Times New Roman"/>
              </a:defRPr>
            </a:lvl3pPr>
            <a:lvl4pPr algn="l">
              <a:defRPr sz="2600" b="1">
                <a:solidFill>
                  <a:srgbClr val="181818"/>
                </a:solidFill>
                <a:latin typeface="Times New Roman"/>
                <a:ea typeface="Times New Roman"/>
                <a:cs typeface="Times New Roman"/>
              </a:defRPr>
            </a:lvl4pPr>
            <a:lvl5pPr algn="l">
              <a:defRPr sz="2600" b="1">
                <a:solidFill>
                  <a:srgbClr val="181818"/>
                </a:solidFill>
                <a:latin typeface="Times New Roman"/>
                <a:ea typeface="Times New Roman"/>
                <a:cs typeface="Times New Roman"/>
              </a:defRPr>
            </a:lvl5pPr>
            <a:lvl6pPr algn="l">
              <a:defRPr sz="2600" b="1">
                <a:solidFill>
                  <a:srgbClr val="181818"/>
                </a:solidFill>
                <a:latin typeface="Times New Roman"/>
                <a:ea typeface="Times New Roman"/>
                <a:cs typeface="Times New Roman"/>
              </a:defRPr>
            </a:lvl6pPr>
            <a:lvl7pPr algn="l">
              <a:defRPr sz="2600" b="1">
                <a:solidFill>
                  <a:srgbClr val="181818"/>
                </a:solidFill>
                <a:latin typeface="Times New Roman"/>
                <a:ea typeface="Times New Roman"/>
                <a:cs typeface="Times New Roman"/>
              </a:defRPr>
            </a:lvl7pPr>
            <a:lvl8pPr algn="l">
              <a:defRPr sz="2600" b="1">
                <a:solidFill>
                  <a:srgbClr val="181818"/>
                </a:solidFill>
                <a:latin typeface="Times New Roman"/>
                <a:ea typeface="Times New Roman"/>
                <a:cs typeface="Times New Roman"/>
              </a:defRPr>
            </a:lvl8pPr>
            <a:lvl9pPr algn="l">
              <a:defRPr sz="2600" b="1">
                <a:solidFill>
                  <a:srgbClr val="181818"/>
                </a:solidFill>
                <a:latin typeface="Times New Roman"/>
                <a:ea typeface="Times New Roman"/>
                <a:cs typeface="Times New Roman"/>
              </a:defRPr>
            </a:lvl9pPr>
          </a:lstStyle>
          <a:p xmlns:a="http://schemas.openxmlformats.org/drawingml/2006/main">
            <a:pPr algn="l">
              <a:defRPr sz="2600" b="1">
                <a:solidFill>
                  <a:srgbClr val="181818"/>
                </a:solidFill>
                <a:latin typeface="Times New Roman"/>
                <a:ea typeface="Times New Roman"/>
                <a:cs typeface="Times New Roman"/>
              </a:defRPr>
            </a:pPr>
            <a:r>
              <a:rPr sz="2600" b="1">
                <a:solidFill>
                  <a:srgbClr val="181818"/>
                </a:solidFill>
                <a:latin typeface="Times New Roman"/>
                <a:ea typeface="Times New Roman"/>
                <a:cs typeface="Times New Roman"/>
              </a:rPr>
              <a:t>Juan José Bajaña Chuno</a:t>
            </a:r>
          </a:p>
        </p:txBody>
      </p:sp>
      <p:sp>
        <p:nvSpPr>
          <p:cNvPr id="7" name="text">
            <a:extLst xmlns:a="http://schemas.openxmlformats.org/drawingml/2006/main">
              <a:ext uri="{FF2B5EF4-FFF2-40B4-BE49-F238E27FC236}">
                <a16:creationId xmlns:a16="http://schemas.microsoft.com/office/drawing/2014/main" id="{422F5047-F705-4BD6-B014-8C9AEA012852}"/>
              </a:ext>
            </a:extLst>
          </p:cNvPr>
          <p:cNvSpPr>
            <a:spLocks xmlns:a="http://schemas.openxmlformats.org/drawingml/2006/main" noGrp="1"/>
          </p:cNvSpPr>
          <p:nvPr/>
        </p:nvSpPr>
        <p:spPr>
          <a:xfrm xmlns:a="http://schemas.openxmlformats.org/drawingml/2006/main">
            <a:off x="609600" y="3724275"/>
            <a:ext cx="10477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400" b="0">
                <a:solidFill>
                  <a:srgbClr val="181818"/>
                </a:solidFill>
                <a:latin typeface="Times New Roman"/>
                <a:ea typeface="Times New Roman"/>
                <a:cs typeface="Times New Roman"/>
              </a:defRPr>
            </a:defPPr>
            <a:lvl1pPr algn="l">
              <a:defRPr sz="2400" b="0">
                <a:solidFill>
                  <a:srgbClr val="181818"/>
                </a:solidFill>
                <a:latin typeface="Times New Roman"/>
                <a:ea typeface="Times New Roman"/>
                <a:cs typeface="Times New Roman"/>
              </a:defRPr>
            </a:lvl1pPr>
            <a:lvl2pPr algn="l">
              <a:defRPr sz="2400" b="0">
                <a:solidFill>
                  <a:srgbClr val="181818"/>
                </a:solidFill>
                <a:latin typeface="Times New Roman"/>
                <a:ea typeface="Times New Roman"/>
                <a:cs typeface="Times New Roman"/>
              </a:defRPr>
            </a:lvl2pPr>
            <a:lvl3pPr algn="l">
              <a:defRPr sz="2400" b="0">
                <a:solidFill>
                  <a:srgbClr val="181818"/>
                </a:solidFill>
                <a:latin typeface="Times New Roman"/>
                <a:ea typeface="Times New Roman"/>
                <a:cs typeface="Times New Roman"/>
              </a:defRPr>
            </a:lvl3pPr>
            <a:lvl4pPr algn="l">
              <a:defRPr sz="2400" b="0">
                <a:solidFill>
                  <a:srgbClr val="181818"/>
                </a:solidFill>
                <a:latin typeface="Times New Roman"/>
                <a:ea typeface="Times New Roman"/>
                <a:cs typeface="Times New Roman"/>
              </a:defRPr>
            </a:lvl4pPr>
            <a:lvl5pPr algn="l">
              <a:defRPr sz="2400" b="0">
                <a:solidFill>
                  <a:srgbClr val="181818"/>
                </a:solidFill>
                <a:latin typeface="Times New Roman"/>
                <a:ea typeface="Times New Roman"/>
                <a:cs typeface="Times New Roman"/>
              </a:defRPr>
            </a:lvl5pPr>
            <a:lvl6pPr algn="l">
              <a:defRPr sz="2400" b="0">
                <a:solidFill>
                  <a:srgbClr val="181818"/>
                </a:solidFill>
                <a:latin typeface="Times New Roman"/>
                <a:ea typeface="Times New Roman"/>
                <a:cs typeface="Times New Roman"/>
              </a:defRPr>
            </a:lvl6pPr>
            <a:lvl7pPr algn="l">
              <a:defRPr sz="2400" b="0">
                <a:solidFill>
                  <a:srgbClr val="181818"/>
                </a:solidFill>
                <a:latin typeface="Times New Roman"/>
                <a:ea typeface="Times New Roman"/>
                <a:cs typeface="Times New Roman"/>
              </a:defRPr>
            </a:lvl7pPr>
            <a:lvl8pPr algn="l">
              <a:defRPr sz="2400" b="0">
                <a:solidFill>
                  <a:srgbClr val="181818"/>
                </a:solidFill>
                <a:latin typeface="Times New Roman"/>
                <a:ea typeface="Times New Roman"/>
                <a:cs typeface="Times New Roman"/>
              </a:defRPr>
            </a:lvl8pPr>
            <a:lvl9pPr algn="l">
              <a:defRPr sz="2400" b="0">
                <a:solidFill>
                  <a:srgbClr val="181818"/>
                </a:solidFill>
                <a:latin typeface="Times New Roman"/>
                <a:ea typeface="Times New Roman"/>
                <a:cs typeface="Times New Roman"/>
              </a:defRPr>
            </a:lvl9pPr>
          </a:lstStyle>
          <a:p xmlns:a="http://schemas.openxmlformats.org/drawingml/2006/main">
            <a:pPr algn="l">
              <a:defRPr sz="2400" b="0">
                <a:solidFill>
                  <a:srgbClr val="181818"/>
                </a:solidFill>
                <a:latin typeface="Times New Roman"/>
                <a:ea typeface="Times New Roman"/>
                <a:cs typeface="Times New Roman"/>
              </a:defRPr>
            </a:pPr>
            <a:r>
              <a:rPr sz="2400" b="0">
                <a:solidFill>
                  <a:srgbClr val="181818"/>
                </a:solidFill>
                <a:latin typeface="Times New Roman"/>
                <a:ea typeface="Times New Roman"/>
                <a:cs typeface="Times New Roman"/>
              </a:rPr>
              <a:t>5.º A · 2026-2</a:t>
            </a:r>
          </a:p>
        </p:txBody>
      </p:sp>
      <p:sp>
        <p:nvSpPr>
          <p:cNvPr id="8" name="text">
            <a:extLst xmlns:a="http://schemas.openxmlformats.org/drawingml/2006/main">
              <a:ext uri="{FF2B5EF4-FFF2-40B4-BE49-F238E27FC236}">
                <a16:creationId xmlns:a16="http://schemas.microsoft.com/office/drawing/2014/main" id="{9A48CB3D-6269-40E8-BD19-8621731B6B50}"/>
              </a:ext>
            </a:extLst>
          </p:cNvPr>
          <p:cNvSpPr>
            <a:spLocks xmlns:a="http://schemas.openxmlformats.org/drawingml/2006/main" noGrp="1"/>
          </p:cNvSpPr>
          <p:nvPr/>
        </p:nvSpPr>
        <p:spPr>
          <a:xfrm xmlns:a="http://schemas.openxmlformats.org/drawingml/2006/main">
            <a:off x="609600" y="5048250"/>
            <a:ext cx="1038225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800" b="0">
                <a:solidFill>
                  <a:srgbClr val="367653"/>
                </a:solidFill>
                <a:latin typeface="Times New Roman"/>
                <a:ea typeface="Times New Roman"/>
                <a:cs typeface="Times New Roman"/>
              </a:defRPr>
            </a:defPPr>
            <a:lvl1pPr algn="l">
              <a:defRPr sz="2800" b="0">
                <a:solidFill>
                  <a:srgbClr val="367653"/>
                </a:solidFill>
                <a:latin typeface="Times New Roman"/>
                <a:ea typeface="Times New Roman"/>
                <a:cs typeface="Times New Roman"/>
              </a:defRPr>
            </a:lvl1pPr>
            <a:lvl2pPr algn="l">
              <a:defRPr sz="2800" b="0">
                <a:solidFill>
                  <a:srgbClr val="367653"/>
                </a:solidFill>
                <a:latin typeface="Times New Roman"/>
                <a:ea typeface="Times New Roman"/>
                <a:cs typeface="Times New Roman"/>
              </a:defRPr>
            </a:lvl2pPr>
            <a:lvl3pPr algn="l">
              <a:defRPr sz="2800" b="0">
                <a:solidFill>
                  <a:srgbClr val="367653"/>
                </a:solidFill>
                <a:latin typeface="Times New Roman"/>
                <a:ea typeface="Times New Roman"/>
                <a:cs typeface="Times New Roman"/>
              </a:defRPr>
            </a:lvl3pPr>
            <a:lvl4pPr algn="l">
              <a:defRPr sz="2800" b="0">
                <a:solidFill>
                  <a:srgbClr val="367653"/>
                </a:solidFill>
                <a:latin typeface="Times New Roman"/>
                <a:ea typeface="Times New Roman"/>
                <a:cs typeface="Times New Roman"/>
              </a:defRPr>
            </a:lvl4pPr>
            <a:lvl5pPr algn="l">
              <a:defRPr sz="2800" b="0">
                <a:solidFill>
                  <a:srgbClr val="367653"/>
                </a:solidFill>
                <a:latin typeface="Times New Roman"/>
                <a:ea typeface="Times New Roman"/>
                <a:cs typeface="Times New Roman"/>
              </a:defRPr>
            </a:lvl5pPr>
            <a:lvl6pPr algn="l">
              <a:defRPr sz="2800" b="0">
                <a:solidFill>
                  <a:srgbClr val="367653"/>
                </a:solidFill>
                <a:latin typeface="Times New Roman"/>
                <a:ea typeface="Times New Roman"/>
                <a:cs typeface="Times New Roman"/>
              </a:defRPr>
            </a:lvl6pPr>
            <a:lvl7pPr algn="l">
              <a:defRPr sz="2800" b="0">
                <a:solidFill>
                  <a:srgbClr val="367653"/>
                </a:solidFill>
                <a:latin typeface="Times New Roman"/>
                <a:ea typeface="Times New Roman"/>
                <a:cs typeface="Times New Roman"/>
              </a:defRPr>
            </a:lvl7pPr>
            <a:lvl8pPr algn="l">
              <a:defRPr sz="2800" b="0">
                <a:solidFill>
                  <a:srgbClr val="367653"/>
                </a:solidFill>
                <a:latin typeface="Times New Roman"/>
                <a:ea typeface="Times New Roman"/>
                <a:cs typeface="Times New Roman"/>
              </a:defRPr>
            </a:lvl8pPr>
            <a:lvl9pPr algn="l">
              <a:defRPr sz="2800" b="0">
                <a:solidFill>
                  <a:srgbClr val="367653"/>
                </a:solidFill>
                <a:latin typeface="Times New Roman"/>
                <a:ea typeface="Times New Roman"/>
                <a:cs typeface="Times New Roman"/>
              </a:defRPr>
            </a:lvl9pPr>
          </a:lstStyle>
          <a:p xmlns:a="http://schemas.openxmlformats.org/drawingml/2006/main">
            <a:pPr algn="l">
              <a:defRPr sz="2800" b="0">
                <a:solidFill>
                  <a:srgbClr val="367653"/>
                </a:solidFill>
                <a:latin typeface="Times New Roman"/>
                <a:ea typeface="Times New Roman"/>
                <a:cs typeface="Times New Roman"/>
              </a:defRPr>
            </a:pPr>
            <a:r>
              <a:rPr sz="2800" b="0">
                <a:solidFill>
                  <a:srgbClr val="367653"/>
                </a:solidFill>
                <a:latin typeface="Times New Roman"/>
                <a:ea typeface="Times New Roman"/>
                <a:cs typeface="Times New Roman"/>
              </a:rPr>
              <a:t>¿Un pH dentro del intervalo descarta un trastorno?</a:t>
            </a:r>
          </a:p>
        </p:txBody>
      </p:sp>
    </p:spTree>
    <p:extLst>
      <p:ext uri="{BB962C8B-B14F-4D97-AF65-F5344CB8AC3E}">
        <p14:creationId xmlns:p14="http://schemas.microsoft.com/office/powerpoint/2010/main" val="337225303"/>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slide-title">
            <a:extLst xmlns:a="http://schemas.openxmlformats.org/drawingml/2006/main">
              <a:ext uri="{FF2B5EF4-FFF2-40B4-BE49-F238E27FC236}">
                <a16:creationId xmlns:a16="http://schemas.microsoft.com/office/drawing/2014/main" id="{9DCB75D7-BF1F-4432-896D-1CC47C07EB72}"/>
              </a:ext>
            </a:extLst>
          </p:cNvPr>
          <p:cNvSpPr>
            <a:spLocks xmlns:a="http://schemas.openxmlformats.org/drawingml/2006/main" noGrp="1"/>
          </p:cNvSpPr>
          <p:nvPr/>
        </p:nvSpPr>
        <p:spPr>
          <a:xfrm xmlns:a="http://schemas.openxmlformats.org/drawingml/2006/main">
            <a:off x="609600" y="390525"/>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400" b="1">
                <a:solidFill>
                  <a:srgbClr val="174A35"/>
                </a:solidFill>
                <a:latin typeface="Times New Roman"/>
                <a:ea typeface="Times New Roman"/>
                <a:cs typeface="Times New Roman"/>
              </a:defRPr>
            </a:defPPr>
            <a:lvl1pPr algn="l">
              <a:defRPr sz="3400" b="1">
                <a:solidFill>
                  <a:srgbClr val="174A35"/>
                </a:solidFill>
                <a:latin typeface="Times New Roman"/>
                <a:ea typeface="Times New Roman"/>
                <a:cs typeface="Times New Roman"/>
              </a:defRPr>
            </a:lvl1pPr>
            <a:lvl2pPr algn="l">
              <a:defRPr sz="3400" b="1">
                <a:solidFill>
                  <a:srgbClr val="174A35"/>
                </a:solidFill>
                <a:latin typeface="Times New Roman"/>
                <a:ea typeface="Times New Roman"/>
                <a:cs typeface="Times New Roman"/>
              </a:defRPr>
            </a:lvl2pPr>
            <a:lvl3pPr algn="l">
              <a:defRPr sz="3400" b="1">
                <a:solidFill>
                  <a:srgbClr val="174A35"/>
                </a:solidFill>
                <a:latin typeface="Times New Roman"/>
                <a:ea typeface="Times New Roman"/>
                <a:cs typeface="Times New Roman"/>
              </a:defRPr>
            </a:lvl3pPr>
            <a:lvl4pPr algn="l">
              <a:defRPr sz="3400" b="1">
                <a:solidFill>
                  <a:srgbClr val="174A35"/>
                </a:solidFill>
                <a:latin typeface="Times New Roman"/>
                <a:ea typeface="Times New Roman"/>
                <a:cs typeface="Times New Roman"/>
              </a:defRPr>
            </a:lvl4pPr>
            <a:lvl5pPr algn="l">
              <a:defRPr sz="3400" b="1">
                <a:solidFill>
                  <a:srgbClr val="174A35"/>
                </a:solidFill>
                <a:latin typeface="Times New Roman"/>
                <a:ea typeface="Times New Roman"/>
                <a:cs typeface="Times New Roman"/>
              </a:defRPr>
            </a:lvl5pPr>
            <a:lvl6pPr algn="l">
              <a:defRPr sz="3400" b="1">
                <a:solidFill>
                  <a:srgbClr val="174A35"/>
                </a:solidFill>
                <a:latin typeface="Times New Roman"/>
                <a:ea typeface="Times New Roman"/>
                <a:cs typeface="Times New Roman"/>
              </a:defRPr>
            </a:lvl6pPr>
            <a:lvl7pPr algn="l">
              <a:defRPr sz="3400" b="1">
                <a:solidFill>
                  <a:srgbClr val="174A35"/>
                </a:solidFill>
                <a:latin typeface="Times New Roman"/>
                <a:ea typeface="Times New Roman"/>
                <a:cs typeface="Times New Roman"/>
              </a:defRPr>
            </a:lvl7pPr>
            <a:lvl8pPr algn="l">
              <a:defRPr sz="3400" b="1">
                <a:solidFill>
                  <a:srgbClr val="174A35"/>
                </a:solidFill>
                <a:latin typeface="Times New Roman"/>
                <a:ea typeface="Times New Roman"/>
                <a:cs typeface="Times New Roman"/>
              </a:defRPr>
            </a:lvl8pPr>
            <a:lvl9pPr algn="l">
              <a:defRPr sz="3400" b="1">
                <a:solidFill>
                  <a:srgbClr val="174A35"/>
                </a:solidFill>
                <a:latin typeface="Times New Roman"/>
                <a:ea typeface="Times New Roman"/>
                <a:cs typeface="Times New Roman"/>
              </a:defRPr>
            </a:lvl9pPr>
          </a:lstStyle>
          <a:p xmlns:a="http://schemas.openxmlformats.org/drawingml/2006/main">
            <a:pPr algn="l">
              <a:defRPr sz="3400" b="1">
                <a:solidFill>
                  <a:srgbClr val="174A35"/>
                </a:solidFill>
                <a:latin typeface="Times New Roman"/>
                <a:ea typeface="Times New Roman"/>
                <a:cs typeface="Times New Roman"/>
              </a:defRPr>
            </a:pPr>
            <a:r>
              <a:rPr sz="3400" b="1">
                <a:solidFill>
                  <a:srgbClr val="174A35"/>
                </a:solidFill>
                <a:latin typeface="Times New Roman"/>
                <a:ea typeface="Times New Roman"/>
                <a:cs typeface="Times New Roman"/>
              </a:rPr>
              <a:t>pH, acidemia y alcalemia</a:t>
            </a:r>
          </a:p>
        </p:txBody>
      </p:sp>
      <p:sp>
        <p:nvSpPr>
          <p:cNvPr id="2" name="page-number">
            <a:extLst xmlns:a="http://schemas.openxmlformats.org/drawingml/2006/main">
              <a:ext uri="{FF2B5EF4-FFF2-40B4-BE49-F238E27FC236}">
                <a16:creationId xmlns:a16="http://schemas.microsoft.com/office/drawing/2014/main" id="{55FC560E-1BA3-4212-96F7-FDC0543C74A7}"/>
              </a:ext>
            </a:extLst>
          </p:cNvPr>
          <p:cNvSpPr>
            <a:spLocks xmlns:a="http://schemas.openxmlformats.org/drawingml/2006/main" noGrp="1"/>
          </p:cNvSpPr>
          <p:nvPr/>
        </p:nvSpPr>
        <p:spPr>
          <a:xfrm xmlns:a="http://schemas.openxmlformats.org/drawingml/2006/main">
            <a:off x="11077575" y="64198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00" b="0">
                <a:solidFill>
                  <a:srgbClr val="367653"/>
                </a:solidFill>
                <a:latin typeface="Times New Roman"/>
                <a:ea typeface="Times New Roman"/>
                <a:cs typeface="Times New Roman"/>
              </a:defRPr>
            </a:defPPr>
            <a:lvl1pPr algn="r">
              <a:defRPr sz="1200" b="0">
                <a:solidFill>
                  <a:srgbClr val="367653"/>
                </a:solidFill>
                <a:latin typeface="Times New Roman"/>
                <a:ea typeface="Times New Roman"/>
                <a:cs typeface="Times New Roman"/>
              </a:defRPr>
            </a:lvl1pPr>
            <a:lvl2pPr algn="r">
              <a:defRPr sz="1200" b="0">
                <a:solidFill>
                  <a:srgbClr val="367653"/>
                </a:solidFill>
                <a:latin typeface="Times New Roman"/>
                <a:ea typeface="Times New Roman"/>
                <a:cs typeface="Times New Roman"/>
              </a:defRPr>
            </a:lvl2pPr>
            <a:lvl3pPr algn="r">
              <a:defRPr sz="1200" b="0">
                <a:solidFill>
                  <a:srgbClr val="367653"/>
                </a:solidFill>
                <a:latin typeface="Times New Roman"/>
                <a:ea typeface="Times New Roman"/>
                <a:cs typeface="Times New Roman"/>
              </a:defRPr>
            </a:lvl3pPr>
            <a:lvl4pPr algn="r">
              <a:defRPr sz="1200" b="0">
                <a:solidFill>
                  <a:srgbClr val="367653"/>
                </a:solidFill>
                <a:latin typeface="Times New Roman"/>
                <a:ea typeface="Times New Roman"/>
                <a:cs typeface="Times New Roman"/>
              </a:defRPr>
            </a:lvl4pPr>
            <a:lvl5pPr algn="r">
              <a:defRPr sz="1200" b="0">
                <a:solidFill>
                  <a:srgbClr val="367653"/>
                </a:solidFill>
                <a:latin typeface="Times New Roman"/>
                <a:ea typeface="Times New Roman"/>
                <a:cs typeface="Times New Roman"/>
              </a:defRPr>
            </a:lvl5pPr>
            <a:lvl6pPr algn="r">
              <a:defRPr sz="1200" b="0">
                <a:solidFill>
                  <a:srgbClr val="367653"/>
                </a:solidFill>
                <a:latin typeface="Times New Roman"/>
                <a:ea typeface="Times New Roman"/>
                <a:cs typeface="Times New Roman"/>
              </a:defRPr>
            </a:lvl6pPr>
            <a:lvl7pPr algn="r">
              <a:defRPr sz="1200" b="0">
                <a:solidFill>
                  <a:srgbClr val="367653"/>
                </a:solidFill>
                <a:latin typeface="Times New Roman"/>
                <a:ea typeface="Times New Roman"/>
                <a:cs typeface="Times New Roman"/>
              </a:defRPr>
            </a:lvl7pPr>
            <a:lvl8pPr algn="r">
              <a:defRPr sz="1200" b="0">
                <a:solidFill>
                  <a:srgbClr val="367653"/>
                </a:solidFill>
                <a:latin typeface="Times New Roman"/>
                <a:ea typeface="Times New Roman"/>
                <a:cs typeface="Times New Roman"/>
              </a:defRPr>
            </a:lvl8pPr>
            <a:lvl9pPr algn="r">
              <a:defRPr sz="1200" b="0">
                <a:solidFill>
                  <a:srgbClr val="367653"/>
                </a:solidFill>
                <a:latin typeface="Times New Roman"/>
                <a:ea typeface="Times New Roman"/>
                <a:cs typeface="Times New Roman"/>
              </a:defRPr>
            </a:lvl9pPr>
          </a:lstStyle>
          <a:p xmlns:a="http://schemas.openxmlformats.org/drawingml/2006/main">
            <a:pPr algn="r">
              <a:defRPr sz="1200" b="0">
                <a:solidFill>
                  <a:srgbClr val="367653"/>
                </a:solidFill>
                <a:latin typeface="Times New Roman"/>
                <a:ea typeface="Times New Roman"/>
                <a:cs typeface="Times New Roman"/>
              </a:defRPr>
            </a:pPr>
            <a:r>
              <a:rPr sz="1200" b="0">
                <a:solidFill>
                  <a:srgbClr val="367653"/>
                </a:solidFill>
                <a:latin typeface="Times New Roman"/>
                <a:ea typeface="Times New Roman"/>
                <a:cs typeface="Times New Roman"/>
              </a:rPr>
              <a:t>02</a:t>
            </a:r>
          </a:p>
        </p:txBody>
      </p:sp>
      <p:sp>
        <p:nvSpPr>
          <p:cNvPr id="3" name="sources">
            <a:extLst xmlns:a="http://schemas.openxmlformats.org/drawingml/2006/main">
              <a:ext uri="{FF2B5EF4-FFF2-40B4-BE49-F238E27FC236}">
                <a16:creationId xmlns:a16="http://schemas.microsoft.com/office/drawing/2014/main" id="{7C079EEA-93CC-4470-946C-D26A995B9765}"/>
              </a:ext>
            </a:extLst>
          </p:cNvPr>
          <p:cNvSpPr>
            <a:spLocks xmlns:a="http://schemas.openxmlformats.org/drawingml/2006/main" noGrp="1"/>
          </p:cNvSpPr>
          <p:nvPr/>
        </p:nvSpPr>
        <p:spPr>
          <a:xfrm xmlns:a="http://schemas.openxmlformats.org/drawingml/2006/main">
            <a:off x="609600" y="6419850"/>
            <a:ext cx="10287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200" b="0">
                <a:solidFill>
                  <a:srgbClr val="515151"/>
                </a:solidFill>
                <a:latin typeface="Times New Roman"/>
                <a:ea typeface="Times New Roman"/>
                <a:cs typeface="Times New Roman"/>
              </a:defRPr>
            </a:defPPr>
            <a:lvl1pPr algn="l">
              <a:defRPr sz="1200" b="0">
                <a:solidFill>
                  <a:srgbClr val="515151"/>
                </a:solidFill>
                <a:latin typeface="Times New Roman"/>
                <a:ea typeface="Times New Roman"/>
                <a:cs typeface="Times New Roman"/>
              </a:defRPr>
            </a:lvl1pPr>
            <a:lvl2pPr algn="l">
              <a:defRPr sz="1200" b="0">
                <a:solidFill>
                  <a:srgbClr val="515151"/>
                </a:solidFill>
                <a:latin typeface="Times New Roman"/>
                <a:ea typeface="Times New Roman"/>
                <a:cs typeface="Times New Roman"/>
              </a:defRPr>
            </a:lvl2pPr>
            <a:lvl3pPr algn="l">
              <a:defRPr sz="1200" b="0">
                <a:solidFill>
                  <a:srgbClr val="515151"/>
                </a:solidFill>
                <a:latin typeface="Times New Roman"/>
                <a:ea typeface="Times New Roman"/>
                <a:cs typeface="Times New Roman"/>
              </a:defRPr>
            </a:lvl3pPr>
            <a:lvl4pPr algn="l">
              <a:defRPr sz="1200" b="0">
                <a:solidFill>
                  <a:srgbClr val="515151"/>
                </a:solidFill>
                <a:latin typeface="Times New Roman"/>
                <a:ea typeface="Times New Roman"/>
                <a:cs typeface="Times New Roman"/>
              </a:defRPr>
            </a:lvl4pPr>
            <a:lvl5pPr algn="l">
              <a:defRPr sz="1200" b="0">
                <a:solidFill>
                  <a:srgbClr val="515151"/>
                </a:solidFill>
                <a:latin typeface="Times New Roman"/>
                <a:ea typeface="Times New Roman"/>
                <a:cs typeface="Times New Roman"/>
              </a:defRPr>
            </a:lvl5pPr>
            <a:lvl6pPr algn="l">
              <a:defRPr sz="1200" b="0">
                <a:solidFill>
                  <a:srgbClr val="515151"/>
                </a:solidFill>
                <a:latin typeface="Times New Roman"/>
                <a:ea typeface="Times New Roman"/>
                <a:cs typeface="Times New Roman"/>
              </a:defRPr>
            </a:lvl6pPr>
            <a:lvl7pPr algn="l">
              <a:defRPr sz="1200" b="0">
                <a:solidFill>
                  <a:srgbClr val="515151"/>
                </a:solidFill>
                <a:latin typeface="Times New Roman"/>
                <a:ea typeface="Times New Roman"/>
                <a:cs typeface="Times New Roman"/>
              </a:defRPr>
            </a:lvl7pPr>
            <a:lvl8pPr algn="l">
              <a:defRPr sz="1200" b="0">
                <a:solidFill>
                  <a:srgbClr val="515151"/>
                </a:solidFill>
                <a:latin typeface="Times New Roman"/>
                <a:ea typeface="Times New Roman"/>
                <a:cs typeface="Times New Roman"/>
              </a:defRPr>
            </a:lvl8pPr>
            <a:lvl9pPr algn="l">
              <a:defRPr sz="1200" b="0">
                <a:solidFill>
                  <a:srgbClr val="515151"/>
                </a:solidFill>
                <a:latin typeface="Times New Roman"/>
                <a:ea typeface="Times New Roman"/>
                <a:cs typeface="Times New Roman"/>
              </a:defRPr>
            </a:lvl9pPr>
          </a:lstStyle>
          <a:p xmlns:a="http://schemas.openxmlformats.org/drawingml/2006/main">
            <a:pPr algn="l">
              <a:defRPr sz="1200" b="0">
                <a:solidFill>
                  <a:srgbClr val="515151"/>
                </a:solidFill>
                <a:latin typeface="Times New Roman"/>
                <a:ea typeface="Times New Roman"/>
                <a:cs typeface="Times New Roman"/>
              </a:defRPr>
            </a:pPr>
            <a:r>
              <a:rPr sz="1200" b="0">
                <a:solidFill>
                  <a:srgbClr val="515151"/>
                </a:solidFill>
                <a:latin typeface="Times New Roman"/>
                <a:ea typeface="Times New Roman"/>
                <a:cs typeface="Times New Roman"/>
              </a:rPr>
              <a:t>Fuentes: [1]</a:t>
            </a:r>
          </a:p>
        </p:txBody>
      </p:sp>
      <p:sp>
        <p:nvSpPr>
          <p:cNvPr id="4" name="text">
            <a:extLst xmlns:a="http://schemas.openxmlformats.org/drawingml/2006/main">
              <a:ext uri="{FF2B5EF4-FFF2-40B4-BE49-F238E27FC236}">
                <a16:creationId xmlns:a16="http://schemas.microsoft.com/office/drawing/2014/main" id="{E3A2B7BC-A95C-4061-BC83-220257FDB9C4}"/>
              </a:ext>
            </a:extLst>
          </p:cNvPr>
          <p:cNvSpPr>
            <a:spLocks xmlns:a="http://schemas.openxmlformats.org/drawingml/2006/main" noGrp="1"/>
          </p:cNvSpPr>
          <p:nvPr/>
        </p:nvSpPr>
        <p:spPr>
          <a:xfrm xmlns:a="http://schemas.openxmlformats.org/drawingml/2006/main">
            <a:off x="609600" y="1381125"/>
            <a:ext cx="1097280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400" b="0">
                <a:solidFill>
                  <a:srgbClr val="181818"/>
                </a:solidFill>
                <a:latin typeface="Times New Roman"/>
                <a:ea typeface="Times New Roman"/>
                <a:cs typeface="Times New Roman"/>
              </a:defRPr>
            </a:defPPr>
            <a:lvl1pPr algn="l">
              <a:defRPr sz="2400" b="0">
                <a:solidFill>
                  <a:srgbClr val="181818"/>
                </a:solidFill>
                <a:latin typeface="Times New Roman"/>
                <a:ea typeface="Times New Roman"/>
                <a:cs typeface="Times New Roman"/>
              </a:defRPr>
            </a:lvl1pPr>
            <a:lvl2pPr algn="l">
              <a:defRPr sz="2400" b="0">
                <a:solidFill>
                  <a:srgbClr val="181818"/>
                </a:solidFill>
                <a:latin typeface="Times New Roman"/>
                <a:ea typeface="Times New Roman"/>
                <a:cs typeface="Times New Roman"/>
              </a:defRPr>
            </a:lvl2pPr>
            <a:lvl3pPr algn="l">
              <a:defRPr sz="2400" b="0">
                <a:solidFill>
                  <a:srgbClr val="181818"/>
                </a:solidFill>
                <a:latin typeface="Times New Roman"/>
                <a:ea typeface="Times New Roman"/>
                <a:cs typeface="Times New Roman"/>
              </a:defRPr>
            </a:lvl3pPr>
            <a:lvl4pPr algn="l">
              <a:defRPr sz="2400" b="0">
                <a:solidFill>
                  <a:srgbClr val="181818"/>
                </a:solidFill>
                <a:latin typeface="Times New Roman"/>
                <a:ea typeface="Times New Roman"/>
                <a:cs typeface="Times New Roman"/>
              </a:defRPr>
            </a:lvl4pPr>
            <a:lvl5pPr algn="l">
              <a:defRPr sz="2400" b="0">
                <a:solidFill>
                  <a:srgbClr val="181818"/>
                </a:solidFill>
                <a:latin typeface="Times New Roman"/>
                <a:ea typeface="Times New Roman"/>
                <a:cs typeface="Times New Roman"/>
              </a:defRPr>
            </a:lvl5pPr>
            <a:lvl6pPr algn="l">
              <a:defRPr sz="2400" b="0">
                <a:solidFill>
                  <a:srgbClr val="181818"/>
                </a:solidFill>
                <a:latin typeface="Times New Roman"/>
                <a:ea typeface="Times New Roman"/>
                <a:cs typeface="Times New Roman"/>
              </a:defRPr>
            </a:lvl6pPr>
            <a:lvl7pPr algn="l">
              <a:defRPr sz="2400" b="0">
                <a:solidFill>
                  <a:srgbClr val="181818"/>
                </a:solidFill>
                <a:latin typeface="Times New Roman"/>
                <a:ea typeface="Times New Roman"/>
                <a:cs typeface="Times New Roman"/>
              </a:defRPr>
            </a:lvl7pPr>
            <a:lvl8pPr algn="l">
              <a:defRPr sz="2400" b="0">
                <a:solidFill>
                  <a:srgbClr val="181818"/>
                </a:solidFill>
                <a:latin typeface="Times New Roman"/>
                <a:ea typeface="Times New Roman"/>
                <a:cs typeface="Times New Roman"/>
              </a:defRPr>
            </a:lvl8pPr>
            <a:lvl9pPr algn="l">
              <a:defRPr sz="2400" b="0">
                <a:solidFill>
                  <a:srgbClr val="181818"/>
                </a:solidFill>
                <a:latin typeface="Times New Roman"/>
                <a:ea typeface="Times New Roman"/>
                <a:cs typeface="Times New Roman"/>
              </a:defRPr>
            </a:lvl9pPr>
          </a:lstStyle>
          <a:p xmlns:a="http://schemas.openxmlformats.org/drawingml/2006/main">
            <a:pPr algn="l">
              <a:defRPr sz="2400" b="0">
                <a:solidFill>
                  <a:srgbClr val="181818"/>
                </a:solidFill>
                <a:latin typeface="Times New Roman"/>
                <a:ea typeface="Times New Roman"/>
                <a:cs typeface="Times New Roman"/>
              </a:defRPr>
            </a:pPr>
            <a:r>
              <a:rPr sz="2400" b="0">
                <a:solidFill>
                  <a:srgbClr val="181818"/>
                </a:solidFill>
                <a:latin typeface="Times New Roman"/>
                <a:ea typeface="Times New Roman"/>
                <a:cs typeface="Times New Roman"/>
              </a:rPr>
              <a:t>Más H⁺ corresponde a menor pH.</a:t>
            </a:r>
          </a:p>
        </p:txBody>
      </p:sp>
      <p:graphicFrame>
        <p:nvGraphicFramePr>
          <p:cNvPr id="5" name="">
            <a:extLst xmlns:a="http://schemas.openxmlformats.org/drawingml/2006/main">
              <a:ext uri="{FF2B5EF4-FFF2-40B4-BE49-F238E27FC236}">
                <a16:creationId xmlns:a16="http://schemas.microsoft.com/office/drawing/2014/main" id="{BA839AA1-09A6-475D-B48F-5929A60791EE}"/>
              </a:ext>
            </a:extLst>
          </p:cNvPr>
          <p:cNvGraphicFramePr/>
          <p:nvPr/>
        </p:nvGraphicFramePr>
        <p:xfrm>
          <a:off xmlns:a="http://schemas.openxmlformats.org/drawingml/2006/main" x="609600" y="2095500"/>
          <a:ext xmlns:a="http://schemas.openxmlformats.org/drawingml/2006/main" cx="10972800" cy="2857500"/>
        </p:xfrm>
        <a:graphic xmlns:a="http://schemas.openxmlformats.org/drawingml/2006/main">
          <a:graphicData uri="http://schemas.openxmlformats.org/drawingml/2006/table">
            <a:tbl>
              <a:tblPr firstRow="1" bandRow="0"/>
              <a:tblGrid>
                <a:gridCol w="3476625"/>
                <a:gridCol w="7496175"/>
              </a:tblGrid>
              <a:tr h="666750">
                <a:tc>
                  <a:txBody>
                    <a:bodyPr wrap="square">
                      <a:noAutofit/>
                    </a:bodyPr>
                    <a:lstStyle/>
                    <a:p>
                      <a:pPr algn="l"/>
                      <a:r>
                        <a:rPr sz="2200" b="1">
                          <a:solidFill>
                            <a:srgbClr val="FFFFFF"/>
                          </a:solidFill>
                          <a:latin typeface="Times New Roman"/>
                          <a:ea typeface="Times New Roman"/>
                          <a:cs typeface="Times New Roman"/>
                        </a:rPr>
                        <a:t>Estado</a:t>
                      </a:r>
                    </a:p>
                  </a:txBody>
                  <a:tcPr marL="142875" marR="142875" marT="114300" marB="95250" anchor="ctr">
                    <a:lnL w="19050">
                      <a:solidFill>
                        <a:srgbClr val="FFFFFF"/>
                      </a:solidFill>
                      <a:prstDash val="solid"/>
                    </a:lnL>
                    <a:lnR w="19050">
                      <a:solidFill>
                        <a:srgbClr val="FFFFFF"/>
                      </a:solidFill>
                      <a:prstDash val="solid"/>
                    </a:lnR>
                    <a:lnT w="19050">
                      <a:solidFill>
                        <a:srgbClr val="FFFFFF"/>
                      </a:solidFill>
                      <a:prstDash val="solid"/>
                    </a:lnT>
                    <a:lnB w="19050">
                      <a:solidFill>
                        <a:srgbClr val="FFFFFF"/>
                      </a:solidFill>
                      <a:prstDash val="solid"/>
                    </a:lnB>
                    <a:solidFill>
                      <a:srgbClr val="174A35"/>
                    </a:solidFill>
                  </a:tcPr>
                </a:tc>
                <a:tc>
                  <a:txBody>
                    <a:bodyPr wrap="square">
                      <a:noAutofit/>
                    </a:bodyPr>
                    <a:lstStyle/>
                    <a:p>
                      <a:pPr algn="l"/>
                      <a:r>
                        <a:rPr sz="2200" b="1">
                          <a:solidFill>
                            <a:srgbClr val="FFFFFF"/>
                          </a:solidFill>
                          <a:latin typeface="Times New Roman"/>
                          <a:ea typeface="Times New Roman"/>
                          <a:cs typeface="Times New Roman"/>
                        </a:rPr>
                        <a:t>Resultado del pH</a:t>
                      </a:r>
                    </a:p>
                  </a:txBody>
                  <a:tcPr marL="142875" marR="142875" marT="114300" marB="95250" anchor="ctr">
                    <a:lnR w="19050">
                      <a:solidFill>
                        <a:srgbClr val="FFFFFF"/>
                      </a:solidFill>
                      <a:prstDash val="solid"/>
                    </a:lnR>
                    <a:lnT w="19050">
                      <a:solidFill>
                        <a:srgbClr val="FFFFFF"/>
                      </a:solidFill>
                      <a:prstDash val="solid"/>
                    </a:lnT>
                    <a:lnB w="19050">
                      <a:solidFill>
                        <a:srgbClr val="FFFFFF"/>
                      </a:solidFill>
                      <a:prstDash val="solid"/>
                    </a:lnB>
                    <a:solidFill>
                      <a:srgbClr val="174A35"/>
                    </a:solidFill>
                  </a:tcPr>
                </a:tc>
              </a:tr>
              <a:tr h="1095375">
                <a:tc>
                  <a:txBody>
                    <a:bodyPr wrap="square">
                      <a:noAutofit/>
                    </a:bodyPr>
                    <a:lstStyle/>
                    <a:p>
                      <a:pPr algn="l"/>
                      <a:r>
                        <a:rPr sz="2400" b="0">
                          <a:solidFill>
                            <a:srgbClr val="181818"/>
                          </a:solidFill>
                          <a:latin typeface="Times New Roman"/>
                          <a:ea typeface="Times New Roman"/>
                          <a:cs typeface="Times New Roman"/>
                        </a:rPr>
                        <a:t>Acidemia</a:t>
                      </a:r>
                    </a:p>
                  </a:txBody>
                  <a:tcPr marL="142875" marR="142875" marT="114300" marB="95250" anchor="ctr">
                    <a:lnL w="19050">
                      <a:solidFill>
                        <a:srgbClr val="FFFFFF"/>
                      </a:solidFill>
                      <a:prstDash val="solid"/>
                    </a:lnL>
                    <a:lnR w="19050">
                      <a:solidFill>
                        <a:srgbClr val="FFFFFF"/>
                      </a:solidFill>
                      <a:prstDash val="solid"/>
                    </a:lnR>
                    <a:lnB w="19050">
                      <a:solidFill>
                        <a:srgbClr val="FFFFFF"/>
                      </a:solidFill>
                      <a:prstDash val="solid"/>
                    </a:lnB>
                    <a:solidFill>
                      <a:srgbClr val="F0F5EF"/>
                    </a:solidFill>
                  </a:tcPr>
                </a:tc>
                <a:tc>
                  <a:txBody>
                    <a:bodyPr wrap="square">
                      <a:noAutofit/>
                    </a:bodyPr>
                    <a:lstStyle/>
                    <a:p>
                      <a:pPr algn="l"/>
                      <a:r>
                        <a:rPr sz="2400" b="0">
                          <a:solidFill>
                            <a:srgbClr val="181818"/>
                          </a:solidFill>
                          <a:latin typeface="Times New Roman"/>
                          <a:ea typeface="Times New Roman"/>
                          <a:cs typeface="Times New Roman"/>
                        </a:rPr>
                        <a:t>Inferior al intervalo de referencia.</a:t>
                      </a:r>
                    </a:p>
                  </a:txBody>
                  <a:tcPr marL="142875" marR="142875" marT="114300" marB="95250" anchor="ctr">
                    <a:lnR w="19050">
                      <a:solidFill>
                        <a:srgbClr val="FFFFFF"/>
                      </a:solidFill>
                      <a:prstDash val="solid"/>
                    </a:lnR>
                    <a:lnB w="19050">
                      <a:solidFill>
                        <a:srgbClr val="FFFFFF"/>
                      </a:solidFill>
                      <a:prstDash val="solid"/>
                    </a:lnB>
                    <a:solidFill>
                      <a:srgbClr val="F0F5EF"/>
                    </a:solidFill>
                  </a:tcPr>
                </a:tc>
              </a:tr>
              <a:tr h="1095375">
                <a:tc>
                  <a:txBody>
                    <a:bodyPr wrap="square">
                      <a:noAutofit/>
                    </a:bodyPr>
                    <a:lstStyle/>
                    <a:p>
                      <a:pPr algn="l"/>
                      <a:r>
                        <a:rPr sz="2400" b="0">
                          <a:solidFill>
                            <a:srgbClr val="181818"/>
                          </a:solidFill>
                          <a:latin typeface="Times New Roman"/>
                          <a:ea typeface="Times New Roman"/>
                          <a:cs typeface="Times New Roman"/>
                        </a:rPr>
                        <a:t>Alcalemia</a:t>
                      </a:r>
                    </a:p>
                  </a:txBody>
                  <a:tcPr marL="142875" marR="142875" marT="114300" marB="95250" anchor="ctr">
                    <a:lnL w="19050">
                      <a:solidFill>
                        <a:srgbClr val="FFFFFF"/>
                      </a:solidFill>
                      <a:prstDash val="solid"/>
                    </a:lnL>
                    <a:lnR w="19050">
                      <a:solidFill>
                        <a:srgbClr val="FFFFFF"/>
                      </a:solidFill>
                      <a:prstDash val="solid"/>
                    </a:lnR>
                    <a:lnB w="19050">
                      <a:solidFill>
                        <a:srgbClr val="FFFFFF"/>
                      </a:solidFill>
                      <a:prstDash val="solid"/>
                    </a:lnB>
                    <a:solidFill>
                      <a:srgbClr val="FFFFFF"/>
                    </a:solidFill>
                  </a:tcPr>
                </a:tc>
                <a:tc>
                  <a:txBody>
                    <a:bodyPr wrap="square">
                      <a:noAutofit/>
                    </a:bodyPr>
                    <a:lstStyle/>
                    <a:p>
                      <a:pPr algn="l"/>
                      <a:r>
                        <a:rPr sz="2400" b="0">
                          <a:solidFill>
                            <a:srgbClr val="181818"/>
                          </a:solidFill>
                          <a:latin typeface="Times New Roman"/>
                          <a:ea typeface="Times New Roman"/>
                          <a:cs typeface="Times New Roman"/>
                        </a:rPr>
                        <a:t>Superior al intervalo de referencia.</a:t>
                      </a:r>
                    </a:p>
                  </a:txBody>
                  <a:tcPr marL="142875" marR="142875" marT="114300" marB="95250" anchor="ctr">
                    <a:lnR w="19050">
                      <a:solidFill>
                        <a:srgbClr val="FFFFFF"/>
                      </a:solidFill>
                      <a:prstDash val="solid"/>
                    </a:lnR>
                    <a:lnB w="19050">
                      <a:solidFill>
                        <a:srgbClr val="FFFFFF"/>
                      </a:solidFill>
                      <a:prstDash val="solid"/>
                    </a:lnB>
                    <a:solidFill>
                      <a:srgbClr val="FFFFFF"/>
                    </a:solidFill>
                  </a:tcPr>
                </a:tc>
              </a:tr>
            </a:tbl>
          </a:graphicData>
        </a:graphic>
      </p:graphicFrame>
      <p:sp>
        <p:nvSpPr>
          <p:cNvPr id="6" name="text">
            <a:extLst xmlns:a="http://schemas.openxmlformats.org/drawingml/2006/main">
              <a:ext uri="{FF2B5EF4-FFF2-40B4-BE49-F238E27FC236}">
                <a16:creationId xmlns:a16="http://schemas.microsoft.com/office/drawing/2014/main" id="{57DB49C4-412F-45F0-8783-DE984CA3292F}"/>
              </a:ext>
            </a:extLst>
          </p:cNvPr>
          <p:cNvSpPr>
            <a:spLocks xmlns:a="http://schemas.openxmlformats.org/drawingml/2006/main" noGrp="1"/>
          </p:cNvSpPr>
          <p:nvPr/>
        </p:nvSpPr>
        <p:spPr>
          <a:xfrm xmlns:a="http://schemas.openxmlformats.org/drawingml/2006/main">
            <a:off x="609600" y="5410200"/>
            <a:ext cx="10972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600" b="1">
                <a:solidFill>
                  <a:srgbClr val="367653"/>
                </a:solidFill>
                <a:latin typeface="Times New Roman"/>
                <a:ea typeface="Times New Roman"/>
                <a:cs typeface="Times New Roman"/>
              </a:defRPr>
            </a:defPPr>
            <a:lvl1pPr algn="l">
              <a:defRPr sz="2600" b="1">
                <a:solidFill>
                  <a:srgbClr val="367653"/>
                </a:solidFill>
                <a:latin typeface="Times New Roman"/>
                <a:ea typeface="Times New Roman"/>
                <a:cs typeface="Times New Roman"/>
              </a:defRPr>
            </a:lvl1pPr>
            <a:lvl2pPr algn="l">
              <a:defRPr sz="2600" b="1">
                <a:solidFill>
                  <a:srgbClr val="367653"/>
                </a:solidFill>
                <a:latin typeface="Times New Roman"/>
                <a:ea typeface="Times New Roman"/>
                <a:cs typeface="Times New Roman"/>
              </a:defRPr>
            </a:lvl2pPr>
            <a:lvl3pPr algn="l">
              <a:defRPr sz="2600" b="1">
                <a:solidFill>
                  <a:srgbClr val="367653"/>
                </a:solidFill>
                <a:latin typeface="Times New Roman"/>
                <a:ea typeface="Times New Roman"/>
                <a:cs typeface="Times New Roman"/>
              </a:defRPr>
            </a:lvl3pPr>
            <a:lvl4pPr algn="l">
              <a:defRPr sz="2600" b="1">
                <a:solidFill>
                  <a:srgbClr val="367653"/>
                </a:solidFill>
                <a:latin typeface="Times New Roman"/>
                <a:ea typeface="Times New Roman"/>
                <a:cs typeface="Times New Roman"/>
              </a:defRPr>
            </a:lvl4pPr>
            <a:lvl5pPr algn="l">
              <a:defRPr sz="2600" b="1">
                <a:solidFill>
                  <a:srgbClr val="367653"/>
                </a:solidFill>
                <a:latin typeface="Times New Roman"/>
                <a:ea typeface="Times New Roman"/>
                <a:cs typeface="Times New Roman"/>
              </a:defRPr>
            </a:lvl5pPr>
            <a:lvl6pPr algn="l">
              <a:defRPr sz="2600" b="1">
                <a:solidFill>
                  <a:srgbClr val="367653"/>
                </a:solidFill>
                <a:latin typeface="Times New Roman"/>
                <a:ea typeface="Times New Roman"/>
                <a:cs typeface="Times New Roman"/>
              </a:defRPr>
            </a:lvl6pPr>
            <a:lvl7pPr algn="l">
              <a:defRPr sz="2600" b="1">
                <a:solidFill>
                  <a:srgbClr val="367653"/>
                </a:solidFill>
                <a:latin typeface="Times New Roman"/>
                <a:ea typeface="Times New Roman"/>
                <a:cs typeface="Times New Roman"/>
              </a:defRPr>
            </a:lvl7pPr>
            <a:lvl8pPr algn="l">
              <a:defRPr sz="2600" b="1">
                <a:solidFill>
                  <a:srgbClr val="367653"/>
                </a:solidFill>
                <a:latin typeface="Times New Roman"/>
                <a:ea typeface="Times New Roman"/>
                <a:cs typeface="Times New Roman"/>
              </a:defRPr>
            </a:lvl8pPr>
            <a:lvl9pPr algn="l">
              <a:defRPr sz="2600" b="1">
                <a:solidFill>
                  <a:srgbClr val="367653"/>
                </a:solidFill>
                <a:latin typeface="Times New Roman"/>
                <a:ea typeface="Times New Roman"/>
                <a:cs typeface="Times New Roman"/>
              </a:defRPr>
            </a:lvl9pPr>
          </a:lstStyle>
          <a:p xmlns:a="http://schemas.openxmlformats.org/drawingml/2006/main">
            <a:pPr algn="l">
              <a:defRPr sz="2600" b="1">
                <a:solidFill>
                  <a:srgbClr val="367653"/>
                </a:solidFill>
                <a:latin typeface="Times New Roman"/>
                <a:ea typeface="Times New Roman"/>
                <a:cs typeface="Times New Roman"/>
              </a:defRPr>
            </a:pPr>
            <a:r>
              <a:rPr sz="2600" b="1">
                <a:solidFill>
                  <a:srgbClr val="367653"/>
                </a:solidFill>
                <a:latin typeface="Times New Roman"/>
                <a:ea typeface="Times New Roman"/>
                <a:cs typeface="Times New Roman"/>
              </a:rPr>
              <a:t>El pH describe el resultado de la muestra.</a:t>
            </a:r>
          </a:p>
        </p:txBody>
      </p:sp>
    </p:spTree>
    <p:extLst>
      <p:ext uri="{BB962C8B-B14F-4D97-AF65-F5344CB8AC3E}">
        <p14:creationId xmlns:p14="http://schemas.microsoft.com/office/powerpoint/2010/main" val="1275279423"/>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slide-title">
            <a:extLst xmlns:a="http://schemas.openxmlformats.org/drawingml/2006/main">
              <a:ext uri="{FF2B5EF4-FFF2-40B4-BE49-F238E27FC236}">
                <a16:creationId xmlns:a16="http://schemas.microsoft.com/office/drawing/2014/main" id="{B68D6503-64AB-42EB-833B-944636420489}"/>
              </a:ext>
            </a:extLst>
          </p:cNvPr>
          <p:cNvSpPr>
            <a:spLocks xmlns:a="http://schemas.openxmlformats.org/drawingml/2006/main" noGrp="1"/>
          </p:cNvSpPr>
          <p:nvPr/>
        </p:nvSpPr>
        <p:spPr>
          <a:xfrm xmlns:a="http://schemas.openxmlformats.org/drawingml/2006/main">
            <a:off x="609600" y="390525"/>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400" b="1">
                <a:solidFill>
                  <a:srgbClr val="174A35"/>
                </a:solidFill>
                <a:latin typeface="Times New Roman"/>
                <a:ea typeface="Times New Roman"/>
                <a:cs typeface="Times New Roman"/>
              </a:defRPr>
            </a:defPPr>
            <a:lvl1pPr algn="l">
              <a:defRPr sz="3400" b="1">
                <a:solidFill>
                  <a:srgbClr val="174A35"/>
                </a:solidFill>
                <a:latin typeface="Times New Roman"/>
                <a:ea typeface="Times New Roman"/>
                <a:cs typeface="Times New Roman"/>
              </a:defRPr>
            </a:lvl1pPr>
            <a:lvl2pPr algn="l">
              <a:defRPr sz="3400" b="1">
                <a:solidFill>
                  <a:srgbClr val="174A35"/>
                </a:solidFill>
                <a:latin typeface="Times New Roman"/>
                <a:ea typeface="Times New Roman"/>
                <a:cs typeface="Times New Roman"/>
              </a:defRPr>
            </a:lvl2pPr>
            <a:lvl3pPr algn="l">
              <a:defRPr sz="3400" b="1">
                <a:solidFill>
                  <a:srgbClr val="174A35"/>
                </a:solidFill>
                <a:latin typeface="Times New Roman"/>
                <a:ea typeface="Times New Roman"/>
                <a:cs typeface="Times New Roman"/>
              </a:defRPr>
            </a:lvl3pPr>
            <a:lvl4pPr algn="l">
              <a:defRPr sz="3400" b="1">
                <a:solidFill>
                  <a:srgbClr val="174A35"/>
                </a:solidFill>
                <a:latin typeface="Times New Roman"/>
                <a:ea typeface="Times New Roman"/>
                <a:cs typeface="Times New Roman"/>
              </a:defRPr>
            </a:lvl4pPr>
            <a:lvl5pPr algn="l">
              <a:defRPr sz="3400" b="1">
                <a:solidFill>
                  <a:srgbClr val="174A35"/>
                </a:solidFill>
                <a:latin typeface="Times New Roman"/>
                <a:ea typeface="Times New Roman"/>
                <a:cs typeface="Times New Roman"/>
              </a:defRPr>
            </a:lvl5pPr>
            <a:lvl6pPr algn="l">
              <a:defRPr sz="3400" b="1">
                <a:solidFill>
                  <a:srgbClr val="174A35"/>
                </a:solidFill>
                <a:latin typeface="Times New Roman"/>
                <a:ea typeface="Times New Roman"/>
                <a:cs typeface="Times New Roman"/>
              </a:defRPr>
            </a:lvl6pPr>
            <a:lvl7pPr algn="l">
              <a:defRPr sz="3400" b="1">
                <a:solidFill>
                  <a:srgbClr val="174A35"/>
                </a:solidFill>
                <a:latin typeface="Times New Roman"/>
                <a:ea typeface="Times New Roman"/>
                <a:cs typeface="Times New Roman"/>
              </a:defRPr>
            </a:lvl7pPr>
            <a:lvl8pPr algn="l">
              <a:defRPr sz="3400" b="1">
                <a:solidFill>
                  <a:srgbClr val="174A35"/>
                </a:solidFill>
                <a:latin typeface="Times New Roman"/>
                <a:ea typeface="Times New Roman"/>
                <a:cs typeface="Times New Roman"/>
              </a:defRPr>
            </a:lvl8pPr>
            <a:lvl9pPr algn="l">
              <a:defRPr sz="3400" b="1">
                <a:solidFill>
                  <a:srgbClr val="174A35"/>
                </a:solidFill>
                <a:latin typeface="Times New Roman"/>
                <a:ea typeface="Times New Roman"/>
                <a:cs typeface="Times New Roman"/>
              </a:defRPr>
            </a:lvl9pPr>
          </a:lstStyle>
          <a:p xmlns:a="http://schemas.openxmlformats.org/drawingml/2006/main">
            <a:pPr algn="l">
              <a:defRPr sz="3400" b="1">
                <a:solidFill>
                  <a:srgbClr val="174A35"/>
                </a:solidFill>
                <a:latin typeface="Times New Roman"/>
                <a:ea typeface="Times New Roman"/>
                <a:cs typeface="Times New Roman"/>
              </a:defRPr>
            </a:pPr>
            <a:r>
              <a:rPr sz="3400" b="1">
                <a:solidFill>
                  <a:srgbClr val="174A35"/>
                </a:solidFill>
                <a:latin typeface="Times New Roman"/>
                <a:ea typeface="Times New Roman"/>
                <a:cs typeface="Times New Roman"/>
              </a:rPr>
              <a:t>Acidosis y alcalosis</a:t>
            </a:r>
          </a:p>
        </p:txBody>
      </p:sp>
      <p:sp>
        <p:nvSpPr>
          <p:cNvPr id="2" name="page-number">
            <a:extLst xmlns:a="http://schemas.openxmlformats.org/drawingml/2006/main">
              <a:ext uri="{FF2B5EF4-FFF2-40B4-BE49-F238E27FC236}">
                <a16:creationId xmlns:a16="http://schemas.microsoft.com/office/drawing/2014/main" id="{9D039CE9-3342-4C76-8EB4-8A2C2FD7D40E}"/>
              </a:ext>
            </a:extLst>
          </p:cNvPr>
          <p:cNvSpPr>
            <a:spLocks xmlns:a="http://schemas.openxmlformats.org/drawingml/2006/main" noGrp="1"/>
          </p:cNvSpPr>
          <p:nvPr/>
        </p:nvSpPr>
        <p:spPr>
          <a:xfrm xmlns:a="http://schemas.openxmlformats.org/drawingml/2006/main">
            <a:off x="11077575" y="64198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00" b="0">
                <a:solidFill>
                  <a:srgbClr val="367653"/>
                </a:solidFill>
                <a:latin typeface="Times New Roman"/>
                <a:ea typeface="Times New Roman"/>
                <a:cs typeface="Times New Roman"/>
              </a:defRPr>
            </a:defPPr>
            <a:lvl1pPr algn="r">
              <a:defRPr sz="1200" b="0">
                <a:solidFill>
                  <a:srgbClr val="367653"/>
                </a:solidFill>
                <a:latin typeface="Times New Roman"/>
                <a:ea typeface="Times New Roman"/>
                <a:cs typeface="Times New Roman"/>
              </a:defRPr>
            </a:lvl1pPr>
            <a:lvl2pPr algn="r">
              <a:defRPr sz="1200" b="0">
                <a:solidFill>
                  <a:srgbClr val="367653"/>
                </a:solidFill>
                <a:latin typeface="Times New Roman"/>
                <a:ea typeface="Times New Roman"/>
                <a:cs typeface="Times New Roman"/>
              </a:defRPr>
            </a:lvl2pPr>
            <a:lvl3pPr algn="r">
              <a:defRPr sz="1200" b="0">
                <a:solidFill>
                  <a:srgbClr val="367653"/>
                </a:solidFill>
                <a:latin typeface="Times New Roman"/>
                <a:ea typeface="Times New Roman"/>
                <a:cs typeface="Times New Roman"/>
              </a:defRPr>
            </a:lvl3pPr>
            <a:lvl4pPr algn="r">
              <a:defRPr sz="1200" b="0">
                <a:solidFill>
                  <a:srgbClr val="367653"/>
                </a:solidFill>
                <a:latin typeface="Times New Roman"/>
                <a:ea typeface="Times New Roman"/>
                <a:cs typeface="Times New Roman"/>
              </a:defRPr>
            </a:lvl4pPr>
            <a:lvl5pPr algn="r">
              <a:defRPr sz="1200" b="0">
                <a:solidFill>
                  <a:srgbClr val="367653"/>
                </a:solidFill>
                <a:latin typeface="Times New Roman"/>
                <a:ea typeface="Times New Roman"/>
                <a:cs typeface="Times New Roman"/>
              </a:defRPr>
            </a:lvl5pPr>
            <a:lvl6pPr algn="r">
              <a:defRPr sz="1200" b="0">
                <a:solidFill>
                  <a:srgbClr val="367653"/>
                </a:solidFill>
                <a:latin typeface="Times New Roman"/>
                <a:ea typeface="Times New Roman"/>
                <a:cs typeface="Times New Roman"/>
              </a:defRPr>
            </a:lvl6pPr>
            <a:lvl7pPr algn="r">
              <a:defRPr sz="1200" b="0">
                <a:solidFill>
                  <a:srgbClr val="367653"/>
                </a:solidFill>
                <a:latin typeface="Times New Roman"/>
                <a:ea typeface="Times New Roman"/>
                <a:cs typeface="Times New Roman"/>
              </a:defRPr>
            </a:lvl7pPr>
            <a:lvl8pPr algn="r">
              <a:defRPr sz="1200" b="0">
                <a:solidFill>
                  <a:srgbClr val="367653"/>
                </a:solidFill>
                <a:latin typeface="Times New Roman"/>
                <a:ea typeface="Times New Roman"/>
                <a:cs typeface="Times New Roman"/>
              </a:defRPr>
            </a:lvl8pPr>
            <a:lvl9pPr algn="r">
              <a:defRPr sz="1200" b="0">
                <a:solidFill>
                  <a:srgbClr val="367653"/>
                </a:solidFill>
                <a:latin typeface="Times New Roman"/>
                <a:ea typeface="Times New Roman"/>
                <a:cs typeface="Times New Roman"/>
              </a:defRPr>
            </a:lvl9pPr>
          </a:lstStyle>
          <a:p xmlns:a="http://schemas.openxmlformats.org/drawingml/2006/main">
            <a:pPr algn="r">
              <a:defRPr sz="1200" b="0">
                <a:solidFill>
                  <a:srgbClr val="367653"/>
                </a:solidFill>
                <a:latin typeface="Times New Roman"/>
                <a:ea typeface="Times New Roman"/>
                <a:cs typeface="Times New Roman"/>
              </a:defRPr>
            </a:pPr>
            <a:r>
              <a:rPr sz="1200" b="0">
                <a:solidFill>
                  <a:srgbClr val="367653"/>
                </a:solidFill>
                <a:latin typeface="Times New Roman"/>
                <a:ea typeface="Times New Roman"/>
                <a:cs typeface="Times New Roman"/>
              </a:rPr>
              <a:t>03</a:t>
            </a:r>
          </a:p>
        </p:txBody>
      </p:sp>
      <p:sp>
        <p:nvSpPr>
          <p:cNvPr id="3" name="sources">
            <a:extLst xmlns:a="http://schemas.openxmlformats.org/drawingml/2006/main">
              <a:ext uri="{FF2B5EF4-FFF2-40B4-BE49-F238E27FC236}">
                <a16:creationId xmlns:a16="http://schemas.microsoft.com/office/drawing/2014/main" id="{5816DDD6-DA93-424E-8AA9-16AC62D2E441}"/>
              </a:ext>
            </a:extLst>
          </p:cNvPr>
          <p:cNvSpPr>
            <a:spLocks xmlns:a="http://schemas.openxmlformats.org/drawingml/2006/main" noGrp="1"/>
          </p:cNvSpPr>
          <p:nvPr/>
        </p:nvSpPr>
        <p:spPr>
          <a:xfrm xmlns:a="http://schemas.openxmlformats.org/drawingml/2006/main">
            <a:off x="609600" y="6419850"/>
            <a:ext cx="10287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200" b="0">
                <a:solidFill>
                  <a:srgbClr val="515151"/>
                </a:solidFill>
                <a:latin typeface="Times New Roman"/>
                <a:ea typeface="Times New Roman"/>
                <a:cs typeface="Times New Roman"/>
              </a:defRPr>
            </a:defPPr>
            <a:lvl1pPr algn="l">
              <a:defRPr sz="1200" b="0">
                <a:solidFill>
                  <a:srgbClr val="515151"/>
                </a:solidFill>
                <a:latin typeface="Times New Roman"/>
                <a:ea typeface="Times New Roman"/>
                <a:cs typeface="Times New Roman"/>
              </a:defRPr>
            </a:lvl1pPr>
            <a:lvl2pPr algn="l">
              <a:defRPr sz="1200" b="0">
                <a:solidFill>
                  <a:srgbClr val="515151"/>
                </a:solidFill>
                <a:latin typeface="Times New Roman"/>
                <a:ea typeface="Times New Roman"/>
                <a:cs typeface="Times New Roman"/>
              </a:defRPr>
            </a:lvl2pPr>
            <a:lvl3pPr algn="l">
              <a:defRPr sz="1200" b="0">
                <a:solidFill>
                  <a:srgbClr val="515151"/>
                </a:solidFill>
                <a:latin typeface="Times New Roman"/>
                <a:ea typeface="Times New Roman"/>
                <a:cs typeface="Times New Roman"/>
              </a:defRPr>
            </a:lvl3pPr>
            <a:lvl4pPr algn="l">
              <a:defRPr sz="1200" b="0">
                <a:solidFill>
                  <a:srgbClr val="515151"/>
                </a:solidFill>
                <a:latin typeface="Times New Roman"/>
                <a:ea typeface="Times New Roman"/>
                <a:cs typeface="Times New Roman"/>
              </a:defRPr>
            </a:lvl4pPr>
            <a:lvl5pPr algn="l">
              <a:defRPr sz="1200" b="0">
                <a:solidFill>
                  <a:srgbClr val="515151"/>
                </a:solidFill>
                <a:latin typeface="Times New Roman"/>
                <a:ea typeface="Times New Roman"/>
                <a:cs typeface="Times New Roman"/>
              </a:defRPr>
            </a:lvl5pPr>
            <a:lvl6pPr algn="l">
              <a:defRPr sz="1200" b="0">
                <a:solidFill>
                  <a:srgbClr val="515151"/>
                </a:solidFill>
                <a:latin typeface="Times New Roman"/>
                <a:ea typeface="Times New Roman"/>
                <a:cs typeface="Times New Roman"/>
              </a:defRPr>
            </a:lvl6pPr>
            <a:lvl7pPr algn="l">
              <a:defRPr sz="1200" b="0">
                <a:solidFill>
                  <a:srgbClr val="515151"/>
                </a:solidFill>
                <a:latin typeface="Times New Roman"/>
                <a:ea typeface="Times New Roman"/>
                <a:cs typeface="Times New Roman"/>
              </a:defRPr>
            </a:lvl7pPr>
            <a:lvl8pPr algn="l">
              <a:defRPr sz="1200" b="0">
                <a:solidFill>
                  <a:srgbClr val="515151"/>
                </a:solidFill>
                <a:latin typeface="Times New Roman"/>
                <a:ea typeface="Times New Roman"/>
                <a:cs typeface="Times New Roman"/>
              </a:defRPr>
            </a:lvl8pPr>
            <a:lvl9pPr algn="l">
              <a:defRPr sz="1200" b="0">
                <a:solidFill>
                  <a:srgbClr val="515151"/>
                </a:solidFill>
                <a:latin typeface="Times New Roman"/>
                <a:ea typeface="Times New Roman"/>
                <a:cs typeface="Times New Roman"/>
              </a:defRPr>
            </a:lvl9pPr>
          </a:lstStyle>
          <a:p xmlns:a="http://schemas.openxmlformats.org/drawingml/2006/main">
            <a:pPr algn="l">
              <a:defRPr sz="1200" b="0">
                <a:solidFill>
                  <a:srgbClr val="515151"/>
                </a:solidFill>
                <a:latin typeface="Times New Roman"/>
                <a:ea typeface="Times New Roman"/>
                <a:cs typeface="Times New Roman"/>
              </a:defRPr>
            </a:pPr>
            <a:r>
              <a:rPr sz="1200" b="0">
                <a:solidFill>
                  <a:srgbClr val="515151"/>
                </a:solidFill>
                <a:latin typeface="Times New Roman"/>
                <a:ea typeface="Times New Roman"/>
                <a:cs typeface="Times New Roman"/>
              </a:rPr>
              <a:t>Fuentes: [1]</a:t>
            </a:r>
          </a:p>
        </p:txBody>
      </p:sp>
      <p:graphicFrame>
        <p:nvGraphicFramePr>
          <p:cNvPr id="4" name="">
            <a:extLst xmlns:a="http://schemas.openxmlformats.org/drawingml/2006/main">
              <a:ext uri="{FF2B5EF4-FFF2-40B4-BE49-F238E27FC236}">
                <a16:creationId xmlns:a16="http://schemas.microsoft.com/office/drawing/2014/main" id="{C944733F-2BE4-4897-A30E-7061EDACE954}"/>
              </a:ext>
            </a:extLst>
          </p:cNvPr>
          <p:cNvGraphicFramePr/>
          <p:nvPr/>
        </p:nvGraphicFramePr>
        <p:xfrm>
          <a:off xmlns:a="http://schemas.openxmlformats.org/drawingml/2006/main" x="609600" y="1809750"/>
          <a:ext xmlns:a="http://schemas.openxmlformats.org/drawingml/2006/main" cx="10972800" cy="2857500"/>
        </p:xfrm>
        <a:graphic xmlns:a="http://schemas.openxmlformats.org/drawingml/2006/main">
          <a:graphicData uri="http://schemas.openxmlformats.org/drawingml/2006/table">
            <a:tbl>
              <a:tblPr firstRow="1" bandRow="0"/>
              <a:tblGrid>
                <a:gridCol w="3476625"/>
                <a:gridCol w="7496175"/>
              </a:tblGrid>
              <a:tr h="666750">
                <a:tc>
                  <a:txBody>
                    <a:bodyPr wrap="square">
                      <a:noAutofit/>
                    </a:bodyPr>
                    <a:lstStyle/>
                    <a:p>
                      <a:pPr algn="l"/>
                      <a:r>
                        <a:rPr sz="2200" b="1">
                          <a:solidFill>
                            <a:srgbClr val="FFFFFF"/>
                          </a:solidFill>
                          <a:latin typeface="Times New Roman"/>
                          <a:ea typeface="Times New Roman"/>
                          <a:cs typeface="Times New Roman"/>
                        </a:rPr>
                        <a:t>Proceso</a:t>
                      </a:r>
                    </a:p>
                  </a:txBody>
                  <a:tcPr marL="142875" marR="142875" marT="114300" marB="95250" anchor="ctr">
                    <a:lnL w="19050">
                      <a:solidFill>
                        <a:srgbClr val="FFFFFF"/>
                      </a:solidFill>
                      <a:prstDash val="solid"/>
                    </a:lnL>
                    <a:lnR w="19050">
                      <a:solidFill>
                        <a:srgbClr val="FFFFFF"/>
                      </a:solidFill>
                      <a:prstDash val="solid"/>
                    </a:lnR>
                    <a:lnT w="19050">
                      <a:solidFill>
                        <a:srgbClr val="FFFFFF"/>
                      </a:solidFill>
                      <a:prstDash val="solid"/>
                    </a:lnT>
                    <a:lnB w="19050">
                      <a:solidFill>
                        <a:srgbClr val="FFFFFF"/>
                      </a:solidFill>
                      <a:prstDash val="solid"/>
                    </a:lnB>
                    <a:solidFill>
                      <a:srgbClr val="174A35"/>
                    </a:solidFill>
                  </a:tcPr>
                </a:tc>
                <a:tc>
                  <a:txBody>
                    <a:bodyPr wrap="square">
                      <a:noAutofit/>
                    </a:bodyPr>
                    <a:lstStyle/>
                    <a:p>
                      <a:pPr algn="l"/>
                      <a:r>
                        <a:rPr sz="2200" b="1">
                          <a:solidFill>
                            <a:srgbClr val="FFFFFF"/>
                          </a:solidFill>
                          <a:latin typeface="Times New Roman"/>
                          <a:ea typeface="Times New Roman"/>
                          <a:cs typeface="Times New Roman"/>
                        </a:rPr>
                        <a:t>Efecto sobre el pH</a:t>
                      </a:r>
                    </a:p>
                  </a:txBody>
                  <a:tcPr marL="142875" marR="142875" marT="114300" marB="95250" anchor="ctr">
                    <a:lnR w="19050">
                      <a:solidFill>
                        <a:srgbClr val="FFFFFF"/>
                      </a:solidFill>
                      <a:prstDash val="solid"/>
                    </a:lnR>
                    <a:lnT w="19050">
                      <a:solidFill>
                        <a:srgbClr val="FFFFFF"/>
                      </a:solidFill>
                      <a:prstDash val="solid"/>
                    </a:lnT>
                    <a:lnB w="19050">
                      <a:solidFill>
                        <a:srgbClr val="FFFFFF"/>
                      </a:solidFill>
                      <a:prstDash val="solid"/>
                    </a:lnB>
                    <a:solidFill>
                      <a:srgbClr val="174A35"/>
                    </a:solidFill>
                  </a:tcPr>
                </a:tc>
              </a:tr>
              <a:tr h="1095375">
                <a:tc>
                  <a:txBody>
                    <a:bodyPr wrap="square">
                      <a:noAutofit/>
                    </a:bodyPr>
                    <a:lstStyle/>
                    <a:p>
                      <a:pPr algn="l"/>
                      <a:r>
                        <a:rPr sz="2400" b="0">
                          <a:solidFill>
                            <a:srgbClr val="181818"/>
                          </a:solidFill>
                          <a:latin typeface="Times New Roman"/>
                          <a:ea typeface="Times New Roman"/>
                          <a:cs typeface="Times New Roman"/>
                        </a:rPr>
                        <a:t>Acidosis</a:t>
                      </a:r>
                    </a:p>
                  </a:txBody>
                  <a:tcPr marL="142875" marR="142875" marT="114300" marB="95250" anchor="ctr">
                    <a:lnL w="19050">
                      <a:solidFill>
                        <a:srgbClr val="FFFFFF"/>
                      </a:solidFill>
                      <a:prstDash val="solid"/>
                    </a:lnL>
                    <a:lnR w="19050">
                      <a:solidFill>
                        <a:srgbClr val="FFFFFF"/>
                      </a:solidFill>
                      <a:prstDash val="solid"/>
                    </a:lnR>
                    <a:lnB w="19050">
                      <a:solidFill>
                        <a:srgbClr val="FFFFFF"/>
                      </a:solidFill>
                      <a:prstDash val="solid"/>
                    </a:lnB>
                    <a:solidFill>
                      <a:srgbClr val="F0F5EF"/>
                    </a:solidFill>
                  </a:tcPr>
                </a:tc>
                <a:tc>
                  <a:txBody>
                    <a:bodyPr wrap="square">
                      <a:noAutofit/>
                    </a:bodyPr>
                    <a:lstStyle/>
                    <a:p>
                      <a:pPr algn="l"/>
                      <a:r>
                        <a:rPr sz="2400" b="0">
                          <a:solidFill>
                            <a:srgbClr val="181818"/>
                          </a:solidFill>
                          <a:latin typeface="Times New Roman"/>
                          <a:ea typeface="Times New Roman"/>
                          <a:cs typeface="Times New Roman"/>
                        </a:rPr>
                        <a:t>Tiende a disminuirlo.</a:t>
                      </a:r>
                    </a:p>
                  </a:txBody>
                  <a:tcPr marL="142875" marR="142875" marT="114300" marB="95250" anchor="ctr">
                    <a:lnR w="19050">
                      <a:solidFill>
                        <a:srgbClr val="FFFFFF"/>
                      </a:solidFill>
                      <a:prstDash val="solid"/>
                    </a:lnR>
                    <a:lnB w="19050">
                      <a:solidFill>
                        <a:srgbClr val="FFFFFF"/>
                      </a:solidFill>
                      <a:prstDash val="solid"/>
                    </a:lnB>
                    <a:solidFill>
                      <a:srgbClr val="F0F5EF"/>
                    </a:solidFill>
                  </a:tcPr>
                </a:tc>
              </a:tr>
              <a:tr h="1095375">
                <a:tc>
                  <a:txBody>
                    <a:bodyPr wrap="square">
                      <a:noAutofit/>
                    </a:bodyPr>
                    <a:lstStyle/>
                    <a:p>
                      <a:pPr algn="l"/>
                      <a:r>
                        <a:rPr sz="2400" b="0">
                          <a:solidFill>
                            <a:srgbClr val="181818"/>
                          </a:solidFill>
                          <a:latin typeface="Times New Roman"/>
                          <a:ea typeface="Times New Roman"/>
                          <a:cs typeface="Times New Roman"/>
                        </a:rPr>
                        <a:t>Alcalosis</a:t>
                      </a:r>
                    </a:p>
                  </a:txBody>
                  <a:tcPr marL="142875" marR="142875" marT="114300" marB="95250" anchor="ctr">
                    <a:lnL w="19050">
                      <a:solidFill>
                        <a:srgbClr val="FFFFFF"/>
                      </a:solidFill>
                      <a:prstDash val="solid"/>
                    </a:lnL>
                    <a:lnR w="19050">
                      <a:solidFill>
                        <a:srgbClr val="FFFFFF"/>
                      </a:solidFill>
                      <a:prstDash val="solid"/>
                    </a:lnR>
                    <a:lnB w="19050">
                      <a:solidFill>
                        <a:srgbClr val="FFFFFF"/>
                      </a:solidFill>
                      <a:prstDash val="solid"/>
                    </a:lnB>
                    <a:solidFill>
                      <a:srgbClr val="FFFFFF"/>
                    </a:solidFill>
                  </a:tcPr>
                </a:tc>
                <a:tc>
                  <a:txBody>
                    <a:bodyPr wrap="square">
                      <a:noAutofit/>
                    </a:bodyPr>
                    <a:lstStyle/>
                    <a:p>
                      <a:pPr algn="l"/>
                      <a:r>
                        <a:rPr sz="2400" b="0">
                          <a:solidFill>
                            <a:srgbClr val="181818"/>
                          </a:solidFill>
                          <a:latin typeface="Times New Roman"/>
                          <a:ea typeface="Times New Roman"/>
                          <a:cs typeface="Times New Roman"/>
                        </a:rPr>
                        <a:t>Tiende a aumentarlo.</a:t>
                      </a:r>
                    </a:p>
                  </a:txBody>
                  <a:tcPr marL="142875" marR="142875" marT="114300" marB="95250" anchor="ctr">
                    <a:lnR w="19050">
                      <a:solidFill>
                        <a:srgbClr val="FFFFFF"/>
                      </a:solidFill>
                      <a:prstDash val="solid"/>
                    </a:lnR>
                    <a:lnB w="19050">
                      <a:solidFill>
                        <a:srgbClr val="FFFFFF"/>
                      </a:solidFill>
                      <a:prstDash val="solid"/>
                    </a:lnB>
                    <a:solidFill>
                      <a:srgbClr val="FFFFFF"/>
                    </a:solidFill>
                  </a:tcPr>
                </a:tc>
              </a:tr>
            </a:tbl>
          </a:graphicData>
        </a:graphic>
      </p:graphicFrame>
      <p:sp>
        <p:nvSpPr>
          <p:cNvPr id="5" name="text">
            <a:extLst xmlns:a="http://schemas.openxmlformats.org/drawingml/2006/main">
              <a:ext uri="{FF2B5EF4-FFF2-40B4-BE49-F238E27FC236}">
                <a16:creationId xmlns:a16="http://schemas.microsoft.com/office/drawing/2014/main" id="{AB1BA1C0-BF04-4175-B948-51400E0F7BF8}"/>
              </a:ext>
            </a:extLst>
          </p:cNvPr>
          <p:cNvSpPr>
            <a:spLocks xmlns:a="http://schemas.openxmlformats.org/drawingml/2006/main" noGrp="1"/>
          </p:cNvSpPr>
          <p:nvPr/>
        </p:nvSpPr>
        <p:spPr>
          <a:xfrm xmlns:a="http://schemas.openxmlformats.org/drawingml/2006/main">
            <a:off x="609600" y="5219700"/>
            <a:ext cx="10972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600" b="1">
                <a:solidFill>
                  <a:srgbClr val="367653"/>
                </a:solidFill>
                <a:latin typeface="Times New Roman"/>
                <a:ea typeface="Times New Roman"/>
                <a:cs typeface="Times New Roman"/>
              </a:defRPr>
            </a:defPPr>
            <a:lvl1pPr algn="l">
              <a:defRPr sz="2600" b="1">
                <a:solidFill>
                  <a:srgbClr val="367653"/>
                </a:solidFill>
                <a:latin typeface="Times New Roman"/>
                <a:ea typeface="Times New Roman"/>
                <a:cs typeface="Times New Roman"/>
              </a:defRPr>
            </a:lvl1pPr>
            <a:lvl2pPr algn="l">
              <a:defRPr sz="2600" b="1">
                <a:solidFill>
                  <a:srgbClr val="367653"/>
                </a:solidFill>
                <a:latin typeface="Times New Roman"/>
                <a:ea typeface="Times New Roman"/>
                <a:cs typeface="Times New Roman"/>
              </a:defRPr>
            </a:lvl2pPr>
            <a:lvl3pPr algn="l">
              <a:defRPr sz="2600" b="1">
                <a:solidFill>
                  <a:srgbClr val="367653"/>
                </a:solidFill>
                <a:latin typeface="Times New Roman"/>
                <a:ea typeface="Times New Roman"/>
                <a:cs typeface="Times New Roman"/>
              </a:defRPr>
            </a:lvl3pPr>
            <a:lvl4pPr algn="l">
              <a:defRPr sz="2600" b="1">
                <a:solidFill>
                  <a:srgbClr val="367653"/>
                </a:solidFill>
                <a:latin typeface="Times New Roman"/>
                <a:ea typeface="Times New Roman"/>
                <a:cs typeface="Times New Roman"/>
              </a:defRPr>
            </a:lvl4pPr>
            <a:lvl5pPr algn="l">
              <a:defRPr sz="2600" b="1">
                <a:solidFill>
                  <a:srgbClr val="367653"/>
                </a:solidFill>
                <a:latin typeface="Times New Roman"/>
                <a:ea typeface="Times New Roman"/>
                <a:cs typeface="Times New Roman"/>
              </a:defRPr>
            </a:lvl5pPr>
            <a:lvl6pPr algn="l">
              <a:defRPr sz="2600" b="1">
                <a:solidFill>
                  <a:srgbClr val="367653"/>
                </a:solidFill>
                <a:latin typeface="Times New Roman"/>
                <a:ea typeface="Times New Roman"/>
                <a:cs typeface="Times New Roman"/>
              </a:defRPr>
            </a:lvl6pPr>
            <a:lvl7pPr algn="l">
              <a:defRPr sz="2600" b="1">
                <a:solidFill>
                  <a:srgbClr val="367653"/>
                </a:solidFill>
                <a:latin typeface="Times New Roman"/>
                <a:ea typeface="Times New Roman"/>
                <a:cs typeface="Times New Roman"/>
              </a:defRPr>
            </a:lvl7pPr>
            <a:lvl8pPr algn="l">
              <a:defRPr sz="2600" b="1">
                <a:solidFill>
                  <a:srgbClr val="367653"/>
                </a:solidFill>
                <a:latin typeface="Times New Roman"/>
                <a:ea typeface="Times New Roman"/>
                <a:cs typeface="Times New Roman"/>
              </a:defRPr>
            </a:lvl8pPr>
            <a:lvl9pPr algn="l">
              <a:defRPr sz="2600" b="1">
                <a:solidFill>
                  <a:srgbClr val="367653"/>
                </a:solidFill>
                <a:latin typeface="Times New Roman"/>
                <a:ea typeface="Times New Roman"/>
                <a:cs typeface="Times New Roman"/>
              </a:defRPr>
            </a:lvl9pPr>
          </a:lstStyle>
          <a:p xmlns:a="http://schemas.openxmlformats.org/drawingml/2006/main">
            <a:pPr algn="l">
              <a:defRPr sz="2600" b="1">
                <a:solidFill>
                  <a:srgbClr val="367653"/>
                </a:solidFill>
                <a:latin typeface="Times New Roman"/>
                <a:ea typeface="Times New Roman"/>
                <a:cs typeface="Times New Roman"/>
              </a:defRPr>
            </a:pPr>
            <a:r>
              <a:rPr sz="2600" b="1">
                <a:solidFill>
                  <a:srgbClr val="367653"/>
                </a:solidFill>
                <a:latin typeface="Times New Roman"/>
                <a:ea typeface="Times New Roman"/>
                <a:cs typeface="Times New Roman"/>
              </a:rPr>
              <a:t>El pH final integra los procesos presentes.</a:t>
            </a:r>
          </a:p>
        </p:txBody>
      </p:sp>
    </p:spTree>
    <p:extLst>
      <p:ext uri="{BB962C8B-B14F-4D97-AF65-F5344CB8AC3E}">
        <p14:creationId xmlns:p14="http://schemas.microsoft.com/office/powerpoint/2010/main" val="1533798150"/>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slide-title">
            <a:extLst xmlns:a="http://schemas.openxmlformats.org/drawingml/2006/main">
              <a:ext uri="{FF2B5EF4-FFF2-40B4-BE49-F238E27FC236}">
                <a16:creationId xmlns:a16="http://schemas.microsoft.com/office/drawing/2014/main" id="{9444C874-1243-4C2E-93D4-8AE8AC811180}"/>
              </a:ext>
            </a:extLst>
          </p:cNvPr>
          <p:cNvSpPr>
            <a:spLocks xmlns:a="http://schemas.openxmlformats.org/drawingml/2006/main" noGrp="1"/>
          </p:cNvSpPr>
          <p:nvPr/>
        </p:nvSpPr>
        <p:spPr>
          <a:xfrm xmlns:a="http://schemas.openxmlformats.org/drawingml/2006/main">
            <a:off x="609600" y="390525"/>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400" b="1">
                <a:solidFill>
                  <a:srgbClr val="174A35"/>
                </a:solidFill>
                <a:latin typeface="Times New Roman"/>
                <a:ea typeface="Times New Roman"/>
                <a:cs typeface="Times New Roman"/>
              </a:defRPr>
            </a:defPPr>
            <a:lvl1pPr algn="l">
              <a:defRPr sz="3400" b="1">
                <a:solidFill>
                  <a:srgbClr val="174A35"/>
                </a:solidFill>
                <a:latin typeface="Times New Roman"/>
                <a:ea typeface="Times New Roman"/>
                <a:cs typeface="Times New Roman"/>
              </a:defRPr>
            </a:lvl1pPr>
            <a:lvl2pPr algn="l">
              <a:defRPr sz="3400" b="1">
                <a:solidFill>
                  <a:srgbClr val="174A35"/>
                </a:solidFill>
                <a:latin typeface="Times New Roman"/>
                <a:ea typeface="Times New Roman"/>
                <a:cs typeface="Times New Roman"/>
              </a:defRPr>
            </a:lvl2pPr>
            <a:lvl3pPr algn="l">
              <a:defRPr sz="3400" b="1">
                <a:solidFill>
                  <a:srgbClr val="174A35"/>
                </a:solidFill>
                <a:latin typeface="Times New Roman"/>
                <a:ea typeface="Times New Roman"/>
                <a:cs typeface="Times New Roman"/>
              </a:defRPr>
            </a:lvl3pPr>
            <a:lvl4pPr algn="l">
              <a:defRPr sz="3400" b="1">
                <a:solidFill>
                  <a:srgbClr val="174A35"/>
                </a:solidFill>
                <a:latin typeface="Times New Roman"/>
                <a:ea typeface="Times New Roman"/>
                <a:cs typeface="Times New Roman"/>
              </a:defRPr>
            </a:lvl4pPr>
            <a:lvl5pPr algn="l">
              <a:defRPr sz="3400" b="1">
                <a:solidFill>
                  <a:srgbClr val="174A35"/>
                </a:solidFill>
                <a:latin typeface="Times New Roman"/>
                <a:ea typeface="Times New Roman"/>
                <a:cs typeface="Times New Roman"/>
              </a:defRPr>
            </a:lvl5pPr>
            <a:lvl6pPr algn="l">
              <a:defRPr sz="3400" b="1">
                <a:solidFill>
                  <a:srgbClr val="174A35"/>
                </a:solidFill>
                <a:latin typeface="Times New Roman"/>
                <a:ea typeface="Times New Roman"/>
                <a:cs typeface="Times New Roman"/>
              </a:defRPr>
            </a:lvl6pPr>
            <a:lvl7pPr algn="l">
              <a:defRPr sz="3400" b="1">
                <a:solidFill>
                  <a:srgbClr val="174A35"/>
                </a:solidFill>
                <a:latin typeface="Times New Roman"/>
                <a:ea typeface="Times New Roman"/>
                <a:cs typeface="Times New Roman"/>
              </a:defRPr>
            </a:lvl7pPr>
            <a:lvl8pPr algn="l">
              <a:defRPr sz="3400" b="1">
                <a:solidFill>
                  <a:srgbClr val="174A35"/>
                </a:solidFill>
                <a:latin typeface="Times New Roman"/>
                <a:ea typeface="Times New Roman"/>
                <a:cs typeface="Times New Roman"/>
              </a:defRPr>
            </a:lvl8pPr>
            <a:lvl9pPr algn="l">
              <a:defRPr sz="3400" b="1">
                <a:solidFill>
                  <a:srgbClr val="174A35"/>
                </a:solidFill>
                <a:latin typeface="Times New Roman"/>
                <a:ea typeface="Times New Roman"/>
                <a:cs typeface="Times New Roman"/>
              </a:defRPr>
            </a:lvl9pPr>
          </a:lstStyle>
          <a:p xmlns:a="http://schemas.openxmlformats.org/drawingml/2006/main">
            <a:pPr algn="l">
              <a:defRPr sz="3400" b="1">
                <a:solidFill>
                  <a:srgbClr val="174A35"/>
                </a:solidFill>
                <a:latin typeface="Times New Roman"/>
                <a:ea typeface="Times New Roman"/>
                <a:cs typeface="Times New Roman"/>
              </a:defRPr>
            </a:pPr>
            <a:r>
              <a:rPr sz="3400" b="1">
                <a:solidFill>
                  <a:srgbClr val="174A35"/>
                </a:solidFill>
                <a:latin typeface="Times New Roman"/>
                <a:ea typeface="Times New Roman"/>
                <a:cs typeface="Times New Roman"/>
              </a:rPr>
              <a:t>Sistemas reguladores del equilibrio ácido-base</a:t>
            </a:r>
          </a:p>
        </p:txBody>
      </p:sp>
      <p:sp>
        <p:nvSpPr>
          <p:cNvPr id="2" name="page-number">
            <a:extLst xmlns:a="http://schemas.openxmlformats.org/drawingml/2006/main">
              <a:ext uri="{FF2B5EF4-FFF2-40B4-BE49-F238E27FC236}">
                <a16:creationId xmlns:a16="http://schemas.microsoft.com/office/drawing/2014/main" id="{295470B9-DB9A-43BA-BF7F-D1A45D25D1CD}"/>
              </a:ext>
            </a:extLst>
          </p:cNvPr>
          <p:cNvSpPr>
            <a:spLocks xmlns:a="http://schemas.openxmlformats.org/drawingml/2006/main" noGrp="1"/>
          </p:cNvSpPr>
          <p:nvPr/>
        </p:nvSpPr>
        <p:spPr>
          <a:xfrm xmlns:a="http://schemas.openxmlformats.org/drawingml/2006/main">
            <a:off x="11077575" y="64198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00" b="0">
                <a:solidFill>
                  <a:srgbClr val="367653"/>
                </a:solidFill>
                <a:latin typeface="Times New Roman"/>
                <a:ea typeface="Times New Roman"/>
                <a:cs typeface="Times New Roman"/>
              </a:defRPr>
            </a:defPPr>
            <a:lvl1pPr algn="r">
              <a:defRPr sz="1200" b="0">
                <a:solidFill>
                  <a:srgbClr val="367653"/>
                </a:solidFill>
                <a:latin typeface="Times New Roman"/>
                <a:ea typeface="Times New Roman"/>
                <a:cs typeface="Times New Roman"/>
              </a:defRPr>
            </a:lvl1pPr>
            <a:lvl2pPr algn="r">
              <a:defRPr sz="1200" b="0">
                <a:solidFill>
                  <a:srgbClr val="367653"/>
                </a:solidFill>
                <a:latin typeface="Times New Roman"/>
                <a:ea typeface="Times New Roman"/>
                <a:cs typeface="Times New Roman"/>
              </a:defRPr>
            </a:lvl2pPr>
            <a:lvl3pPr algn="r">
              <a:defRPr sz="1200" b="0">
                <a:solidFill>
                  <a:srgbClr val="367653"/>
                </a:solidFill>
                <a:latin typeface="Times New Roman"/>
                <a:ea typeface="Times New Roman"/>
                <a:cs typeface="Times New Roman"/>
              </a:defRPr>
            </a:lvl3pPr>
            <a:lvl4pPr algn="r">
              <a:defRPr sz="1200" b="0">
                <a:solidFill>
                  <a:srgbClr val="367653"/>
                </a:solidFill>
                <a:latin typeface="Times New Roman"/>
                <a:ea typeface="Times New Roman"/>
                <a:cs typeface="Times New Roman"/>
              </a:defRPr>
            </a:lvl4pPr>
            <a:lvl5pPr algn="r">
              <a:defRPr sz="1200" b="0">
                <a:solidFill>
                  <a:srgbClr val="367653"/>
                </a:solidFill>
                <a:latin typeface="Times New Roman"/>
                <a:ea typeface="Times New Roman"/>
                <a:cs typeface="Times New Roman"/>
              </a:defRPr>
            </a:lvl5pPr>
            <a:lvl6pPr algn="r">
              <a:defRPr sz="1200" b="0">
                <a:solidFill>
                  <a:srgbClr val="367653"/>
                </a:solidFill>
                <a:latin typeface="Times New Roman"/>
                <a:ea typeface="Times New Roman"/>
                <a:cs typeface="Times New Roman"/>
              </a:defRPr>
            </a:lvl6pPr>
            <a:lvl7pPr algn="r">
              <a:defRPr sz="1200" b="0">
                <a:solidFill>
                  <a:srgbClr val="367653"/>
                </a:solidFill>
                <a:latin typeface="Times New Roman"/>
                <a:ea typeface="Times New Roman"/>
                <a:cs typeface="Times New Roman"/>
              </a:defRPr>
            </a:lvl7pPr>
            <a:lvl8pPr algn="r">
              <a:defRPr sz="1200" b="0">
                <a:solidFill>
                  <a:srgbClr val="367653"/>
                </a:solidFill>
                <a:latin typeface="Times New Roman"/>
                <a:ea typeface="Times New Roman"/>
                <a:cs typeface="Times New Roman"/>
              </a:defRPr>
            </a:lvl8pPr>
            <a:lvl9pPr algn="r">
              <a:defRPr sz="1200" b="0">
                <a:solidFill>
                  <a:srgbClr val="367653"/>
                </a:solidFill>
                <a:latin typeface="Times New Roman"/>
                <a:ea typeface="Times New Roman"/>
                <a:cs typeface="Times New Roman"/>
              </a:defRPr>
            </a:lvl9pPr>
          </a:lstStyle>
          <a:p xmlns:a="http://schemas.openxmlformats.org/drawingml/2006/main">
            <a:pPr algn="r">
              <a:defRPr sz="1200" b="0">
                <a:solidFill>
                  <a:srgbClr val="367653"/>
                </a:solidFill>
                <a:latin typeface="Times New Roman"/>
                <a:ea typeface="Times New Roman"/>
                <a:cs typeface="Times New Roman"/>
              </a:defRPr>
            </a:pPr>
            <a:r>
              <a:rPr sz="1200" b="0">
                <a:solidFill>
                  <a:srgbClr val="367653"/>
                </a:solidFill>
                <a:latin typeface="Times New Roman"/>
                <a:ea typeface="Times New Roman"/>
                <a:cs typeface="Times New Roman"/>
              </a:rPr>
              <a:t>04</a:t>
            </a:r>
          </a:p>
        </p:txBody>
      </p:sp>
      <p:sp>
        <p:nvSpPr>
          <p:cNvPr id="3" name="sources">
            <a:extLst xmlns:a="http://schemas.openxmlformats.org/drawingml/2006/main">
              <a:ext uri="{FF2B5EF4-FFF2-40B4-BE49-F238E27FC236}">
                <a16:creationId xmlns:a16="http://schemas.microsoft.com/office/drawing/2014/main" id="{287A1187-1FDE-46D9-BD96-DB8435D0D906}"/>
              </a:ext>
            </a:extLst>
          </p:cNvPr>
          <p:cNvSpPr>
            <a:spLocks xmlns:a="http://schemas.openxmlformats.org/drawingml/2006/main" noGrp="1"/>
          </p:cNvSpPr>
          <p:nvPr/>
        </p:nvSpPr>
        <p:spPr>
          <a:xfrm xmlns:a="http://schemas.openxmlformats.org/drawingml/2006/main">
            <a:off x="609600" y="6419850"/>
            <a:ext cx="10287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200" b="0">
                <a:solidFill>
                  <a:srgbClr val="515151"/>
                </a:solidFill>
                <a:latin typeface="Times New Roman"/>
                <a:ea typeface="Times New Roman"/>
                <a:cs typeface="Times New Roman"/>
              </a:defRPr>
            </a:defPPr>
            <a:lvl1pPr algn="l">
              <a:defRPr sz="1200" b="0">
                <a:solidFill>
                  <a:srgbClr val="515151"/>
                </a:solidFill>
                <a:latin typeface="Times New Roman"/>
                <a:ea typeface="Times New Roman"/>
                <a:cs typeface="Times New Roman"/>
              </a:defRPr>
            </a:lvl1pPr>
            <a:lvl2pPr algn="l">
              <a:defRPr sz="1200" b="0">
                <a:solidFill>
                  <a:srgbClr val="515151"/>
                </a:solidFill>
                <a:latin typeface="Times New Roman"/>
                <a:ea typeface="Times New Roman"/>
                <a:cs typeface="Times New Roman"/>
              </a:defRPr>
            </a:lvl2pPr>
            <a:lvl3pPr algn="l">
              <a:defRPr sz="1200" b="0">
                <a:solidFill>
                  <a:srgbClr val="515151"/>
                </a:solidFill>
                <a:latin typeface="Times New Roman"/>
                <a:ea typeface="Times New Roman"/>
                <a:cs typeface="Times New Roman"/>
              </a:defRPr>
            </a:lvl3pPr>
            <a:lvl4pPr algn="l">
              <a:defRPr sz="1200" b="0">
                <a:solidFill>
                  <a:srgbClr val="515151"/>
                </a:solidFill>
                <a:latin typeface="Times New Roman"/>
                <a:ea typeface="Times New Roman"/>
                <a:cs typeface="Times New Roman"/>
              </a:defRPr>
            </a:lvl4pPr>
            <a:lvl5pPr algn="l">
              <a:defRPr sz="1200" b="0">
                <a:solidFill>
                  <a:srgbClr val="515151"/>
                </a:solidFill>
                <a:latin typeface="Times New Roman"/>
                <a:ea typeface="Times New Roman"/>
                <a:cs typeface="Times New Roman"/>
              </a:defRPr>
            </a:lvl5pPr>
            <a:lvl6pPr algn="l">
              <a:defRPr sz="1200" b="0">
                <a:solidFill>
                  <a:srgbClr val="515151"/>
                </a:solidFill>
                <a:latin typeface="Times New Roman"/>
                <a:ea typeface="Times New Roman"/>
                <a:cs typeface="Times New Roman"/>
              </a:defRPr>
            </a:lvl6pPr>
            <a:lvl7pPr algn="l">
              <a:defRPr sz="1200" b="0">
                <a:solidFill>
                  <a:srgbClr val="515151"/>
                </a:solidFill>
                <a:latin typeface="Times New Roman"/>
                <a:ea typeface="Times New Roman"/>
                <a:cs typeface="Times New Roman"/>
              </a:defRPr>
            </a:lvl7pPr>
            <a:lvl8pPr algn="l">
              <a:defRPr sz="1200" b="0">
                <a:solidFill>
                  <a:srgbClr val="515151"/>
                </a:solidFill>
                <a:latin typeface="Times New Roman"/>
                <a:ea typeface="Times New Roman"/>
                <a:cs typeface="Times New Roman"/>
              </a:defRPr>
            </a:lvl8pPr>
            <a:lvl9pPr algn="l">
              <a:defRPr sz="1200" b="0">
                <a:solidFill>
                  <a:srgbClr val="515151"/>
                </a:solidFill>
                <a:latin typeface="Times New Roman"/>
                <a:ea typeface="Times New Roman"/>
                <a:cs typeface="Times New Roman"/>
              </a:defRPr>
            </a:lvl9pPr>
          </a:lstStyle>
          <a:p xmlns:a="http://schemas.openxmlformats.org/drawingml/2006/main">
            <a:pPr algn="l">
              <a:defRPr sz="1200" b="0">
                <a:solidFill>
                  <a:srgbClr val="515151"/>
                </a:solidFill>
                <a:latin typeface="Times New Roman"/>
                <a:ea typeface="Times New Roman"/>
                <a:cs typeface="Times New Roman"/>
              </a:defRPr>
            </a:pPr>
            <a:r>
              <a:rPr sz="1200" b="0">
                <a:solidFill>
                  <a:srgbClr val="515151"/>
                </a:solidFill>
                <a:latin typeface="Times New Roman"/>
                <a:ea typeface="Times New Roman"/>
                <a:cs typeface="Times New Roman"/>
              </a:rPr>
              <a:t>Fuentes: [1]</a:t>
            </a:r>
          </a:p>
        </p:txBody>
      </p:sp>
      <p:graphicFrame>
        <p:nvGraphicFramePr>
          <p:cNvPr id="4" name="">
            <a:extLst xmlns:a="http://schemas.openxmlformats.org/drawingml/2006/main">
              <a:ext uri="{FF2B5EF4-FFF2-40B4-BE49-F238E27FC236}">
                <a16:creationId xmlns:a16="http://schemas.microsoft.com/office/drawing/2014/main" id="{270AD563-6526-453A-8E9C-12EE2BF4DE47}"/>
              </a:ext>
            </a:extLst>
          </p:cNvPr>
          <p:cNvGraphicFramePr/>
          <p:nvPr/>
        </p:nvGraphicFramePr>
        <p:xfrm>
          <a:off xmlns:a="http://schemas.openxmlformats.org/drawingml/2006/main" x="609600" y="1685925"/>
          <a:ext xmlns:a="http://schemas.openxmlformats.org/drawingml/2006/main" cx="10972800" cy="3714750"/>
        </p:xfrm>
        <a:graphic xmlns:a="http://schemas.openxmlformats.org/drawingml/2006/main">
          <a:graphicData uri="http://schemas.openxmlformats.org/drawingml/2006/table">
            <a:tbl>
              <a:tblPr firstRow="1" bandRow="0"/>
              <a:tblGrid>
                <a:gridCol w="3667125"/>
                <a:gridCol w="7305675"/>
              </a:tblGrid>
              <a:tr h="628650">
                <a:tc>
                  <a:txBody>
                    <a:bodyPr wrap="square">
                      <a:noAutofit/>
                    </a:bodyPr>
                    <a:lstStyle/>
                    <a:p>
                      <a:pPr algn="l"/>
                      <a:r>
                        <a:rPr sz="2200" b="1">
                          <a:solidFill>
                            <a:srgbClr val="FFFFFF"/>
                          </a:solidFill>
                          <a:latin typeface="Times New Roman"/>
                          <a:ea typeface="Times New Roman"/>
                          <a:cs typeface="Times New Roman"/>
                        </a:rPr>
                        <a:t>Mecanismo</a:t>
                      </a:r>
                    </a:p>
                  </a:txBody>
                  <a:tcPr marL="142875" marR="142875" marT="114300" marB="95250" anchor="ctr">
                    <a:lnL w="19050">
                      <a:solidFill>
                        <a:srgbClr val="FFFFFF"/>
                      </a:solidFill>
                      <a:prstDash val="solid"/>
                    </a:lnL>
                    <a:lnR w="19050">
                      <a:solidFill>
                        <a:srgbClr val="FFFFFF"/>
                      </a:solidFill>
                      <a:prstDash val="solid"/>
                    </a:lnR>
                    <a:lnT w="19050">
                      <a:solidFill>
                        <a:srgbClr val="FFFFFF"/>
                      </a:solidFill>
                      <a:prstDash val="solid"/>
                    </a:lnT>
                    <a:lnB w="19050">
                      <a:solidFill>
                        <a:srgbClr val="FFFFFF"/>
                      </a:solidFill>
                      <a:prstDash val="solid"/>
                    </a:lnB>
                    <a:solidFill>
                      <a:srgbClr val="174A35"/>
                    </a:solidFill>
                  </a:tcPr>
                </a:tc>
                <a:tc>
                  <a:txBody>
                    <a:bodyPr wrap="square">
                      <a:noAutofit/>
                    </a:bodyPr>
                    <a:lstStyle/>
                    <a:p>
                      <a:pPr algn="l"/>
                      <a:r>
                        <a:rPr sz="2200" b="1">
                          <a:solidFill>
                            <a:srgbClr val="FFFFFF"/>
                          </a:solidFill>
                          <a:latin typeface="Times New Roman"/>
                          <a:ea typeface="Times New Roman"/>
                          <a:cs typeface="Times New Roman"/>
                        </a:rPr>
                        <a:t>Función principal</a:t>
                      </a:r>
                    </a:p>
                  </a:txBody>
                  <a:tcPr marL="142875" marR="142875" marT="114300" marB="95250" anchor="ctr">
                    <a:lnR w="19050">
                      <a:solidFill>
                        <a:srgbClr val="FFFFFF"/>
                      </a:solidFill>
                      <a:prstDash val="solid"/>
                    </a:lnR>
                    <a:lnT w="19050">
                      <a:solidFill>
                        <a:srgbClr val="FFFFFF"/>
                      </a:solidFill>
                      <a:prstDash val="solid"/>
                    </a:lnT>
                    <a:lnB w="19050">
                      <a:solidFill>
                        <a:srgbClr val="FFFFFF"/>
                      </a:solidFill>
                      <a:prstDash val="solid"/>
                    </a:lnB>
                    <a:solidFill>
                      <a:srgbClr val="174A35"/>
                    </a:solidFill>
                  </a:tcPr>
                </a:tc>
              </a:tr>
              <a:tr h="1028700">
                <a:tc>
                  <a:txBody>
                    <a:bodyPr wrap="square">
                      <a:noAutofit/>
                    </a:bodyPr>
                    <a:lstStyle/>
                    <a:p>
                      <a:pPr algn="l"/>
                      <a:r>
                        <a:rPr sz="2300" b="0">
                          <a:solidFill>
                            <a:srgbClr val="181818"/>
                          </a:solidFill>
                          <a:latin typeface="Times New Roman"/>
                          <a:ea typeface="Times New Roman"/>
                          <a:cs typeface="Times New Roman"/>
                        </a:rPr>
                        <a:t>Amortiguación química</a:t>
                      </a:r>
                    </a:p>
                  </a:txBody>
                  <a:tcPr marL="142875" marR="142875" marT="114300" marB="95250" anchor="ctr">
                    <a:lnL w="19050">
                      <a:solidFill>
                        <a:srgbClr val="FFFFFF"/>
                      </a:solidFill>
                      <a:prstDash val="solid"/>
                    </a:lnL>
                    <a:lnR w="19050">
                      <a:solidFill>
                        <a:srgbClr val="FFFFFF"/>
                      </a:solidFill>
                      <a:prstDash val="solid"/>
                    </a:lnR>
                    <a:lnB w="19050">
                      <a:solidFill>
                        <a:srgbClr val="FFFFFF"/>
                      </a:solidFill>
                      <a:prstDash val="solid"/>
                    </a:lnB>
                    <a:solidFill>
                      <a:srgbClr val="F0F5EF"/>
                    </a:solidFill>
                  </a:tcPr>
                </a:tc>
                <a:tc>
                  <a:txBody>
                    <a:bodyPr wrap="square">
                      <a:noAutofit/>
                    </a:bodyPr>
                    <a:lstStyle/>
                    <a:p>
                      <a:pPr algn="l"/>
                      <a:r>
                        <a:rPr sz="2300" b="0">
                          <a:solidFill>
                            <a:srgbClr val="181818"/>
                          </a:solidFill>
                          <a:latin typeface="Times New Roman"/>
                          <a:ea typeface="Times New Roman"/>
                          <a:cs typeface="Times New Roman"/>
                        </a:rPr>
                        <a:t>Acepta o libera H⁺ y atenúa cambios del pH.</a:t>
                      </a:r>
                    </a:p>
                  </a:txBody>
                  <a:tcPr marL="142875" marR="142875" marT="114300" marB="95250" anchor="ctr">
                    <a:lnR w="19050">
                      <a:solidFill>
                        <a:srgbClr val="FFFFFF"/>
                      </a:solidFill>
                      <a:prstDash val="solid"/>
                    </a:lnR>
                    <a:lnB w="19050">
                      <a:solidFill>
                        <a:srgbClr val="FFFFFF"/>
                      </a:solidFill>
                      <a:prstDash val="solid"/>
                    </a:lnB>
                    <a:solidFill>
                      <a:srgbClr val="F0F5EF"/>
                    </a:solidFill>
                  </a:tcPr>
                </a:tc>
              </a:tr>
              <a:tr h="1028700">
                <a:tc>
                  <a:txBody>
                    <a:bodyPr wrap="square">
                      <a:noAutofit/>
                    </a:bodyPr>
                    <a:lstStyle/>
                    <a:p>
                      <a:pPr algn="l"/>
                      <a:r>
                        <a:rPr sz="2300" b="0">
                          <a:solidFill>
                            <a:srgbClr val="181818"/>
                          </a:solidFill>
                          <a:latin typeface="Times New Roman"/>
                          <a:ea typeface="Times New Roman"/>
                          <a:cs typeface="Times New Roman"/>
                        </a:rPr>
                        <a:t>Ventilación alveolar</a:t>
                      </a:r>
                    </a:p>
                  </a:txBody>
                  <a:tcPr marL="142875" marR="142875" marT="114300" marB="95250" anchor="ctr">
                    <a:lnL w="19050">
                      <a:solidFill>
                        <a:srgbClr val="FFFFFF"/>
                      </a:solidFill>
                      <a:prstDash val="solid"/>
                    </a:lnL>
                    <a:lnR w="19050">
                      <a:solidFill>
                        <a:srgbClr val="FFFFFF"/>
                      </a:solidFill>
                      <a:prstDash val="solid"/>
                    </a:lnR>
                    <a:lnB w="19050">
                      <a:solidFill>
                        <a:srgbClr val="FFFFFF"/>
                      </a:solidFill>
                      <a:prstDash val="solid"/>
                    </a:lnB>
                    <a:solidFill>
                      <a:srgbClr val="FFFFFF"/>
                    </a:solidFill>
                  </a:tcPr>
                </a:tc>
                <a:tc>
                  <a:txBody>
                    <a:bodyPr wrap="square">
                      <a:noAutofit/>
                    </a:bodyPr>
                    <a:lstStyle/>
                    <a:p>
                      <a:pPr algn="l"/>
                      <a:r>
                        <a:rPr sz="2300" b="0">
                          <a:solidFill>
                            <a:srgbClr val="181818"/>
                          </a:solidFill>
                          <a:latin typeface="Times New Roman"/>
                          <a:ea typeface="Times New Roman"/>
                          <a:cs typeface="Times New Roman"/>
                        </a:rPr>
                        <a:t>Modifica la eliminación de CO₂.</a:t>
                      </a:r>
                    </a:p>
                  </a:txBody>
                  <a:tcPr marL="142875" marR="142875" marT="114300" marB="95250" anchor="ctr">
                    <a:lnR w="19050">
                      <a:solidFill>
                        <a:srgbClr val="FFFFFF"/>
                      </a:solidFill>
                      <a:prstDash val="solid"/>
                    </a:lnR>
                    <a:lnB w="19050">
                      <a:solidFill>
                        <a:srgbClr val="FFFFFF"/>
                      </a:solidFill>
                      <a:prstDash val="solid"/>
                    </a:lnB>
                    <a:solidFill>
                      <a:srgbClr val="FFFFFF"/>
                    </a:solidFill>
                  </a:tcPr>
                </a:tc>
              </a:tr>
              <a:tr h="1028700">
                <a:tc>
                  <a:txBody>
                    <a:bodyPr wrap="square">
                      <a:noAutofit/>
                    </a:bodyPr>
                    <a:lstStyle/>
                    <a:p>
                      <a:pPr algn="l"/>
                      <a:r>
                        <a:rPr sz="2300" b="0">
                          <a:solidFill>
                            <a:srgbClr val="181818"/>
                          </a:solidFill>
                          <a:latin typeface="Times New Roman"/>
                          <a:ea typeface="Times New Roman"/>
                          <a:cs typeface="Times New Roman"/>
                        </a:rPr>
                        <a:t>Función renal</a:t>
                      </a:r>
                    </a:p>
                  </a:txBody>
                  <a:tcPr marL="142875" marR="142875" marT="114300" marB="95250" anchor="ctr">
                    <a:lnL w="19050">
                      <a:solidFill>
                        <a:srgbClr val="FFFFFF"/>
                      </a:solidFill>
                      <a:prstDash val="solid"/>
                    </a:lnL>
                    <a:lnR w="19050">
                      <a:solidFill>
                        <a:srgbClr val="FFFFFF"/>
                      </a:solidFill>
                      <a:prstDash val="solid"/>
                    </a:lnR>
                    <a:lnB w="19050">
                      <a:solidFill>
                        <a:srgbClr val="FFFFFF"/>
                      </a:solidFill>
                      <a:prstDash val="solid"/>
                    </a:lnB>
                    <a:solidFill>
                      <a:srgbClr val="F0F5EF"/>
                    </a:solidFill>
                  </a:tcPr>
                </a:tc>
                <a:tc>
                  <a:txBody>
                    <a:bodyPr wrap="square">
                      <a:noAutofit/>
                    </a:bodyPr>
                    <a:lstStyle/>
                    <a:p>
                      <a:pPr algn="l"/>
                      <a:r>
                        <a:rPr sz="2300" b="0">
                          <a:solidFill>
                            <a:srgbClr val="181818"/>
                          </a:solidFill>
                          <a:latin typeface="Times New Roman"/>
                          <a:ea typeface="Times New Roman"/>
                          <a:cs typeface="Times New Roman"/>
                        </a:rPr>
                        <a:t>Conserva HCO₃⁻ y elimina ácido neto.</a:t>
                      </a:r>
                    </a:p>
                  </a:txBody>
                  <a:tcPr marL="142875" marR="142875" marT="114300" marB="95250" anchor="ctr">
                    <a:lnR w="19050">
                      <a:solidFill>
                        <a:srgbClr val="FFFFFF"/>
                      </a:solidFill>
                      <a:prstDash val="solid"/>
                    </a:lnR>
                    <a:lnB w="19050">
                      <a:solidFill>
                        <a:srgbClr val="FFFFFF"/>
                      </a:solidFill>
                      <a:prstDash val="solid"/>
                    </a:lnB>
                    <a:solidFill>
                      <a:srgbClr val="F0F5EF"/>
                    </a:solidFill>
                  </a:tcPr>
                </a:tc>
              </a:tr>
            </a:tbl>
          </a:graphicData>
        </a:graphic>
      </p:graphicFrame>
      <p:sp>
        <p:nvSpPr>
          <p:cNvPr id="5" name="text">
            <a:extLst xmlns:a="http://schemas.openxmlformats.org/drawingml/2006/main">
              <a:ext uri="{FF2B5EF4-FFF2-40B4-BE49-F238E27FC236}">
                <a16:creationId xmlns:a16="http://schemas.microsoft.com/office/drawing/2014/main" id="{DBEA1B08-FA05-4859-9C56-207B03B95241}"/>
              </a:ext>
            </a:extLst>
          </p:cNvPr>
          <p:cNvSpPr>
            <a:spLocks xmlns:a="http://schemas.openxmlformats.org/drawingml/2006/main" noGrp="1"/>
          </p:cNvSpPr>
          <p:nvPr/>
        </p:nvSpPr>
        <p:spPr>
          <a:xfrm xmlns:a="http://schemas.openxmlformats.org/drawingml/2006/main">
            <a:off x="609600" y="5657850"/>
            <a:ext cx="10972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400" b="1">
                <a:solidFill>
                  <a:srgbClr val="367653"/>
                </a:solidFill>
                <a:latin typeface="Times New Roman"/>
                <a:ea typeface="Times New Roman"/>
                <a:cs typeface="Times New Roman"/>
              </a:defRPr>
            </a:defPPr>
            <a:lvl1pPr algn="l">
              <a:defRPr sz="2400" b="1">
                <a:solidFill>
                  <a:srgbClr val="367653"/>
                </a:solidFill>
                <a:latin typeface="Times New Roman"/>
                <a:ea typeface="Times New Roman"/>
                <a:cs typeface="Times New Roman"/>
              </a:defRPr>
            </a:lvl1pPr>
            <a:lvl2pPr algn="l">
              <a:defRPr sz="2400" b="1">
                <a:solidFill>
                  <a:srgbClr val="367653"/>
                </a:solidFill>
                <a:latin typeface="Times New Roman"/>
                <a:ea typeface="Times New Roman"/>
                <a:cs typeface="Times New Roman"/>
              </a:defRPr>
            </a:lvl2pPr>
            <a:lvl3pPr algn="l">
              <a:defRPr sz="2400" b="1">
                <a:solidFill>
                  <a:srgbClr val="367653"/>
                </a:solidFill>
                <a:latin typeface="Times New Roman"/>
                <a:ea typeface="Times New Roman"/>
                <a:cs typeface="Times New Roman"/>
              </a:defRPr>
            </a:lvl3pPr>
            <a:lvl4pPr algn="l">
              <a:defRPr sz="2400" b="1">
                <a:solidFill>
                  <a:srgbClr val="367653"/>
                </a:solidFill>
                <a:latin typeface="Times New Roman"/>
                <a:ea typeface="Times New Roman"/>
                <a:cs typeface="Times New Roman"/>
              </a:defRPr>
            </a:lvl4pPr>
            <a:lvl5pPr algn="l">
              <a:defRPr sz="2400" b="1">
                <a:solidFill>
                  <a:srgbClr val="367653"/>
                </a:solidFill>
                <a:latin typeface="Times New Roman"/>
                <a:ea typeface="Times New Roman"/>
                <a:cs typeface="Times New Roman"/>
              </a:defRPr>
            </a:lvl5pPr>
            <a:lvl6pPr algn="l">
              <a:defRPr sz="2400" b="1">
                <a:solidFill>
                  <a:srgbClr val="367653"/>
                </a:solidFill>
                <a:latin typeface="Times New Roman"/>
                <a:ea typeface="Times New Roman"/>
                <a:cs typeface="Times New Roman"/>
              </a:defRPr>
            </a:lvl6pPr>
            <a:lvl7pPr algn="l">
              <a:defRPr sz="2400" b="1">
                <a:solidFill>
                  <a:srgbClr val="367653"/>
                </a:solidFill>
                <a:latin typeface="Times New Roman"/>
                <a:ea typeface="Times New Roman"/>
                <a:cs typeface="Times New Roman"/>
              </a:defRPr>
            </a:lvl7pPr>
            <a:lvl8pPr algn="l">
              <a:defRPr sz="2400" b="1">
                <a:solidFill>
                  <a:srgbClr val="367653"/>
                </a:solidFill>
                <a:latin typeface="Times New Roman"/>
                <a:ea typeface="Times New Roman"/>
                <a:cs typeface="Times New Roman"/>
              </a:defRPr>
            </a:lvl8pPr>
            <a:lvl9pPr algn="l">
              <a:defRPr sz="2400" b="1">
                <a:solidFill>
                  <a:srgbClr val="367653"/>
                </a:solidFill>
                <a:latin typeface="Times New Roman"/>
                <a:ea typeface="Times New Roman"/>
                <a:cs typeface="Times New Roman"/>
              </a:defRPr>
            </a:lvl9pPr>
          </a:lstStyle>
          <a:p xmlns:a="http://schemas.openxmlformats.org/drawingml/2006/main">
            <a:pPr algn="l">
              <a:defRPr sz="2400" b="1">
                <a:solidFill>
                  <a:srgbClr val="367653"/>
                </a:solidFill>
                <a:latin typeface="Times New Roman"/>
                <a:ea typeface="Times New Roman"/>
                <a:cs typeface="Times New Roman"/>
              </a:defRPr>
            </a:pPr>
            <a:r>
              <a:rPr sz="2400" b="1">
                <a:solidFill>
                  <a:srgbClr val="367653"/>
                </a:solidFill>
                <a:latin typeface="Times New Roman"/>
                <a:ea typeface="Times New Roman"/>
                <a:cs typeface="Times New Roman"/>
              </a:rPr>
              <a:t>Los tres mecanismos actúan de forma integrada.</a:t>
            </a:r>
          </a:p>
        </p:txBody>
      </p:sp>
    </p:spTree>
    <p:extLst>
      <p:ext uri="{BB962C8B-B14F-4D97-AF65-F5344CB8AC3E}">
        <p14:creationId xmlns:p14="http://schemas.microsoft.com/office/powerpoint/2010/main" val="402191872"/>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lide-title">
            <a:extLst xmlns:a="http://schemas.openxmlformats.org/drawingml/2006/main">
              <a:ext uri="{FF2B5EF4-FFF2-40B4-BE49-F238E27FC236}">
                <a16:creationId xmlns:a16="http://schemas.microsoft.com/office/drawing/2014/main" id="{65D2A979-A60C-4AFE-8636-7E1165693EB6}"/>
              </a:ext>
            </a:extLst>
          </p:cNvPr>
          <p:cNvSpPr>
            <a:spLocks xmlns:a="http://schemas.openxmlformats.org/drawingml/2006/main" noGrp="1"/>
          </p:cNvSpPr>
          <p:nvPr/>
        </p:nvSpPr>
        <p:spPr>
          <a:xfrm xmlns:a="http://schemas.openxmlformats.org/drawingml/2006/main">
            <a:off x="609600" y="390525"/>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400" b="1">
                <a:solidFill>
                  <a:srgbClr val="174A35"/>
                </a:solidFill>
                <a:latin typeface="Times New Roman"/>
                <a:ea typeface="Times New Roman"/>
                <a:cs typeface="Times New Roman"/>
              </a:defRPr>
            </a:defPPr>
            <a:lvl1pPr algn="l">
              <a:defRPr sz="3400" b="1">
                <a:solidFill>
                  <a:srgbClr val="174A35"/>
                </a:solidFill>
                <a:latin typeface="Times New Roman"/>
                <a:ea typeface="Times New Roman"/>
                <a:cs typeface="Times New Roman"/>
              </a:defRPr>
            </a:lvl1pPr>
            <a:lvl2pPr algn="l">
              <a:defRPr sz="3400" b="1">
                <a:solidFill>
                  <a:srgbClr val="174A35"/>
                </a:solidFill>
                <a:latin typeface="Times New Roman"/>
                <a:ea typeface="Times New Roman"/>
                <a:cs typeface="Times New Roman"/>
              </a:defRPr>
            </a:lvl2pPr>
            <a:lvl3pPr algn="l">
              <a:defRPr sz="3400" b="1">
                <a:solidFill>
                  <a:srgbClr val="174A35"/>
                </a:solidFill>
                <a:latin typeface="Times New Roman"/>
                <a:ea typeface="Times New Roman"/>
                <a:cs typeface="Times New Roman"/>
              </a:defRPr>
            </a:lvl3pPr>
            <a:lvl4pPr algn="l">
              <a:defRPr sz="3400" b="1">
                <a:solidFill>
                  <a:srgbClr val="174A35"/>
                </a:solidFill>
                <a:latin typeface="Times New Roman"/>
                <a:ea typeface="Times New Roman"/>
                <a:cs typeface="Times New Roman"/>
              </a:defRPr>
            </a:lvl4pPr>
            <a:lvl5pPr algn="l">
              <a:defRPr sz="3400" b="1">
                <a:solidFill>
                  <a:srgbClr val="174A35"/>
                </a:solidFill>
                <a:latin typeface="Times New Roman"/>
                <a:ea typeface="Times New Roman"/>
                <a:cs typeface="Times New Roman"/>
              </a:defRPr>
            </a:lvl5pPr>
            <a:lvl6pPr algn="l">
              <a:defRPr sz="3400" b="1">
                <a:solidFill>
                  <a:srgbClr val="174A35"/>
                </a:solidFill>
                <a:latin typeface="Times New Roman"/>
                <a:ea typeface="Times New Roman"/>
                <a:cs typeface="Times New Roman"/>
              </a:defRPr>
            </a:lvl6pPr>
            <a:lvl7pPr algn="l">
              <a:defRPr sz="3400" b="1">
                <a:solidFill>
                  <a:srgbClr val="174A35"/>
                </a:solidFill>
                <a:latin typeface="Times New Roman"/>
                <a:ea typeface="Times New Roman"/>
                <a:cs typeface="Times New Roman"/>
              </a:defRPr>
            </a:lvl7pPr>
            <a:lvl8pPr algn="l">
              <a:defRPr sz="3400" b="1">
                <a:solidFill>
                  <a:srgbClr val="174A35"/>
                </a:solidFill>
                <a:latin typeface="Times New Roman"/>
                <a:ea typeface="Times New Roman"/>
                <a:cs typeface="Times New Roman"/>
              </a:defRPr>
            </a:lvl8pPr>
            <a:lvl9pPr algn="l">
              <a:defRPr sz="3400" b="1">
                <a:solidFill>
                  <a:srgbClr val="174A35"/>
                </a:solidFill>
                <a:latin typeface="Times New Roman"/>
                <a:ea typeface="Times New Roman"/>
                <a:cs typeface="Times New Roman"/>
              </a:defRPr>
            </a:lvl9pPr>
          </a:lstStyle>
          <a:p xmlns:a="http://schemas.openxmlformats.org/drawingml/2006/main">
            <a:pPr algn="l">
              <a:defRPr sz="3400" b="1">
                <a:solidFill>
                  <a:srgbClr val="174A35"/>
                </a:solidFill>
                <a:latin typeface="Times New Roman"/>
                <a:ea typeface="Times New Roman"/>
                <a:cs typeface="Times New Roman"/>
              </a:defRPr>
            </a:pPr>
            <a:r>
              <a:rPr sz="3400" b="1">
                <a:solidFill>
                  <a:srgbClr val="174A35"/>
                </a:solidFill>
                <a:latin typeface="Times New Roman"/>
                <a:ea typeface="Times New Roman"/>
                <a:cs typeface="Times New Roman"/>
              </a:rPr>
              <a:t>Bicarbonato y CO₂</a:t>
            </a:r>
          </a:p>
        </p:txBody>
      </p:sp>
      <p:sp>
        <p:nvSpPr>
          <p:cNvPr id="2" name="page-number">
            <a:extLst xmlns:a="http://schemas.openxmlformats.org/drawingml/2006/main">
              <a:ext uri="{FF2B5EF4-FFF2-40B4-BE49-F238E27FC236}">
                <a16:creationId xmlns:a16="http://schemas.microsoft.com/office/drawing/2014/main" id="{40C43737-E373-4A7B-BF24-ADDB08FF024B}"/>
              </a:ext>
            </a:extLst>
          </p:cNvPr>
          <p:cNvSpPr>
            <a:spLocks xmlns:a="http://schemas.openxmlformats.org/drawingml/2006/main" noGrp="1"/>
          </p:cNvSpPr>
          <p:nvPr/>
        </p:nvSpPr>
        <p:spPr>
          <a:xfrm xmlns:a="http://schemas.openxmlformats.org/drawingml/2006/main">
            <a:off x="11077575" y="64198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00" b="0">
                <a:solidFill>
                  <a:srgbClr val="367653"/>
                </a:solidFill>
                <a:latin typeface="Times New Roman"/>
                <a:ea typeface="Times New Roman"/>
                <a:cs typeface="Times New Roman"/>
              </a:defRPr>
            </a:defPPr>
            <a:lvl1pPr algn="r">
              <a:defRPr sz="1200" b="0">
                <a:solidFill>
                  <a:srgbClr val="367653"/>
                </a:solidFill>
                <a:latin typeface="Times New Roman"/>
                <a:ea typeface="Times New Roman"/>
                <a:cs typeface="Times New Roman"/>
              </a:defRPr>
            </a:lvl1pPr>
            <a:lvl2pPr algn="r">
              <a:defRPr sz="1200" b="0">
                <a:solidFill>
                  <a:srgbClr val="367653"/>
                </a:solidFill>
                <a:latin typeface="Times New Roman"/>
                <a:ea typeface="Times New Roman"/>
                <a:cs typeface="Times New Roman"/>
              </a:defRPr>
            </a:lvl2pPr>
            <a:lvl3pPr algn="r">
              <a:defRPr sz="1200" b="0">
                <a:solidFill>
                  <a:srgbClr val="367653"/>
                </a:solidFill>
                <a:latin typeface="Times New Roman"/>
                <a:ea typeface="Times New Roman"/>
                <a:cs typeface="Times New Roman"/>
              </a:defRPr>
            </a:lvl3pPr>
            <a:lvl4pPr algn="r">
              <a:defRPr sz="1200" b="0">
                <a:solidFill>
                  <a:srgbClr val="367653"/>
                </a:solidFill>
                <a:latin typeface="Times New Roman"/>
                <a:ea typeface="Times New Roman"/>
                <a:cs typeface="Times New Roman"/>
              </a:defRPr>
            </a:lvl4pPr>
            <a:lvl5pPr algn="r">
              <a:defRPr sz="1200" b="0">
                <a:solidFill>
                  <a:srgbClr val="367653"/>
                </a:solidFill>
                <a:latin typeface="Times New Roman"/>
                <a:ea typeface="Times New Roman"/>
                <a:cs typeface="Times New Roman"/>
              </a:defRPr>
            </a:lvl5pPr>
            <a:lvl6pPr algn="r">
              <a:defRPr sz="1200" b="0">
                <a:solidFill>
                  <a:srgbClr val="367653"/>
                </a:solidFill>
                <a:latin typeface="Times New Roman"/>
                <a:ea typeface="Times New Roman"/>
                <a:cs typeface="Times New Roman"/>
              </a:defRPr>
            </a:lvl6pPr>
            <a:lvl7pPr algn="r">
              <a:defRPr sz="1200" b="0">
                <a:solidFill>
                  <a:srgbClr val="367653"/>
                </a:solidFill>
                <a:latin typeface="Times New Roman"/>
                <a:ea typeface="Times New Roman"/>
                <a:cs typeface="Times New Roman"/>
              </a:defRPr>
            </a:lvl7pPr>
            <a:lvl8pPr algn="r">
              <a:defRPr sz="1200" b="0">
                <a:solidFill>
                  <a:srgbClr val="367653"/>
                </a:solidFill>
                <a:latin typeface="Times New Roman"/>
                <a:ea typeface="Times New Roman"/>
                <a:cs typeface="Times New Roman"/>
              </a:defRPr>
            </a:lvl8pPr>
            <a:lvl9pPr algn="r">
              <a:defRPr sz="1200" b="0">
                <a:solidFill>
                  <a:srgbClr val="367653"/>
                </a:solidFill>
                <a:latin typeface="Times New Roman"/>
                <a:ea typeface="Times New Roman"/>
                <a:cs typeface="Times New Roman"/>
              </a:defRPr>
            </a:lvl9pPr>
          </a:lstStyle>
          <a:p xmlns:a="http://schemas.openxmlformats.org/drawingml/2006/main">
            <a:pPr algn="r">
              <a:defRPr sz="1200" b="0">
                <a:solidFill>
                  <a:srgbClr val="367653"/>
                </a:solidFill>
                <a:latin typeface="Times New Roman"/>
                <a:ea typeface="Times New Roman"/>
                <a:cs typeface="Times New Roman"/>
              </a:defRPr>
            </a:pPr>
            <a:r>
              <a:rPr sz="1200" b="0">
                <a:solidFill>
                  <a:srgbClr val="367653"/>
                </a:solidFill>
                <a:latin typeface="Times New Roman"/>
                <a:ea typeface="Times New Roman"/>
                <a:cs typeface="Times New Roman"/>
              </a:rPr>
              <a:t>05</a:t>
            </a:r>
          </a:p>
        </p:txBody>
      </p:sp>
      <p:sp>
        <p:nvSpPr>
          <p:cNvPr id="3" name="sources">
            <a:extLst xmlns:a="http://schemas.openxmlformats.org/drawingml/2006/main">
              <a:ext uri="{FF2B5EF4-FFF2-40B4-BE49-F238E27FC236}">
                <a16:creationId xmlns:a16="http://schemas.microsoft.com/office/drawing/2014/main" id="{8A2F192C-DF27-4846-B4C7-9B8E5B01696C}"/>
              </a:ext>
            </a:extLst>
          </p:cNvPr>
          <p:cNvSpPr>
            <a:spLocks xmlns:a="http://schemas.openxmlformats.org/drawingml/2006/main" noGrp="1"/>
          </p:cNvSpPr>
          <p:nvPr/>
        </p:nvSpPr>
        <p:spPr>
          <a:xfrm xmlns:a="http://schemas.openxmlformats.org/drawingml/2006/main">
            <a:off x="609600" y="6419850"/>
            <a:ext cx="10287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200" b="0">
                <a:solidFill>
                  <a:srgbClr val="515151"/>
                </a:solidFill>
                <a:latin typeface="Times New Roman"/>
                <a:ea typeface="Times New Roman"/>
                <a:cs typeface="Times New Roman"/>
              </a:defRPr>
            </a:defPPr>
            <a:lvl1pPr algn="l">
              <a:defRPr sz="1200" b="0">
                <a:solidFill>
                  <a:srgbClr val="515151"/>
                </a:solidFill>
                <a:latin typeface="Times New Roman"/>
                <a:ea typeface="Times New Roman"/>
                <a:cs typeface="Times New Roman"/>
              </a:defRPr>
            </a:lvl1pPr>
            <a:lvl2pPr algn="l">
              <a:defRPr sz="1200" b="0">
                <a:solidFill>
                  <a:srgbClr val="515151"/>
                </a:solidFill>
                <a:latin typeface="Times New Roman"/>
                <a:ea typeface="Times New Roman"/>
                <a:cs typeface="Times New Roman"/>
              </a:defRPr>
            </a:lvl2pPr>
            <a:lvl3pPr algn="l">
              <a:defRPr sz="1200" b="0">
                <a:solidFill>
                  <a:srgbClr val="515151"/>
                </a:solidFill>
                <a:latin typeface="Times New Roman"/>
                <a:ea typeface="Times New Roman"/>
                <a:cs typeface="Times New Roman"/>
              </a:defRPr>
            </a:lvl3pPr>
            <a:lvl4pPr algn="l">
              <a:defRPr sz="1200" b="0">
                <a:solidFill>
                  <a:srgbClr val="515151"/>
                </a:solidFill>
                <a:latin typeface="Times New Roman"/>
                <a:ea typeface="Times New Roman"/>
                <a:cs typeface="Times New Roman"/>
              </a:defRPr>
            </a:lvl4pPr>
            <a:lvl5pPr algn="l">
              <a:defRPr sz="1200" b="0">
                <a:solidFill>
                  <a:srgbClr val="515151"/>
                </a:solidFill>
                <a:latin typeface="Times New Roman"/>
                <a:ea typeface="Times New Roman"/>
                <a:cs typeface="Times New Roman"/>
              </a:defRPr>
            </a:lvl5pPr>
            <a:lvl6pPr algn="l">
              <a:defRPr sz="1200" b="0">
                <a:solidFill>
                  <a:srgbClr val="515151"/>
                </a:solidFill>
                <a:latin typeface="Times New Roman"/>
                <a:ea typeface="Times New Roman"/>
                <a:cs typeface="Times New Roman"/>
              </a:defRPr>
            </a:lvl6pPr>
            <a:lvl7pPr algn="l">
              <a:defRPr sz="1200" b="0">
                <a:solidFill>
                  <a:srgbClr val="515151"/>
                </a:solidFill>
                <a:latin typeface="Times New Roman"/>
                <a:ea typeface="Times New Roman"/>
                <a:cs typeface="Times New Roman"/>
              </a:defRPr>
            </a:lvl7pPr>
            <a:lvl8pPr algn="l">
              <a:defRPr sz="1200" b="0">
                <a:solidFill>
                  <a:srgbClr val="515151"/>
                </a:solidFill>
                <a:latin typeface="Times New Roman"/>
                <a:ea typeface="Times New Roman"/>
                <a:cs typeface="Times New Roman"/>
              </a:defRPr>
            </a:lvl8pPr>
            <a:lvl9pPr algn="l">
              <a:defRPr sz="1200" b="0">
                <a:solidFill>
                  <a:srgbClr val="515151"/>
                </a:solidFill>
                <a:latin typeface="Times New Roman"/>
                <a:ea typeface="Times New Roman"/>
                <a:cs typeface="Times New Roman"/>
              </a:defRPr>
            </a:lvl9pPr>
          </a:lstStyle>
          <a:p xmlns:a="http://schemas.openxmlformats.org/drawingml/2006/main">
            <a:pPr algn="l">
              <a:defRPr sz="1200" b="0">
                <a:solidFill>
                  <a:srgbClr val="515151"/>
                </a:solidFill>
                <a:latin typeface="Times New Roman"/>
                <a:ea typeface="Times New Roman"/>
                <a:cs typeface="Times New Roman"/>
              </a:defRPr>
            </a:pPr>
            <a:r>
              <a:rPr sz="1200" b="0">
                <a:solidFill>
                  <a:srgbClr val="515151"/>
                </a:solidFill>
                <a:latin typeface="Times New Roman"/>
                <a:ea typeface="Times New Roman"/>
                <a:cs typeface="Times New Roman"/>
              </a:rPr>
              <a:t>Fuentes: [2] [3]</a:t>
            </a:r>
          </a:p>
        </p:txBody>
      </p:sp>
      <p:pic>
        <p:nvPicPr>
          <p:cNvPr id="4" name="">
            <a:extLst xmlns:a="http://schemas.openxmlformats.org/drawingml/2006/main">
              <a:ext uri="{FF2B5EF4-FFF2-40B4-BE49-F238E27FC236}">
                <a16:creationId xmlns:a16="http://schemas.microsoft.com/office/drawing/2014/main" id="{844334C6-6BDB-4E53-B6BA-8D4C51B80DF2}"/>
              </a:ext>
            </a:extLst>
          </p:cNvPr>
          <p:cNvPicPr>
            <a:picLocks xmlns:a="http://schemas.openxmlformats.org/drawingml/2006/main" noChangeAspect="1"/>
          </p:cNvPicPr>
          <p:nvPr/>
        </p:nvPicPr>
        <p:blipFill>
          <a:blip xmlns:r="http://schemas.openxmlformats.org/officeDocument/2006/relationships" xmlns:a="http://schemas.openxmlformats.org/drawingml/2006/main" r:embed="R680880ac8079442c"/>
          <a:stretch xmlns:a="http://schemas.openxmlformats.org/drawingml/2006/main"/>
        </p:blipFill>
        <p:spPr>
          <a:xfrm xmlns:a="http://schemas.openxmlformats.org/drawingml/2006/main">
            <a:off x="609600" y="1582738"/>
            <a:ext cx="6953250" cy="4635500"/>
          </a:xfrm>
          <a:prstGeom xmlns:a="http://schemas.openxmlformats.org/drawingml/2006/main" prst="rect">
            <a:avLst/>
          </a:prstGeom>
        </p:spPr>
      </p:pic>
      <p:sp>
        <p:nvSpPr>
          <p:cNvPr id="5" name="text">
            <a:extLst xmlns:a="http://schemas.openxmlformats.org/drawingml/2006/main">
              <a:ext uri="{FF2B5EF4-FFF2-40B4-BE49-F238E27FC236}">
                <a16:creationId xmlns:a16="http://schemas.microsoft.com/office/drawing/2014/main" id="{2493DDE4-B63E-40C6-8A4D-63F8F8CA3150}"/>
              </a:ext>
            </a:extLst>
          </p:cNvPr>
          <p:cNvSpPr>
            <a:spLocks xmlns:a="http://schemas.openxmlformats.org/drawingml/2006/main" noGrp="1"/>
          </p:cNvSpPr>
          <p:nvPr/>
        </p:nvSpPr>
        <p:spPr>
          <a:xfrm xmlns:a="http://schemas.openxmlformats.org/drawingml/2006/main">
            <a:off x="7915275" y="1628775"/>
            <a:ext cx="3667125"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400" b="1">
                <a:solidFill>
                  <a:srgbClr val="367653"/>
                </a:solidFill>
                <a:latin typeface="Times New Roman"/>
                <a:ea typeface="Times New Roman"/>
                <a:cs typeface="Times New Roman"/>
              </a:defRPr>
            </a:defPPr>
            <a:lvl1pPr algn="l">
              <a:defRPr sz="2400" b="1">
                <a:solidFill>
                  <a:srgbClr val="367653"/>
                </a:solidFill>
                <a:latin typeface="Times New Roman"/>
                <a:ea typeface="Times New Roman"/>
                <a:cs typeface="Times New Roman"/>
              </a:defRPr>
            </a:lvl1pPr>
            <a:lvl2pPr algn="l">
              <a:defRPr sz="2400" b="1">
                <a:solidFill>
                  <a:srgbClr val="367653"/>
                </a:solidFill>
                <a:latin typeface="Times New Roman"/>
                <a:ea typeface="Times New Roman"/>
                <a:cs typeface="Times New Roman"/>
              </a:defRPr>
            </a:lvl2pPr>
            <a:lvl3pPr algn="l">
              <a:defRPr sz="2400" b="1">
                <a:solidFill>
                  <a:srgbClr val="367653"/>
                </a:solidFill>
                <a:latin typeface="Times New Roman"/>
                <a:ea typeface="Times New Roman"/>
                <a:cs typeface="Times New Roman"/>
              </a:defRPr>
            </a:lvl3pPr>
            <a:lvl4pPr algn="l">
              <a:defRPr sz="2400" b="1">
                <a:solidFill>
                  <a:srgbClr val="367653"/>
                </a:solidFill>
                <a:latin typeface="Times New Roman"/>
                <a:ea typeface="Times New Roman"/>
                <a:cs typeface="Times New Roman"/>
              </a:defRPr>
            </a:lvl4pPr>
            <a:lvl5pPr algn="l">
              <a:defRPr sz="2400" b="1">
                <a:solidFill>
                  <a:srgbClr val="367653"/>
                </a:solidFill>
                <a:latin typeface="Times New Roman"/>
                <a:ea typeface="Times New Roman"/>
                <a:cs typeface="Times New Roman"/>
              </a:defRPr>
            </a:lvl5pPr>
            <a:lvl6pPr algn="l">
              <a:defRPr sz="2400" b="1">
                <a:solidFill>
                  <a:srgbClr val="367653"/>
                </a:solidFill>
                <a:latin typeface="Times New Roman"/>
                <a:ea typeface="Times New Roman"/>
                <a:cs typeface="Times New Roman"/>
              </a:defRPr>
            </a:lvl6pPr>
            <a:lvl7pPr algn="l">
              <a:defRPr sz="2400" b="1">
                <a:solidFill>
                  <a:srgbClr val="367653"/>
                </a:solidFill>
                <a:latin typeface="Times New Roman"/>
                <a:ea typeface="Times New Roman"/>
                <a:cs typeface="Times New Roman"/>
              </a:defRPr>
            </a:lvl7pPr>
            <a:lvl8pPr algn="l">
              <a:defRPr sz="2400" b="1">
                <a:solidFill>
                  <a:srgbClr val="367653"/>
                </a:solidFill>
                <a:latin typeface="Times New Roman"/>
                <a:ea typeface="Times New Roman"/>
                <a:cs typeface="Times New Roman"/>
              </a:defRPr>
            </a:lvl8pPr>
            <a:lvl9pPr algn="l">
              <a:defRPr sz="2400" b="1">
                <a:solidFill>
                  <a:srgbClr val="367653"/>
                </a:solidFill>
                <a:latin typeface="Times New Roman"/>
                <a:ea typeface="Times New Roman"/>
                <a:cs typeface="Times New Roman"/>
              </a:defRPr>
            </a:lvl9pPr>
          </a:lstStyle>
          <a:p xmlns:a="http://schemas.openxmlformats.org/drawingml/2006/main">
            <a:pPr algn="l">
              <a:defRPr sz="2400" b="1">
                <a:solidFill>
                  <a:srgbClr val="367653"/>
                </a:solidFill>
                <a:latin typeface="Times New Roman"/>
                <a:ea typeface="Times New Roman"/>
                <a:cs typeface="Times New Roman"/>
              </a:defRPr>
            </a:pPr>
            <a:r>
              <a:rPr sz="2400" b="1">
                <a:solidFill>
                  <a:srgbClr val="367653"/>
                </a:solidFill>
                <a:latin typeface="Times New Roman"/>
                <a:ea typeface="Times New Roman"/>
                <a:cs typeface="Times New Roman"/>
              </a:rPr>
              <a:t>Henderson–Hasselbalch</a:t>
            </a:r>
          </a:p>
        </p:txBody>
      </p:sp>
      <p:sp>
        <p:nvSpPr>
          <p:cNvPr id="6" name="text">
            <a:extLst xmlns:a="http://schemas.openxmlformats.org/drawingml/2006/main">
              <a:ext uri="{FF2B5EF4-FFF2-40B4-BE49-F238E27FC236}">
                <a16:creationId xmlns:a16="http://schemas.microsoft.com/office/drawing/2014/main" id="{ED86DD5D-9AD3-4718-9968-F308BF7B4547}"/>
              </a:ext>
            </a:extLst>
          </p:cNvPr>
          <p:cNvSpPr>
            <a:spLocks xmlns:a="http://schemas.openxmlformats.org/drawingml/2006/main" noGrp="1"/>
          </p:cNvSpPr>
          <p:nvPr/>
        </p:nvSpPr>
        <p:spPr>
          <a:xfrm xmlns:a="http://schemas.openxmlformats.org/drawingml/2006/main">
            <a:off x="7915275" y="2505075"/>
            <a:ext cx="3667125"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00" b="0">
                <a:solidFill>
                  <a:srgbClr val="181818"/>
                </a:solidFill>
                <a:latin typeface="Times New Roman"/>
                <a:ea typeface="Times New Roman"/>
                <a:cs typeface="Times New Roman"/>
              </a:defRPr>
            </a:defPPr>
            <a:lvl1pPr algn="l">
              <a:defRPr sz="2200" b="0">
                <a:solidFill>
                  <a:srgbClr val="181818"/>
                </a:solidFill>
                <a:latin typeface="Times New Roman"/>
                <a:ea typeface="Times New Roman"/>
                <a:cs typeface="Times New Roman"/>
              </a:defRPr>
            </a:lvl1pPr>
            <a:lvl2pPr algn="l">
              <a:defRPr sz="2200" b="0">
                <a:solidFill>
                  <a:srgbClr val="181818"/>
                </a:solidFill>
                <a:latin typeface="Times New Roman"/>
                <a:ea typeface="Times New Roman"/>
                <a:cs typeface="Times New Roman"/>
              </a:defRPr>
            </a:lvl2pPr>
            <a:lvl3pPr algn="l">
              <a:defRPr sz="2200" b="0">
                <a:solidFill>
                  <a:srgbClr val="181818"/>
                </a:solidFill>
                <a:latin typeface="Times New Roman"/>
                <a:ea typeface="Times New Roman"/>
                <a:cs typeface="Times New Roman"/>
              </a:defRPr>
            </a:lvl3pPr>
            <a:lvl4pPr algn="l">
              <a:defRPr sz="2200" b="0">
                <a:solidFill>
                  <a:srgbClr val="181818"/>
                </a:solidFill>
                <a:latin typeface="Times New Roman"/>
                <a:ea typeface="Times New Roman"/>
                <a:cs typeface="Times New Roman"/>
              </a:defRPr>
            </a:lvl4pPr>
            <a:lvl5pPr algn="l">
              <a:defRPr sz="2200" b="0">
                <a:solidFill>
                  <a:srgbClr val="181818"/>
                </a:solidFill>
                <a:latin typeface="Times New Roman"/>
                <a:ea typeface="Times New Roman"/>
                <a:cs typeface="Times New Roman"/>
              </a:defRPr>
            </a:lvl5pPr>
            <a:lvl6pPr algn="l">
              <a:defRPr sz="2200" b="0">
                <a:solidFill>
                  <a:srgbClr val="181818"/>
                </a:solidFill>
                <a:latin typeface="Times New Roman"/>
                <a:ea typeface="Times New Roman"/>
                <a:cs typeface="Times New Roman"/>
              </a:defRPr>
            </a:lvl6pPr>
            <a:lvl7pPr algn="l">
              <a:defRPr sz="2200" b="0">
                <a:solidFill>
                  <a:srgbClr val="181818"/>
                </a:solidFill>
                <a:latin typeface="Times New Roman"/>
                <a:ea typeface="Times New Roman"/>
                <a:cs typeface="Times New Roman"/>
              </a:defRPr>
            </a:lvl7pPr>
            <a:lvl8pPr algn="l">
              <a:defRPr sz="2200" b="0">
                <a:solidFill>
                  <a:srgbClr val="181818"/>
                </a:solidFill>
                <a:latin typeface="Times New Roman"/>
                <a:ea typeface="Times New Roman"/>
                <a:cs typeface="Times New Roman"/>
              </a:defRPr>
            </a:lvl8pPr>
            <a:lvl9pPr algn="l">
              <a:defRPr sz="2200" b="0">
                <a:solidFill>
                  <a:srgbClr val="181818"/>
                </a:solidFill>
                <a:latin typeface="Times New Roman"/>
                <a:ea typeface="Times New Roman"/>
                <a:cs typeface="Times New Roman"/>
              </a:defRPr>
            </a:lvl9pPr>
          </a:lstStyle>
          <a:p xmlns:a="http://schemas.openxmlformats.org/drawingml/2006/main">
            <a:pPr algn="l">
              <a:defRPr sz="2200" b="0">
                <a:solidFill>
                  <a:srgbClr val="181818"/>
                </a:solidFill>
                <a:latin typeface="Times New Roman"/>
                <a:ea typeface="Times New Roman"/>
                <a:cs typeface="Times New Roman"/>
              </a:defRPr>
            </a:pPr>
            <a:r>
              <a:rPr sz="2200" b="0">
                <a:solidFill>
                  <a:srgbClr val="181818"/>
                </a:solidFill>
                <a:latin typeface="Times New Roman"/>
                <a:ea typeface="Times New Roman"/>
                <a:cs typeface="Times New Roman"/>
              </a:rPr>
              <a:t>pH = 6,1 + log₁₀</a:t>
            </a:r>
          </a:p>
          <a:p xmlns:a="http://schemas.openxmlformats.org/drawingml/2006/main">
            <a:pPr algn="l">
              <a:defRPr sz="2200" b="0">
                <a:solidFill>
                  <a:srgbClr val="181818"/>
                </a:solidFill>
                <a:latin typeface="Times New Roman"/>
                <a:ea typeface="Times New Roman"/>
                <a:cs typeface="Times New Roman"/>
              </a:defRPr>
            </a:pPr>
            <a:r>
              <a:rPr sz="2200" b="0">
                <a:solidFill>
                  <a:srgbClr val="181818"/>
                </a:solidFill>
                <a:latin typeface="Times New Roman"/>
                <a:ea typeface="Times New Roman"/>
                <a:cs typeface="Times New Roman"/>
              </a:rPr>
              <a:t>[HCO₃⁻ / (0,03 × PCO₂)]</a:t>
            </a:r>
          </a:p>
        </p:txBody>
      </p:sp>
      <p:sp>
        <p:nvSpPr>
          <p:cNvPr id="7" name="text">
            <a:extLst xmlns:a="http://schemas.openxmlformats.org/drawingml/2006/main">
              <a:ext uri="{FF2B5EF4-FFF2-40B4-BE49-F238E27FC236}">
                <a16:creationId xmlns:a16="http://schemas.microsoft.com/office/drawing/2014/main" id="{B4FDEF4B-BC80-478A-8842-4AB23CD186BA}"/>
              </a:ext>
            </a:extLst>
          </p:cNvPr>
          <p:cNvSpPr>
            <a:spLocks xmlns:a="http://schemas.openxmlformats.org/drawingml/2006/main" noGrp="1"/>
          </p:cNvSpPr>
          <p:nvPr/>
        </p:nvSpPr>
        <p:spPr>
          <a:xfrm xmlns:a="http://schemas.openxmlformats.org/drawingml/2006/main">
            <a:off x="7915275" y="3867150"/>
            <a:ext cx="3667125"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00" b="0">
                <a:solidFill>
                  <a:srgbClr val="181818"/>
                </a:solidFill>
                <a:latin typeface="Times New Roman"/>
                <a:ea typeface="Times New Roman"/>
                <a:cs typeface="Times New Roman"/>
              </a:defRPr>
            </a:defPPr>
            <a:lvl1pPr algn="l">
              <a:defRPr sz="2200" b="0">
                <a:solidFill>
                  <a:srgbClr val="181818"/>
                </a:solidFill>
                <a:latin typeface="Times New Roman"/>
                <a:ea typeface="Times New Roman"/>
                <a:cs typeface="Times New Roman"/>
              </a:defRPr>
            </a:lvl1pPr>
            <a:lvl2pPr algn="l">
              <a:defRPr sz="2200" b="0">
                <a:solidFill>
                  <a:srgbClr val="181818"/>
                </a:solidFill>
                <a:latin typeface="Times New Roman"/>
                <a:ea typeface="Times New Roman"/>
                <a:cs typeface="Times New Roman"/>
              </a:defRPr>
            </a:lvl2pPr>
            <a:lvl3pPr algn="l">
              <a:defRPr sz="2200" b="0">
                <a:solidFill>
                  <a:srgbClr val="181818"/>
                </a:solidFill>
                <a:latin typeface="Times New Roman"/>
                <a:ea typeface="Times New Roman"/>
                <a:cs typeface="Times New Roman"/>
              </a:defRPr>
            </a:lvl3pPr>
            <a:lvl4pPr algn="l">
              <a:defRPr sz="2200" b="0">
                <a:solidFill>
                  <a:srgbClr val="181818"/>
                </a:solidFill>
                <a:latin typeface="Times New Roman"/>
                <a:ea typeface="Times New Roman"/>
                <a:cs typeface="Times New Roman"/>
              </a:defRPr>
            </a:lvl4pPr>
            <a:lvl5pPr algn="l">
              <a:defRPr sz="2200" b="0">
                <a:solidFill>
                  <a:srgbClr val="181818"/>
                </a:solidFill>
                <a:latin typeface="Times New Roman"/>
                <a:ea typeface="Times New Roman"/>
                <a:cs typeface="Times New Roman"/>
              </a:defRPr>
            </a:lvl5pPr>
            <a:lvl6pPr algn="l">
              <a:defRPr sz="2200" b="0">
                <a:solidFill>
                  <a:srgbClr val="181818"/>
                </a:solidFill>
                <a:latin typeface="Times New Roman"/>
                <a:ea typeface="Times New Roman"/>
                <a:cs typeface="Times New Roman"/>
              </a:defRPr>
            </a:lvl6pPr>
            <a:lvl7pPr algn="l">
              <a:defRPr sz="2200" b="0">
                <a:solidFill>
                  <a:srgbClr val="181818"/>
                </a:solidFill>
                <a:latin typeface="Times New Roman"/>
                <a:ea typeface="Times New Roman"/>
                <a:cs typeface="Times New Roman"/>
              </a:defRPr>
            </a:lvl7pPr>
            <a:lvl8pPr algn="l">
              <a:defRPr sz="2200" b="0">
                <a:solidFill>
                  <a:srgbClr val="181818"/>
                </a:solidFill>
                <a:latin typeface="Times New Roman"/>
                <a:ea typeface="Times New Roman"/>
                <a:cs typeface="Times New Roman"/>
              </a:defRPr>
            </a:lvl8pPr>
            <a:lvl9pPr algn="l">
              <a:defRPr sz="2200" b="0">
                <a:solidFill>
                  <a:srgbClr val="181818"/>
                </a:solidFill>
                <a:latin typeface="Times New Roman"/>
                <a:ea typeface="Times New Roman"/>
                <a:cs typeface="Times New Roman"/>
              </a:defRPr>
            </a:lvl9pPr>
          </a:lstStyle>
          <a:p xmlns:a="http://schemas.openxmlformats.org/drawingml/2006/main">
            <a:pPr algn="l">
              <a:defRPr sz="2200" b="0">
                <a:solidFill>
                  <a:srgbClr val="181818"/>
                </a:solidFill>
                <a:latin typeface="Times New Roman"/>
                <a:ea typeface="Times New Roman"/>
                <a:cs typeface="Times New Roman"/>
              </a:defRPr>
            </a:pPr>
            <a:r>
              <a:rPr sz="2200" b="0">
                <a:solidFill>
                  <a:srgbClr val="181818"/>
                </a:solidFill>
                <a:latin typeface="Times New Roman"/>
                <a:ea typeface="Times New Roman"/>
                <a:cs typeface="Times New Roman"/>
              </a:rPr>
              <a:t>Aproximación a 37 °C.</a:t>
            </a:r>
          </a:p>
          <a:p xmlns:a="http://schemas.openxmlformats.org/drawingml/2006/main">
            <a:pPr algn="l">
              <a:defRPr sz="2200" b="0">
                <a:solidFill>
                  <a:srgbClr val="181818"/>
                </a:solidFill>
                <a:latin typeface="Times New Roman"/>
                <a:ea typeface="Times New Roman"/>
                <a:cs typeface="Times New Roman"/>
              </a:defRPr>
            </a:pPr>
            <a:r>
              <a:rPr sz="2200" b="0">
                <a:solidFill>
                  <a:srgbClr val="181818"/>
                </a:solidFill>
                <a:latin typeface="Times New Roman"/>
                <a:ea typeface="Times New Roman"/>
                <a:cs typeface="Times New Roman"/>
              </a:rPr>
              <a:t>HCO₃⁻: mmol/L</a:t>
            </a:r>
          </a:p>
          <a:p xmlns:a="http://schemas.openxmlformats.org/drawingml/2006/main">
            <a:pPr algn="l">
              <a:defRPr sz="2200" b="0">
                <a:solidFill>
                  <a:srgbClr val="181818"/>
                </a:solidFill>
                <a:latin typeface="Times New Roman"/>
                <a:ea typeface="Times New Roman"/>
                <a:cs typeface="Times New Roman"/>
              </a:defRPr>
            </a:pPr>
            <a:r>
              <a:rPr sz="2200" b="0">
                <a:solidFill>
                  <a:srgbClr val="181818"/>
                </a:solidFill>
                <a:latin typeface="Times New Roman"/>
                <a:ea typeface="Times New Roman"/>
                <a:cs typeface="Times New Roman"/>
              </a:rPr>
              <a:t>PCO₂: mmHg</a:t>
            </a:r>
          </a:p>
        </p:txBody>
      </p:sp>
      <p:sp>
        <p:nvSpPr>
          <p:cNvPr id="8" name="text">
            <a:extLst xmlns:a="http://schemas.openxmlformats.org/drawingml/2006/main">
              <a:ext uri="{FF2B5EF4-FFF2-40B4-BE49-F238E27FC236}">
                <a16:creationId xmlns:a16="http://schemas.microsoft.com/office/drawing/2014/main" id="{806B7FC8-F223-439D-899B-87CD87C4C677}"/>
              </a:ext>
            </a:extLst>
          </p:cNvPr>
          <p:cNvSpPr>
            <a:spLocks xmlns:a="http://schemas.openxmlformats.org/drawingml/2006/main" noGrp="1"/>
          </p:cNvSpPr>
          <p:nvPr/>
        </p:nvSpPr>
        <p:spPr>
          <a:xfrm xmlns:a="http://schemas.openxmlformats.org/drawingml/2006/main">
            <a:off x="7915275" y="5410200"/>
            <a:ext cx="3667125"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00" b="1">
                <a:solidFill>
                  <a:srgbClr val="181818"/>
                </a:solidFill>
                <a:latin typeface="Times New Roman"/>
                <a:ea typeface="Times New Roman"/>
                <a:cs typeface="Times New Roman"/>
              </a:defRPr>
            </a:defPPr>
            <a:lvl1pPr algn="l">
              <a:defRPr sz="2200" b="1">
                <a:solidFill>
                  <a:srgbClr val="181818"/>
                </a:solidFill>
                <a:latin typeface="Times New Roman"/>
                <a:ea typeface="Times New Roman"/>
                <a:cs typeface="Times New Roman"/>
              </a:defRPr>
            </a:lvl1pPr>
            <a:lvl2pPr algn="l">
              <a:defRPr sz="2200" b="1">
                <a:solidFill>
                  <a:srgbClr val="181818"/>
                </a:solidFill>
                <a:latin typeface="Times New Roman"/>
                <a:ea typeface="Times New Roman"/>
                <a:cs typeface="Times New Roman"/>
              </a:defRPr>
            </a:lvl2pPr>
            <a:lvl3pPr algn="l">
              <a:defRPr sz="2200" b="1">
                <a:solidFill>
                  <a:srgbClr val="181818"/>
                </a:solidFill>
                <a:latin typeface="Times New Roman"/>
                <a:ea typeface="Times New Roman"/>
                <a:cs typeface="Times New Roman"/>
              </a:defRPr>
            </a:lvl3pPr>
            <a:lvl4pPr algn="l">
              <a:defRPr sz="2200" b="1">
                <a:solidFill>
                  <a:srgbClr val="181818"/>
                </a:solidFill>
                <a:latin typeface="Times New Roman"/>
                <a:ea typeface="Times New Roman"/>
                <a:cs typeface="Times New Roman"/>
              </a:defRPr>
            </a:lvl4pPr>
            <a:lvl5pPr algn="l">
              <a:defRPr sz="2200" b="1">
                <a:solidFill>
                  <a:srgbClr val="181818"/>
                </a:solidFill>
                <a:latin typeface="Times New Roman"/>
                <a:ea typeface="Times New Roman"/>
                <a:cs typeface="Times New Roman"/>
              </a:defRPr>
            </a:lvl5pPr>
            <a:lvl6pPr algn="l">
              <a:defRPr sz="2200" b="1">
                <a:solidFill>
                  <a:srgbClr val="181818"/>
                </a:solidFill>
                <a:latin typeface="Times New Roman"/>
                <a:ea typeface="Times New Roman"/>
                <a:cs typeface="Times New Roman"/>
              </a:defRPr>
            </a:lvl6pPr>
            <a:lvl7pPr algn="l">
              <a:defRPr sz="2200" b="1">
                <a:solidFill>
                  <a:srgbClr val="181818"/>
                </a:solidFill>
                <a:latin typeface="Times New Roman"/>
                <a:ea typeface="Times New Roman"/>
                <a:cs typeface="Times New Roman"/>
              </a:defRPr>
            </a:lvl7pPr>
            <a:lvl8pPr algn="l">
              <a:defRPr sz="2200" b="1">
                <a:solidFill>
                  <a:srgbClr val="181818"/>
                </a:solidFill>
                <a:latin typeface="Times New Roman"/>
                <a:ea typeface="Times New Roman"/>
                <a:cs typeface="Times New Roman"/>
              </a:defRPr>
            </a:lvl8pPr>
            <a:lvl9pPr algn="l">
              <a:defRPr sz="2200" b="1">
                <a:solidFill>
                  <a:srgbClr val="181818"/>
                </a:solidFill>
                <a:latin typeface="Times New Roman"/>
                <a:ea typeface="Times New Roman"/>
                <a:cs typeface="Times New Roman"/>
              </a:defRPr>
            </a:lvl9pPr>
          </a:lstStyle>
          <a:p xmlns:a="http://schemas.openxmlformats.org/drawingml/2006/main">
            <a:pPr algn="l">
              <a:defRPr sz="2200" b="1">
                <a:solidFill>
                  <a:srgbClr val="181818"/>
                </a:solidFill>
                <a:latin typeface="Times New Roman"/>
                <a:ea typeface="Times New Roman"/>
                <a:cs typeface="Times New Roman"/>
              </a:defRPr>
            </a:pPr>
            <a:r>
              <a:rPr sz="2200" b="1">
                <a:solidFill>
                  <a:srgbClr val="181818"/>
                </a:solidFill>
                <a:latin typeface="Times New Roman"/>
                <a:ea typeface="Times New Roman"/>
                <a:cs typeface="Times New Roman"/>
              </a:rPr>
              <a:t>Amortiguar limita el cambio.</a:t>
            </a:r>
          </a:p>
        </p:txBody>
      </p:sp>
    </p:spTree>
    <p:extLst>
      <p:ext uri="{BB962C8B-B14F-4D97-AF65-F5344CB8AC3E}">
        <p14:creationId xmlns:p14="http://schemas.microsoft.com/office/powerpoint/2010/main" val="149843080"/>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slide-title">
            <a:extLst xmlns:a="http://schemas.openxmlformats.org/drawingml/2006/main">
              <a:ext uri="{FF2B5EF4-FFF2-40B4-BE49-F238E27FC236}">
                <a16:creationId xmlns:a16="http://schemas.microsoft.com/office/drawing/2014/main" id="{D5825999-FD13-46FC-9870-81577FD72C9A}"/>
              </a:ext>
            </a:extLst>
          </p:cNvPr>
          <p:cNvSpPr>
            <a:spLocks xmlns:a="http://schemas.openxmlformats.org/drawingml/2006/main" noGrp="1"/>
          </p:cNvSpPr>
          <p:nvPr/>
        </p:nvSpPr>
        <p:spPr>
          <a:xfrm xmlns:a="http://schemas.openxmlformats.org/drawingml/2006/main">
            <a:off x="609600" y="390525"/>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400" b="1">
                <a:solidFill>
                  <a:srgbClr val="174A35"/>
                </a:solidFill>
                <a:latin typeface="Times New Roman"/>
                <a:ea typeface="Times New Roman"/>
                <a:cs typeface="Times New Roman"/>
              </a:defRPr>
            </a:defPPr>
            <a:lvl1pPr algn="l">
              <a:defRPr sz="3400" b="1">
                <a:solidFill>
                  <a:srgbClr val="174A35"/>
                </a:solidFill>
                <a:latin typeface="Times New Roman"/>
                <a:ea typeface="Times New Roman"/>
                <a:cs typeface="Times New Roman"/>
              </a:defRPr>
            </a:lvl1pPr>
            <a:lvl2pPr algn="l">
              <a:defRPr sz="3400" b="1">
                <a:solidFill>
                  <a:srgbClr val="174A35"/>
                </a:solidFill>
                <a:latin typeface="Times New Roman"/>
                <a:ea typeface="Times New Roman"/>
                <a:cs typeface="Times New Roman"/>
              </a:defRPr>
            </a:lvl2pPr>
            <a:lvl3pPr algn="l">
              <a:defRPr sz="3400" b="1">
                <a:solidFill>
                  <a:srgbClr val="174A35"/>
                </a:solidFill>
                <a:latin typeface="Times New Roman"/>
                <a:ea typeface="Times New Roman"/>
                <a:cs typeface="Times New Roman"/>
              </a:defRPr>
            </a:lvl3pPr>
            <a:lvl4pPr algn="l">
              <a:defRPr sz="3400" b="1">
                <a:solidFill>
                  <a:srgbClr val="174A35"/>
                </a:solidFill>
                <a:latin typeface="Times New Roman"/>
                <a:ea typeface="Times New Roman"/>
                <a:cs typeface="Times New Roman"/>
              </a:defRPr>
            </a:lvl4pPr>
            <a:lvl5pPr algn="l">
              <a:defRPr sz="3400" b="1">
                <a:solidFill>
                  <a:srgbClr val="174A35"/>
                </a:solidFill>
                <a:latin typeface="Times New Roman"/>
                <a:ea typeface="Times New Roman"/>
                <a:cs typeface="Times New Roman"/>
              </a:defRPr>
            </a:lvl5pPr>
            <a:lvl6pPr algn="l">
              <a:defRPr sz="3400" b="1">
                <a:solidFill>
                  <a:srgbClr val="174A35"/>
                </a:solidFill>
                <a:latin typeface="Times New Roman"/>
                <a:ea typeface="Times New Roman"/>
                <a:cs typeface="Times New Roman"/>
              </a:defRPr>
            </a:lvl6pPr>
            <a:lvl7pPr algn="l">
              <a:defRPr sz="3400" b="1">
                <a:solidFill>
                  <a:srgbClr val="174A35"/>
                </a:solidFill>
                <a:latin typeface="Times New Roman"/>
                <a:ea typeface="Times New Roman"/>
                <a:cs typeface="Times New Roman"/>
              </a:defRPr>
            </a:lvl7pPr>
            <a:lvl8pPr algn="l">
              <a:defRPr sz="3400" b="1">
                <a:solidFill>
                  <a:srgbClr val="174A35"/>
                </a:solidFill>
                <a:latin typeface="Times New Roman"/>
                <a:ea typeface="Times New Roman"/>
                <a:cs typeface="Times New Roman"/>
              </a:defRPr>
            </a:lvl8pPr>
            <a:lvl9pPr algn="l">
              <a:defRPr sz="3400" b="1">
                <a:solidFill>
                  <a:srgbClr val="174A35"/>
                </a:solidFill>
                <a:latin typeface="Times New Roman"/>
                <a:ea typeface="Times New Roman"/>
                <a:cs typeface="Times New Roman"/>
              </a:defRPr>
            </a:lvl9pPr>
          </a:lstStyle>
          <a:p xmlns:a="http://schemas.openxmlformats.org/drawingml/2006/main">
            <a:pPr algn="l">
              <a:defRPr sz="3400" b="1">
                <a:solidFill>
                  <a:srgbClr val="174A35"/>
                </a:solidFill>
                <a:latin typeface="Times New Roman"/>
                <a:ea typeface="Times New Roman"/>
                <a:cs typeface="Times New Roman"/>
              </a:defRPr>
            </a:pPr>
            <a:r>
              <a:rPr sz="3400" b="1">
                <a:solidFill>
                  <a:srgbClr val="174A35"/>
                </a:solidFill>
                <a:latin typeface="Times New Roman"/>
                <a:ea typeface="Times New Roman"/>
                <a:cs typeface="Times New Roman"/>
              </a:rPr>
              <a:t>Regulación pulmonar</a:t>
            </a:r>
          </a:p>
        </p:txBody>
      </p:sp>
      <p:sp>
        <p:nvSpPr>
          <p:cNvPr id="2" name="page-number">
            <a:extLst xmlns:a="http://schemas.openxmlformats.org/drawingml/2006/main">
              <a:ext uri="{FF2B5EF4-FFF2-40B4-BE49-F238E27FC236}">
                <a16:creationId xmlns:a16="http://schemas.microsoft.com/office/drawing/2014/main" id="{F18A425C-F565-4896-A040-678FEA1DA516}"/>
              </a:ext>
            </a:extLst>
          </p:cNvPr>
          <p:cNvSpPr>
            <a:spLocks xmlns:a="http://schemas.openxmlformats.org/drawingml/2006/main" noGrp="1"/>
          </p:cNvSpPr>
          <p:nvPr/>
        </p:nvSpPr>
        <p:spPr>
          <a:xfrm xmlns:a="http://schemas.openxmlformats.org/drawingml/2006/main">
            <a:off x="11077575" y="64198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00" b="0">
                <a:solidFill>
                  <a:srgbClr val="367653"/>
                </a:solidFill>
                <a:latin typeface="Times New Roman"/>
                <a:ea typeface="Times New Roman"/>
                <a:cs typeface="Times New Roman"/>
              </a:defRPr>
            </a:defPPr>
            <a:lvl1pPr algn="r">
              <a:defRPr sz="1200" b="0">
                <a:solidFill>
                  <a:srgbClr val="367653"/>
                </a:solidFill>
                <a:latin typeface="Times New Roman"/>
                <a:ea typeface="Times New Roman"/>
                <a:cs typeface="Times New Roman"/>
              </a:defRPr>
            </a:lvl1pPr>
            <a:lvl2pPr algn="r">
              <a:defRPr sz="1200" b="0">
                <a:solidFill>
                  <a:srgbClr val="367653"/>
                </a:solidFill>
                <a:latin typeface="Times New Roman"/>
                <a:ea typeface="Times New Roman"/>
                <a:cs typeface="Times New Roman"/>
              </a:defRPr>
            </a:lvl2pPr>
            <a:lvl3pPr algn="r">
              <a:defRPr sz="1200" b="0">
                <a:solidFill>
                  <a:srgbClr val="367653"/>
                </a:solidFill>
                <a:latin typeface="Times New Roman"/>
                <a:ea typeface="Times New Roman"/>
                <a:cs typeface="Times New Roman"/>
              </a:defRPr>
            </a:lvl3pPr>
            <a:lvl4pPr algn="r">
              <a:defRPr sz="1200" b="0">
                <a:solidFill>
                  <a:srgbClr val="367653"/>
                </a:solidFill>
                <a:latin typeface="Times New Roman"/>
                <a:ea typeface="Times New Roman"/>
                <a:cs typeface="Times New Roman"/>
              </a:defRPr>
            </a:lvl4pPr>
            <a:lvl5pPr algn="r">
              <a:defRPr sz="1200" b="0">
                <a:solidFill>
                  <a:srgbClr val="367653"/>
                </a:solidFill>
                <a:latin typeface="Times New Roman"/>
                <a:ea typeface="Times New Roman"/>
                <a:cs typeface="Times New Roman"/>
              </a:defRPr>
            </a:lvl5pPr>
            <a:lvl6pPr algn="r">
              <a:defRPr sz="1200" b="0">
                <a:solidFill>
                  <a:srgbClr val="367653"/>
                </a:solidFill>
                <a:latin typeface="Times New Roman"/>
                <a:ea typeface="Times New Roman"/>
                <a:cs typeface="Times New Roman"/>
              </a:defRPr>
            </a:lvl6pPr>
            <a:lvl7pPr algn="r">
              <a:defRPr sz="1200" b="0">
                <a:solidFill>
                  <a:srgbClr val="367653"/>
                </a:solidFill>
                <a:latin typeface="Times New Roman"/>
                <a:ea typeface="Times New Roman"/>
                <a:cs typeface="Times New Roman"/>
              </a:defRPr>
            </a:lvl7pPr>
            <a:lvl8pPr algn="r">
              <a:defRPr sz="1200" b="0">
                <a:solidFill>
                  <a:srgbClr val="367653"/>
                </a:solidFill>
                <a:latin typeface="Times New Roman"/>
                <a:ea typeface="Times New Roman"/>
                <a:cs typeface="Times New Roman"/>
              </a:defRPr>
            </a:lvl8pPr>
            <a:lvl9pPr algn="r">
              <a:defRPr sz="1200" b="0">
                <a:solidFill>
                  <a:srgbClr val="367653"/>
                </a:solidFill>
                <a:latin typeface="Times New Roman"/>
                <a:ea typeface="Times New Roman"/>
                <a:cs typeface="Times New Roman"/>
              </a:defRPr>
            </a:lvl9pPr>
          </a:lstStyle>
          <a:p xmlns:a="http://schemas.openxmlformats.org/drawingml/2006/main">
            <a:pPr algn="r">
              <a:defRPr sz="1200" b="0">
                <a:solidFill>
                  <a:srgbClr val="367653"/>
                </a:solidFill>
                <a:latin typeface="Times New Roman"/>
                <a:ea typeface="Times New Roman"/>
                <a:cs typeface="Times New Roman"/>
              </a:defRPr>
            </a:pPr>
            <a:r>
              <a:rPr sz="1200" b="0">
                <a:solidFill>
                  <a:srgbClr val="367653"/>
                </a:solidFill>
                <a:latin typeface="Times New Roman"/>
                <a:ea typeface="Times New Roman"/>
                <a:cs typeface="Times New Roman"/>
              </a:rPr>
              <a:t>06</a:t>
            </a:r>
          </a:p>
        </p:txBody>
      </p:sp>
      <p:sp>
        <p:nvSpPr>
          <p:cNvPr id="3" name="sources">
            <a:extLst xmlns:a="http://schemas.openxmlformats.org/drawingml/2006/main">
              <a:ext uri="{FF2B5EF4-FFF2-40B4-BE49-F238E27FC236}">
                <a16:creationId xmlns:a16="http://schemas.microsoft.com/office/drawing/2014/main" id="{27DCFA18-8BED-4E59-8360-C0295AE3C359}"/>
              </a:ext>
            </a:extLst>
          </p:cNvPr>
          <p:cNvSpPr>
            <a:spLocks xmlns:a="http://schemas.openxmlformats.org/drawingml/2006/main" noGrp="1"/>
          </p:cNvSpPr>
          <p:nvPr/>
        </p:nvSpPr>
        <p:spPr>
          <a:xfrm xmlns:a="http://schemas.openxmlformats.org/drawingml/2006/main">
            <a:off x="609600" y="6419850"/>
            <a:ext cx="10287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200" b="0">
                <a:solidFill>
                  <a:srgbClr val="515151"/>
                </a:solidFill>
                <a:latin typeface="Times New Roman"/>
                <a:ea typeface="Times New Roman"/>
                <a:cs typeface="Times New Roman"/>
              </a:defRPr>
            </a:defPPr>
            <a:lvl1pPr algn="l">
              <a:defRPr sz="1200" b="0">
                <a:solidFill>
                  <a:srgbClr val="515151"/>
                </a:solidFill>
                <a:latin typeface="Times New Roman"/>
                <a:ea typeface="Times New Roman"/>
                <a:cs typeface="Times New Roman"/>
              </a:defRPr>
            </a:lvl1pPr>
            <a:lvl2pPr algn="l">
              <a:defRPr sz="1200" b="0">
                <a:solidFill>
                  <a:srgbClr val="515151"/>
                </a:solidFill>
                <a:latin typeface="Times New Roman"/>
                <a:ea typeface="Times New Roman"/>
                <a:cs typeface="Times New Roman"/>
              </a:defRPr>
            </a:lvl2pPr>
            <a:lvl3pPr algn="l">
              <a:defRPr sz="1200" b="0">
                <a:solidFill>
                  <a:srgbClr val="515151"/>
                </a:solidFill>
                <a:latin typeface="Times New Roman"/>
                <a:ea typeface="Times New Roman"/>
                <a:cs typeface="Times New Roman"/>
              </a:defRPr>
            </a:lvl3pPr>
            <a:lvl4pPr algn="l">
              <a:defRPr sz="1200" b="0">
                <a:solidFill>
                  <a:srgbClr val="515151"/>
                </a:solidFill>
                <a:latin typeface="Times New Roman"/>
                <a:ea typeface="Times New Roman"/>
                <a:cs typeface="Times New Roman"/>
              </a:defRPr>
            </a:lvl4pPr>
            <a:lvl5pPr algn="l">
              <a:defRPr sz="1200" b="0">
                <a:solidFill>
                  <a:srgbClr val="515151"/>
                </a:solidFill>
                <a:latin typeface="Times New Roman"/>
                <a:ea typeface="Times New Roman"/>
                <a:cs typeface="Times New Roman"/>
              </a:defRPr>
            </a:lvl5pPr>
            <a:lvl6pPr algn="l">
              <a:defRPr sz="1200" b="0">
                <a:solidFill>
                  <a:srgbClr val="515151"/>
                </a:solidFill>
                <a:latin typeface="Times New Roman"/>
                <a:ea typeface="Times New Roman"/>
                <a:cs typeface="Times New Roman"/>
              </a:defRPr>
            </a:lvl6pPr>
            <a:lvl7pPr algn="l">
              <a:defRPr sz="1200" b="0">
                <a:solidFill>
                  <a:srgbClr val="515151"/>
                </a:solidFill>
                <a:latin typeface="Times New Roman"/>
                <a:ea typeface="Times New Roman"/>
                <a:cs typeface="Times New Roman"/>
              </a:defRPr>
            </a:lvl7pPr>
            <a:lvl8pPr algn="l">
              <a:defRPr sz="1200" b="0">
                <a:solidFill>
                  <a:srgbClr val="515151"/>
                </a:solidFill>
                <a:latin typeface="Times New Roman"/>
                <a:ea typeface="Times New Roman"/>
                <a:cs typeface="Times New Roman"/>
              </a:defRPr>
            </a:lvl8pPr>
            <a:lvl9pPr algn="l">
              <a:defRPr sz="1200" b="0">
                <a:solidFill>
                  <a:srgbClr val="515151"/>
                </a:solidFill>
                <a:latin typeface="Times New Roman"/>
                <a:ea typeface="Times New Roman"/>
                <a:cs typeface="Times New Roman"/>
              </a:defRPr>
            </a:lvl9pPr>
          </a:lstStyle>
          <a:p xmlns:a="http://schemas.openxmlformats.org/drawingml/2006/main">
            <a:pPr algn="l">
              <a:defRPr sz="1200" b="0">
                <a:solidFill>
                  <a:srgbClr val="515151"/>
                </a:solidFill>
                <a:latin typeface="Times New Roman"/>
                <a:ea typeface="Times New Roman"/>
                <a:cs typeface="Times New Roman"/>
              </a:defRPr>
            </a:pPr>
            <a:r>
              <a:rPr sz="1200" b="0">
                <a:solidFill>
                  <a:srgbClr val="515151"/>
                </a:solidFill>
                <a:latin typeface="Times New Roman"/>
                <a:ea typeface="Times New Roman"/>
                <a:cs typeface="Times New Roman"/>
              </a:rPr>
              <a:t>Fuentes: [4] [5]</a:t>
            </a:r>
          </a:p>
        </p:txBody>
      </p:sp>
      <p:pic>
        <p:nvPicPr>
          <p:cNvPr id="4" name="">
            <a:extLst xmlns:a="http://schemas.openxmlformats.org/drawingml/2006/main">
              <a:ext uri="{FF2B5EF4-FFF2-40B4-BE49-F238E27FC236}">
                <a16:creationId xmlns:a16="http://schemas.microsoft.com/office/drawing/2014/main" id="{96736F11-644C-4671-8651-9480FBEC3348}"/>
              </a:ext>
            </a:extLst>
          </p:cNvPr>
          <p:cNvPicPr>
            <a:picLocks xmlns:a="http://schemas.openxmlformats.org/drawingml/2006/main" noChangeAspect="1"/>
          </p:cNvPicPr>
          <p:nvPr/>
        </p:nvPicPr>
        <p:blipFill>
          <a:blip xmlns:r="http://schemas.openxmlformats.org/officeDocument/2006/relationships" xmlns:a="http://schemas.openxmlformats.org/drawingml/2006/main" r:embed="R303f175439f14f48"/>
          <a:stretch xmlns:a="http://schemas.openxmlformats.org/drawingml/2006/main"/>
        </p:blipFill>
        <p:spPr>
          <a:xfrm xmlns:a="http://schemas.openxmlformats.org/drawingml/2006/main">
            <a:off x="609600" y="1582738"/>
            <a:ext cx="6953250" cy="4635500"/>
          </a:xfrm>
          <a:prstGeom xmlns:a="http://schemas.openxmlformats.org/drawingml/2006/main" prst="rect">
            <a:avLst/>
          </a:prstGeom>
        </p:spPr>
      </p:pic>
      <p:sp>
        <p:nvSpPr>
          <p:cNvPr id="5" name="text">
            <a:extLst xmlns:a="http://schemas.openxmlformats.org/drawingml/2006/main">
              <a:ext uri="{FF2B5EF4-FFF2-40B4-BE49-F238E27FC236}">
                <a16:creationId xmlns:a16="http://schemas.microsoft.com/office/drawing/2014/main" id="{9C8A7EF7-4E63-4025-BA83-2CF2A23B17C6}"/>
              </a:ext>
            </a:extLst>
          </p:cNvPr>
          <p:cNvSpPr>
            <a:spLocks xmlns:a="http://schemas.openxmlformats.org/drawingml/2006/main" noGrp="1"/>
          </p:cNvSpPr>
          <p:nvPr/>
        </p:nvSpPr>
        <p:spPr>
          <a:xfrm xmlns:a="http://schemas.openxmlformats.org/drawingml/2006/main">
            <a:off x="7915275" y="1600200"/>
            <a:ext cx="3667125" cy="790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400" b="1">
                <a:solidFill>
                  <a:srgbClr val="367653"/>
                </a:solidFill>
                <a:latin typeface="Times New Roman"/>
                <a:ea typeface="Times New Roman"/>
                <a:cs typeface="Times New Roman"/>
              </a:defRPr>
            </a:defPPr>
            <a:lvl1pPr algn="l">
              <a:defRPr sz="2400" b="1">
                <a:solidFill>
                  <a:srgbClr val="367653"/>
                </a:solidFill>
                <a:latin typeface="Times New Roman"/>
                <a:ea typeface="Times New Roman"/>
                <a:cs typeface="Times New Roman"/>
              </a:defRPr>
            </a:lvl1pPr>
            <a:lvl2pPr algn="l">
              <a:defRPr sz="2400" b="1">
                <a:solidFill>
                  <a:srgbClr val="367653"/>
                </a:solidFill>
                <a:latin typeface="Times New Roman"/>
                <a:ea typeface="Times New Roman"/>
                <a:cs typeface="Times New Roman"/>
              </a:defRPr>
            </a:lvl2pPr>
            <a:lvl3pPr algn="l">
              <a:defRPr sz="2400" b="1">
                <a:solidFill>
                  <a:srgbClr val="367653"/>
                </a:solidFill>
                <a:latin typeface="Times New Roman"/>
                <a:ea typeface="Times New Roman"/>
                <a:cs typeface="Times New Roman"/>
              </a:defRPr>
            </a:lvl3pPr>
            <a:lvl4pPr algn="l">
              <a:defRPr sz="2400" b="1">
                <a:solidFill>
                  <a:srgbClr val="367653"/>
                </a:solidFill>
                <a:latin typeface="Times New Roman"/>
                <a:ea typeface="Times New Roman"/>
                <a:cs typeface="Times New Roman"/>
              </a:defRPr>
            </a:lvl4pPr>
            <a:lvl5pPr algn="l">
              <a:defRPr sz="2400" b="1">
                <a:solidFill>
                  <a:srgbClr val="367653"/>
                </a:solidFill>
                <a:latin typeface="Times New Roman"/>
                <a:ea typeface="Times New Roman"/>
                <a:cs typeface="Times New Roman"/>
              </a:defRPr>
            </a:lvl5pPr>
            <a:lvl6pPr algn="l">
              <a:defRPr sz="2400" b="1">
                <a:solidFill>
                  <a:srgbClr val="367653"/>
                </a:solidFill>
                <a:latin typeface="Times New Roman"/>
                <a:ea typeface="Times New Roman"/>
                <a:cs typeface="Times New Roman"/>
              </a:defRPr>
            </a:lvl6pPr>
            <a:lvl7pPr algn="l">
              <a:defRPr sz="2400" b="1">
                <a:solidFill>
                  <a:srgbClr val="367653"/>
                </a:solidFill>
                <a:latin typeface="Times New Roman"/>
                <a:ea typeface="Times New Roman"/>
                <a:cs typeface="Times New Roman"/>
              </a:defRPr>
            </a:lvl7pPr>
            <a:lvl8pPr algn="l">
              <a:defRPr sz="2400" b="1">
                <a:solidFill>
                  <a:srgbClr val="367653"/>
                </a:solidFill>
                <a:latin typeface="Times New Roman"/>
                <a:ea typeface="Times New Roman"/>
                <a:cs typeface="Times New Roman"/>
              </a:defRPr>
            </a:lvl8pPr>
            <a:lvl9pPr algn="l">
              <a:defRPr sz="2400" b="1">
                <a:solidFill>
                  <a:srgbClr val="367653"/>
                </a:solidFill>
                <a:latin typeface="Times New Roman"/>
                <a:ea typeface="Times New Roman"/>
                <a:cs typeface="Times New Roman"/>
              </a:defRPr>
            </a:lvl9pPr>
          </a:lstStyle>
          <a:p xmlns:a="http://schemas.openxmlformats.org/drawingml/2006/main">
            <a:pPr algn="l">
              <a:defRPr sz="2400" b="1">
                <a:solidFill>
                  <a:srgbClr val="367653"/>
                </a:solidFill>
                <a:latin typeface="Times New Roman"/>
                <a:ea typeface="Times New Roman"/>
                <a:cs typeface="Times New Roman"/>
              </a:defRPr>
            </a:pPr>
            <a:r>
              <a:rPr sz="2400" b="1">
                <a:solidFill>
                  <a:srgbClr val="367653"/>
                </a:solidFill>
                <a:latin typeface="Times New Roman"/>
                <a:ea typeface="Times New Roman"/>
                <a:cs typeface="Times New Roman"/>
              </a:rPr>
              <a:t>Producción de CO₂ constante</a:t>
            </a:r>
          </a:p>
        </p:txBody>
      </p:sp>
      <p:graphicFrame>
        <p:nvGraphicFramePr>
          <p:cNvPr id="6" name="">
            <a:extLst xmlns:a="http://schemas.openxmlformats.org/drawingml/2006/main">
              <a:ext uri="{FF2B5EF4-FFF2-40B4-BE49-F238E27FC236}">
                <a16:creationId xmlns:a16="http://schemas.microsoft.com/office/drawing/2014/main" id="{E686B72D-F50F-4079-B412-95F1C65B0F67}"/>
              </a:ext>
            </a:extLst>
          </p:cNvPr>
          <p:cNvGraphicFramePr/>
          <p:nvPr/>
        </p:nvGraphicFramePr>
        <p:xfrm>
          <a:off xmlns:a="http://schemas.openxmlformats.org/drawingml/2006/main" x="7915275" y="2609850"/>
          <a:ext xmlns:a="http://schemas.openxmlformats.org/drawingml/2006/main" cx="3667125" cy="2438400"/>
        </p:xfrm>
        <a:graphic xmlns:a="http://schemas.openxmlformats.org/drawingml/2006/main">
          <a:graphicData uri="http://schemas.openxmlformats.org/drawingml/2006/table">
            <a:tbl>
              <a:tblPr firstRow="1" bandRow="0"/>
              <a:tblGrid>
                <a:gridCol w="1809750"/>
                <a:gridCol w="1857375"/>
              </a:tblGrid>
              <a:tr h="609600">
                <a:tc>
                  <a:txBody>
                    <a:bodyPr wrap="square">
                      <a:noAutofit/>
                    </a:bodyPr>
                    <a:lstStyle/>
                    <a:p>
                      <a:pPr algn="l"/>
                      <a:r>
                        <a:rPr sz="2000" b="1">
                          <a:solidFill>
                            <a:srgbClr val="FFFFFF"/>
                          </a:solidFill>
                          <a:latin typeface="Times New Roman"/>
                          <a:ea typeface="Times New Roman"/>
                          <a:cs typeface="Times New Roman"/>
                        </a:rPr>
                        <a:t>V̇A relativa</a:t>
                      </a:r>
                    </a:p>
                  </a:txBody>
                  <a:tcPr marL="142875" marR="142875" marT="114300" marB="95250" anchor="ctr">
                    <a:lnL w="19050">
                      <a:solidFill>
                        <a:srgbClr val="FFFFFF"/>
                      </a:solidFill>
                      <a:prstDash val="solid"/>
                    </a:lnL>
                    <a:lnR w="19050">
                      <a:solidFill>
                        <a:srgbClr val="FFFFFF"/>
                      </a:solidFill>
                      <a:prstDash val="solid"/>
                    </a:lnR>
                    <a:lnT w="19050">
                      <a:solidFill>
                        <a:srgbClr val="FFFFFF"/>
                      </a:solidFill>
                      <a:prstDash val="solid"/>
                    </a:lnT>
                    <a:lnB w="19050">
                      <a:solidFill>
                        <a:srgbClr val="FFFFFF"/>
                      </a:solidFill>
                      <a:prstDash val="solid"/>
                    </a:lnB>
                    <a:solidFill>
                      <a:srgbClr val="174A35"/>
                    </a:solidFill>
                  </a:tcPr>
                </a:tc>
                <a:tc>
                  <a:txBody>
                    <a:bodyPr wrap="square">
                      <a:noAutofit/>
                    </a:bodyPr>
                    <a:lstStyle/>
                    <a:p>
                      <a:pPr algn="l"/>
                      <a:r>
                        <a:rPr sz="2000" b="1">
                          <a:solidFill>
                            <a:srgbClr val="FFFFFF"/>
                          </a:solidFill>
                          <a:latin typeface="Times New Roman"/>
                          <a:ea typeface="Times New Roman"/>
                          <a:cs typeface="Times New Roman"/>
                        </a:rPr>
                        <a:t>PCO₂</a:t>
                      </a:r>
                    </a:p>
                  </a:txBody>
                  <a:tcPr marL="142875" marR="142875" marT="114300" marB="95250" anchor="ctr">
                    <a:lnR w="19050">
                      <a:solidFill>
                        <a:srgbClr val="FFFFFF"/>
                      </a:solidFill>
                      <a:prstDash val="solid"/>
                    </a:lnR>
                    <a:lnT w="19050">
                      <a:solidFill>
                        <a:srgbClr val="FFFFFF"/>
                      </a:solidFill>
                      <a:prstDash val="solid"/>
                    </a:lnT>
                    <a:lnB w="19050">
                      <a:solidFill>
                        <a:srgbClr val="FFFFFF"/>
                      </a:solidFill>
                      <a:prstDash val="solid"/>
                    </a:lnB>
                    <a:solidFill>
                      <a:srgbClr val="174A35"/>
                    </a:solidFill>
                  </a:tcPr>
                </a:tc>
              </a:tr>
              <a:tr h="609600">
                <a:tc>
                  <a:txBody>
                    <a:bodyPr wrap="square">
                      <a:noAutofit/>
                    </a:bodyPr>
                    <a:lstStyle/>
                    <a:p>
                      <a:pPr algn="l"/>
                      <a:r>
                        <a:rPr sz="2000" b="0">
                          <a:solidFill>
                            <a:srgbClr val="181818"/>
                          </a:solidFill>
                          <a:latin typeface="Times New Roman"/>
                          <a:ea typeface="Times New Roman"/>
                          <a:cs typeface="Times New Roman"/>
                        </a:rPr>
                        <a:t>50 %</a:t>
                      </a:r>
                    </a:p>
                  </a:txBody>
                  <a:tcPr marL="142875" marR="142875" marT="114300" marB="95250" anchor="ctr">
                    <a:lnL w="19050">
                      <a:solidFill>
                        <a:srgbClr val="FFFFFF"/>
                      </a:solidFill>
                      <a:prstDash val="solid"/>
                    </a:lnL>
                    <a:lnR w="19050">
                      <a:solidFill>
                        <a:srgbClr val="FFFFFF"/>
                      </a:solidFill>
                      <a:prstDash val="solid"/>
                    </a:lnR>
                    <a:lnB w="19050">
                      <a:solidFill>
                        <a:srgbClr val="FFFFFF"/>
                      </a:solidFill>
                      <a:prstDash val="solid"/>
                    </a:lnB>
                    <a:solidFill>
                      <a:srgbClr val="F0F5EF"/>
                    </a:solidFill>
                  </a:tcPr>
                </a:tc>
                <a:tc>
                  <a:txBody>
                    <a:bodyPr wrap="square">
                      <a:noAutofit/>
                    </a:bodyPr>
                    <a:lstStyle/>
                    <a:p>
                      <a:pPr algn="l"/>
                      <a:r>
                        <a:rPr sz="2000" b="0">
                          <a:solidFill>
                            <a:srgbClr val="181818"/>
                          </a:solidFill>
                          <a:latin typeface="Times New Roman"/>
                          <a:ea typeface="Times New Roman"/>
                          <a:cs typeface="Times New Roman"/>
                        </a:rPr>
                        <a:t>80 mmHg</a:t>
                      </a:r>
                    </a:p>
                  </a:txBody>
                  <a:tcPr marL="142875" marR="142875" marT="114300" marB="95250" anchor="ctr">
                    <a:lnR w="19050">
                      <a:solidFill>
                        <a:srgbClr val="FFFFFF"/>
                      </a:solidFill>
                      <a:prstDash val="solid"/>
                    </a:lnR>
                    <a:lnB w="19050">
                      <a:solidFill>
                        <a:srgbClr val="FFFFFF"/>
                      </a:solidFill>
                      <a:prstDash val="solid"/>
                    </a:lnB>
                    <a:solidFill>
                      <a:srgbClr val="F0F5EF"/>
                    </a:solidFill>
                  </a:tcPr>
                </a:tc>
              </a:tr>
              <a:tr h="609600">
                <a:tc>
                  <a:txBody>
                    <a:bodyPr wrap="square">
                      <a:noAutofit/>
                    </a:bodyPr>
                    <a:lstStyle/>
                    <a:p>
                      <a:pPr algn="l"/>
                      <a:r>
                        <a:rPr sz="2000" b="0">
                          <a:solidFill>
                            <a:srgbClr val="181818"/>
                          </a:solidFill>
                          <a:latin typeface="Times New Roman"/>
                          <a:ea typeface="Times New Roman"/>
                          <a:cs typeface="Times New Roman"/>
                        </a:rPr>
                        <a:t>100 %</a:t>
                      </a:r>
                    </a:p>
                  </a:txBody>
                  <a:tcPr marL="142875" marR="142875" marT="114300" marB="95250" anchor="ctr">
                    <a:lnL w="19050">
                      <a:solidFill>
                        <a:srgbClr val="FFFFFF"/>
                      </a:solidFill>
                      <a:prstDash val="solid"/>
                    </a:lnL>
                    <a:lnR w="19050">
                      <a:solidFill>
                        <a:srgbClr val="FFFFFF"/>
                      </a:solidFill>
                      <a:prstDash val="solid"/>
                    </a:lnR>
                    <a:lnB w="19050">
                      <a:solidFill>
                        <a:srgbClr val="FFFFFF"/>
                      </a:solidFill>
                      <a:prstDash val="solid"/>
                    </a:lnB>
                    <a:solidFill>
                      <a:srgbClr val="FFFFFF"/>
                    </a:solidFill>
                  </a:tcPr>
                </a:tc>
                <a:tc>
                  <a:txBody>
                    <a:bodyPr wrap="square">
                      <a:noAutofit/>
                    </a:bodyPr>
                    <a:lstStyle/>
                    <a:p>
                      <a:pPr algn="l"/>
                      <a:r>
                        <a:rPr sz="2000" b="0">
                          <a:solidFill>
                            <a:srgbClr val="181818"/>
                          </a:solidFill>
                          <a:latin typeface="Times New Roman"/>
                          <a:ea typeface="Times New Roman"/>
                          <a:cs typeface="Times New Roman"/>
                        </a:rPr>
                        <a:t>40 mmHg</a:t>
                      </a:r>
                    </a:p>
                  </a:txBody>
                  <a:tcPr marL="142875" marR="142875" marT="114300" marB="95250" anchor="ctr">
                    <a:lnR w="19050">
                      <a:solidFill>
                        <a:srgbClr val="FFFFFF"/>
                      </a:solidFill>
                      <a:prstDash val="solid"/>
                    </a:lnR>
                    <a:lnB w="19050">
                      <a:solidFill>
                        <a:srgbClr val="FFFFFF"/>
                      </a:solidFill>
                      <a:prstDash val="solid"/>
                    </a:lnB>
                    <a:solidFill>
                      <a:srgbClr val="FFFFFF"/>
                    </a:solidFill>
                  </a:tcPr>
                </a:tc>
              </a:tr>
              <a:tr h="609600">
                <a:tc>
                  <a:txBody>
                    <a:bodyPr wrap="square">
                      <a:noAutofit/>
                    </a:bodyPr>
                    <a:lstStyle/>
                    <a:p>
                      <a:pPr algn="l"/>
                      <a:r>
                        <a:rPr sz="2000" b="0">
                          <a:solidFill>
                            <a:srgbClr val="181818"/>
                          </a:solidFill>
                          <a:latin typeface="Times New Roman"/>
                          <a:ea typeface="Times New Roman"/>
                          <a:cs typeface="Times New Roman"/>
                        </a:rPr>
                        <a:t>150 %</a:t>
                      </a:r>
                    </a:p>
                  </a:txBody>
                  <a:tcPr marL="142875" marR="142875" marT="114300" marB="95250" anchor="ctr">
                    <a:lnL w="19050">
                      <a:solidFill>
                        <a:srgbClr val="FFFFFF"/>
                      </a:solidFill>
                      <a:prstDash val="solid"/>
                    </a:lnL>
                    <a:lnR w="19050">
                      <a:solidFill>
                        <a:srgbClr val="FFFFFF"/>
                      </a:solidFill>
                      <a:prstDash val="solid"/>
                    </a:lnR>
                    <a:lnB w="19050">
                      <a:solidFill>
                        <a:srgbClr val="FFFFFF"/>
                      </a:solidFill>
                      <a:prstDash val="solid"/>
                    </a:lnB>
                    <a:solidFill>
                      <a:srgbClr val="F0F5EF"/>
                    </a:solidFill>
                  </a:tcPr>
                </a:tc>
                <a:tc>
                  <a:txBody>
                    <a:bodyPr wrap="square">
                      <a:noAutofit/>
                    </a:bodyPr>
                    <a:lstStyle/>
                    <a:p>
                      <a:pPr algn="l"/>
                      <a:r>
                        <a:rPr sz="2000" b="0">
                          <a:solidFill>
                            <a:srgbClr val="181818"/>
                          </a:solidFill>
                          <a:latin typeface="Times New Roman"/>
                          <a:ea typeface="Times New Roman"/>
                          <a:cs typeface="Times New Roman"/>
                        </a:rPr>
                        <a:t>26,7 mmHg</a:t>
                      </a:r>
                    </a:p>
                  </a:txBody>
                  <a:tcPr marL="142875" marR="142875" marT="114300" marB="95250" anchor="ctr">
                    <a:lnR w="19050">
                      <a:solidFill>
                        <a:srgbClr val="FFFFFF"/>
                      </a:solidFill>
                      <a:prstDash val="solid"/>
                    </a:lnR>
                    <a:lnB w="19050">
                      <a:solidFill>
                        <a:srgbClr val="FFFFFF"/>
                      </a:solidFill>
                      <a:prstDash val="solid"/>
                    </a:lnB>
                    <a:solidFill>
                      <a:srgbClr val="F0F5EF"/>
                    </a:solidFill>
                  </a:tcPr>
                </a:tc>
              </a:tr>
            </a:tbl>
          </a:graphicData>
        </a:graphic>
      </p:graphicFrame>
      <p:sp>
        <p:nvSpPr>
          <p:cNvPr id="7" name="text">
            <a:extLst xmlns:a="http://schemas.openxmlformats.org/drawingml/2006/main">
              <a:ext uri="{FF2B5EF4-FFF2-40B4-BE49-F238E27FC236}">
                <a16:creationId xmlns:a16="http://schemas.microsoft.com/office/drawing/2014/main" id="{B58558ED-42BF-4E2B-A9D0-BE49CBA5C7D5}"/>
              </a:ext>
            </a:extLst>
          </p:cNvPr>
          <p:cNvSpPr>
            <a:spLocks xmlns:a="http://schemas.openxmlformats.org/drawingml/2006/main" noGrp="1"/>
          </p:cNvSpPr>
          <p:nvPr/>
        </p:nvSpPr>
        <p:spPr>
          <a:xfrm xmlns:a="http://schemas.openxmlformats.org/drawingml/2006/main">
            <a:off x="7915275" y="5457825"/>
            <a:ext cx="3667125"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500" b="0">
                <a:solidFill>
                  <a:srgbClr val="515151"/>
                </a:solidFill>
                <a:latin typeface="Times New Roman"/>
                <a:ea typeface="Times New Roman"/>
                <a:cs typeface="Times New Roman"/>
              </a:defRPr>
            </a:defPPr>
            <a:lvl1pPr algn="l">
              <a:defRPr sz="1500" b="0">
                <a:solidFill>
                  <a:srgbClr val="515151"/>
                </a:solidFill>
                <a:latin typeface="Times New Roman"/>
                <a:ea typeface="Times New Roman"/>
                <a:cs typeface="Times New Roman"/>
              </a:defRPr>
            </a:lvl1pPr>
            <a:lvl2pPr algn="l">
              <a:defRPr sz="1500" b="0">
                <a:solidFill>
                  <a:srgbClr val="515151"/>
                </a:solidFill>
                <a:latin typeface="Times New Roman"/>
                <a:ea typeface="Times New Roman"/>
                <a:cs typeface="Times New Roman"/>
              </a:defRPr>
            </a:lvl2pPr>
            <a:lvl3pPr algn="l">
              <a:defRPr sz="1500" b="0">
                <a:solidFill>
                  <a:srgbClr val="515151"/>
                </a:solidFill>
                <a:latin typeface="Times New Roman"/>
                <a:ea typeface="Times New Roman"/>
                <a:cs typeface="Times New Roman"/>
              </a:defRPr>
            </a:lvl3pPr>
            <a:lvl4pPr algn="l">
              <a:defRPr sz="1500" b="0">
                <a:solidFill>
                  <a:srgbClr val="515151"/>
                </a:solidFill>
                <a:latin typeface="Times New Roman"/>
                <a:ea typeface="Times New Roman"/>
                <a:cs typeface="Times New Roman"/>
              </a:defRPr>
            </a:lvl4pPr>
            <a:lvl5pPr algn="l">
              <a:defRPr sz="1500" b="0">
                <a:solidFill>
                  <a:srgbClr val="515151"/>
                </a:solidFill>
                <a:latin typeface="Times New Roman"/>
                <a:ea typeface="Times New Roman"/>
                <a:cs typeface="Times New Roman"/>
              </a:defRPr>
            </a:lvl5pPr>
            <a:lvl6pPr algn="l">
              <a:defRPr sz="1500" b="0">
                <a:solidFill>
                  <a:srgbClr val="515151"/>
                </a:solidFill>
                <a:latin typeface="Times New Roman"/>
                <a:ea typeface="Times New Roman"/>
                <a:cs typeface="Times New Roman"/>
              </a:defRPr>
            </a:lvl6pPr>
            <a:lvl7pPr algn="l">
              <a:defRPr sz="1500" b="0">
                <a:solidFill>
                  <a:srgbClr val="515151"/>
                </a:solidFill>
                <a:latin typeface="Times New Roman"/>
                <a:ea typeface="Times New Roman"/>
                <a:cs typeface="Times New Roman"/>
              </a:defRPr>
            </a:lvl7pPr>
            <a:lvl8pPr algn="l">
              <a:defRPr sz="1500" b="0">
                <a:solidFill>
                  <a:srgbClr val="515151"/>
                </a:solidFill>
                <a:latin typeface="Times New Roman"/>
                <a:ea typeface="Times New Roman"/>
                <a:cs typeface="Times New Roman"/>
              </a:defRPr>
            </a:lvl8pPr>
            <a:lvl9pPr algn="l">
              <a:defRPr sz="1500" b="0">
                <a:solidFill>
                  <a:srgbClr val="515151"/>
                </a:solidFill>
                <a:latin typeface="Times New Roman"/>
                <a:ea typeface="Times New Roman"/>
                <a:cs typeface="Times New Roman"/>
              </a:defRPr>
            </a:lvl9pPr>
          </a:lstStyle>
          <a:p xmlns:a="http://schemas.openxmlformats.org/drawingml/2006/main">
            <a:pPr algn="l">
              <a:defRPr sz="1500" b="0">
                <a:solidFill>
                  <a:srgbClr val="515151"/>
                </a:solidFill>
                <a:latin typeface="Times New Roman"/>
                <a:ea typeface="Times New Roman"/>
                <a:cs typeface="Times New Roman"/>
              </a:defRPr>
            </a:pPr>
            <a:r>
              <a:rPr sz="1500" b="0">
                <a:solidFill>
                  <a:srgbClr val="515151"/>
                </a:solidFill>
                <a:latin typeface="Times New Roman"/>
                <a:ea typeface="Times New Roman"/>
                <a:cs typeface="Times New Roman"/>
              </a:rPr>
              <a:t>V̇A: ventilación alveolar.</a:t>
            </a:r>
          </a:p>
          <a:p xmlns:a="http://schemas.openxmlformats.org/drawingml/2006/main">
            <a:pPr algn="l">
              <a:defRPr sz="1500" b="0">
                <a:solidFill>
                  <a:srgbClr val="515151"/>
                </a:solidFill>
                <a:latin typeface="Times New Roman"/>
                <a:ea typeface="Times New Roman"/>
                <a:cs typeface="Times New Roman"/>
              </a:defRPr>
            </a:pPr>
            <a:r>
              <a:rPr sz="1500" b="0">
                <a:solidFill>
                  <a:srgbClr val="515151"/>
                </a:solidFill>
                <a:latin typeface="Times New Roman"/>
                <a:ea typeface="Times New Roman"/>
                <a:cs typeface="Times New Roman"/>
              </a:rPr>
              <a:t>Comparación entre estados estacionarios.</a:t>
            </a:r>
          </a:p>
        </p:txBody>
      </p:sp>
    </p:spTree>
    <p:extLst>
      <p:ext uri="{BB962C8B-B14F-4D97-AF65-F5344CB8AC3E}">
        <p14:creationId xmlns:p14="http://schemas.microsoft.com/office/powerpoint/2010/main" val="1370808732"/>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lide-title">
            <a:extLst xmlns:a="http://schemas.openxmlformats.org/drawingml/2006/main">
              <a:ext uri="{FF2B5EF4-FFF2-40B4-BE49-F238E27FC236}">
                <a16:creationId xmlns:a16="http://schemas.microsoft.com/office/drawing/2014/main" id="{FA071D71-732B-40AE-A301-6D32A48E470A}"/>
              </a:ext>
            </a:extLst>
          </p:cNvPr>
          <p:cNvSpPr>
            <a:spLocks xmlns:a="http://schemas.openxmlformats.org/drawingml/2006/main" noGrp="1"/>
          </p:cNvSpPr>
          <p:nvPr/>
        </p:nvSpPr>
        <p:spPr>
          <a:xfrm xmlns:a="http://schemas.openxmlformats.org/drawingml/2006/main">
            <a:off x="609600" y="390525"/>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400" b="1">
                <a:solidFill>
                  <a:srgbClr val="174A35"/>
                </a:solidFill>
                <a:latin typeface="Times New Roman"/>
                <a:ea typeface="Times New Roman"/>
                <a:cs typeface="Times New Roman"/>
              </a:defRPr>
            </a:defPPr>
            <a:lvl1pPr algn="l">
              <a:defRPr sz="3400" b="1">
                <a:solidFill>
                  <a:srgbClr val="174A35"/>
                </a:solidFill>
                <a:latin typeface="Times New Roman"/>
                <a:ea typeface="Times New Roman"/>
                <a:cs typeface="Times New Roman"/>
              </a:defRPr>
            </a:lvl1pPr>
            <a:lvl2pPr algn="l">
              <a:defRPr sz="3400" b="1">
                <a:solidFill>
                  <a:srgbClr val="174A35"/>
                </a:solidFill>
                <a:latin typeface="Times New Roman"/>
                <a:ea typeface="Times New Roman"/>
                <a:cs typeface="Times New Roman"/>
              </a:defRPr>
            </a:lvl2pPr>
            <a:lvl3pPr algn="l">
              <a:defRPr sz="3400" b="1">
                <a:solidFill>
                  <a:srgbClr val="174A35"/>
                </a:solidFill>
                <a:latin typeface="Times New Roman"/>
                <a:ea typeface="Times New Roman"/>
                <a:cs typeface="Times New Roman"/>
              </a:defRPr>
            </a:lvl3pPr>
            <a:lvl4pPr algn="l">
              <a:defRPr sz="3400" b="1">
                <a:solidFill>
                  <a:srgbClr val="174A35"/>
                </a:solidFill>
                <a:latin typeface="Times New Roman"/>
                <a:ea typeface="Times New Roman"/>
                <a:cs typeface="Times New Roman"/>
              </a:defRPr>
            </a:lvl4pPr>
            <a:lvl5pPr algn="l">
              <a:defRPr sz="3400" b="1">
                <a:solidFill>
                  <a:srgbClr val="174A35"/>
                </a:solidFill>
                <a:latin typeface="Times New Roman"/>
                <a:ea typeface="Times New Roman"/>
                <a:cs typeface="Times New Roman"/>
              </a:defRPr>
            </a:lvl5pPr>
            <a:lvl6pPr algn="l">
              <a:defRPr sz="3400" b="1">
                <a:solidFill>
                  <a:srgbClr val="174A35"/>
                </a:solidFill>
                <a:latin typeface="Times New Roman"/>
                <a:ea typeface="Times New Roman"/>
                <a:cs typeface="Times New Roman"/>
              </a:defRPr>
            </a:lvl6pPr>
            <a:lvl7pPr algn="l">
              <a:defRPr sz="3400" b="1">
                <a:solidFill>
                  <a:srgbClr val="174A35"/>
                </a:solidFill>
                <a:latin typeface="Times New Roman"/>
                <a:ea typeface="Times New Roman"/>
                <a:cs typeface="Times New Roman"/>
              </a:defRPr>
            </a:lvl7pPr>
            <a:lvl8pPr algn="l">
              <a:defRPr sz="3400" b="1">
                <a:solidFill>
                  <a:srgbClr val="174A35"/>
                </a:solidFill>
                <a:latin typeface="Times New Roman"/>
                <a:ea typeface="Times New Roman"/>
                <a:cs typeface="Times New Roman"/>
              </a:defRPr>
            </a:lvl8pPr>
            <a:lvl9pPr algn="l">
              <a:defRPr sz="3400" b="1">
                <a:solidFill>
                  <a:srgbClr val="174A35"/>
                </a:solidFill>
                <a:latin typeface="Times New Roman"/>
                <a:ea typeface="Times New Roman"/>
                <a:cs typeface="Times New Roman"/>
              </a:defRPr>
            </a:lvl9pPr>
          </a:lstStyle>
          <a:p xmlns:a="http://schemas.openxmlformats.org/drawingml/2006/main">
            <a:pPr algn="l">
              <a:defRPr sz="3400" b="1">
                <a:solidFill>
                  <a:srgbClr val="174A35"/>
                </a:solidFill>
                <a:latin typeface="Times New Roman"/>
                <a:ea typeface="Times New Roman"/>
                <a:cs typeface="Times New Roman"/>
              </a:defRPr>
            </a:pPr>
            <a:r>
              <a:rPr sz="3400" b="1">
                <a:solidFill>
                  <a:srgbClr val="174A35"/>
                </a:solidFill>
                <a:latin typeface="Times New Roman"/>
                <a:ea typeface="Times New Roman"/>
                <a:cs typeface="Times New Roman"/>
              </a:rPr>
              <a:t>Regulación renal</a:t>
            </a:r>
          </a:p>
        </p:txBody>
      </p:sp>
      <p:sp>
        <p:nvSpPr>
          <p:cNvPr id="2" name="page-number">
            <a:extLst xmlns:a="http://schemas.openxmlformats.org/drawingml/2006/main">
              <a:ext uri="{FF2B5EF4-FFF2-40B4-BE49-F238E27FC236}">
                <a16:creationId xmlns:a16="http://schemas.microsoft.com/office/drawing/2014/main" id="{EA267D82-1AB7-47B1-8F55-22C0F4A9B451}"/>
              </a:ext>
            </a:extLst>
          </p:cNvPr>
          <p:cNvSpPr>
            <a:spLocks xmlns:a="http://schemas.openxmlformats.org/drawingml/2006/main" noGrp="1"/>
          </p:cNvSpPr>
          <p:nvPr/>
        </p:nvSpPr>
        <p:spPr>
          <a:xfrm xmlns:a="http://schemas.openxmlformats.org/drawingml/2006/main">
            <a:off x="11077575" y="64198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00" b="0">
                <a:solidFill>
                  <a:srgbClr val="367653"/>
                </a:solidFill>
                <a:latin typeface="Times New Roman"/>
                <a:ea typeface="Times New Roman"/>
                <a:cs typeface="Times New Roman"/>
              </a:defRPr>
            </a:defPPr>
            <a:lvl1pPr algn="r">
              <a:defRPr sz="1200" b="0">
                <a:solidFill>
                  <a:srgbClr val="367653"/>
                </a:solidFill>
                <a:latin typeface="Times New Roman"/>
                <a:ea typeface="Times New Roman"/>
                <a:cs typeface="Times New Roman"/>
              </a:defRPr>
            </a:lvl1pPr>
            <a:lvl2pPr algn="r">
              <a:defRPr sz="1200" b="0">
                <a:solidFill>
                  <a:srgbClr val="367653"/>
                </a:solidFill>
                <a:latin typeface="Times New Roman"/>
                <a:ea typeface="Times New Roman"/>
                <a:cs typeface="Times New Roman"/>
              </a:defRPr>
            </a:lvl2pPr>
            <a:lvl3pPr algn="r">
              <a:defRPr sz="1200" b="0">
                <a:solidFill>
                  <a:srgbClr val="367653"/>
                </a:solidFill>
                <a:latin typeface="Times New Roman"/>
                <a:ea typeface="Times New Roman"/>
                <a:cs typeface="Times New Roman"/>
              </a:defRPr>
            </a:lvl3pPr>
            <a:lvl4pPr algn="r">
              <a:defRPr sz="1200" b="0">
                <a:solidFill>
                  <a:srgbClr val="367653"/>
                </a:solidFill>
                <a:latin typeface="Times New Roman"/>
                <a:ea typeface="Times New Roman"/>
                <a:cs typeface="Times New Roman"/>
              </a:defRPr>
            </a:lvl4pPr>
            <a:lvl5pPr algn="r">
              <a:defRPr sz="1200" b="0">
                <a:solidFill>
                  <a:srgbClr val="367653"/>
                </a:solidFill>
                <a:latin typeface="Times New Roman"/>
                <a:ea typeface="Times New Roman"/>
                <a:cs typeface="Times New Roman"/>
              </a:defRPr>
            </a:lvl5pPr>
            <a:lvl6pPr algn="r">
              <a:defRPr sz="1200" b="0">
                <a:solidFill>
                  <a:srgbClr val="367653"/>
                </a:solidFill>
                <a:latin typeface="Times New Roman"/>
                <a:ea typeface="Times New Roman"/>
                <a:cs typeface="Times New Roman"/>
              </a:defRPr>
            </a:lvl6pPr>
            <a:lvl7pPr algn="r">
              <a:defRPr sz="1200" b="0">
                <a:solidFill>
                  <a:srgbClr val="367653"/>
                </a:solidFill>
                <a:latin typeface="Times New Roman"/>
                <a:ea typeface="Times New Roman"/>
                <a:cs typeface="Times New Roman"/>
              </a:defRPr>
            </a:lvl7pPr>
            <a:lvl8pPr algn="r">
              <a:defRPr sz="1200" b="0">
                <a:solidFill>
                  <a:srgbClr val="367653"/>
                </a:solidFill>
                <a:latin typeface="Times New Roman"/>
                <a:ea typeface="Times New Roman"/>
                <a:cs typeface="Times New Roman"/>
              </a:defRPr>
            </a:lvl8pPr>
            <a:lvl9pPr algn="r">
              <a:defRPr sz="1200" b="0">
                <a:solidFill>
                  <a:srgbClr val="367653"/>
                </a:solidFill>
                <a:latin typeface="Times New Roman"/>
                <a:ea typeface="Times New Roman"/>
                <a:cs typeface="Times New Roman"/>
              </a:defRPr>
            </a:lvl9pPr>
          </a:lstStyle>
          <a:p xmlns:a="http://schemas.openxmlformats.org/drawingml/2006/main">
            <a:pPr algn="r">
              <a:defRPr sz="1200" b="0">
                <a:solidFill>
                  <a:srgbClr val="367653"/>
                </a:solidFill>
                <a:latin typeface="Times New Roman"/>
                <a:ea typeface="Times New Roman"/>
                <a:cs typeface="Times New Roman"/>
              </a:defRPr>
            </a:pPr>
            <a:r>
              <a:rPr sz="1200" b="0">
                <a:solidFill>
                  <a:srgbClr val="367653"/>
                </a:solidFill>
                <a:latin typeface="Times New Roman"/>
                <a:ea typeface="Times New Roman"/>
                <a:cs typeface="Times New Roman"/>
              </a:rPr>
              <a:t>07</a:t>
            </a:r>
          </a:p>
        </p:txBody>
      </p:sp>
      <p:sp>
        <p:nvSpPr>
          <p:cNvPr id="3" name="sources">
            <a:extLst xmlns:a="http://schemas.openxmlformats.org/drawingml/2006/main">
              <a:ext uri="{FF2B5EF4-FFF2-40B4-BE49-F238E27FC236}">
                <a16:creationId xmlns:a16="http://schemas.microsoft.com/office/drawing/2014/main" id="{F7AF9B4F-9DCE-4289-9633-C21920BC394A}"/>
              </a:ext>
            </a:extLst>
          </p:cNvPr>
          <p:cNvSpPr>
            <a:spLocks xmlns:a="http://schemas.openxmlformats.org/drawingml/2006/main" noGrp="1"/>
          </p:cNvSpPr>
          <p:nvPr/>
        </p:nvSpPr>
        <p:spPr>
          <a:xfrm xmlns:a="http://schemas.openxmlformats.org/drawingml/2006/main">
            <a:off x="609600" y="6419850"/>
            <a:ext cx="10287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200" b="0">
                <a:solidFill>
                  <a:srgbClr val="515151"/>
                </a:solidFill>
                <a:latin typeface="Times New Roman"/>
                <a:ea typeface="Times New Roman"/>
                <a:cs typeface="Times New Roman"/>
              </a:defRPr>
            </a:defPPr>
            <a:lvl1pPr algn="l">
              <a:defRPr sz="1200" b="0">
                <a:solidFill>
                  <a:srgbClr val="515151"/>
                </a:solidFill>
                <a:latin typeface="Times New Roman"/>
                <a:ea typeface="Times New Roman"/>
                <a:cs typeface="Times New Roman"/>
              </a:defRPr>
            </a:lvl1pPr>
            <a:lvl2pPr algn="l">
              <a:defRPr sz="1200" b="0">
                <a:solidFill>
                  <a:srgbClr val="515151"/>
                </a:solidFill>
                <a:latin typeface="Times New Roman"/>
                <a:ea typeface="Times New Roman"/>
                <a:cs typeface="Times New Roman"/>
              </a:defRPr>
            </a:lvl2pPr>
            <a:lvl3pPr algn="l">
              <a:defRPr sz="1200" b="0">
                <a:solidFill>
                  <a:srgbClr val="515151"/>
                </a:solidFill>
                <a:latin typeface="Times New Roman"/>
                <a:ea typeface="Times New Roman"/>
                <a:cs typeface="Times New Roman"/>
              </a:defRPr>
            </a:lvl3pPr>
            <a:lvl4pPr algn="l">
              <a:defRPr sz="1200" b="0">
                <a:solidFill>
                  <a:srgbClr val="515151"/>
                </a:solidFill>
                <a:latin typeface="Times New Roman"/>
                <a:ea typeface="Times New Roman"/>
                <a:cs typeface="Times New Roman"/>
              </a:defRPr>
            </a:lvl4pPr>
            <a:lvl5pPr algn="l">
              <a:defRPr sz="1200" b="0">
                <a:solidFill>
                  <a:srgbClr val="515151"/>
                </a:solidFill>
                <a:latin typeface="Times New Roman"/>
                <a:ea typeface="Times New Roman"/>
                <a:cs typeface="Times New Roman"/>
              </a:defRPr>
            </a:lvl5pPr>
            <a:lvl6pPr algn="l">
              <a:defRPr sz="1200" b="0">
                <a:solidFill>
                  <a:srgbClr val="515151"/>
                </a:solidFill>
                <a:latin typeface="Times New Roman"/>
                <a:ea typeface="Times New Roman"/>
                <a:cs typeface="Times New Roman"/>
              </a:defRPr>
            </a:lvl6pPr>
            <a:lvl7pPr algn="l">
              <a:defRPr sz="1200" b="0">
                <a:solidFill>
                  <a:srgbClr val="515151"/>
                </a:solidFill>
                <a:latin typeface="Times New Roman"/>
                <a:ea typeface="Times New Roman"/>
                <a:cs typeface="Times New Roman"/>
              </a:defRPr>
            </a:lvl7pPr>
            <a:lvl8pPr algn="l">
              <a:defRPr sz="1200" b="0">
                <a:solidFill>
                  <a:srgbClr val="515151"/>
                </a:solidFill>
                <a:latin typeface="Times New Roman"/>
                <a:ea typeface="Times New Roman"/>
                <a:cs typeface="Times New Roman"/>
              </a:defRPr>
            </a:lvl8pPr>
            <a:lvl9pPr algn="l">
              <a:defRPr sz="1200" b="0">
                <a:solidFill>
                  <a:srgbClr val="515151"/>
                </a:solidFill>
                <a:latin typeface="Times New Roman"/>
                <a:ea typeface="Times New Roman"/>
                <a:cs typeface="Times New Roman"/>
              </a:defRPr>
            </a:lvl9pPr>
          </a:lstStyle>
          <a:p xmlns:a="http://schemas.openxmlformats.org/drawingml/2006/main">
            <a:pPr algn="l">
              <a:defRPr sz="1200" b="0">
                <a:solidFill>
                  <a:srgbClr val="515151"/>
                </a:solidFill>
                <a:latin typeface="Times New Roman"/>
                <a:ea typeface="Times New Roman"/>
                <a:cs typeface="Times New Roman"/>
              </a:defRPr>
            </a:pPr>
            <a:r>
              <a:rPr sz="1200" b="0">
                <a:solidFill>
                  <a:srgbClr val="515151"/>
                </a:solidFill>
                <a:latin typeface="Times New Roman"/>
                <a:ea typeface="Times New Roman"/>
                <a:cs typeface="Times New Roman"/>
              </a:rPr>
              <a:t>Fuentes: [6]</a:t>
            </a:r>
          </a:p>
        </p:txBody>
      </p:sp>
      <p:pic>
        <p:nvPicPr>
          <p:cNvPr id="4" name="">
            <a:extLst xmlns:a="http://schemas.openxmlformats.org/drawingml/2006/main">
              <a:ext uri="{FF2B5EF4-FFF2-40B4-BE49-F238E27FC236}">
                <a16:creationId xmlns:a16="http://schemas.microsoft.com/office/drawing/2014/main" id="{CDDD9BF2-EE0A-4027-8794-41754E4DFFAB}"/>
              </a:ext>
            </a:extLst>
          </p:cNvPr>
          <p:cNvPicPr>
            <a:picLocks xmlns:a="http://schemas.openxmlformats.org/drawingml/2006/main" noChangeAspect="1"/>
          </p:cNvPicPr>
          <p:nvPr/>
        </p:nvPicPr>
        <p:blipFill>
          <a:blip xmlns:r="http://schemas.openxmlformats.org/officeDocument/2006/relationships" xmlns:a="http://schemas.openxmlformats.org/drawingml/2006/main" r:embed="R487e3612ae7041e9"/>
          <a:stretch xmlns:a="http://schemas.openxmlformats.org/drawingml/2006/main"/>
        </p:blipFill>
        <p:spPr>
          <a:xfrm xmlns:a="http://schemas.openxmlformats.org/drawingml/2006/main">
            <a:off x="609600" y="1582738"/>
            <a:ext cx="6953250" cy="4635500"/>
          </a:xfrm>
          <a:prstGeom xmlns:a="http://schemas.openxmlformats.org/drawingml/2006/main" prst="rect">
            <a:avLst/>
          </a:prstGeom>
        </p:spPr>
      </p:pic>
      <p:sp>
        <p:nvSpPr>
          <p:cNvPr id="5" name="text">
            <a:extLst xmlns:a="http://schemas.openxmlformats.org/drawingml/2006/main">
              <a:ext uri="{FF2B5EF4-FFF2-40B4-BE49-F238E27FC236}">
                <a16:creationId xmlns:a16="http://schemas.microsoft.com/office/drawing/2014/main" id="{ABB727D4-F08F-4359-9291-CB75E8087777}"/>
              </a:ext>
            </a:extLst>
          </p:cNvPr>
          <p:cNvSpPr>
            <a:spLocks xmlns:a="http://schemas.openxmlformats.org/drawingml/2006/main" noGrp="1"/>
          </p:cNvSpPr>
          <p:nvPr/>
        </p:nvSpPr>
        <p:spPr>
          <a:xfrm xmlns:a="http://schemas.openxmlformats.org/drawingml/2006/main">
            <a:off x="7915275" y="1685925"/>
            <a:ext cx="3667125"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400" b="1">
                <a:solidFill>
                  <a:srgbClr val="367653"/>
                </a:solidFill>
                <a:latin typeface="Times New Roman"/>
                <a:ea typeface="Times New Roman"/>
                <a:cs typeface="Times New Roman"/>
              </a:defRPr>
            </a:defPPr>
            <a:lvl1pPr algn="l">
              <a:defRPr sz="2400" b="1">
                <a:solidFill>
                  <a:srgbClr val="367653"/>
                </a:solidFill>
                <a:latin typeface="Times New Roman"/>
                <a:ea typeface="Times New Roman"/>
                <a:cs typeface="Times New Roman"/>
              </a:defRPr>
            </a:lvl1pPr>
            <a:lvl2pPr algn="l">
              <a:defRPr sz="2400" b="1">
                <a:solidFill>
                  <a:srgbClr val="367653"/>
                </a:solidFill>
                <a:latin typeface="Times New Roman"/>
                <a:ea typeface="Times New Roman"/>
                <a:cs typeface="Times New Roman"/>
              </a:defRPr>
            </a:lvl2pPr>
            <a:lvl3pPr algn="l">
              <a:defRPr sz="2400" b="1">
                <a:solidFill>
                  <a:srgbClr val="367653"/>
                </a:solidFill>
                <a:latin typeface="Times New Roman"/>
                <a:ea typeface="Times New Roman"/>
                <a:cs typeface="Times New Roman"/>
              </a:defRPr>
            </a:lvl3pPr>
            <a:lvl4pPr algn="l">
              <a:defRPr sz="2400" b="1">
                <a:solidFill>
                  <a:srgbClr val="367653"/>
                </a:solidFill>
                <a:latin typeface="Times New Roman"/>
                <a:ea typeface="Times New Roman"/>
                <a:cs typeface="Times New Roman"/>
              </a:defRPr>
            </a:lvl4pPr>
            <a:lvl5pPr algn="l">
              <a:defRPr sz="2400" b="1">
                <a:solidFill>
                  <a:srgbClr val="367653"/>
                </a:solidFill>
                <a:latin typeface="Times New Roman"/>
                <a:ea typeface="Times New Roman"/>
                <a:cs typeface="Times New Roman"/>
              </a:defRPr>
            </a:lvl5pPr>
            <a:lvl6pPr algn="l">
              <a:defRPr sz="2400" b="1">
                <a:solidFill>
                  <a:srgbClr val="367653"/>
                </a:solidFill>
                <a:latin typeface="Times New Roman"/>
                <a:ea typeface="Times New Roman"/>
                <a:cs typeface="Times New Roman"/>
              </a:defRPr>
            </a:lvl6pPr>
            <a:lvl7pPr algn="l">
              <a:defRPr sz="2400" b="1">
                <a:solidFill>
                  <a:srgbClr val="367653"/>
                </a:solidFill>
                <a:latin typeface="Times New Roman"/>
                <a:ea typeface="Times New Roman"/>
                <a:cs typeface="Times New Roman"/>
              </a:defRPr>
            </a:lvl7pPr>
            <a:lvl8pPr algn="l">
              <a:defRPr sz="2400" b="1">
                <a:solidFill>
                  <a:srgbClr val="367653"/>
                </a:solidFill>
                <a:latin typeface="Times New Roman"/>
                <a:ea typeface="Times New Roman"/>
                <a:cs typeface="Times New Roman"/>
              </a:defRPr>
            </a:lvl8pPr>
            <a:lvl9pPr algn="l">
              <a:defRPr sz="2400" b="1">
                <a:solidFill>
                  <a:srgbClr val="367653"/>
                </a:solidFill>
                <a:latin typeface="Times New Roman"/>
                <a:ea typeface="Times New Roman"/>
                <a:cs typeface="Times New Roman"/>
              </a:defRPr>
            </a:lvl9pPr>
          </a:lstStyle>
          <a:p xmlns:a="http://schemas.openxmlformats.org/drawingml/2006/main">
            <a:pPr algn="l">
              <a:defRPr sz="2400" b="1">
                <a:solidFill>
                  <a:srgbClr val="367653"/>
                </a:solidFill>
                <a:latin typeface="Times New Roman"/>
                <a:ea typeface="Times New Roman"/>
                <a:cs typeface="Times New Roman"/>
              </a:defRPr>
            </a:pPr>
            <a:r>
              <a:rPr sz="2400" b="1">
                <a:solidFill>
                  <a:srgbClr val="367653"/>
                </a:solidFill>
                <a:latin typeface="Times New Roman"/>
                <a:ea typeface="Times New Roman"/>
                <a:cs typeface="Times New Roman"/>
              </a:rPr>
              <a:t>Conservar base</a:t>
            </a:r>
          </a:p>
        </p:txBody>
      </p:sp>
      <p:sp>
        <p:nvSpPr>
          <p:cNvPr id="6" name="text">
            <a:extLst xmlns:a="http://schemas.openxmlformats.org/drawingml/2006/main">
              <a:ext uri="{FF2B5EF4-FFF2-40B4-BE49-F238E27FC236}">
                <a16:creationId xmlns:a16="http://schemas.microsoft.com/office/drawing/2014/main" id="{44808C8C-98A5-4E55-87DF-5691BDDDEFB6}"/>
              </a:ext>
            </a:extLst>
          </p:cNvPr>
          <p:cNvSpPr>
            <a:spLocks xmlns:a="http://schemas.openxmlformats.org/drawingml/2006/main" noGrp="1"/>
          </p:cNvSpPr>
          <p:nvPr/>
        </p:nvSpPr>
        <p:spPr>
          <a:xfrm xmlns:a="http://schemas.openxmlformats.org/drawingml/2006/main">
            <a:off x="7915275" y="2343150"/>
            <a:ext cx="3667125"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00" b="0">
                <a:solidFill>
                  <a:srgbClr val="181818"/>
                </a:solidFill>
                <a:latin typeface="Times New Roman"/>
                <a:ea typeface="Times New Roman"/>
                <a:cs typeface="Times New Roman"/>
              </a:defRPr>
            </a:defPPr>
            <a:lvl1pPr algn="l">
              <a:defRPr sz="2200" b="0">
                <a:solidFill>
                  <a:srgbClr val="181818"/>
                </a:solidFill>
                <a:latin typeface="Times New Roman"/>
                <a:ea typeface="Times New Roman"/>
                <a:cs typeface="Times New Roman"/>
              </a:defRPr>
            </a:lvl1pPr>
            <a:lvl2pPr algn="l">
              <a:defRPr sz="2200" b="0">
                <a:solidFill>
                  <a:srgbClr val="181818"/>
                </a:solidFill>
                <a:latin typeface="Times New Roman"/>
                <a:ea typeface="Times New Roman"/>
                <a:cs typeface="Times New Roman"/>
              </a:defRPr>
            </a:lvl2pPr>
            <a:lvl3pPr algn="l">
              <a:defRPr sz="2200" b="0">
                <a:solidFill>
                  <a:srgbClr val="181818"/>
                </a:solidFill>
                <a:latin typeface="Times New Roman"/>
                <a:ea typeface="Times New Roman"/>
                <a:cs typeface="Times New Roman"/>
              </a:defRPr>
            </a:lvl3pPr>
            <a:lvl4pPr algn="l">
              <a:defRPr sz="2200" b="0">
                <a:solidFill>
                  <a:srgbClr val="181818"/>
                </a:solidFill>
                <a:latin typeface="Times New Roman"/>
                <a:ea typeface="Times New Roman"/>
                <a:cs typeface="Times New Roman"/>
              </a:defRPr>
            </a:lvl4pPr>
            <a:lvl5pPr algn="l">
              <a:defRPr sz="2200" b="0">
                <a:solidFill>
                  <a:srgbClr val="181818"/>
                </a:solidFill>
                <a:latin typeface="Times New Roman"/>
                <a:ea typeface="Times New Roman"/>
                <a:cs typeface="Times New Roman"/>
              </a:defRPr>
            </a:lvl5pPr>
            <a:lvl6pPr algn="l">
              <a:defRPr sz="2200" b="0">
                <a:solidFill>
                  <a:srgbClr val="181818"/>
                </a:solidFill>
                <a:latin typeface="Times New Roman"/>
                <a:ea typeface="Times New Roman"/>
                <a:cs typeface="Times New Roman"/>
              </a:defRPr>
            </a:lvl6pPr>
            <a:lvl7pPr algn="l">
              <a:defRPr sz="2200" b="0">
                <a:solidFill>
                  <a:srgbClr val="181818"/>
                </a:solidFill>
                <a:latin typeface="Times New Roman"/>
                <a:ea typeface="Times New Roman"/>
                <a:cs typeface="Times New Roman"/>
              </a:defRPr>
            </a:lvl7pPr>
            <a:lvl8pPr algn="l">
              <a:defRPr sz="2200" b="0">
                <a:solidFill>
                  <a:srgbClr val="181818"/>
                </a:solidFill>
                <a:latin typeface="Times New Roman"/>
                <a:ea typeface="Times New Roman"/>
                <a:cs typeface="Times New Roman"/>
              </a:defRPr>
            </a:lvl8pPr>
            <a:lvl9pPr algn="l">
              <a:defRPr sz="2200" b="0">
                <a:solidFill>
                  <a:srgbClr val="181818"/>
                </a:solidFill>
                <a:latin typeface="Times New Roman"/>
                <a:ea typeface="Times New Roman"/>
                <a:cs typeface="Times New Roman"/>
              </a:defRPr>
            </a:lvl9pPr>
          </a:lstStyle>
          <a:p xmlns:a="http://schemas.openxmlformats.org/drawingml/2006/main">
            <a:pPr algn="l">
              <a:defRPr sz="2200" b="0">
                <a:solidFill>
                  <a:srgbClr val="181818"/>
                </a:solidFill>
                <a:latin typeface="Times New Roman"/>
                <a:ea typeface="Times New Roman"/>
                <a:cs typeface="Times New Roman"/>
              </a:defRPr>
            </a:pPr>
            <a:r>
              <a:rPr sz="2200" b="0">
                <a:solidFill>
                  <a:srgbClr val="181818"/>
                </a:solidFill>
                <a:latin typeface="Times New Roman"/>
                <a:ea typeface="Times New Roman"/>
                <a:cs typeface="Times New Roman"/>
              </a:rPr>
              <a:t>Recuperar el HCO₃⁻ filtrado evita su pérdida.</a:t>
            </a:r>
          </a:p>
        </p:txBody>
      </p:sp>
      <p:sp>
        <p:nvSpPr>
          <p:cNvPr id="7" name="text">
            <a:extLst xmlns:a="http://schemas.openxmlformats.org/drawingml/2006/main">
              <a:ext uri="{FF2B5EF4-FFF2-40B4-BE49-F238E27FC236}">
                <a16:creationId xmlns:a16="http://schemas.microsoft.com/office/drawing/2014/main" id="{9FF0B521-A43E-4A5E-A567-C27F7F0703D2}"/>
              </a:ext>
            </a:extLst>
          </p:cNvPr>
          <p:cNvSpPr>
            <a:spLocks xmlns:a="http://schemas.openxmlformats.org/drawingml/2006/main" noGrp="1"/>
          </p:cNvSpPr>
          <p:nvPr/>
        </p:nvSpPr>
        <p:spPr>
          <a:xfrm xmlns:a="http://schemas.openxmlformats.org/drawingml/2006/main">
            <a:off x="7915275" y="3829050"/>
            <a:ext cx="3667125"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400" b="1">
                <a:solidFill>
                  <a:srgbClr val="367653"/>
                </a:solidFill>
                <a:latin typeface="Times New Roman"/>
                <a:ea typeface="Times New Roman"/>
                <a:cs typeface="Times New Roman"/>
              </a:defRPr>
            </a:defPPr>
            <a:lvl1pPr algn="l">
              <a:defRPr sz="2400" b="1">
                <a:solidFill>
                  <a:srgbClr val="367653"/>
                </a:solidFill>
                <a:latin typeface="Times New Roman"/>
                <a:ea typeface="Times New Roman"/>
                <a:cs typeface="Times New Roman"/>
              </a:defRPr>
            </a:lvl1pPr>
            <a:lvl2pPr algn="l">
              <a:defRPr sz="2400" b="1">
                <a:solidFill>
                  <a:srgbClr val="367653"/>
                </a:solidFill>
                <a:latin typeface="Times New Roman"/>
                <a:ea typeface="Times New Roman"/>
                <a:cs typeface="Times New Roman"/>
              </a:defRPr>
            </a:lvl2pPr>
            <a:lvl3pPr algn="l">
              <a:defRPr sz="2400" b="1">
                <a:solidFill>
                  <a:srgbClr val="367653"/>
                </a:solidFill>
                <a:latin typeface="Times New Roman"/>
                <a:ea typeface="Times New Roman"/>
                <a:cs typeface="Times New Roman"/>
              </a:defRPr>
            </a:lvl3pPr>
            <a:lvl4pPr algn="l">
              <a:defRPr sz="2400" b="1">
                <a:solidFill>
                  <a:srgbClr val="367653"/>
                </a:solidFill>
                <a:latin typeface="Times New Roman"/>
                <a:ea typeface="Times New Roman"/>
                <a:cs typeface="Times New Roman"/>
              </a:defRPr>
            </a:lvl4pPr>
            <a:lvl5pPr algn="l">
              <a:defRPr sz="2400" b="1">
                <a:solidFill>
                  <a:srgbClr val="367653"/>
                </a:solidFill>
                <a:latin typeface="Times New Roman"/>
                <a:ea typeface="Times New Roman"/>
                <a:cs typeface="Times New Roman"/>
              </a:defRPr>
            </a:lvl5pPr>
            <a:lvl6pPr algn="l">
              <a:defRPr sz="2400" b="1">
                <a:solidFill>
                  <a:srgbClr val="367653"/>
                </a:solidFill>
                <a:latin typeface="Times New Roman"/>
                <a:ea typeface="Times New Roman"/>
                <a:cs typeface="Times New Roman"/>
              </a:defRPr>
            </a:lvl6pPr>
            <a:lvl7pPr algn="l">
              <a:defRPr sz="2400" b="1">
                <a:solidFill>
                  <a:srgbClr val="367653"/>
                </a:solidFill>
                <a:latin typeface="Times New Roman"/>
                <a:ea typeface="Times New Roman"/>
                <a:cs typeface="Times New Roman"/>
              </a:defRPr>
            </a:lvl7pPr>
            <a:lvl8pPr algn="l">
              <a:defRPr sz="2400" b="1">
                <a:solidFill>
                  <a:srgbClr val="367653"/>
                </a:solidFill>
                <a:latin typeface="Times New Roman"/>
                <a:ea typeface="Times New Roman"/>
                <a:cs typeface="Times New Roman"/>
              </a:defRPr>
            </a:lvl8pPr>
            <a:lvl9pPr algn="l">
              <a:defRPr sz="2400" b="1">
                <a:solidFill>
                  <a:srgbClr val="367653"/>
                </a:solidFill>
                <a:latin typeface="Times New Roman"/>
                <a:ea typeface="Times New Roman"/>
                <a:cs typeface="Times New Roman"/>
              </a:defRPr>
            </a:lvl9pPr>
          </a:lstStyle>
          <a:p xmlns:a="http://schemas.openxmlformats.org/drawingml/2006/main">
            <a:pPr algn="l">
              <a:defRPr sz="2400" b="1">
                <a:solidFill>
                  <a:srgbClr val="367653"/>
                </a:solidFill>
                <a:latin typeface="Times New Roman"/>
                <a:ea typeface="Times New Roman"/>
                <a:cs typeface="Times New Roman"/>
              </a:defRPr>
            </a:pPr>
            <a:r>
              <a:rPr sz="2400" b="1">
                <a:solidFill>
                  <a:srgbClr val="367653"/>
                </a:solidFill>
                <a:latin typeface="Times New Roman"/>
                <a:ea typeface="Times New Roman"/>
                <a:cs typeface="Times New Roman"/>
              </a:rPr>
              <a:t>Reponer base</a:t>
            </a:r>
          </a:p>
        </p:txBody>
      </p:sp>
      <p:sp>
        <p:nvSpPr>
          <p:cNvPr id="8" name="text">
            <a:extLst xmlns:a="http://schemas.openxmlformats.org/drawingml/2006/main">
              <a:ext uri="{FF2B5EF4-FFF2-40B4-BE49-F238E27FC236}">
                <a16:creationId xmlns:a16="http://schemas.microsoft.com/office/drawing/2014/main" id="{31A8BD26-41B3-427D-85EF-033571D6A284}"/>
              </a:ext>
            </a:extLst>
          </p:cNvPr>
          <p:cNvSpPr>
            <a:spLocks xmlns:a="http://schemas.openxmlformats.org/drawingml/2006/main" noGrp="1"/>
          </p:cNvSpPr>
          <p:nvPr/>
        </p:nvSpPr>
        <p:spPr>
          <a:xfrm xmlns:a="http://schemas.openxmlformats.org/drawingml/2006/main">
            <a:off x="7915275" y="4495800"/>
            <a:ext cx="3667125" cy="1352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00" b="0">
                <a:solidFill>
                  <a:srgbClr val="181818"/>
                </a:solidFill>
                <a:latin typeface="Times New Roman"/>
                <a:ea typeface="Times New Roman"/>
                <a:cs typeface="Times New Roman"/>
              </a:defRPr>
            </a:defPPr>
            <a:lvl1pPr algn="l">
              <a:defRPr sz="2200" b="0">
                <a:solidFill>
                  <a:srgbClr val="181818"/>
                </a:solidFill>
                <a:latin typeface="Times New Roman"/>
                <a:ea typeface="Times New Roman"/>
                <a:cs typeface="Times New Roman"/>
              </a:defRPr>
            </a:lvl1pPr>
            <a:lvl2pPr algn="l">
              <a:defRPr sz="2200" b="0">
                <a:solidFill>
                  <a:srgbClr val="181818"/>
                </a:solidFill>
                <a:latin typeface="Times New Roman"/>
                <a:ea typeface="Times New Roman"/>
                <a:cs typeface="Times New Roman"/>
              </a:defRPr>
            </a:lvl2pPr>
            <a:lvl3pPr algn="l">
              <a:defRPr sz="2200" b="0">
                <a:solidFill>
                  <a:srgbClr val="181818"/>
                </a:solidFill>
                <a:latin typeface="Times New Roman"/>
                <a:ea typeface="Times New Roman"/>
                <a:cs typeface="Times New Roman"/>
              </a:defRPr>
            </a:lvl3pPr>
            <a:lvl4pPr algn="l">
              <a:defRPr sz="2200" b="0">
                <a:solidFill>
                  <a:srgbClr val="181818"/>
                </a:solidFill>
                <a:latin typeface="Times New Roman"/>
                <a:ea typeface="Times New Roman"/>
                <a:cs typeface="Times New Roman"/>
              </a:defRPr>
            </a:lvl4pPr>
            <a:lvl5pPr algn="l">
              <a:defRPr sz="2200" b="0">
                <a:solidFill>
                  <a:srgbClr val="181818"/>
                </a:solidFill>
                <a:latin typeface="Times New Roman"/>
                <a:ea typeface="Times New Roman"/>
                <a:cs typeface="Times New Roman"/>
              </a:defRPr>
            </a:lvl5pPr>
            <a:lvl6pPr algn="l">
              <a:defRPr sz="2200" b="0">
                <a:solidFill>
                  <a:srgbClr val="181818"/>
                </a:solidFill>
                <a:latin typeface="Times New Roman"/>
                <a:ea typeface="Times New Roman"/>
                <a:cs typeface="Times New Roman"/>
              </a:defRPr>
            </a:lvl6pPr>
            <a:lvl7pPr algn="l">
              <a:defRPr sz="2200" b="0">
                <a:solidFill>
                  <a:srgbClr val="181818"/>
                </a:solidFill>
                <a:latin typeface="Times New Roman"/>
                <a:ea typeface="Times New Roman"/>
                <a:cs typeface="Times New Roman"/>
              </a:defRPr>
            </a:lvl7pPr>
            <a:lvl8pPr algn="l">
              <a:defRPr sz="2200" b="0">
                <a:solidFill>
                  <a:srgbClr val="181818"/>
                </a:solidFill>
                <a:latin typeface="Times New Roman"/>
                <a:ea typeface="Times New Roman"/>
                <a:cs typeface="Times New Roman"/>
              </a:defRPr>
            </a:lvl8pPr>
            <a:lvl9pPr algn="l">
              <a:defRPr sz="2200" b="0">
                <a:solidFill>
                  <a:srgbClr val="181818"/>
                </a:solidFill>
                <a:latin typeface="Times New Roman"/>
                <a:ea typeface="Times New Roman"/>
                <a:cs typeface="Times New Roman"/>
              </a:defRPr>
            </a:lvl9pPr>
          </a:lstStyle>
          <a:p xmlns:a="http://schemas.openxmlformats.org/drawingml/2006/main">
            <a:pPr algn="l">
              <a:defRPr sz="2200" b="0">
                <a:solidFill>
                  <a:srgbClr val="181818"/>
                </a:solidFill>
                <a:latin typeface="Times New Roman"/>
                <a:ea typeface="Times New Roman"/>
                <a:cs typeface="Times New Roman"/>
              </a:defRPr>
            </a:pPr>
            <a:r>
              <a:rPr sz="2200" b="0">
                <a:solidFill>
                  <a:srgbClr val="181818"/>
                </a:solidFill>
                <a:latin typeface="Times New Roman"/>
                <a:ea typeface="Times New Roman"/>
                <a:cs typeface="Times New Roman"/>
              </a:rPr>
              <a:t>Excretar ácido neto se asocia con HCO₃⁻ nuevo.</a:t>
            </a:r>
          </a:p>
        </p:txBody>
      </p:sp>
    </p:spTree>
    <p:extLst>
      <p:ext uri="{BB962C8B-B14F-4D97-AF65-F5344CB8AC3E}">
        <p14:creationId xmlns:p14="http://schemas.microsoft.com/office/powerpoint/2010/main" val="702568929"/>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slide-title">
            <a:extLst xmlns:a="http://schemas.openxmlformats.org/drawingml/2006/main">
              <a:ext uri="{FF2B5EF4-FFF2-40B4-BE49-F238E27FC236}">
                <a16:creationId xmlns:a16="http://schemas.microsoft.com/office/drawing/2014/main" id="{E6CC10DD-F92F-49BF-9214-A8FFD7BE4197}"/>
              </a:ext>
            </a:extLst>
          </p:cNvPr>
          <p:cNvSpPr>
            <a:spLocks xmlns:a="http://schemas.openxmlformats.org/drawingml/2006/main" noGrp="1"/>
          </p:cNvSpPr>
          <p:nvPr/>
        </p:nvSpPr>
        <p:spPr>
          <a:xfrm xmlns:a="http://schemas.openxmlformats.org/drawingml/2006/main">
            <a:off x="609600" y="390525"/>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400" b="1">
                <a:solidFill>
                  <a:srgbClr val="174A35"/>
                </a:solidFill>
                <a:latin typeface="Times New Roman"/>
                <a:ea typeface="Times New Roman"/>
                <a:cs typeface="Times New Roman"/>
              </a:defRPr>
            </a:defPPr>
            <a:lvl1pPr algn="l">
              <a:defRPr sz="3400" b="1">
                <a:solidFill>
                  <a:srgbClr val="174A35"/>
                </a:solidFill>
                <a:latin typeface="Times New Roman"/>
                <a:ea typeface="Times New Roman"/>
                <a:cs typeface="Times New Roman"/>
              </a:defRPr>
            </a:lvl1pPr>
            <a:lvl2pPr algn="l">
              <a:defRPr sz="3400" b="1">
                <a:solidFill>
                  <a:srgbClr val="174A35"/>
                </a:solidFill>
                <a:latin typeface="Times New Roman"/>
                <a:ea typeface="Times New Roman"/>
                <a:cs typeface="Times New Roman"/>
              </a:defRPr>
            </a:lvl2pPr>
            <a:lvl3pPr algn="l">
              <a:defRPr sz="3400" b="1">
                <a:solidFill>
                  <a:srgbClr val="174A35"/>
                </a:solidFill>
                <a:latin typeface="Times New Roman"/>
                <a:ea typeface="Times New Roman"/>
                <a:cs typeface="Times New Roman"/>
              </a:defRPr>
            </a:lvl3pPr>
            <a:lvl4pPr algn="l">
              <a:defRPr sz="3400" b="1">
                <a:solidFill>
                  <a:srgbClr val="174A35"/>
                </a:solidFill>
                <a:latin typeface="Times New Roman"/>
                <a:ea typeface="Times New Roman"/>
                <a:cs typeface="Times New Roman"/>
              </a:defRPr>
            </a:lvl4pPr>
            <a:lvl5pPr algn="l">
              <a:defRPr sz="3400" b="1">
                <a:solidFill>
                  <a:srgbClr val="174A35"/>
                </a:solidFill>
                <a:latin typeface="Times New Roman"/>
                <a:ea typeface="Times New Roman"/>
                <a:cs typeface="Times New Roman"/>
              </a:defRPr>
            </a:lvl5pPr>
            <a:lvl6pPr algn="l">
              <a:defRPr sz="3400" b="1">
                <a:solidFill>
                  <a:srgbClr val="174A35"/>
                </a:solidFill>
                <a:latin typeface="Times New Roman"/>
                <a:ea typeface="Times New Roman"/>
                <a:cs typeface="Times New Roman"/>
              </a:defRPr>
            </a:lvl6pPr>
            <a:lvl7pPr algn="l">
              <a:defRPr sz="3400" b="1">
                <a:solidFill>
                  <a:srgbClr val="174A35"/>
                </a:solidFill>
                <a:latin typeface="Times New Roman"/>
                <a:ea typeface="Times New Roman"/>
                <a:cs typeface="Times New Roman"/>
              </a:defRPr>
            </a:lvl7pPr>
            <a:lvl8pPr algn="l">
              <a:defRPr sz="3400" b="1">
                <a:solidFill>
                  <a:srgbClr val="174A35"/>
                </a:solidFill>
                <a:latin typeface="Times New Roman"/>
                <a:ea typeface="Times New Roman"/>
                <a:cs typeface="Times New Roman"/>
              </a:defRPr>
            </a:lvl8pPr>
            <a:lvl9pPr algn="l">
              <a:defRPr sz="3400" b="1">
                <a:solidFill>
                  <a:srgbClr val="174A35"/>
                </a:solidFill>
                <a:latin typeface="Times New Roman"/>
                <a:ea typeface="Times New Roman"/>
                <a:cs typeface="Times New Roman"/>
              </a:defRPr>
            </a:lvl9pPr>
          </a:lstStyle>
          <a:p xmlns:a="http://schemas.openxmlformats.org/drawingml/2006/main">
            <a:pPr algn="l">
              <a:defRPr sz="3400" b="1">
                <a:solidFill>
                  <a:srgbClr val="174A35"/>
                </a:solidFill>
                <a:latin typeface="Times New Roman"/>
                <a:ea typeface="Times New Roman"/>
                <a:cs typeface="Times New Roman"/>
              </a:defRPr>
            </a:pPr>
            <a:r>
              <a:rPr sz="3400" b="1">
                <a:solidFill>
                  <a:srgbClr val="174A35"/>
                </a:solidFill>
                <a:latin typeface="Times New Roman"/>
                <a:ea typeface="Times New Roman"/>
                <a:cs typeface="Times New Roman"/>
              </a:rPr>
              <a:t>Cuatro trastornos ácido-base</a:t>
            </a:r>
          </a:p>
        </p:txBody>
      </p:sp>
      <p:sp>
        <p:nvSpPr>
          <p:cNvPr id="2" name="page-number">
            <a:extLst xmlns:a="http://schemas.openxmlformats.org/drawingml/2006/main">
              <a:ext uri="{FF2B5EF4-FFF2-40B4-BE49-F238E27FC236}">
                <a16:creationId xmlns:a16="http://schemas.microsoft.com/office/drawing/2014/main" id="{57F3EF5F-3713-434D-A4D7-79AE3AEDB0C9}"/>
              </a:ext>
            </a:extLst>
          </p:cNvPr>
          <p:cNvSpPr>
            <a:spLocks xmlns:a="http://schemas.openxmlformats.org/drawingml/2006/main" noGrp="1"/>
          </p:cNvSpPr>
          <p:nvPr/>
        </p:nvSpPr>
        <p:spPr>
          <a:xfrm xmlns:a="http://schemas.openxmlformats.org/drawingml/2006/main">
            <a:off x="11077575" y="64198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00" b="0">
                <a:solidFill>
                  <a:srgbClr val="367653"/>
                </a:solidFill>
                <a:latin typeface="Times New Roman"/>
                <a:ea typeface="Times New Roman"/>
                <a:cs typeface="Times New Roman"/>
              </a:defRPr>
            </a:defPPr>
            <a:lvl1pPr algn="r">
              <a:defRPr sz="1200" b="0">
                <a:solidFill>
                  <a:srgbClr val="367653"/>
                </a:solidFill>
                <a:latin typeface="Times New Roman"/>
                <a:ea typeface="Times New Roman"/>
                <a:cs typeface="Times New Roman"/>
              </a:defRPr>
            </a:lvl1pPr>
            <a:lvl2pPr algn="r">
              <a:defRPr sz="1200" b="0">
                <a:solidFill>
                  <a:srgbClr val="367653"/>
                </a:solidFill>
                <a:latin typeface="Times New Roman"/>
                <a:ea typeface="Times New Roman"/>
                <a:cs typeface="Times New Roman"/>
              </a:defRPr>
            </a:lvl2pPr>
            <a:lvl3pPr algn="r">
              <a:defRPr sz="1200" b="0">
                <a:solidFill>
                  <a:srgbClr val="367653"/>
                </a:solidFill>
                <a:latin typeface="Times New Roman"/>
                <a:ea typeface="Times New Roman"/>
                <a:cs typeface="Times New Roman"/>
              </a:defRPr>
            </a:lvl3pPr>
            <a:lvl4pPr algn="r">
              <a:defRPr sz="1200" b="0">
                <a:solidFill>
                  <a:srgbClr val="367653"/>
                </a:solidFill>
                <a:latin typeface="Times New Roman"/>
                <a:ea typeface="Times New Roman"/>
                <a:cs typeface="Times New Roman"/>
              </a:defRPr>
            </a:lvl4pPr>
            <a:lvl5pPr algn="r">
              <a:defRPr sz="1200" b="0">
                <a:solidFill>
                  <a:srgbClr val="367653"/>
                </a:solidFill>
                <a:latin typeface="Times New Roman"/>
                <a:ea typeface="Times New Roman"/>
                <a:cs typeface="Times New Roman"/>
              </a:defRPr>
            </a:lvl5pPr>
            <a:lvl6pPr algn="r">
              <a:defRPr sz="1200" b="0">
                <a:solidFill>
                  <a:srgbClr val="367653"/>
                </a:solidFill>
                <a:latin typeface="Times New Roman"/>
                <a:ea typeface="Times New Roman"/>
                <a:cs typeface="Times New Roman"/>
              </a:defRPr>
            </a:lvl6pPr>
            <a:lvl7pPr algn="r">
              <a:defRPr sz="1200" b="0">
                <a:solidFill>
                  <a:srgbClr val="367653"/>
                </a:solidFill>
                <a:latin typeface="Times New Roman"/>
                <a:ea typeface="Times New Roman"/>
                <a:cs typeface="Times New Roman"/>
              </a:defRPr>
            </a:lvl7pPr>
            <a:lvl8pPr algn="r">
              <a:defRPr sz="1200" b="0">
                <a:solidFill>
                  <a:srgbClr val="367653"/>
                </a:solidFill>
                <a:latin typeface="Times New Roman"/>
                <a:ea typeface="Times New Roman"/>
                <a:cs typeface="Times New Roman"/>
              </a:defRPr>
            </a:lvl8pPr>
            <a:lvl9pPr algn="r">
              <a:defRPr sz="1200" b="0">
                <a:solidFill>
                  <a:srgbClr val="367653"/>
                </a:solidFill>
                <a:latin typeface="Times New Roman"/>
                <a:ea typeface="Times New Roman"/>
                <a:cs typeface="Times New Roman"/>
              </a:defRPr>
            </a:lvl9pPr>
          </a:lstStyle>
          <a:p xmlns:a="http://schemas.openxmlformats.org/drawingml/2006/main">
            <a:pPr algn="r">
              <a:defRPr sz="1200" b="0">
                <a:solidFill>
                  <a:srgbClr val="367653"/>
                </a:solidFill>
                <a:latin typeface="Times New Roman"/>
                <a:ea typeface="Times New Roman"/>
                <a:cs typeface="Times New Roman"/>
              </a:defRPr>
            </a:pPr>
            <a:r>
              <a:rPr sz="1200" b="0">
                <a:solidFill>
                  <a:srgbClr val="367653"/>
                </a:solidFill>
                <a:latin typeface="Times New Roman"/>
                <a:ea typeface="Times New Roman"/>
                <a:cs typeface="Times New Roman"/>
              </a:rPr>
              <a:t>08</a:t>
            </a:r>
          </a:p>
        </p:txBody>
      </p:sp>
      <p:sp>
        <p:nvSpPr>
          <p:cNvPr id="3" name="sources">
            <a:extLst xmlns:a="http://schemas.openxmlformats.org/drawingml/2006/main">
              <a:ext uri="{FF2B5EF4-FFF2-40B4-BE49-F238E27FC236}">
                <a16:creationId xmlns:a16="http://schemas.microsoft.com/office/drawing/2014/main" id="{C1D65EA8-4B1A-4458-915D-D6087E57571C}"/>
              </a:ext>
            </a:extLst>
          </p:cNvPr>
          <p:cNvSpPr>
            <a:spLocks xmlns:a="http://schemas.openxmlformats.org/drawingml/2006/main" noGrp="1"/>
          </p:cNvSpPr>
          <p:nvPr/>
        </p:nvSpPr>
        <p:spPr>
          <a:xfrm xmlns:a="http://schemas.openxmlformats.org/drawingml/2006/main">
            <a:off x="609600" y="6419850"/>
            <a:ext cx="10287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200" b="0">
                <a:solidFill>
                  <a:srgbClr val="515151"/>
                </a:solidFill>
                <a:latin typeface="Times New Roman"/>
                <a:ea typeface="Times New Roman"/>
                <a:cs typeface="Times New Roman"/>
              </a:defRPr>
            </a:defPPr>
            <a:lvl1pPr algn="l">
              <a:defRPr sz="1200" b="0">
                <a:solidFill>
                  <a:srgbClr val="515151"/>
                </a:solidFill>
                <a:latin typeface="Times New Roman"/>
                <a:ea typeface="Times New Roman"/>
                <a:cs typeface="Times New Roman"/>
              </a:defRPr>
            </a:lvl1pPr>
            <a:lvl2pPr algn="l">
              <a:defRPr sz="1200" b="0">
                <a:solidFill>
                  <a:srgbClr val="515151"/>
                </a:solidFill>
                <a:latin typeface="Times New Roman"/>
                <a:ea typeface="Times New Roman"/>
                <a:cs typeface="Times New Roman"/>
              </a:defRPr>
            </a:lvl2pPr>
            <a:lvl3pPr algn="l">
              <a:defRPr sz="1200" b="0">
                <a:solidFill>
                  <a:srgbClr val="515151"/>
                </a:solidFill>
                <a:latin typeface="Times New Roman"/>
                <a:ea typeface="Times New Roman"/>
                <a:cs typeface="Times New Roman"/>
              </a:defRPr>
            </a:lvl3pPr>
            <a:lvl4pPr algn="l">
              <a:defRPr sz="1200" b="0">
                <a:solidFill>
                  <a:srgbClr val="515151"/>
                </a:solidFill>
                <a:latin typeface="Times New Roman"/>
                <a:ea typeface="Times New Roman"/>
                <a:cs typeface="Times New Roman"/>
              </a:defRPr>
            </a:lvl4pPr>
            <a:lvl5pPr algn="l">
              <a:defRPr sz="1200" b="0">
                <a:solidFill>
                  <a:srgbClr val="515151"/>
                </a:solidFill>
                <a:latin typeface="Times New Roman"/>
                <a:ea typeface="Times New Roman"/>
                <a:cs typeface="Times New Roman"/>
              </a:defRPr>
            </a:lvl5pPr>
            <a:lvl6pPr algn="l">
              <a:defRPr sz="1200" b="0">
                <a:solidFill>
                  <a:srgbClr val="515151"/>
                </a:solidFill>
                <a:latin typeface="Times New Roman"/>
                <a:ea typeface="Times New Roman"/>
                <a:cs typeface="Times New Roman"/>
              </a:defRPr>
            </a:lvl6pPr>
            <a:lvl7pPr algn="l">
              <a:defRPr sz="1200" b="0">
                <a:solidFill>
                  <a:srgbClr val="515151"/>
                </a:solidFill>
                <a:latin typeface="Times New Roman"/>
                <a:ea typeface="Times New Roman"/>
                <a:cs typeface="Times New Roman"/>
              </a:defRPr>
            </a:lvl7pPr>
            <a:lvl8pPr algn="l">
              <a:defRPr sz="1200" b="0">
                <a:solidFill>
                  <a:srgbClr val="515151"/>
                </a:solidFill>
                <a:latin typeface="Times New Roman"/>
                <a:ea typeface="Times New Roman"/>
                <a:cs typeface="Times New Roman"/>
              </a:defRPr>
            </a:lvl8pPr>
            <a:lvl9pPr algn="l">
              <a:defRPr sz="1200" b="0">
                <a:solidFill>
                  <a:srgbClr val="515151"/>
                </a:solidFill>
                <a:latin typeface="Times New Roman"/>
                <a:ea typeface="Times New Roman"/>
                <a:cs typeface="Times New Roman"/>
              </a:defRPr>
            </a:lvl9pPr>
          </a:lstStyle>
          <a:p xmlns:a="http://schemas.openxmlformats.org/drawingml/2006/main">
            <a:pPr algn="l">
              <a:defRPr sz="1200" b="0">
                <a:solidFill>
                  <a:srgbClr val="515151"/>
                </a:solidFill>
                <a:latin typeface="Times New Roman"/>
                <a:ea typeface="Times New Roman"/>
                <a:cs typeface="Times New Roman"/>
              </a:defRPr>
            </a:pPr>
            <a:r>
              <a:rPr sz="1200" b="0">
                <a:solidFill>
                  <a:srgbClr val="515151"/>
                </a:solidFill>
                <a:latin typeface="Times New Roman"/>
                <a:ea typeface="Times New Roman"/>
                <a:cs typeface="Times New Roman"/>
              </a:rPr>
              <a:t>Fuentes: [4] [7] [8]</a:t>
            </a:r>
          </a:p>
        </p:txBody>
      </p:sp>
      <p:graphicFrame>
        <p:nvGraphicFramePr>
          <p:cNvPr id="4" name="">
            <a:extLst xmlns:a="http://schemas.openxmlformats.org/drawingml/2006/main">
              <a:ext uri="{FF2B5EF4-FFF2-40B4-BE49-F238E27FC236}">
                <a16:creationId xmlns:a16="http://schemas.microsoft.com/office/drawing/2014/main" id="{57DE4535-6214-4190-89D0-0B237B39BD68}"/>
              </a:ext>
            </a:extLst>
          </p:cNvPr>
          <p:cNvGraphicFramePr/>
          <p:nvPr/>
        </p:nvGraphicFramePr>
        <p:xfrm>
          <a:off xmlns:a="http://schemas.openxmlformats.org/drawingml/2006/main" x="609600" y="1609725"/>
          <a:ext xmlns:a="http://schemas.openxmlformats.org/drawingml/2006/main" cx="10972800" cy="4057650"/>
        </p:xfrm>
        <a:graphic xmlns:a="http://schemas.openxmlformats.org/drawingml/2006/main">
          <a:graphicData uri="http://schemas.openxmlformats.org/drawingml/2006/table">
            <a:tbl>
              <a:tblPr firstRow="1" bandRow="0"/>
              <a:tblGrid>
                <a:gridCol w="3381375"/>
                <a:gridCol w="2714625"/>
                <a:gridCol w="4876800"/>
              </a:tblGrid>
              <a:tr h="628650">
                <a:tc>
                  <a:txBody>
                    <a:bodyPr wrap="square">
                      <a:noAutofit/>
                    </a:bodyPr>
                    <a:lstStyle/>
                    <a:p>
                      <a:pPr algn="l"/>
                      <a:r>
                        <a:rPr sz="2200" b="1">
                          <a:solidFill>
                            <a:srgbClr val="FFFFFF"/>
                          </a:solidFill>
                          <a:latin typeface="Times New Roman"/>
                          <a:ea typeface="Times New Roman"/>
                          <a:cs typeface="Times New Roman"/>
                        </a:rPr>
                        <a:t>Trastorno</a:t>
                      </a:r>
                    </a:p>
                  </a:txBody>
                  <a:tcPr marL="142875" marR="142875" marT="114300" marB="95250" anchor="ctr">
                    <a:lnL w="19050">
                      <a:solidFill>
                        <a:srgbClr val="FFFFFF"/>
                      </a:solidFill>
                      <a:prstDash val="solid"/>
                    </a:lnL>
                    <a:lnR w="19050">
                      <a:solidFill>
                        <a:srgbClr val="FFFFFF"/>
                      </a:solidFill>
                      <a:prstDash val="solid"/>
                    </a:lnR>
                    <a:lnT w="19050">
                      <a:solidFill>
                        <a:srgbClr val="FFFFFF"/>
                      </a:solidFill>
                      <a:prstDash val="solid"/>
                    </a:lnT>
                    <a:lnB w="19050">
                      <a:solidFill>
                        <a:srgbClr val="FFFFFF"/>
                      </a:solidFill>
                      <a:prstDash val="solid"/>
                    </a:lnB>
                    <a:solidFill>
                      <a:srgbClr val="174A35"/>
                    </a:solidFill>
                  </a:tcPr>
                </a:tc>
                <a:tc>
                  <a:txBody>
                    <a:bodyPr wrap="square">
                      <a:noAutofit/>
                    </a:bodyPr>
                    <a:lstStyle/>
                    <a:p>
                      <a:pPr algn="l"/>
                      <a:r>
                        <a:rPr sz="2200" b="1">
                          <a:solidFill>
                            <a:srgbClr val="FFFFFF"/>
                          </a:solidFill>
                          <a:latin typeface="Times New Roman"/>
                          <a:ea typeface="Times New Roman"/>
                          <a:cs typeface="Times New Roman"/>
                        </a:rPr>
                        <a:t>Cambio primario</a:t>
                      </a:r>
                    </a:p>
                  </a:txBody>
                  <a:tcPr marL="142875" marR="142875" marT="114300" marB="95250" anchor="ctr">
                    <a:lnR w="19050">
                      <a:solidFill>
                        <a:srgbClr val="FFFFFF"/>
                      </a:solidFill>
                      <a:prstDash val="solid"/>
                    </a:lnR>
                    <a:lnT w="19050">
                      <a:solidFill>
                        <a:srgbClr val="FFFFFF"/>
                      </a:solidFill>
                      <a:prstDash val="solid"/>
                    </a:lnT>
                    <a:lnB w="19050">
                      <a:solidFill>
                        <a:srgbClr val="FFFFFF"/>
                      </a:solidFill>
                      <a:prstDash val="solid"/>
                    </a:lnB>
                    <a:solidFill>
                      <a:srgbClr val="174A35"/>
                    </a:solidFill>
                  </a:tcPr>
                </a:tc>
                <a:tc>
                  <a:txBody>
                    <a:bodyPr wrap="square">
                      <a:noAutofit/>
                    </a:bodyPr>
                    <a:lstStyle/>
                    <a:p>
                      <a:pPr algn="l"/>
                      <a:r>
                        <a:rPr sz="2200" b="1">
                          <a:solidFill>
                            <a:srgbClr val="FFFFFF"/>
                          </a:solidFill>
                          <a:latin typeface="Times New Roman"/>
                          <a:ea typeface="Times New Roman"/>
                          <a:cs typeface="Times New Roman"/>
                        </a:rPr>
                        <a:t>Mecanismo orientador</a:t>
                      </a:r>
                    </a:p>
                  </a:txBody>
                  <a:tcPr marL="142875" marR="142875" marT="114300" marB="95250" anchor="ctr">
                    <a:lnR w="19050">
                      <a:solidFill>
                        <a:srgbClr val="FFFFFF"/>
                      </a:solidFill>
                      <a:prstDash val="solid"/>
                    </a:lnR>
                    <a:lnT w="19050">
                      <a:solidFill>
                        <a:srgbClr val="FFFFFF"/>
                      </a:solidFill>
                      <a:prstDash val="solid"/>
                    </a:lnT>
                    <a:lnB w="19050">
                      <a:solidFill>
                        <a:srgbClr val="FFFFFF"/>
                      </a:solidFill>
                      <a:prstDash val="solid"/>
                    </a:lnB>
                    <a:solidFill>
                      <a:srgbClr val="174A35"/>
                    </a:solidFill>
                  </a:tcPr>
                </a:tc>
              </a:tr>
              <a:tr h="857250">
                <a:tc>
                  <a:txBody>
                    <a:bodyPr wrap="square">
                      <a:noAutofit/>
                    </a:bodyPr>
                    <a:lstStyle/>
                    <a:p>
                      <a:pPr algn="l"/>
                      <a:r>
                        <a:rPr sz="2100" b="0">
                          <a:solidFill>
                            <a:srgbClr val="181818"/>
                          </a:solidFill>
                          <a:latin typeface="Times New Roman"/>
                          <a:ea typeface="Times New Roman"/>
                          <a:cs typeface="Times New Roman"/>
                        </a:rPr>
                        <a:t>Acidosis metabólica</a:t>
                      </a:r>
                    </a:p>
                  </a:txBody>
                  <a:tcPr marL="142875" marR="142875" marT="114300" marB="95250" anchor="ctr">
                    <a:lnL w="19050">
                      <a:solidFill>
                        <a:srgbClr val="FFFFFF"/>
                      </a:solidFill>
                      <a:prstDash val="solid"/>
                    </a:lnL>
                    <a:lnR w="19050">
                      <a:solidFill>
                        <a:srgbClr val="FFFFFF"/>
                      </a:solidFill>
                      <a:prstDash val="solid"/>
                    </a:lnR>
                    <a:lnB w="19050">
                      <a:solidFill>
                        <a:srgbClr val="FFFFFF"/>
                      </a:solidFill>
                      <a:prstDash val="solid"/>
                    </a:lnB>
                    <a:solidFill>
                      <a:srgbClr val="F0F5EF"/>
                    </a:solidFill>
                  </a:tcPr>
                </a:tc>
                <a:tc>
                  <a:txBody>
                    <a:bodyPr wrap="square">
                      <a:noAutofit/>
                    </a:bodyPr>
                    <a:lstStyle/>
                    <a:p>
                      <a:pPr algn="l"/>
                      <a:r>
                        <a:rPr sz="2100" b="0">
                          <a:solidFill>
                            <a:srgbClr val="181818"/>
                          </a:solidFill>
                          <a:latin typeface="Times New Roman"/>
                          <a:ea typeface="Times New Roman"/>
                          <a:cs typeface="Times New Roman"/>
                        </a:rPr>
                        <a:t>HCO₃⁻ bajo</a:t>
                      </a:r>
                    </a:p>
                  </a:txBody>
                  <a:tcPr marL="142875" marR="142875" marT="114300" marB="95250" anchor="ctr">
                    <a:lnR w="19050">
                      <a:solidFill>
                        <a:srgbClr val="FFFFFF"/>
                      </a:solidFill>
                      <a:prstDash val="solid"/>
                    </a:lnR>
                    <a:lnB w="19050">
                      <a:solidFill>
                        <a:srgbClr val="FFFFFF"/>
                      </a:solidFill>
                      <a:prstDash val="solid"/>
                    </a:lnB>
                    <a:solidFill>
                      <a:srgbClr val="F0F5EF"/>
                    </a:solidFill>
                  </a:tcPr>
                </a:tc>
                <a:tc>
                  <a:txBody>
                    <a:bodyPr wrap="square">
                      <a:noAutofit/>
                    </a:bodyPr>
                    <a:lstStyle/>
                    <a:p>
                      <a:pPr algn="l"/>
                      <a:r>
                        <a:rPr sz="2100" b="0">
                          <a:solidFill>
                            <a:srgbClr val="181818"/>
                          </a:solidFill>
                          <a:latin typeface="Times New Roman"/>
                          <a:ea typeface="Times New Roman"/>
                          <a:cs typeface="Times New Roman"/>
                        </a:rPr>
                        <a:t>Ganar ácido o perder base.</a:t>
                      </a:r>
                    </a:p>
                  </a:txBody>
                  <a:tcPr marL="142875" marR="142875" marT="114300" marB="95250" anchor="ctr">
                    <a:lnR w="19050">
                      <a:solidFill>
                        <a:srgbClr val="FFFFFF"/>
                      </a:solidFill>
                      <a:prstDash val="solid"/>
                    </a:lnR>
                    <a:lnB w="19050">
                      <a:solidFill>
                        <a:srgbClr val="FFFFFF"/>
                      </a:solidFill>
                      <a:prstDash val="solid"/>
                    </a:lnB>
                    <a:solidFill>
                      <a:srgbClr val="F0F5EF"/>
                    </a:solidFill>
                  </a:tcPr>
                </a:tc>
              </a:tr>
              <a:tr h="857250">
                <a:tc>
                  <a:txBody>
                    <a:bodyPr wrap="square">
                      <a:noAutofit/>
                    </a:bodyPr>
                    <a:lstStyle/>
                    <a:p>
                      <a:pPr algn="l"/>
                      <a:r>
                        <a:rPr sz="2100" b="0">
                          <a:solidFill>
                            <a:srgbClr val="181818"/>
                          </a:solidFill>
                          <a:latin typeface="Times New Roman"/>
                          <a:ea typeface="Times New Roman"/>
                          <a:cs typeface="Times New Roman"/>
                        </a:rPr>
                        <a:t>Alcalosis metabólica</a:t>
                      </a:r>
                    </a:p>
                  </a:txBody>
                  <a:tcPr marL="142875" marR="142875" marT="114300" marB="95250" anchor="ctr">
                    <a:lnL w="19050">
                      <a:solidFill>
                        <a:srgbClr val="FFFFFF"/>
                      </a:solidFill>
                      <a:prstDash val="solid"/>
                    </a:lnL>
                    <a:lnR w="19050">
                      <a:solidFill>
                        <a:srgbClr val="FFFFFF"/>
                      </a:solidFill>
                      <a:prstDash val="solid"/>
                    </a:lnR>
                    <a:lnB w="19050">
                      <a:solidFill>
                        <a:srgbClr val="FFFFFF"/>
                      </a:solidFill>
                      <a:prstDash val="solid"/>
                    </a:lnB>
                    <a:solidFill>
                      <a:srgbClr val="FFFFFF"/>
                    </a:solidFill>
                  </a:tcPr>
                </a:tc>
                <a:tc>
                  <a:txBody>
                    <a:bodyPr wrap="square">
                      <a:noAutofit/>
                    </a:bodyPr>
                    <a:lstStyle/>
                    <a:p>
                      <a:pPr algn="l"/>
                      <a:r>
                        <a:rPr sz="2100" b="0">
                          <a:solidFill>
                            <a:srgbClr val="181818"/>
                          </a:solidFill>
                          <a:latin typeface="Times New Roman"/>
                          <a:ea typeface="Times New Roman"/>
                          <a:cs typeface="Times New Roman"/>
                        </a:rPr>
                        <a:t>HCO₃⁻ alto</a:t>
                      </a:r>
                    </a:p>
                  </a:txBody>
                  <a:tcPr marL="142875" marR="142875" marT="114300" marB="95250" anchor="ctr">
                    <a:lnR w="19050">
                      <a:solidFill>
                        <a:srgbClr val="FFFFFF"/>
                      </a:solidFill>
                      <a:prstDash val="solid"/>
                    </a:lnR>
                    <a:lnB w="19050">
                      <a:solidFill>
                        <a:srgbClr val="FFFFFF"/>
                      </a:solidFill>
                      <a:prstDash val="solid"/>
                    </a:lnB>
                    <a:solidFill>
                      <a:srgbClr val="FFFFFF"/>
                    </a:solidFill>
                  </a:tcPr>
                </a:tc>
                <a:tc>
                  <a:txBody>
                    <a:bodyPr wrap="square">
                      <a:noAutofit/>
                    </a:bodyPr>
                    <a:lstStyle/>
                    <a:p>
                      <a:pPr algn="l"/>
                      <a:r>
                        <a:rPr sz="2100" b="0">
                          <a:solidFill>
                            <a:srgbClr val="181818"/>
                          </a:solidFill>
                          <a:latin typeface="Times New Roman"/>
                          <a:ea typeface="Times New Roman"/>
                          <a:cs typeface="Times New Roman"/>
                        </a:rPr>
                        <a:t>Perder o secuestrar HCl.</a:t>
                      </a:r>
                    </a:p>
                  </a:txBody>
                  <a:tcPr marL="142875" marR="142875" marT="114300" marB="95250" anchor="ctr">
                    <a:lnR w="19050">
                      <a:solidFill>
                        <a:srgbClr val="FFFFFF"/>
                      </a:solidFill>
                      <a:prstDash val="solid"/>
                    </a:lnR>
                    <a:lnB w="19050">
                      <a:solidFill>
                        <a:srgbClr val="FFFFFF"/>
                      </a:solidFill>
                      <a:prstDash val="solid"/>
                    </a:lnB>
                    <a:solidFill>
                      <a:srgbClr val="FFFFFF"/>
                    </a:solidFill>
                  </a:tcPr>
                </a:tc>
              </a:tr>
              <a:tr h="857250">
                <a:tc>
                  <a:txBody>
                    <a:bodyPr wrap="square">
                      <a:noAutofit/>
                    </a:bodyPr>
                    <a:lstStyle/>
                    <a:p>
                      <a:pPr algn="l"/>
                      <a:r>
                        <a:rPr sz="2100" b="0">
                          <a:solidFill>
                            <a:srgbClr val="181818"/>
                          </a:solidFill>
                          <a:latin typeface="Times New Roman"/>
                          <a:ea typeface="Times New Roman"/>
                          <a:cs typeface="Times New Roman"/>
                        </a:rPr>
                        <a:t>Acidosis respiratoria</a:t>
                      </a:r>
                    </a:p>
                  </a:txBody>
                  <a:tcPr marL="142875" marR="142875" marT="114300" marB="95250" anchor="ctr">
                    <a:lnL w="19050">
                      <a:solidFill>
                        <a:srgbClr val="FFFFFF"/>
                      </a:solidFill>
                      <a:prstDash val="solid"/>
                    </a:lnL>
                    <a:lnR w="19050">
                      <a:solidFill>
                        <a:srgbClr val="FFFFFF"/>
                      </a:solidFill>
                      <a:prstDash val="solid"/>
                    </a:lnR>
                    <a:lnB w="19050">
                      <a:solidFill>
                        <a:srgbClr val="FFFFFF"/>
                      </a:solidFill>
                      <a:prstDash val="solid"/>
                    </a:lnB>
                    <a:solidFill>
                      <a:srgbClr val="F0F5EF"/>
                    </a:solidFill>
                  </a:tcPr>
                </a:tc>
                <a:tc>
                  <a:txBody>
                    <a:bodyPr wrap="square">
                      <a:noAutofit/>
                    </a:bodyPr>
                    <a:lstStyle/>
                    <a:p>
                      <a:pPr algn="l"/>
                      <a:r>
                        <a:rPr sz="2100" b="0">
                          <a:solidFill>
                            <a:srgbClr val="181818"/>
                          </a:solidFill>
                          <a:latin typeface="Times New Roman"/>
                          <a:ea typeface="Times New Roman"/>
                          <a:cs typeface="Times New Roman"/>
                        </a:rPr>
                        <a:t>PCO₂ alta</a:t>
                      </a:r>
                    </a:p>
                  </a:txBody>
                  <a:tcPr marL="142875" marR="142875" marT="114300" marB="95250" anchor="ctr">
                    <a:lnR w="19050">
                      <a:solidFill>
                        <a:srgbClr val="FFFFFF"/>
                      </a:solidFill>
                      <a:prstDash val="solid"/>
                    </a:lnR>
                    <a:lnB w="19050">
                      <a:solidFill>
                        <a:srgbClr val="FFFFFF"/>
                      </a:solidFill>
                      <a:prstDash val="solid"/>
                    </a:lnB>
                    <a:solidFill>
                      <a:srgbClr val="F0F5EF"/>
                    </a:solidFill>
                  </a:tcPr>
                </a:tc>
                <a:tc>
                  <a:txBody>
                    <a:bodyPr wrap="square">
                      <a:noAutofit/>
                    </a:bodyPr>
                    <a:lstStyle/>
                    <a:p>
                      <a:pPr algn="l"/>
                      <a:r>
                        <a:rPr sz="2100" b="0">
                          <a:solidFill>
                            <a:srgbClr val="181818"/>
                          </a:solidFill>
                          <a:latin typeface="Times New Roman"/>
                          <a:ea typeface="Times New Roman"/>
                          <a:cs typeface="Times New Roman"/>
                        </a:rPr>
                        <a:t>Retener CO₂ por hipoventilación.</a:t>
                      </a:r>
                    </a:p>
                  </a:txBody>
                  <a:tcPr marL="142875" marR="142875" marT="114300" marB="95250" anchor="ctr">
                    <a:lnR w="19050">
                      <a:solidFill>
                        <a:srgbClr val="FFFFFF"/>
                      </a:solidFill>
                      <a:prstDash val="solid"/>
                    </a:lnR>
                    <a:lnB w="19050">
                      <a:solidFill>
                        <a:srgbClr val="FFFFFF"/>
                      </a:solidFill>
                      <a:prstDash val="solid"/>
                    </a:lnB>
                    <a:solidFill>
                      <a:srgbClr val="F0F5EF"/>
                    </a:solidFill>
                  </a:tcPr>
                </a:tc>
              </a:tr>
              <a:tr h="857250">
                <a:tc>
                  <a:txBody>
                    <a:bodyPr wrap="square">
                      <a:noAutofit/>
                    </a:bodyPr>
                    <a:lstStyle/>
                    <a:p>
                      <a:pPr algn="l"/>
                      <a:r>
                        <a:rPr sz="2100" b="0">
                          <a:solidFill>
                            <a:srgbClr val="181818"/>
                          </a:solidFill>
                          <a:latin typeface="Times New Roman"/>
                          <a:ea typeface="Times New Roman"/>
                          <a:cs typeface="Times New Roman"/>
                        </a:rPr>
                        <a:t>Alcalosis respiratoria</a:t>
                      </a:r>
                    </a:p>
                  </a:txBody>
                  <a:tcPr marL="142875" marR="142875" marT="114300" marB="95250" anchor="ctr">
                    <a:lnL w="19050">
                      <a:solidFill>
                        <a:srgbClr val="FFFFFF"/>
                      </a:solidFill>
                      <a:prstDash val="solid"/>
                    </a:lnL>
                    <a:lnR w="19050">
                      <a:solidFill>
                        <a:srgbClr val="FFFFFF"/>
                      </a:solidFill>
                      <a:prstDash val="solid"/>
                    </a:lnR>
                    <a:lnB w="19050">
                      <a:solidFill>
                        <a:srgbClr val="FFFFFF"/>
                      </a:solidFill>
                      <a:prstDash val="solid"/>
                    </a:lnB>
                    <a:solidFill>
                      <a:srgbClr val="FFFFFF"/>
                    </a:solidFill>
                  </a:tcPr>
                </a:tc>
                <a:tc>
                  <a:txBody>
                    <a:bodyPr wrap="square">
                      <a:noAutofit/>
                    </a:bodyPr>
                    <a:lstStyle/>
                    <a:p>
                      <a:pPr algn="l"/>
                      <a:r>
                        <a:rPr sz="2100" b="0">
                          <a:solidFill>
                            <a:srgbClr val="181818"/>
                          </a:solidFill>
                          <a:latin typeface="Times New Roman"/>
                          <a:ea typeface="Times New Roman"/>
                          <a:cs typeface="Times New Roman"/>
                        </a:rPr>
                        <a:t>PCO₂ baja</a:t>
                      </a:r>
                    </a:p>
                  </a:txBody>
                  <a:tcPr marL="142875" marR="142875" marT="114300" marB="95250" anchor="ctr">
                    <a:lnR w="19050">
                      <a:solidFill>
                        <a:srgbClr val="FFFFFF"/>
                      </a:solidFill>
                      <a:prstDash val="solid"/>
                    </a:lnR>
                    <a:lnB w="19050">
                      <a:solidFill>
                        <a:srgbClr val="FFFFFF"/>
                      </a:solidFill>
                      <a:prstDash val="solid"/>
                    </a:lnB>
                    <a:solidFill>
                      <a:srgbClr val="FFFFFF"/>
                    </a:solidFill>
                  </a:tcPr>
                </a:tc>
                <a:tc>
                  <a:txBody>
                    <a:bodyPr wrap="square">
                      <a:noAutofit/>
                    </a:bodyPr>
                    <a:lstStyle/>
                    <a:p>
                      <a:pPr algn="l"/>
                      <a:r>
                        <a:rPr sz="2100" b="0">
                          <a:solidFill>
                            <a:srgbClr val="181818"/>
                          </a:solidFill>
                          <a:latin typeface="Times New Roman"/>
                          <a:ea typeface="Times New Roman"/>
                          <a:cs typeface="Times New Roman"/>
                        </a:rPr>
                        <a:t>Eliminar CO₂ en exceso respecto de su producción.</a:t>
                      </a:r>
                    </a:p>
                  </a:txBody>
                  <a:tcPr marL="142875" marR="142875" marT="114300" marB="95250" anchor="ctr">
                    <a:lnR w="19050">
                      <a:solidFill>
                        <a:srgbClr val="FFFFFF"/>
                      </a:solidFill>
                      <a:prstDash val="solid"/>
                    </a:lnR>
                    <a:lnB w="19050">
                      <a:solidFill>
                        <a:srgbClr val="FFFFFF"/>
                      </a:solidFill>
                      <a:prstDash val="solid"/>
                    </a:lnB>
                    <a:solidFill>
                      <a:srgbClr val="FFFFFF"/>
                    </a:solidFill>
                  </a:tcPr>
                </a:tc>
              </a:tr>
            </a:tbl>
          </a:graphicData>
        </a:graphic>
      </p:graphicFrame>
      <p:sp>
        <p:nvSpPr>
          <p:cNvPr id="5" name="text">
            <a:extLst xmlns:a="http://schemas.openxmlformats.org/drawingml/2006/main">
              <a:ext uri="{FF2B5EF4-FFF2-40B4-BE49-F238E27FC236}">
                <a16:creationId xmlns:a16="http://schemas.microsoft.com/office/drawing/2014/main" id="{226ACD1E-A233-4426-93EB-D47A70D0F1F9}"/>
              </a:ext>
            </a:extLst>
          </p:cNvPr>
          <p:cNvSpPr>
            <a:spLocks xmlns:a="http://schemas.openxmlformats.org/drawingml/2006/main" noGrp="1"/>
          </p:cNvSpPr>
          <p:nvPr/>
        </p:nvSpPr>
        <p:spPr>
          <a:xfrm xmlns:a="http://schemas.openxmlformats.org/drawingml/2006/main">
            <a:off x="609600" y="5895975"/>
            <a:ext cx="10972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00" b="1">
                <a:solidFill>
                  <a:srgbClr val="367653"/>
                </a:solidFill>
                <a:latin typeface="Times New Roman"/>
                <a:ea typeface="Times New Roman"/>
                <a:cs typeface="Times New Roman"/>
              </a:defRPr>
            </a:defPPr>
            <a:lvl1pPr algn="l">
              <a:defRPr sz="2200" b="1">
                <a:solidFill>
                  <a:srgbClr val="367653"/>
                </a:solidFill>
                <a:latin typeface="Times New Roman"/>
                <a:ea typeface="Times New Roman"/>
                <a:cs typeface="Times New Roman"/>
              </a:defRPr>
            </a:lvl1pPr>
            <a:lvl2pPr algn="l">
              <a:defRPr sz="2200" b="1">
                <a:solidFill>
                  <a:srgbClr val="367653"/>
                </a:solidFill>
                <a:latin typeface="Times New Roman"/>
                <a:ea typeface="Times New Roman"/>
                <a:cs typeface="Times New Roman"/>
              </a:defRPr>
            </a:lvl2pPr>
            <a:lvl3pPr algn="l">
              <a:defRPr sz="2200" b="1">
                <a:solidFill>
                  <a:srgbClr val="367653"/>
                </a:solidFill>
                <a:latin typeface="Times New Roman"/>
                <a:ea typeface="Times New Roman"/>
                <a:cs typeface="Times New Roman"/>
              </a:defRPr>
            </a:lvl3pPr>
            <a:lvl4pPr algn="l">
              <a:defRPr sz="2200" b="1">
                <a:solidFill>
                  <a:srgbClr val="367653"/>
                </a:solidFill>
                <a:latin typeface="Times New Roman"/>
                <a:ea typeface="Times New Roman"/>
                <a:cs typeface="Times New Roman"/>
              </a:defRPr>
            </a:lvl4pPr>
            <a:lvl5pPr algn="l">
              <a:defRPr sz="2200" b="1">
                <a:solidFill>
                  <a:srgbClr val="367653"/>
                </a:solidFill>
                <a:latin typeface="Times New Roman"/>
                <a:ea typeface="Times New Roman"/>
                <a:cs typeface="Times New Roman"/>
              </a:defRPr>
            </a:lvl5pPr>
            <a:lvl6pPr algn="l">
              <a:defRPr sz="2200" b="1">
                <a:solidFill>
                  <a:srgbClr val="367653"/>
                </a:solidFill>
                <a:latin typeface="Times New Roman"/>
                <a:ea typeface="Times New Roman"/>
                <a:cs typeface="Times New Roman"/>
              </a:defRPr>
            </a:lvl6pPr>
            <a:lvl7pPr algn="l">
              <a:defRPr sz="2200" b="1">
                <a:solidFill>
                  <a:srgbClr val="367653"/>
                </a:solidFill>
                <a:latin typeface="Times New Roman"/>
                <a:ea typeface="Times New Roman"/>
                <a:cs typeface="Times New Roman"/>
              </a:defRPr>
            </a:lvl7pPr>
            <a:lvl8pPr algn="l">
              <a:defRPr sz="2200" b="1">
                <a:solidFill>
                  <a:srgbClr val="367653"/>
                </a:solidFill>
                <a:latin typeface="Times New Roman"/>
                <a:ea typeface="Times New Roman"/>
                <a:cs typeface="Times New Roman"/>
              </a:defRPr>
            </a:lvl8pPr>
            <a:lvl9pPr algn="l">
              <a:defRPr sz="2200" b="1">
                <a:solidFill>
                  <a:srgbClr val="367653"/>
                </a:solidFill>
                <a:latin typeface="Times New Roman"/>
                <a:ea typeface="Times New Roman"/>
                <a:cs typeface="Times New Roman"/>
              </a:defRPr>
            </a:lvl9pPr>
          </a:lstStyle>
          <a:p xmlns:a="http://schemas.openxmlformats.org/drawingml/2006/main">
            <a:pPr algn="l">
              <a:defRPr sz="2200" b="1">
                <a:solidFill>
                  <a:srgbClr val="367653"/>
                </a:solidFill>
                <a:latin typeface="Times New Roman"/>
                <a:ea typeface="Times New Roman"/>
                <a:cs typeface="Times New Roman"/>
              </a:defRPr>
            </a:pPr>
            <a:r>
              <a:rPr sz="2200" b="1">
                <a:solidFill>
                  <a:srgbClr val="367653"/>
                </a:solidFill>
                <a:latin typeface="Times New Roman"/>
                <a:ea typeface="Times New Roman"/>
                <a:cs typeface="Times New Roman"/>
              </a:rPr>
              <a:t>La interpretación integra pH, componentes e historia.</a:t>
            </a:r>
          </a:p>
        </p:txBody>
      </p:sp>
    </p:spTree>
    <p:extLst>
      <p:ext uri="{BB962C8B-B14F-4D97-AF65-F5344CB8AC3E}">
        <p14:creationId xmlns:p14="http://schemas.microsoft.com/office/powerpoint/2010/main" val="556717234"/>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slide-title">
            <a:extLst xmlns:a="http://schemas.openxmlformats.org/drawingml/2006/main">
              <a:ext uri="{FF2B5EF4-FFF2-40B4-BE49-F238E27FC236}">
                <a16:creationId xmlns:a16="http://schemas.microsoft.com/office/drawing/2014/main" id="{F7D9E95B-3057-4FF1-B604-734D9FBB1A10}"/>
              </a:ext>
            </a:extLst>
          </p:cNvPr>
          <p:cNvSpPr>
            <a:spLocks xmlns:a="http://schemas.openxmlformats.org/drawingml/2006/main" noGrp="1"/>
          </p:cNvSpPr>
          <p:nvPr/>
        </p:nvSpPr>
        <p:spPr>
          <a:xfrm xmlns:a="http://schemas.openxmlformats.org/drawingml/2006/main">
            <a:off x="609600" y="390525"/>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400" b="1">
                <a:solidFill>
                  <a:srgbClr val="174A35"/>
                </a:solidFill>
                <a:latin typeface="Times New Roman"/>
                <a:ea typeface="Times New Roman"/>
                <a:cs typeface="Times New Roman"/>
              </a:defRPr>
            </a:defPPr>
            <a:lvl1pPr algn="l">
              <a:defRPr sz="3400" b="1">
                <a:solidFill>
                  <a:srgbClr val="174A35"/>
                </a:solidFill>
                <a:latin typeface="Times New Roman"/>
                <a:ea typeface="Times New Roman"/>
                <a:cs typeface="Times New Roman"/>
              </a:defRPr>
            </a:lvl1pPr>
            <a:lvl2pPr algn="l">
              <a:defRPr sz="3400" b="1">
                <a:solidFill>
                  <a:srgbClr val="174A35"/>
                </a:solidFill>
                <a:latin typeface="Times New Roman"/>
                <a:ea typeface="Times New Roman"/>
                <a:cs typeface="Times New Roman"/>
              </a:defRPr>
            </a:lvl2pPr>
            <a:lvl3pPr algn="l">
              <a:defRPr sz="3400" b="1">
                <a:solidFill>
                  <a:srgbClr val="174A35"/>
                </a:solidFill>
                <a:latin typeface="Times New Roman"/>
                <a:ea typeface="Times New Roman"/>
                <a:cs typeface="Times New Roman"/>
              </a:defRPr>
            </a:lvl3pPr>
            <a:lvl4pPr algn="l">
              <a:defRPr sz="3400" b="1">
                <a:solidFill>
                  <a:srgbClr val="174A35"/>
                </a:solidFill>
                <a:latin typeface="Times New Roman"/>
                <a:ea typeface="Times New Roman"/>
                <a:cs typeface="Times New Roman"/>
              </a:defRPr>
            </a:lvl4pPr>
            <a:lvl5pPr algn="l">
              <a:defRPr sz="3400" b="1">
                <a:solidFill>
                  <a:srgbClr val="174A35"/>
                </a:solidFill>
                <a:latin typeface="Times New Roman"/>
                <a:ea typeface="Times New Roman"/>
                <a:cs typeface="Times New Roman"/>
              </a:defRPr>
            </a:lvl5pPr>
            <a:lvl6pPr algn="l">
              <a:defRPr sz="3400" b="1">
                <a:solidFill>
                  <a:srgbClr val="174A35"/>
                </a:solidFill>
                <a:latin typeface="Times New Roman"/>
                <a:ea typeface="Times New Roman"/>
                <a:cs typeface="Times New Roman"/>
              </a:defRPr>
            </a:lvl6pPr>
            <a:lvl7pPr algn="l">
              <a:defRPr sz="3400" b="1">
                <a:solidFill>
                  <a:srgbClr val="174A35"/>
                </a:solidFill>
                <a:latin typeface="Times New Roman"/>
                <a:ea typeface="Times New Roman"/>
                <a:cs typeface="Times New Roman"/>
              </a:defRPr>
            </a:lvl7pPr>
            <a:lvl8pPr algn="l">
              <a:defRPr sz="3400" b="1">
                <a:solidFill>
                  <a:srgbClr val="174A35"/>
                </a:solidFill>
                <a:latin typeface="Times New Roman"/>
                <a:ea typeface="Times New Roman"/>
                <a:cs typeface="Times New Roman"/>
              </a:defRPr>
            </a:lvl8pPr>
            <a:lvl9pPr algn="l">
              <a:defRPr sz="3400" b="1">
                <a:solidFill>
                  <a:srgbClr val="174A35"/>
                </a:solidFill>
                <a:latin typeface="Times New Roman"/>
                <a:ea typeface="Times New Roman"/>
                <a:cs typeface="Times New Roman"/>
              </a:defRPr>
            </a:lvl9pPr>
          </a:lstStyle>
          <a:p xmlns:a="http://schemas.openxmlformats.org/drawingml/2006/main">
            <a:pPr algn="l">
              <a:defRPr sz="3400" b="1">
                <a:solidFill>
                  <a:srgbClr val="174A35"/>
                </a:solidFill>
                <a:latin typeface="Times New Roman"/>
                <a:ea typeface="Times New Roman"/>
                <a:cs typeface="Times New Roman"/>
              </a:defRPr>
            </a:pPr>
            <a:r>
              <a:rPr sz="3400" b="1">
                <a:solidFill>
                  <a:srgbClr val="174A35"/>
                </a:solidFill>
                <a:latin typeface="Times New Roman"/>
                <a:ea typeface="Times New Roman"/>
                <a:cs typeface="Times New Roman"/>
              </a:rPr>
              <a:t>Compensación y trastornos mixtos</a:t>
            </a:r>
          </a:p>
        </p:txBody>
      </p:sp>
      <p:sp>
        <p:nvSpPr>
          <p:cNvPr id="2" name="page-number">
            <a:extLst xmlns:a="http://schemas.openxmlformats.org/drawingml/2006/main">
              <a:ext uri="{FF2B5EF4-FFF2-40B4-BE49-F238E27FC236}">
                <a16:creationId xmlns:a16="http://schemas.microsoft.com/office/drawing/2014/main" id="{E8B1FC4C-E344-4556-A473-39F6376FEFF0}"/>
              </a:ext>
            </a:extLst>
          </p:cNvPr>
          <p:cNvSpPr>
            <a:spLocks xmlns:a="http://schemas.openxmlformats.org/drawingml/2006/main" noGrp="1"/>
          </p:cNvSpPr>
          <p:nvPr/>
        </p:nvSpPr>
        <p:spPr>
          <a:xfrm xmlns:a="http://schemas.openxmlformats.org/drawingml/2006/main">
            <a:off x="11077575" y="64198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00" b="0">
                <a:solidFill>
                  <a:srgbClr val="367653"/>
                </a:solidFill>
                <a:latin typeface="Times New Roman"/>
                <a:ea typeface="Times New Roman"/>
                <a:cs typeface="Times New Roman"/>
              </a:defRPr>
            </a:defPPr>
            <a:lvl1pPr algn="r">
              <a:defRPr sz="1200" b="0">
                <a:solidFill>
                  <a:srgbClr val="367653"/>
                </a:solidFill>
                <a:latin typeface="Times New Roman"/>
                <a:ea typeface="Times New Roman"/>
                <a:cs typeface="Times New Roman"/>
              </a:defRPr>
            </a:lvl1pPr>
            <a:lvl2pPr algn="r">
              <a:defRPr sz="1200" b="0">
                <a:solidFill>
                  <a:srgbClr val="367653"/>
                </a:solidFill>
                <a:latin typeface="Times New Roman"/>
                <a:ea typeface="Times New Roman"/>
                <a:cs typeface="Times New Roman"/>
              </a:defRPr>
            </a:lvl2pPr>
            <a:lvl3pPr algn="r">
              <a:defRPr sz="1200" b="0">
                <a:solidFill>
                  <a:srgbClr val="367653"/>
                </a:solidFill>
                <a:latin typeface="Times New Roman"/>
                <a:ea typeface="Times New Roman"/>
                <a:cs typeface="Times New Roman"/>
              </a:defRPr>
            </a:lvl3pPr>
            <a:lvl4pPr algn="r">
              <a:defRPr sz="1200" b="0">
                <a:solidFill>
                  <a:srgbClr val="367653"/>
                </a:solidFill>
                <a:latin typeface="Times New Roman"/>
                <a:ea typeface="Times New Roman"/>
                <a:cs typeface="Times New Roman"/>
              </a:defRPr>
            </a:lvl4pPr>
            <a:lvl5pPr algn="r">
              <a:defRPr sz="1200" b="0">
                <a:solidFill>
                  <a:srgbClr val="367653"/>
                </a:solidFill>
                <a:latin typeface="Times New Roman"/>
                <a:ea typeface="Times New Roman"/>
                <a:cs typeface="Times New Roman"/>
              </a:defRPr>
            </a:lvl5pPr>
            <a:lvl6pPr algn="r">
              <a:defRPr sz="1200" b="0">
                <a:solidFill>
                  <a:srgbClr val="367653"/>
                </a:solidFill>
                <a:latin typeface="Times New Roman"/>
                <a:ea typeface="Times New Roman"/>
                <a:cs typeface="Times New Roman"/>
              </a:defRPr>
            </a:lvl6pPr>
            <a:lvl7pPr algn="r">
              <a:defRPr sz="1200" b="0">
                <a:solidFill>
                  <a:srgbClr val="367653"/>
                </a:solidFill>
                <a:latin typeface="Times New Roman"/>
                <a:ea typeface="Times New Roman"/>
                <a:cs typeface="Times New Roman"/>
              </a:defRPr>
            </a:lvl7pPr>
            <a:lvl8pPr algn="r">
              <a:defRPr sz="1200" b="0">
                <a:solidFill>
                  <a:srgbClr val="367653"/>
                </a:solidFill>
                <a:latin typeface="Times New Roman"/>
                <a:ea typeface="Times New Roman"/>
                <a:cs typeface="Times New Roman"/>
              </a:defRPr>
            </a:lvl8pPr>
            <a:lvl9pPr algn="r">
              <a:defRPr sz="1200" b="0">
                <a:solidFill>
                  <a:srgbClr val="367653"/>
                </a:solidFill>
                <a:latin typeface="Times New Roman"/>
                <a:ea typeface="Times New Roman"/>
                <a:cs typeface="Times New Roman"/>
              </a:defRPr>
            </a:lvl9pPr>
          </a:lstStyle>
          <a:p xmlns:a="http://schemas.openxmlformats.org/drawingml/2006/main">
            <a:pPr algn="r">
              <a:defRPr sz="1200" b="0">
                <a:solidFill>
                  <a:srgbClr val="367653"/>
                </a:solidFill>
                <a:latin typeface="Times New Roman"/>
                <a:ea typeface="Times New Roman"/>
                <a:cs typeface="Times New Roman"/>
              </a:defRPr>
            </a:pPr>
            <a:r>
              <a:rPr sz="1200" b="0">
                <a:solidFill>
                  <a:srgbClr val="367653"/>
                </a:solidFill>
                <a:latin typeface="Times New Roman"/>
                <a:ea typeface="Times New Roman"/>
                <a:cs typeface="Times New Roman"/>
              </a:rPr>
              <a:t>09</a:t>
            </a:r>
          </a:p>
        </p:txBody>
      </p:sp>
      <p:sp>
        <p:nvSpPr>
          <p:cNvPr id="3" name="sources">
            <a:extLst xmlns:a="http://schemas.openxmlformats.org/drawingml/2006/main">
              <a:ext uri="{FF2B5EF4-FFF2-40B4-BE49-F238E27FC236}">
                <a16:creationId xmlns:a16="http://schemas.microsoft.com/office/drawing/2014/main" id="{B9FC75FB-60A4-4E9A-85FE-686B97ECA903}"/>
              </a:ext>
            </a:extLst>
          </p:cNvPr>
          <p:cNvSpPr>
            <a:spLocks xmlns:a="http://schemas.openxmlformats.org/drawingml/2006/main" noGrp="1"/>
          </p:cNvSpPr>
          <p:nvPr/>
        </p:nvSpPr>
        <p:spPr>
          <a:xfrm xmlns:a="http://schemas.openxmlformats.org/drawingml/2006/main">
            <a:off x="609600" y="6419850"/>
            <a:ext cx="10287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200" b="0">
                <a:solidFill>
                  <a:srgbClr val="515151"/>
                </a:solidFill>
                <a:latin typeface="Times New Roman"/>
                <a:ea typeface="Times New Roman"/>
                <a:cs typeface="Times New Roman"/>
              </a:defRPr>
            </a:defPPr>
            <a:lvl1pPr algn="l">
              <a:defRPr sz="1200" b="0">
                <a:solidFill>
                  <a:srgbClr val="515151"/>
                </a:solidFill>
                <a:latin typeface="Times New Roman"/>
                <a:ea typeface="Times New Roman"/>
                <a:cs typeface="Times New Roman"/>
              </a:defRPr>
            </a:lvl1pPr>
            <a:lvl2pPr algn="l">
              <a:defRPr sz="1200" b="0">
                <a:solidFill>
                  <a:srgbClr val="515151"/>
                </a:solidFill>
                <a:latin typeface="Times New Roman"/>
                <a:ea typeface="Times New Roman"/>
                <a:cs typeface="Times New Roman"/>
              </a:defRPr>
            </a:lvl2pPr>
            <a:lvl3pPr algn="l">
              <a:defRPr sz="1200" b="0">
                <a:solidFill>
                  <a:srgbClr val="515151"/>
                </a:solidFill>
                <a:latin typeface="Times New Roman"/>
                <a:ea typeface="Times New Roman"/>
                <a:cs typeface="Times New Roman"/>
              </a:defRPr>
            </a:lvl3pPr>
            <a:lvl4pPr algn="l">
              <a:defRPr sz="1200" b="0">
                <a:solidFill>
                  <a:srgbClr val="515151"/>
                </a:solidFill>
                <a:latin typeface="Times New Roman"/>
                <a:ea typeface="Times New Roman"/>
                <a:cs typeface="Times New Roman"/>
              </a:defRPr>
            </a:lvl4pPr>
            <a:lvl5pPr algn="l">
              <a:defRPr sz="1200" b="0">
                <a:solidFill>
                  <a:srgbClr val="515151"/>
                </a:solidFill>
                <a:latin typeface="Times New Roman"/>
                <a:ea typeface="Times New Roman"/>
                <a:cs typeface="Times New Roman"/>
              </a:defRPr>
            </a:lvl5pPr>
            <a:lvl6pPr algn="l">
              <a:defRPr sz="1200" b="0">
                <a:solidFill>
                  <a:srgbClr val="515151"/>
                </a:solidFill>
                <a:latin typeface="Times New Roman"/>
                <a:ea typeface="Times New Roman"/>
                <a:cs typeface="Times New Roman"/>
              </a:defRPr>
            </a:lvl6pPr>
            <a:lvl7pPr algn="l">
              <a:defRPr sz="1200" b="0">
                <a:solidFill>
                  <a:srgbClr val="515151"/>
                </a:solidFill>
                <a:latin typeface="Times New Roman"/>
                <a:ea typeface="Times New Roman"/>
                <a:cs typeface="Times New Roman"/>
              </a:defRPr>
            </a:lvl7pPr>
            <a:lvl8pPr algn="l">
              <a:defRPr sz="1200" b="0">
                <a:solidFill>
                  <a:srgbClr val="515151"/>
                </a:solidFill>
                <a:latin typeface="Times New Roman"/>
                <a:ea typeface="Times New Roman"/>
                <a:cs typeface="Times New Roman"/>
              </a:defRPr>
            </a:lvl8pPr>
            <a:lvl9pPr algn="l">
              <a:defRPr sz="1200" b="0">
                <a:solidFill>
                  <a:srgbClr val="515151"/>
                </a:solidFill>
                <a:latin typeface="Times New Roman"/>
                <a:ea typeface="Times New Roman"/>
                <a:cs typeface="Times New Roman"/>
              </a:defRPr>
            </a:lvl9pPr>
          </a:lstStyle>
          <a:p xmlns:a="http://schemas.openxmlformats.org/drawingml/2006/main">
            <a:pPr algn="l">
              <a:defRPr sz="1200" b="0">
                <a:solidFill>
                  <a:srgbClr val="515151"/>
                </a:solidFill>
                <a:latin typeface="Times New Roman"/>
                <a:ea typeface="Times New Roman"/>
                <a:cs typeface="Times New Roman"/>
              </a:defRPr>
            </a:pPr>
            <a:r>
              <a:rPr sz="1200" b="0">
                <a:solidFill>
                  <a:srgbClr val="515151"/>
                </a:solidFill>
                <a:latin typeface="Times New Roman"/>
                <a:ea typeface="Times New Roman"/>
                <a:cs typeface="Times New Roman"/>
              </a:rPr>
              <a:t>Fuentes: [3]</a:t>
            </a:r>
          </a:p>
        </p:txBody>
      </p:sp>
      <p:graphicFrame>
        <p:nvGraphicFramePr>
          <p:cNvPr id="4" name="">
            <a:extLst xmlns:a="http://schemas.openxmlformats.org/drawingml/2006/main">
              <a:ext uri="{FF2B5EF4-FFF2-40B4-BE49-F238E27FC236}">
                <a16:creationId xmlns:a16="http://schemas.microsoft.com/office/drawing/2014/main" id="{D64AE284-64AB-43A5-97EB-B75C989AB6C9}"/>
              </a:ext>
            </a:extLst>
          </p:cNvPr>
          <p:cNvGraphicFramePr/>
          <p:nvPr/>
        </p:nvGraphicFramePr>
        <p:xfrm>
          <a:off xmlns:a="http://schemas.openxmlformats.org/drawingml/2006/main" x="609600" y="1619250"/>
          <a:ext xmlns:a="http://schemas.openxmlformats.org/drawingml/2006/main" cx="10972800" cy="2800350"/>
        </p:xfrm>
        <a:graphic xmlns:a="http://schemas.openxmlformats.org/drawingml/2006/main">
          <a:graphicData uri="http://schemas.openxmlformats.org/drawingml/2006/table">
            <a:tbl>
              <a:tblPr firstRow="1" bandRow="0"/>
              <a:tblGrid>
                <a:gridCol w="3476625"/>
                <a:gridCol w="7496175"/>
              </a:tblGrid>
              <a:tr h="647700">
                <a:tc>
                  <a:txBody>
                    <a:bodyPr wrap="square">
                      <a:noAutofit/>
                    </a:bodyPr>
                    <a:lstStyle/>
                    <a:p>
                      <a:pPr algn="l"/>
                      <a:r>
                        <a:rPr sz="2200" b="1">
                          <a:solidFill>
                            <a:srgbClr val="FFFFFF"/>
                          </a:solidFill>
                          <a:latin typeface="Times New Roman"/>
                          <a:ea typeface="Times New Roman"/>
                          <a:cs typeface="Times New Roman"/>
                        </a:rPr>
                        <a:t>Alteración primaria</a:t>
                      </a:r>
                    </a:p>
                  </a:txBody>
                  <a:tcPr marL="142875" marR="142875" marT="114300" marB="95250" anchor="ctr">
                    <a:lnL w="19050">
                      <a:solidFill>
                        <a:srgbClr val="FFFFFF"/>
                      </a:solidFill>
                      <a:prstDash val="solid"/>
                    </a:lnL>
                    <a:lnR w="19050">
                      <a:solidFill>
                        <a:srgbClr val="FFFFFF"/>
                      </a:solidFill>
                      <a:prstDash val="solid"/>
                    </a:lnR>
                    <a:lnT w="19050">
                      <a:solidFill>
                        <a:srgbClr val="FFFFFF"/>
                      </a:solidFill>
                      <a:prstDash val="solid"/>
                    </a:lnT>
                    <a:lnB w="19050">
                      <a:solidFill>
                        <a:srgbClr val="FFFFFF"/>
                      </a:solidFill>
                      <a:prstDash val="solid"/>
                    </a:lnB>
                    <a:solidFill>
                      <a:srgbClr val="174A35"/>
                    </a:solidFill>
                  </a:tcPr>
                </a:tc>
                <a:tc>
                  <a:txBody>
                    <a:bodyPr wrap="square">
                      <a:noAutofit/>
                    </a:bodyPr>
                    <a:lstStyle/>
                    <a:p>
                      <a:pPr algn="l"/>
                      <a:r>
                        <a:rPr sz="2200" b="1">
                          <a:solidFill>
                            <a:srgbClr val="FFFFFF"/>
                          </a:solidFill>
                          <a:latin typeface="Times New Roman"/>
                          <a:ea typeface="Times New Roman"/>
                          <a:cs typeface="Times New Roman"/>
                        </a:rPr>
                        <a:t>Respuesta que se considera</a:t>
                      </a:r>
                    </a:p>
                  </a:txBody>
                  <a:tcPr marL="142875" marR="142875" marT="114300" marB="95250" anchor="ctr">
                    <a:lnR w="19050">
                      <a:solidFill>
                        <a:srgbClr val="FFFFFF"/>
                      </a:solidFill>
                      <a:prstDash val="solid"/>
                    </a:lnR>
                    <a:lnT w="19050">
                      <a:solidFill>
                        <a:srgbClr val="FFFFFF"/>
                      </a:solidFill>
                      <a:prstDash val="solid"/>
                    </a:lnT>
                    <a:lnB w="19050">
                      <a:solidFill>
                        <a:srgbClr val="FFFFFF"/>
                      </a:solidFill>
                      <a:prstDash val="solid"/>
                    </a:lnB>
                    <a:solidFill>
                      <a:srgbClr val="174A35"/>
                    </a:solidFill>
                  </a:tcPr>
                </a:tc>
              </a:tr>
              <a:tr h="1009650">
                <a:tc>
                  <a:txBody>
                    <a:bodyPr wrap="square">
                      <a:noAutofit/>
                    </a:bodyPr>
                    <a:lstStyle/>
                    <a:p>
                      <a:pPr algn="l"/>
                      <a:r>
                        <a:rPr sz="2300" b="0">
                          <a:solidFill>
                            <a:srgbClr val="181818"/>
                          </a:solidFill>
                          <a:latin typeface="Times New Roman"/>
                          <a:ea typeface="Times New Roman"/>
                          <a:cs typeface="Times New Roman"/>
                        </a:rPr>
                        <a:t>Metabólica</a:t>
                      </a:r>
                    </a:p>
                  </a:txBody>
                  <a:tcPr marL="142875" marR="142875" marT="114300" marB="95250" anchor="ctr">
                    <a:lnL w="19050">
                      <a:solidFill>
                        <a:srgbClr val="FFFFFF"/>
                      </a:solidFill>
                      <a:prstDash val="solid"/>
                    </a:lnL>
                    <a:lnR w="19050">
                      <a:solidFill>
                        <a:srgbClr val="FFFFFF"/>
                      </a:solidFill>
                      <a:prstDash val="solid"/>
                    </a:lnR>
                    <a:lnB w="19050">
                      <a:solidFill>
                        <a:srgbClr val="FFFFFF"/>
                      </a:solidFill>
                      <a:prstDash val="solid"/>
                    </a:lnB>
                    <a:solidFill>
                      <a:srgbClr val="F0F5EF"/>
                    </a:solidFill>
                  </a:tcPr>
                </a:tc>
                <a:tc>
                  <a:txBody>
                    <a:bodyPr wrap="square">
                      <a:noAutofit/>
                    </a:bodyPr>
                    <a:lstStyle/>
                    <a:p>
                      <a:pPr algn="l"/>
                      <a:r>
                        <a:rPr sz="2300" b="0">
                          <a:solidFill>
                            <a:srgbClr val="181818"/>
                          </a:solidFill>
                          <a:latin typeface="Times New Roman"/>
                          <a:ea typeface="Times New Roman"/>
                          <a:cs typeface="Times New Roman"/>
                        </a:rPr>
                        <a:t>Ventilación alveolar.</a:t>
                      </a:r>
                    </a:p>
                  </a:txBody>
                  <a:tcPr marL="142875" marR="142875" marT="114300" marB="95250" anchor="ctr">
                    <a:lnR w="19050">
                      <a:solidFill>
                        <a:srgbClr val="FFFFFF"/>
                      </a:solidFill>
                      <a:prstDash val="solid"/>
                    </a:lnR>
                    <a:lnB w="19050">
                      <a:solidFill>
                        <a:srgbClr val="FFFFFF"/>
                      </a:solidFill>
                      <a:prstDash val="solid"/>
                    </a:lnB>
                    <a:solidFill>
                      <a:srgbClr val="F0F5EF"/>
                    </a:solidFill>
                  </a:tcPr>
                </a:tc>
              </a:tr>
              <a:tr h="1143000">
                <a:tc>
                  <a:txBody>
                    <a:bodyPr wrap="square">
                      <a:noAutofit/>
                    </a:bodyPr>
                    <a:lstStyle/>
                    <a:p>
                      <a:pPr algn="l"/>
                      <a:r>
                        <a:rPr sz="2300" b="0">
                          <a:solidFill>
                            <a:srgbClr val="181818"/>
                          </a:solidFill>
                          <a:latin typeface="Times New Roman"/>
                          <a:ea typeface="Times New Roman"/>
                          <a:cs typeface="Times New Roman"/>
                        </a:rPr>
                        <a:t>Respiratoria</a:t>
                      </a:r>
                    </a:p>
                  </a:txBody>
                  <a:tcPr marL="142875" marR="142875" marT="114300" marB="95250" anchor="ctr">
                    <a:lnL w="19050">
                      <a:solidFill>
                        <a:srgbClr val="FFFFFF"/>
                      </a:solidFill>
                      <a:prstDash val="solid"/>
                    </a:lnL>
                    <a:lnR w="19050">
                      <a:solidFill>
                        <a:srgbClr val="FFFFFF"/>
                      </a:solidFill>
                      <a:prstDash val="solid"/>
                    </a:lnR>
                    <a:lnB w="19050">
                      <a:solidFill>
                        <a:srgbClr val="FFFFFF"/>
                      </a:solidFill>
                      <a:prstDash val="solid"/>
                    </a:lnB>
                    <a:solidFill>
                      <a:srgbClr val="FFFFFF"/>
                    </a:solidFill>
                  </a:tcPr>
                </a:tc>
                <a:tc>
                  <a:txBody>
                    <a:bodyPr wrap="square">
                      <a:noAutofit/>
                    </a:bodyPr>
                    <a:lstStyle/>
                    <a:p>
                      <a:pPr algn="l"/>
                      <a:r>
                        <a:rPr sz="2300" b="0">
                          <a:solidFill>
                            <a:srgbClr val="181818"/>
                          </a:solidFill>
                          <a:latin typeface="Times New Roman"/>
                          <a:ea typeface="Times New Roman"/>
                          <a:cs typeface="Times New Roman"/>
                        </a:rPr>
                        <a:t>Amortiguación inicial y adaptación renal posterior.</a:t>
                      </a:r>
                    </a:p>
                  </a:txBody>
                  <a:tcPr marL="142875" marR="142875" marT="114300" marB="95250" anchor="ctr">
                    <a:lnR w="19050">
                      <a:solidFill>
                        <a:srgbClr val="FFFFFF"/>
                      </a:solidFill>
                      <a:prstDash val="solid"/>
                    </a:lnR>
                    <a:lnB w="19050">
                      <a:solidFill>
                        <a:srgbClr val="FFFFFF"/>
                      </a:solidFill>
                      <a:prstDash val="solid"/>
                    </a:lnB>
                    <a:solidFill>
                      <a:srgbClr val="FFFFFF"/>
                    </a:solidFill>
                  </a:tcPr>
                </a:tc>
              </a:tr>
            </a:tbl>
          </a:graphicData>
        </a:graphic>
      </p:graphicFrame>
      <p:sp>
        <p:nvSpPr>
          <p:cNvPr id="5" name="text">
            <a:extLst xmlns:a="http://schemas.openxmlformats.org/drawingml/2006/main">
              <a:ext uri="{FF2B5EF4-FFF2-40B4-BE49-F238E27FC236}">
                <a16:creationId xmlns:a16="http://schemas.microsoft.com/office/drawing/2014/main" id="{CDCEE2A3-1818-4854-B407-33C5B6F2B668}"/>
              </a:ext>
            </a:extLst>
          </p:cNvPr>
          <p:cNvSpPr>
            <a:spLocks xmlns:a="http://schemas.openxmlformats.org/drawingml/2006/main" noGrp="1"/>
          </p:cNvSpPr>
          <p:nvPr/>
        </p:nvSpPr>
        <p:spPr>
          <a:xfrm xmlns:a="http://schemas.openxmlformats.org/drawingml/2006/main">
            <a:off x="609600" y="4810125"/>
            <a:ext cx="10972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500" b="1">
                <a:solidFill>
                  <a:srgbClr val="367653"/>
                </a:solidFill>
                <a:latin typeface="Times New Roman"/>
                <a:ea typeface="Times New Roman"/>
                <a:cs typeface="Times New Roman"/>
              </a:defRPr>
            </a:defPPr>
            <a:lvl1pPr algn="l">
              <a:defRPr sz="2500" b="1">
                <a:solidFill>
                  <a:srgbClr val="367653"/>
                </a:solidFill>
                <a:latin typeface="Times New Roman"/>
                <a:ea typeface="Times New Roman"/>
                <a:cs typeface="Times New Roman"/>
              </a:defRPr>
            </a:lvl1pPr>
            <a:lvl2pPr algn="l">
              <a:defRPr sz="2500" b="1">
                <a:solidFill>
                  <a:srgbClr val="367653"/>
                </a:solidFill>
                <a:latin typeface="Times New Roman"/>
                <a:ea typeface="Times New Roman"/>
                <a:cs typeface="Times New Roman"/>
              </a:defRPr>
            </a:lvl2pPr>
            <a:lvl3pPr algn="l">
              <a:defRPr sz="2500" b="1">
                <a:solidFill>
                  <a:srgbClr val="367653"/>
                </a:solidFill>
                <a:latin typeface="Times New Roman"/>
                <a:ea typeface="Times New Roman"/>
                <a:cs typeface="Times New Roman"/>
              </a:defRPr>
            </a:lvl3pPr>
            <a:lvl4pPr algn="l">
              <a:defRPr sz="2500" b="1">
                <a:solidFill>
                  <a:srgbClr val="367653"/>
                </a:solidFill>
                <a:latin typeface="Times New Roman"/>
                <a:ea typeface="Times New Roman"/>
                <a:cs typeface="Times New Roman"/>
              </a:defRPr>
            </a:lvl4pPr>
            <a:lvl5pPr algn="l">
              <a:defRPr sz="2500" b="1">
                <a:solidFill>
                  <a:srgbClr val="367653"/>
                </a:solidFill>
                <a:latin typeface="Times New Roman"/>
                <a:ea typeface="Times New Roman"/>
                <a:cs typeface="Times New Roman"/>
              </a:defRPr>
            </a:lvl5pPr>
            <a:lvl6pPr algn="l">
              <a:defRPr sz="2500" b="1">
                <a:solidFill>
                  <a:srgbClr val="367653"/>
                </a:solidFill>
                <a:latin typeface="Times New Roman"/>
                <a:ea typeface="Times New Roman"/>
                <a:cs typeface="Times New Roman"/>
              </a:defRPr>
            </a:lvl6pPr>
            <a:lvl7pPr algn="l">
              <a:defRPr sz="2500" b="1">
                <a:solidFill>
                  <a:srgbClr val="367653"/>
                </a:solidFill>
                <a:latin typeface="Times New Roman"/>
                <a:ea typeface="Times New Roman"/>
                <a:cs typeface="Times New Roman"/>
              </a:defRPr>
            </a:lvl7pPr>
            <a:lvl8pPr algn="l">
              <a:defRPr sz="2500" b="1">
                <a:solidFill>
                  <a:srgbClr val="367653"/>
                </a:solidFill>
                <a:latin typeface="Times New Roman"/>
                <a:ea typeface="Times New Roman"/>
                <a:cs typeface="Times New Roman"/>
              </a:defRPr>
            </a:lvl8pPr>
            <a:lvl9pPr algn="l">
              <a:defRPr sz="2500" b="1">
                <a:solidFill>
                  <a:srgbClr val="367653"/>
                </a:solidFill>
                <a:latin typeface="Times New Roman"/>
                <a:ea typeface="Times New Roman"/>
                <a:cs typeface="Times New Roman"/>
              </a:defRPr>
            </a:lvl9pPr>
          </a:lstStyle>
          <a:p xmlns:a="http://schemas.openxmlformats.org/drawingml/2006/main">
            <a:pPr algn="l">
              <a:defRPr sz="2500" b="1">
                <a:solidFill>
                  <a:srgbClr val="367653"/>
                </a:solidFill>
                <a:latin typeface="Times New Roman"/>
                <a:ea typeface="Times New Roman"/>
                <a:cs typeface="Times New Roman"/>
              </a:defRPr>
            </a:pPr>
            <a:r>
              <a:rPr sz="2500" b="1">
                <a:solidFill>
                  <a:srgbClr val="367653"/>
                </a:solidFill>
                <a:latin typeface="Times New Roman"/>
                <a:ea typeface="Times New Roman"/>
                <a:cs typeface="Times New Roman"/>
              </a:rPr>
              <a:t>Mixto: dos o más procesos primarios.</a:t>
            </a:r>
          </a:p>
        </p:txBody>
      </p:sp>
      <p:sp>
        <p:nvSpPr>
          <p:cNvPr id="6" name="text">
            <a:extLst xmlns:a="http://schemas.openxmlformats.org/drawingml/2006/main">
              <a:ext uri="{FF2B5EF4-FFF2-40B4-BE49-F238E27FC236}">
                <a16:creationId xmlns:a16="http://schemas.microsoft.com/office/drawing/2014/main" id="{E1FD28F3-6CCC-4AA9-BC7C-739BD1D12187}"/>
              </a:ext>
            </a:extLst>
          </p:cNvPr>
          <p:cNvSpPr>
            <a:spLocks xmlns:a="http://schemas.openxmlformats.org/drawingml/2006/main" noGrp="1"/>
          </p:cNvSpPr>
          <p:nvPr/>
        </p:nvSpPr>
        <p:spPr>
          <a:xfrm xmlns:a="http://schemas.openxmlformats.org/drawingml/2006/main">
            <a:off x="609600" y="5514975"/>
            <a:ext cx="10972800" cy="561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400" b="0">
                <a:solidFill>
                  <a:srgbClr val="181818"/>
                </a:solidFill>
                <a:latin typeface="Times New Roman"/>
                <a:ea typeface="Times New Roman"/>
                <a:cs typeface="Times New Roman"/>
              </a:defRPr>
            </a:defPPr>
            <a:lvl1pPr algn="l">
              <a:defRPr sz="2400" b="0">
                <a:solidFill>
                  <a:srgbClr val="181818"/>
                </a:solidFill>
                <a:latin typeface="Times New Roman"/>
                <a:ea typeface="Times New Roman"/>
                <a:cs typeface="Times New Roman"/>
              </a:defRPr>
            </a:lvl1pPr>
            <a:lvl2pPr algn="l">
              <a:defRPr sz="2400" b="0">
                <a:solidFill>
                  <a:srgbClr val="181818"/>
                </a:solidFill>
                <a:latin typeface="Times New Roman"/>
                <a:ea typeface="Times New Roman"/>
                <a:cs typeface="Times New Roman"/>
              </a:defRPr>
            </a:lvl2pPr>
            <a:lvl3pPr algn="l">
              <a:defRPr sz="2400" b="0">
                <a:solidFill>
                  <a:srgbClr val="181818"/>
                </a:solidFill>
                <a:latin typeface="Times New Roman"/>
                <a:ea typeface="Times New Roman"/>
                <a:cs typeface="Times New Roman"/>
              </a:defRPr>
            </a:lvl3pPr>
            <a:lvl4pPr algn="l">
              <a:defRPr sz="2400" b="0">
                <a:solidFill>
                  <a:srgbClr val="181818"/>
                </a:solidFill>
                <a:latin typeface="Times New Roman"/>
                <a:ea typeface="Times New Roman"/>
                <a:cs typeface="Times New Roman"/>
              </a:defRPr>
            </a:lvl4pPr>
            <a:lvl5pPr algn="l">
              <a:defRPr sz="2400" b="0">
                <a:solidFill>
                  <a:srgbClr val="181818"/>
                </a:solidFill>
                <a:latin typeface="Times New Roman"/>
                <a:ea typeface="Times New Roman"/>
                <a:cs typeface="Times New Roman"/>
              </a:defRPr>
            </a:lvl5pPr>
            <a:lvl6pPr algn="l">
              <a:defRPr sz="2400" b="0">
                <a:solidFill>
                  <a:srgbClr val="181818"/>
                </a:solidFill>
                <a:latin typeface="Times New Roman"/>
                <a:ea typeface="Times New Roman"/>
                <a:cs typeface="Times New Roman"/>
              </a:defRPr>
            </a:lvl6pPr>
            <a:lvl7pPr algn="l">
              <a:defRPr sz="2400" b="0">
                <a:solidFill>
                  <a:srgbClr val="181818"/>
                </a:solidFill>
                <a:latin typeface="Times New Roman"/>
                <a:ea typeface="Times New Roman"/>
                <a:cs typeface="Times New Roman"/>
              </a:defRPr>
            </a:lvl7pPr>
            <a:lvl8pPr algn="l">
              <a:defRPr sz="2400" b="0">
                <a:solidFill>
                  <a:srgbClr val="181818"/>
                </a:solidFill>
                <a:latin typeface="Times New Roman"/>
                <a:ea typeface="Times New Roman"/>
                <a:cs typeface="Times New Roman"/>
              </a:defRPr>
            </a:lvl8pPr>
            <a:lvl9pPr algn="l">
              <a:defRPr sz="2400" b="0">
                <a:solidFill>
                  <a:srgbClr val="181818"/>
                </a:solidFill>
                <a:latin typeface="Times New Roman"/>
                <a:ea typeface="Times New Roman"/>
                <a:cs typeface="Times New Roman"/>
              </a:defRPr>
            </a:lvl9pPr>
          </a:lstStyle>
          <a:p xmlns:a="http://schemas.openxmlformats.org/drawingml/2006/main">
            <a:pPr algn="l">
              <a:defRPr sz="2400" b="0">
                <a:solidFill>
                  <a:srgbClr val="181818"/>
                </a:solidFill>
                <a:latin typeface="Times New Roman"/>
                <a:ea typeface="Times New Roman"/>
                <a:cs typeface="Times New Roman"/>
              </a:defRPr>
            </a:pPr>
            <a:r>
              <a:rPr sz="2400" b="0">
                <a:solidFill>
                  <a:srgbClr val="181818"/>
                </a:solidFill>
                <a:latin typeface="Times New Roman"/>
                <a:ea typeface="Times New Roman"/>
                <a:cs typeface="Times New Roman"/>
              </a:rPr>
              <a:t>Valorar especie, duración y respuesta esperada.</a:t>
            </a:r>
          </a:p>
        </p:txBody>
      </p:sp>
    </p:spTree>
    <p:extLst>
      <p:ext uri="{BB962C8B-B14F-4D97-AF65-F5344CB8AC3E}">
        <p14:creationId xmlns:p14="http://schemas.microsoft.com/office/powerpoint/2010/main" val="502092842"/>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slide-title">
            <a:extLst xmlns:a="http://schemas.openxmlformats.org/drawingml/2006/main">
              <a:ext uri="{FF2B5EF4-FFF2-40B4-BE49-F238E27FC236}">
                <a16:creationId xmlns:a16="http://schemas.microsoft.com/office/drawing/2014/main" id="{64AEEAAE-E879-45C4-8D5E-6C67AF71609F}"/>
              </a:ext>
            </a:extLst>
          </p:cNvPr>
          <p:cNvSpPr>
            <a:spLocks xmlns:a="http://schemas.openxmlformats.org/drawingml/2006/main" noGrp="1"/>
          </p:cNvSpPr>
          <p:nvPr/>
        </p:nvSpPr>
        <p:spPr>
          <a:xfrm xmlns:a="http://schemas.openxmlformats.org/drawingml/2006/main">
            <a:off x="609600" y="390525"/>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400" b="1">
                <a:solidFill>
                  <a:srgbClr val="174A35"/>
                </a:solidFill>
                <a:latin typeface="Times New Roman"/>
                <a:ea typeface="Times New Roman"/>
                <a:cs typeface="Times New Roman"/>
              </a:defRPr>
            </a:defPPr>
            <a:lvl1pPr algn="l">
              <a:defRPr sz="3400" b="1">
                <a:solidFill>
                  <a:srgbClr val="174A35"/>
                </a:solidFill>
                <a:latin typeface="Times New Roman"/>
                <a:ea typeface="Times New Roman"/>
                <a:cs typeface="Times New Roman"/>
              </a:defRPr>
            </a:lvl1pPr>
            <a:lvl2pPr algn="l">
              <a:defRPr sz="3400" b="1">
                <a:solidFill>
                  <a:srgbClr val="174A35"/>
                </a:solidFill>
                <a:latin typeface="Times New Roman"/>
                <a:ea typeface="Times New Roman"/>
                <a:cs typeface="Times New Roman"/>
              </a:defRPr>
            </a:lvl2pPr>
            <a:lvl3pPr algn="l">
              <a:defRPr sz="3400" b="1">
                <a:solidFill>
                  <a:srgbClr val="174A35"/>
                </a:solidFill>
                <a:latin typeface="Times New Roman"/>
                <a:ea typeface="Times New Roman"/>
                <a:cs typeface="Times New Roman"/>
              </a:defRPr>
            </a:lvl3pPr>
            <a:lvl4pPr algn="l">
              <a:defRPr sz="3400" b="1">
                <a:solidFill>
                  <a:srgbClr val="174A35"/>
                </a:solidFill>
                <a:latin typeface="Times New Roman"/>
                <a:ea typeface="Times New Roman"/>
                <a:cs typeface="Times New Roman"/>
              </a:defRPr>
            </a:lvl4pPr>
            <a:lvl5pPr algn="l">
              <a:defRPr sz="3400" b="1">
                <a:solidFill>
                  <a:srgbClr val="174A35"/>
                </a:solidFill>
                <a:latin typeface="Times New Roman"/>
                <a:ea typeface="Times New Roman"/>
                <a:cs typeface="Times New Roman"/>
              </a:defRPr>
            </a:lvl5pPr>
            <a:lvl6pPr algn="l">
              <a:defRPr sz="3400" b="1">
                <a:solidFill>
                  <a:srgbClr val="174A35"/>
                </a:solidFill>
                <a:latin typeface="Times New Roman"/>
                <a:ea typeface="Times New Roman"/>
                <a:cs typeface="Times New Roman"/>
              </a:defRPr>
            </a:lvl6pPr>
            <a:lvl7pPr algn="l">
              <a:defRPr sz="3400" b="1">
                <a:solidFill>
                  <a:srgbClr val="174A35"/>
                </a:solidFill>
                <a:latin typeface="Times New Roman"/>
                <a:ea typeface="Times New Roman"/>
                <a:cs typeface="Times New Roman"/>
              </a:defRPr>
            </a:lvl7pPr>
            <a:lvl8pPr algn="l">
              <a:defRPr sz="3400" b="1">
                <a:solidFill>
                  <a:srgbClr val="174A35"/>
                </a:solidFill>
                <a:latin typeface="Times New Roman"/>
                <a:ea typeface="Times New Roman"/>
                <a:cs typeface="Times New Roman"/>
              </a:defRPr>
            </a:lvl8pPr>
            <a:lvl9pPr algn="l">
              <a:defRPr sz="3400" b="1">
                <a:solidFill>
                  <a:srgbClr val="174A35"/>
                </a:solidFill>
                <a:latin typeface="Times New Roman"/>
                <a:ea typeface="Times New Roman"/>
                <a:cs typeface="Times New Roman"/>
              </a:defRPr>
            </a:lvl9pPr>
          </a:lstStyle>
          <a:p xmlns:a="http://schemas.openxmlformats.org/drawingml/2006/main">
            <a:pPr algn="l">
              <a:defRPr sz="3400" b="1">
                <a:solidFill>
                  <a:srgbClr val="174A35"/>
                </a:solidFill>
                <a:latin typeface="Times New Roman"/>
                <a:ea typeface="Times New Roman"/>
                <a:cs typeface="Times New Roman"/>
              </a:defRPr>
            </a:pPr>
            <a:r>
              <a:rPr sz="3400" b="1">
                <a:solidFill>
                  <a:srgbClr val="174A35"/>
                </a:solidFill>
                <a:latin typeface="Times New Roman"/>
                <a:ea typeface="Times New Roman"/>
                <a:cs typeface="Times New Roman"/>
              </a:rPr>
              <a:t>Gasometría: cuatro pasos</a:t>
            </a:r>
          </a:p>
        </p:txBody>
      </p:sp>
      <p:sp>
        <p:nvSpPr>
          <p:cNvPr id="2" name="page-number">
            <a:extLst xmlns:a="http://schemas.openxmlformats.org/drawingml/2006/main">
              <a:ext uri="{FF2B5EF4-FFF2-40B4-BE49-F238E27FC236}">
                <a16:creationId xmlns:a16="http://schemas.microsoft.com/office/drawing/2014/main" id="{4BD7FFEF-9B05-438D-93D3-F0FD12E3D095}"/>
              </a:ext>
            </a:extLst>
          </p:cNvPr>
          <p:cNvSpPr>
            <a:spLocks xmlns:a="http://schemas.openxmlformats.org/drawingml/2006/main" noGrp="1"/>
          </p:cNvSpPr>
          <p:nvPr/>
        </p:nvSpPr>
        <p:spPr>
          <a:xfrm xmlns:a="http://schemas.openxmlformats.org/drawingml/2006/main">
            <a:off x="11077575" y="64198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00" b="0">
                <a:solidFill>
                  <a:srgbClr val="367653"/>
                </a:solidFill>
                <a:latin typeface="Times New Roman"/>
                <a:ea typeface="Times New Roman"/>
                <a:cs typeface="Times New Roman"/>
              </a:defRPr>
            </a:defPPr>
            <a:lvl1pPr algn="r">
              <a:defRPr sz="1200" b="0">
                <a:solidFill>
                  <a:srgbClr val="367653"/>
                </a:solidFill>
                <a:latin typeface="Times New Roman"/>
                <a:ea typeface="Times New Roman"/>
                <a:cs typeface="Times New Roman"/>
              </a:defRPr>
            </a:lvl1pPr>
            <a:lvl2pPr algn="r">
              <a:defRPr sz="1200" b="0">
                <a:solidFill>
                  <a:srgbClr val="367653"/>
                </a:solidFill>
                <a:latin typeface="Times New Roman"/>
                <a:ea typeface="Times New Roman"/>
                <a:cs typeface="Times New Roman"/>
              </a:defRPr>
            </a:lvl2pPr>
            <a:lvl3pPr algn="r">
              <a:defRPr sz="1200" b="0">
                <a:solidFill>
                  <a:srgbClr val="367653"/>
                </a:solidFill>
                <a:latin typeface="Times New Roman"/>
                <a:ea typeface="Times New Roman"/>
                <a:cs typeface="Times New Roman"/>
              </a:defRPr>
            </a:lvl3pPr>
            <a:lvl4pPr algn="r">
              <a:defRPr sz="1200" b="0">
                <a:solidFill>
                  <a:srgbClr val="367653"/>
                </a:solidFill>
                <a:latin typeface="Times New Roman"/>
                <a:ea typeface="Times New Roman"/>
                <a:cs typeface="Times New Roman"/>
              </a:defRPr>
            </a:lvl4pPr>
            <a:lvl5pPr algn="r">
              <a:defRPr sz="1200" b="0">
                <a:solidFill>
                  <a:srgbClr val="367653"/>
                </a:solidFill>
                <a:latin typeface="Times New Roman"/>
                <a:ea typeface="Times New Roman"/>
                <a:cs typeface="Times New Roman"/>
              </a:defRPr>
            </a:lvl5pPr>
            <a:lvl6pPr algn="r">
              <a:defRPr sz="1200" b="0">
                <a:solidFill>
                  <a:srgbClr val="367653"/>
                </a:solidFill>
                <a:latin typeface="Times New Roman"/>
                <a:ea typeface="Times New Roman"/>
                <a:cs typeface="Times New Roman"/>
              </a:defRPr>
            </a:lvl6pPr>
            <a:lvl7pPr algn="r">
              <a:defRPr sz="1200" b="0">
                <a:solidFill>
                  <a:srgbClr val="367653"/>
                </a:solidFill>
                <a:latin typeface="Times New Roman"/>
                <a:ea typeface="Times New Roman"/>
                <a:cs typeface="Times New Roman"/>
              </a:defRPr>
            </a:lvl7pPr>
            <a:lvl8pPr algn="r">
              <a:defRPr sz="1200" b="0">
                <a:solidFill>
                  <a:srgbClr val="367653"/>
                </a:solidFill>
                <a:latin typeface="Times New Roman"/>
                <a:ea typeface="Times New Roman"/>
                <a:cs typeface="Times New Roman"/>
              </a:defRPr>
            </a:lvl8pPr>
            <a:lvl9pPr algn="r">
              <a:defRPr sz="1200" b="0">
                <a:solidFill>
                  <a:srgbClr val="367653"/>
                </a:solidFill>
                <a:latin typeface="Times New Roman"/>
                <a:ea typeface="Times New Roman"/>
                <a:cs typeface="Times New Roman"/>
              </a:defRPr>
            </a:lvl9pPr>
          </a:lstStyle>
          <a:p xmlns:a="http://schemas.openxmlformats.org/drawingml/2006/main">
            <a:pPr algn="r">
              <a:defRPr sz="1200" b="0">
                <a:solidFill>
                  <a:srgbClr val="367653"/>
                </a:solidFill>
                <a:latin typeface="Times New Roman"/>
                <a:ea typeface="Times New Roman"/>
                <a:cs typeface="Times New Roman"/>
              </a:defRPr>
            </a:pPr>
            <a:r>
              <a:rPr sz="1200" b="0">
                <a:solidFill>
                  <a:srgbClr val="367653"/>
                </a:solidFill>
                <a:latin typeface="Times New Roman"/>
                <a:ea typeface="Times New Roman"/>
                <a:cs typeface="Times New Roman"/>
              </a:rPr>
              <a:t>10</a:t>
            </a:r>
          </a:p>
        </p:txBody>
      </p:sp>
      <p:sp>
        <p:nvSpPr>
          <p:cNvPr id="3" name="sources">
            <a:extLst xmlns:a="http://schemas.openxmlformats.org/drawingml/2006/main">
              <a:ext uri="{FF2B5EF4-FFF2-40B4-BE49-F238E27FC236}">
                <a16:creationId xmlns:a16="http://schemas.microsoft.com/office/drawing/2014/main" id="{91FAD976-24C6-4029-90A4-4C2EE4914157}"/>
              </a:ext>
            </a:extLst>
          </p:cNvPr>
          <p:cNvSpPr>
            <a:spLocks xmlns:a="http://schemas.openxmlformats.org/drawingml/2006/main" noGrp="1"/>
          </p:cNvSpPr>
          <p:nvPr/>
        </p:nvSpPr>
        <p:spPr>
          <a:xfrm xmlns:a="http://schemas.openxmlformats.org/drawingml/2006/main">
            <a:off x="609600" y="6419850"/>
            <a:ext cx="10287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200" b="0">
                <a:solidFill>
                  <a:srgbClr val="515151"/>
                </a:solidFill>
                <a:latin typeface="Times New Roman"/>
                <a:ea typeface="Times New Roman"/>
                <a:cs typeface="Times New Roman"/>
              </a:defRPr>
            </a:defPPr>
            <a:lvl1pPr algn="l">
              <a:defRPr sz="1200" b="0">
                <a:solidFill>
                  <a:srgbClr val="515151"/>
                </a:solidFill>
                <a:latin typeface="Times New Roman"/>
                <a:ea typeface="Times New Roman"/>
                <a:cs typeface="Times New Roman"/>
              </a:defRPr>
            </a:lvl1pPr>
            <a:lvl2pPr algn="l">
              <a:defRPr sz="1200" b="0">
                <a:solidFill>
                  <a:srgbClr val="515151"/>
                </a:solidFill>
                <a:latin typeface="Times New Roman"/>
                <a:ea typeface="Times New Roman"/>
                <a:cs typeface="Times New Roman"/>
              </a:defRPr>
            </a:lvl2pPr>
            <a:lvl3pPr algn="l">
              <a:defRPr sz="1200" b="0">
                <a:solidFill>
                  <a:srgbClr val="515151"/>
                </a:solidFill>
                <a:latin typeface="Times New Roman"/>
                <a:ea typeface="Times New Roman"/>
                <a:cs typeface="Times New Roman"/>
              </a:defRPr>
            </a:lvl3pPr>
            <a:lvl4pPr algn="l">
              <a:defRPr sz="1200" b="0">
                <a:solidFill>
                  <a:srgbClr val="515151"/>
                </a:solidFill>
                <a:latin typeface="Times New Roman"/>
                <a:ea typeface="Times New Roman"/>
                <a:cs typeface="Times New Roman"/>
              </a:defRPr>
            </a:lvl4pPr>
            <a:lvl5pPr algn="l">
              <a:defRPr sz="1200" b="0">
                <a:solidFill>
                  <a:srgbClr val="515151"/>
                </a:solidFill>
                <a:latin typeface="Times New Roman"/>
                <a:ea typeface="Times New Roman"/>
                <a:cs typeface="Times New Roman"/>
              </a:defRPr>
            </a:lvl5pPr>
            <a:lvl6pPr algn="l">
              <a:defRPr sz="1200" b="0">
                <a:solidFill>
                  <a:srgbClr val="515151"/>
                </a:solidFill>
                <a:latin typeface="Times New Roman"/>
                <a:ea typeface="Times New Roman"/>
                <a:cs typeface="Times New Roman"/>
              </a:defRPr>
            </a:lvl6pPr>
            <a:lvl7pPr algn="l">
              <a:defRPr sz="1200" b="0">
                <a:solidFill>
                  <a:srgbClr val="515151"/>
                </a:solidFill>
                <a:latin typeface="Times New Roman"/>
                <a:ea typeface="Times New Roman"/>
                <a:cs typeface="Times New Roman"/>
              </a:defRPr>
            </a:lvl7pPr>
            <a:lvl8pPr algn="l">
              <a:defRPr sz="1200" b="0">
                <a:solidFill>
                  <a:srgbClr val="515151"/>
                </a:solidFill>
                <a:latin typeface="Times New Roman"/>
                <a:ea typeface="Times New Roman"/>
                <a:cs typeface="Times New Roman"/>
              </a:defRPr>
            </a:lvl8pPr>
            <a:lvl9pPr algn="l">
              <a:defRPr sz="1200" b="0">
                <a:solidFill>
                  <a:srgbClr val="515151"/>
                </a:solidFill>
                <a:latin typeface="Times New Roman"/>
                <a:ea typeface="Times New Roman"/>
                <a:cs typeface="Times New Roman"/>
              </a:defRPr>
            </a:lvl9pPr>
          </a:lstStyle>
          <a:p xmlns:a="http://schemas.openxmlformats.org/drawingml/2006/main">
            <a:pPr algn="l">
              <a:defRPr sz="1200" b="0">
                <a:solidFill>
                  <a:srgbClr val="515151"/>
                </a:solidFill>
                <a:latin typeface="Times New Roman"/>
                <a:ea typeface="Times New Roman"/>
                <a:cs typeface="Times New Roman"/>
              </a:defRPr>
            </a:pPr>
            <a:r>
              <a:rPr sz="1200" b="0">
                <a:solidFill>
                  <a:srgbClr val="515151"/>
                </a:solidFill>
                <a:latin typeface="Times New Roman"/>
                <a:ea typeface="Times New Roman"/>
                <a:cs typeface="Times New Roman"/>
              </a:rPr>
              <a:t>Fuentes: [9] [10]</a:t>
            </a:r>
          </a:p>
        </p:txBody>
      </p:sp>
      <p:graphicFrame>
        <p:nvGraphicFramePr>
          <p:cNvPr id="4" name="">
            <a:extLst xmlns:a="http://schemas.openxmlformats.org/drawingml/2006/main">
              <a:ext uri="{FF2B5EF4-FFF2-40B4-BE49-F238E27FC236}">
                <a16:creationId xmlns:a16="http://schemas.microsoft.com/office/drawing/2014/main" id="{70AE78A9-38FE-40DF-94BF-061C15D8ADE3}"/>
              </a:ext>
            </a:extLst>
          </p:cNvPr>
          <p:cNvGraphicFramePr/>
          <p:nvPr/>
        </p:nvGraphicFramePr>
        <p:xfrm>
          <a:off xmlns:a="http://schemas.openxmlformats.org/drawingml/2006/main" x="609600" y="1504950"/>
          <a:ext xmlns:a="http://schemas.openxmlformats.org/drawingml/2006/main" cx="10972800" cy="3514725"/>
        </p:xfrm>
        <a:graphic xmlns:a="http://schemas.openxmlformats.org/drawingml/2006/main">
          <a:graphicData uri="http://schemas.openxmlformats.org/drawingml/2006/table">
            <a:tbl>
              <a:tblPr firstRow="1" bandRow="0"/>
              <a:tblGrid>
                <a:gridCol w="2667000"/>
                <a:gridCol w="8305800"/>
              </a:tblGrid>
              <a:tr h="581025">
                <a:tc>
                  <a:txBody>
                    <a:bodyPr wrap="square">
                      <a:noAutofit/>
                    </a:bodyPr>
                    <a:lstStyle/>
                    <a:p>
                      <a:pPr algn="l"/>
                      <a:r>
                        <a:rPr sz="2200" b="1">
                          <a:solidFill>
                            <a:srgbClr val="FFFFFF"/>
                          </a:solidFill>
                          <a:latin typeface="Times New Roman"/>
                          <a:ea typeface="Times New Roman"/>
                          <a:cs typeface="Times New Roman"/>
                        </a:rPr>
                        <a:t>Paso</a:t>
                      </a:r>
                    </a:p>
                  </a:txBody>
                  <a:tcPr marL="142875" marR="142875" marT="114300" marB="95250" anchor="ctr">
                    <a:lnL w="19050">
                      <a:solidFill>
                        <a:srgbClr val="FFFFFF"/>
                      </a:solidFill>
                      <a:prstDash val="solid"/>
                    </a:lnL>
                    <a:lnR w="19050">
                      <a:solidFill>
                        <a:srgbClr val="FFFFFF"/>
                      </a:solidFill>
                      <a:prstDash val="solid"/>
                    </a:lnR>
                    <a:lnT w="19050">
                      <a:solidFill>
                        <a:srgbClr val="FFFFFF"/>
                      </a:solidFill>
                      <a:prstDash val="solid"/>
                    </a:lnT>
                    <a:lnB w="19050">
                      <a:solidFill>
                        <a:srgbClr val="FFFFFF"/>
                      </a:solidFill>
                      <a:prstDash val="solid"/>
                    </a:lnB>
                    <a:solidFill>
                      <a:srgbClr val="174A35"/>
                    </a:solidFill>
                  </a:tcPr>
                </a:tc>
                <a:tc>
                  <a:txBody>
                    <a:bodyPr wrap="square">
                      <a:noAutofit/>
                    </a:bodyPr>
                    <a:lstStyle/>
                    <a:p>
                      <a:pPr algn="l"/>
                      <a:r>
                        <a:rPr sz="2200" b="1">
                          <a:solidFill>
                            <a:srgbClr val="FFFFFF"/>
                          </a:solidFill>
                          <a:latin typeface="Times New Roman"/>
                          <a:ea typeface="Times New Roman"/>
                          <a:cs typeface="Times New Roman"/>
                        </a:rPr>
                        <a:t>Pregunta</a:t>
                      </a:r>
                    </a:p>
                  </a:txBody>
                  <a:tcPr marL="142875" marR="142875" marT="114300" marB="95250" anchor="ctr">
                    <a:lnR w="19050">
                      <a:solidFill>
                        <a:srgbClr val="FFFFFF"/>
                      </a:solidFill>
                      <a:prstDash val="solid"/>
                    </a:lnR>
                    <a:lnT w="19050">
                      <a:solidFill>
                        <a:srgbClr val="FFFFFF"/>
                      </a:solidFill>
                      <a:prstDash val="solid"/>
                    </a:lnT>
                    <a:lnB w="19050">
                      <a:solidFill>
                        <a:srgbClr val="FFFFFF"/>
                      </a:solidFill>
                      <a:prstDash val="solid"/>
                    </a:lnB>
                    <a:solidFill>
                      <a:srgbClr val="174A35"/>
                    </a:solidFill>
                  </a:tcPr>
                </a:tc>
              </a:tr>
              <a:tr h="733425">
                <a:tc>
                  <a:txBody>
                    <a:bodyPr wrap="square">
                      <a:noAutofit/>
                    </a:bodyPr>
                    <a:lstStyle/>
                    <a:p>
                      <a:pPr algn="l"/>
                      <a:r>
                        <a:rPr sz="2200" b="0">
                          <a:solidFill>
                            <a:srgbClr val="181818"/>
                          </a:solidFill>
                          <a:latin typeface="Times New Roman"/>
                          <a:ea typeface="Times New Roman"/>
                          <a:cs typeface="Times New Roman"/>
                        </a:rPr>
                        <a:t>1. Muestra</a:t>
                      </a:r>
                    </a:p>
                  </a:txBody>
                  <a:tcPr marL="142875" marR="142875" marT="114300" marB="95250" anchor="ctr">
                    <a:lnL w="19050">
                      <a:solidFill>
                        <a:srgbClr val="FFFFFF"/>
                      </a:solidFill>
                      <a:prstDash val="solid"/>
                    </a:lnL>
                    <a:lnR w="19050">
                      <a:solidFill>
                        <a:srgbClr val="FFFFFF"/>
                      </a:solidFill>
                      <a:prstDash val="solid"/>
                    </a:lnR>
                    <a:lnB w="19050">
                      <a:solidFill>
                        <a:srgbClr val="FFFFFF"/>
                      </a:solidFill>
                      <a:prstDash val="solid"/>
                    </a:lnB>
                    <a:solidFill>
                      <a:srgbClr val="F0F5EF"/>
                    </a:solidFill>
                  </a:tcPr>
                </a:tc>
                <a:tc>
                  <a:txBody>
                    <a:bodyPr wrap="square">
                      <a:noAutofit/>
                    </a:bodyPr>
                    <a:lstStyle/>
                    <a:p>
                      <a:pPr algn="l"/>
                      <a:r>
                        <a:rPr sz="2200" b="0">
                          <a:solidFill>
                            <a:srgbClr val="181818"/>
                          </a:solidFill>
                          <a:latin typeface="Times New Roman"/>
                          <a:ea typeface="Times New Roman"/>
                          <a:cs typeface="Times New Roman"/>
                        </a:rPr>
                        <a:t>¿Especie, arterial o venosa, obtención y demora?</a:t>
                      </a:r>
                    </a:p>
                  </a:txBody>
                  <a:tcPr marL="142875" marR="142875" marT="114300" marB="95250" anchor="ctr">
                    <a:lnR w="19050">
                      <a:solidFill>
                        <a:srgbClr val="FFFFFF"/>
                      </a:solidFill>
                      <a:prstDash val="solid"/>
                    </a:lnR>
                    <a:lnB w="19050">
                      <a:solidFill>
                        <a:srgbClr val="FFFFFF"/>
                      </a:solidFill>
                      <a:prstDash val="solid"/>
                    </a:lnB>
                    <a:solidFill>
                      <a:srgbClr val="F0F5EF"/>
                    </a:solidFill>
                  </a:tcPr>
                </a:tc>
              </a:tr>
              <a:tr h="733425">
                <a:tc>
                  <a:txBody>
                    <a:bodyPr wrap="square">
                      <a:noAutofit/>
                    </a:bodyPr>
                    <a:lstStyle/>
                    <a:p>
                      <a:pPr algn="l"/>
                      <a:r>
                        <a:rPr sz="2200" b="0">
                          <a:solidFill>
                            <a:srgbClr val="181818"/>
                          </a:solidFill>
                          <a:latin typeface="Times New Roman"/>
                          <a:ea typeface="Times New Roman"/>
                          <a:cs typeface="Times New Roman"/>
                        </a:rPr>
                        <a:t>2. pH</a:t>
                      </a:r>
                    </a:p>
                  </a:txBody>
                  <a:tcPr marL="142875" marR="142875" marT="114300" marB="95250" anchor="ctr">
                    <a:lnL w="19050">
                      <a:solidFill>
                        <a:srgbClr val="FFFFFF"/>
                      </a:solidFill>
                      <a:prstDash val="solid"/>
                    </a:lnL>
                    <a:lnR w="19050">
                      <a:solidFill>
                        <a:srgbClr val="FFFFFF"/>
                      </a:solidFill>
                      <a:prstDash val="solid"/>
                    </a:lnR>
                    <a:lnB w="19050">
                      <a:solidFill>
                        <a:srgbClr val="FFFFFF"/>
                      </a:solidFill>
                      <a:prstDash val="solid"/>
                    </a:lnB>
                    <a:solidFill>
                      <a:srgbClr val="FFFFFF"/>
                    </a:solidFill>
                  </a:tcPr>
                </a:tc>
                <a:tc>
                  <a:txBody>
                    <a:bodyPr wrap="square">
                      <a:noAutofit/>
                    </a:bodyPr>
                    <a:lstStyle/>
                    <a:p>
                      <a:pPr algn="l"/>
                      <a:r>
                        <a:rPr sz="2200" b="0">
                          <a:solidFill>
                            <a:srgbClr val="181818"/>
                          </a:solidFill>
                          <a:latin typeface="Times New Roman"/>
                          <a:ea typeface="Times New Roman"/>
                          <a:cs typeface="Times New Roman"/>
                        </a:rPr>
                        <a:t>¿Cuál es el criterio o intervalo aplicable?</a:t>
                      </a:r>
                    </a:p>
                  </a:txBody>
                  <a:tcPr marL="142875" marR="142875" marT="114300" marB="95250" anchor="ctr">
                    <a:lnR w="19050">
                      <a:solidFill>
                        <a:srgbClr val="FFFFFF"/>
                      </a:solidFill>
                      <a:prstDash val="solid"/>
                    </a:lnR>
                    <a:lnB w="19050">
                      <a:solidFill>
                        <a:srgbClr val="FFFFFF"/>
                      </a:solidFill>
                      <a:prstDash val="solid"/>
                    </a:lnB>
                    <a:solidFill>
                      <a:srgbClr val="FFFFFF"/>
                    </a:solidFill>
                  </a:tcPr>
                </a:tc>
              </a:tr>
              <a:tr h="733425">
                <a:tc>
                  <a:txBody>
                    <a:bodyPr wrap="square">
                      <a:noAutofit/>
                    </a:bodyPr>
                    <a:lstStyle/>
                    <a:p>
                      <a:pPr algn="l"/>
                      <a:r>
                        <a:rPr sz="2200" b="0">
                          <a:solidFill>
                            <a:srgbClr val="181818"/>
                          </a:solidFill>
                          <a:latin typeface="Times New Roman"/>
                          <a:ea typeface="Times New Roman"/>
                          <a:cs typeface="Times New Roman"/>
                        </a:rPr>
                        <a:t>3. Componentes</a:t>
                      </a:r>
                    </a:p>
                  </a:txBody>
                  <a:tcPr marL="142875" marR="142875" marT="114300" marB="95250" anchor="ctr">
                    <a:lnL w="19050">
                      <a:solidFill>
                        <a:srgbClr val="FFFFFF"/>
                      </a:solidFill>
                      <a:prstDash val="solid"/>
                    </a:lnL>
                    <a:lnR w="19050">
                      <a:solidFill>
                        <a:srgbClr val="FFFFFF"/>
                      </a:solidFill>
                      <a:prstDash val="solid"/>
                    </a:lnR>
                    <a:lnB w="19050">
                      <a:solidFill>
                        <a:srgbClr val="FFFFFF"/>
                      </a:solidFill>
                      <a:prstDash val="solid"/>
                    </a:lnB>
                    <a:solidFill>
                      <a:srgbClr val="F0F5EF"/>
                    </a:solidFill>
                  </a:tcPr>
                </a:tc>
                <a:tc>
                  <a:txBody>
                    <a:bodyPr wrap="square">
                      <a:noAutofit/>
                    </a:bodyPr>
                    <a:lstStyle/>
                    <a:p>
                      <a:pPr algn="l"/>
                      <a:r>
                        <a:rPr sz="2200" b="0">
                          <a:solidFill>
                            <a:srgbClr val="181818"/>
                          </a:solidFill>
                          <a:latin typeface="Times New Roman"/>
                          <a:ea typeface="Times New Roman"/>
                          <a:cs typeface="Times New Roman"/>
                        </a:rPr>
                        <a:t>¿Cómo se relacionan PCO₂ y HCO₃⁻ con el pH?</a:t>
                      </a:r>
                    </a:p>
                  </a:txBody>
                  <a:tcPr marL="142875" marR="142875" marT="114300" marB="95250" anchor="ctr">
                    <a:lnR w="19050">
                      <a:solidFill>
                        <a:srgbClr val="FFFFFF"/>
                      </a:solidFill>
                      <a:prstDash val="solid"/>
                    </a:lnR>
                    <a:lnB w="19050">
                      <a:solidFill>
                        <a:srgbClr val="FFFFFF"/>
                      </a:solidFill>
                      <a:prstDash val="solid"/>
                    </a:lnB>
                    <a:solidFill>
                      <a:srgbClr val="F0F5EF"/>
                    </a:solidFill>
                  </a:tcPr>
                </a:tc>
              </a:tr>
              <a:tr h="733425">
                <a:tc>
                  <a:txBody>
                    <a:bodyPr wrap="square">
                      <a:noAutofit/>
                    </a:bodyPr>
                    <a:lstStyle/>
                    <a:p>
                      <a:pPr algn="l"/>
                      <a:r>
                        <a:rPr sz="2200" b="0">
                          <a:solidFill>
                            <a:srgbClr val="181818"/>
                          </a:solidFill>
                          <a:latin typeface="Times New Roman"/>
                          <a:ea typeface="Times New Roman"/>
                          <a:cs typeface="Times New Roman"/>
                        </a:rPr>
                        <a:t>4. Integración</a:t>
                      </a:r>
                    </a:p>
                  </a:txBody>
                  <a:tcPr marL="142875" marR="142875" marT="114300" marB="95250" anchor="ctr">
                    <a:lnL w="19050">
                      <a:solidFill>
                        <a:srgbClr val="FFFFFF"/>
                      </a:solidFill>
                      <a:prstDash val="solid"/>
                    </a:lnL>
                    <a:lnR w="19050">
                      <a:solidFill>
                        <a:srgbClr val="FFFFFF"/>
                      </a:solidFill>
                      <a:prstDash val="solid"/>
                    </a:lnR>
                    <a:lnB w="19050">
                      <a:solidFill>
                        <a:srgbClr val="FFFFFF"/>
                      </a:solidFill>
                      <a:prstDash val="solid"/>
                    </a:lnB>
                    <a:solidFill>
                      <a:srgbClr val="FFFFFF"/>
                    </a:solidFill>
                  </a:tcPr>
                </a:tc>
                <a:tc>
                  <a:txBody>
                    <a:bodyPr wrap="square">
                      <a:noAutofit/>
                    </a:bodyPr>
                    <a:lstStyle/>
                    <a:p>
                      <a:pPr algn="l"/>
                      <a:r>
                        <a:rPr sz="2200" b="0">
                          <a:solidFill>
                            <a:srgbClr val="181818"/>
                          </a:solidFill>
                          <a:latin typeface="Times New Roman"/>
                          <a:ea typeface="Times New Roman"/>
                          <a:cs typeface="Times New Roman"/>
                        </a:rPr>
                        <a:t>¿Respuesta, electrolitos e historia son coherentes?</a:t>
                      </a:r>
                    </a:p>
                  </a:txBody>
                  <a:tcPr marL="142875" marR="142875" marT="114300" marB="95250" anchor="ctr">
                    <a:lnR w="19050">
                      <a:solidFill>
                        <a:srgbClr val="FFFFFF"/>
                      </a:solidFill>
                      <a:prstDash val="solid"/>
                    </a:lnR>
                    <a:lnB w="19050">
                      <a:solidFill>
                        <a:srgbClr val="FFFFFF"/>
                      </a:solidFill>
                      <a:prstDash val="solid"/>
                    </a:lnB>
                    <a:solidFill>
                      <a:srgbClr val="FFFFFF"/>
                    </a:solidFill>
                  </a:tcPr>
                </a:tc>
              </a:tr>
            </a:tbl>
          </a:graphicData>
        </a:graphic>
      </p:graphicFrame>
      <p:sp>
        <p:nvSpPr>
          <p:cNvPr id="5" name="text">
            <a:extLst xmlns:a="http://schemas.openxmlformats.org/drawingml/2006/main">
              <a:ext uri="{FF2B5EF4-FFF2-40B4-BE49-F238E27FC236}">
                <a16:creationId xmlns:a16="http://schemas.microsoft.com/office/drawing/2014/main" id="{C9FF248A-592D-4989-977D-984865AF4BAB}"/>
              </a:ext>
            </a:extLst>
          </p:cNvPr>
          <p:cNvSpPr>
            <a:spLocks xmlns:a="http://schemas.openxmlformats.org/drawingml/2006/main" noGrp="1"/>
          </p:cNvSpPr>
          <p:nvPr/>
        </p:nvSpPr>
        <p:spPr>
          <a:xfrm xmlns:a="http://schemas.openxmlformats.org/drawingml/2006/main">
            <a:off x="609600" y="5381625"/>
            <a:ext cx="109728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600" b="1">
                <a:solidFill>
                  <a:srgbClr val="367653"/>
                </a:solidFill>
                <a:latin typeface="Times New Roman"/>
                <a:ea typeface="Times New Roman"/>
                <a:cs typeface="Times New Roman"/>
              </a:defRPr>
            </a:defPPr>
            <a:lvl1pPr algn="l">
              <a:defRPr sz="2600" b="1">
                <a:solidFill>
                  <a:srgbClr val="367653"/>
                </a:solidFill>
                <a:latin typeface="Times New Roman"/>
                <a:ea typeface="Times New Roman"/>
                <a:cs typeface="Times New Roman"/>
              </a:defRPr>
            </a:lvl1pPr>
            <a:lvl2pPr algn="l">
              <a:defRPr sz="2600" b="1">
                <a:solidFill>
                  <a:srgbClr val="367653"/>
                </a:solidFill>
                <a:latin typeface="Times New Roman"/>
                <a:ea typeface="Times New Roman"/>
                <a:cs typeface="Times New Roman"/>
              </a:defRPr>
            </a:lvl2pPr>
            <a:lvl3pPr algn="l">
              <a:defRPr sz="2600" b="1">
                <a:solidFill>
                  <a:srgbClr val="367653"/>
                </a:solidFill>
                <a:latin typeface="Times New Roman"/>
                <a:ea typeface="Times New Roman"/>
                <a:cs typeface="Times New Roman"/>
              </a:defRPr>
            </a:lvl3pPr>
            <a:lvl4pPr algn="l">
              <a:defRPr sz="2600" b="1">
                <a:solidFill>
                  <a:srgbClr val="367653"/>
                </a:solidFill>
                <a:latin typeface="Times New Roman"/>
                <a:ea typeface="Times New Roman"/>
                <a:cs typeface="Times New Roman"/>
              </a:defRPr>
            </a:lvl4pPr>
            <a:lvl5pPr algn="l">
              <a:defRPr sz="2600" b="1">
                <a:solidFill>
                  <a:srgbClr val="367653"/>
                </a:solidFill>
                <a:latin typeface="Times New Roman"/>
                <a:ea typeface="Times New Roman"/>
                <a:cs typeface="Times New Roman"/>
              </a:defRPr>
            </a:lvl5pPr>
            <a:lvl6pPr algn="l">
              <a:defRPr sz="2600" b="1">
                <a:solidFill>
                  <a:srgbClr val="367653"/>
                </a:solidFill>
                <a:latin typeface="Times New Roman"/>
                <a:ea typeface="Times New Roman"/>
                <a:cs typeface="Times New Roman"/>
              </a:defRPr>
            </a:lvl6pPr>
            <a:lvl7pPr algn="l">
              <a:defRPr sz="2600" b="1">
                <a:solidFill>
                  <a:srgbClr val="367653"/>
                </a:solidFill>
                <a:latin typeface="Times New Roman"/>
                <a:ea typeface="Times New Roman"/>
                <a:cs typeface="Times New Roman"/>
              </a:defRPr>
            </a:lvl7pPr>
            <a:lvl8pPr algn="l">
              <a:defRPr sz="2600" b="1">
                <a:solidFill>
                  <a:srgbClr val="367653"/>
                </a:solidFill>
                <a:latin typeface="Times New Roman"/>
                <a:ea typeface="Times New Roman"/>
                <a:cs typeface="Times New Roman"/>
              </a:defRPr>
            </a:lvl8pPr>
            <a:lvl9pPr algn="l">
              <a:defRPr sz="2600" b="1">
                <a:solidFill>
                  <a:srgbClr val="367653"/>
                </a:solidFill>
                <a:latin typeface="Times New Roman"/>
                <a:ea typeface="Times New Roman"/>
                <a:cs typeface="Times New Roman"/>
              </a:defRPr>
            </a:lvl9pPr>
          </a:lstStyle>
          <a:p xmlns:a="http://schemas.openxmlformats.org/drawingml/2006/main">
            <a:pPr algn="l">
              <a:defRPr sz="2600" b="1">
                <a:solidFill>
                  <a:srgbClr val="367653"/>
                </a:solidFill>
                <a:latin typeface="Times New Roman"/>
                <a:ea typeface="Times New Roman"/>
                <a:cs typeface="Times New Roman"/>
              </a:defRPr>
            </a:pPr>
            <a:r>
              <a:rPr sz="2600" b="1">
                <a:solidFill>
                  <a:srgbClr val="367653"/>
                </a:solidFill>
                <a:latin typeface="Times New Roman"/>
                <a:ea typeface="Times New Roman"/>
                <a:cs typeface="Times New Roman"/>
              </a:rPr>
              <a:t>AG = (Na⁺ + K⁺) − (Cl⁻ + HCO₃⁻)</a:t>
            </a:r>
          </a:p>
        </p:txBody>
      </p:sp>
    </p:spTree>
    <p:extLst>
      <p:ext uri="{BB962C8B-B14F-4D97-AF65-F5344CB8AC3E}">
        <p14:creationId xmlns:p14="http://schemas.microsoft.com/office/powerpoint/2010/main" val="1033463298"/>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lide-title">
            <a:extLst xmlns:a="http://schemas.openxmlformats.org/drawingml/2006/main">
              <a:ext uri="{FF2B5EF4-FFF2-40B4-BE49-F238E27FC236}">
                <a16:creationId xmlns:a16="http://schemas.microsoft.com/office/drawing/2014/main" id="{D71131BE-CE81-4312-9E6E-49BE34294B38}"/>
              </a:ext>
            </a:extLst>
          </p:cNvPr>
          <p:cNvSpPr>
            <a:spLocks xmlns:a="http://schemas.openxmlformats.org/drawingml/2006/main" noGrp="1"/>
          </p:cNvSpPr>
          <p:nvPr/>
        </p:nvSpPr>
        <p:spPr>
          <a:xfrm xmlns:a="http://schemas.openxmlformats.org/drawingml/2006/main">
            <a:off x="609600" y="390525"/>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400" b="1">
                <a:solidFill>
                  <a:srgbClr val="174A35"/>
                </a:solidFill>
                <a:latin typeface="Times New Roman"/>
                <a:ea typeface="Times New Roman"/>
                <a:cs typeface="Times New Roman"/>
              </a:defRPr>
            </a:defPPr>
            <a:lvl1pPr algn="l">
              <a:defRPr sz="3400" b="1">
                <a:solidFill>
                  <a:srgbClr val="174A35"/>
                </a:solidFill>
                <a:latin typeface="Times New Roman"/>
                <a:ea typeface="Times New Roman"/>
                <a:cs typeface="Times New Roman"/>
              </a:defRPr>
            </a:lvl1pPr>
            <a:lvl2pPr algn="l">
              <a:defRPr sz="3400" b="1">
                <a:solidFill>
                  <a:srgbClr val="174A35"/>
                </a:solidFill>
                <a:latin typeface="Times New Roman"/>
                <a:ea typeface="Times New Roman"/>
                <a:cs typeface="Times New Roman"/>
              </a:defRPr>
            </a:lvl2pPr>
            <a:lvl3pPr algn="l">
              <a:defRPr sz="3400" b="1">
                <a:solidFill>
                  <a:srgbClr val="174A35"/>
                </a:solidFill>
                <a:latin typeface="Times New Roman"/>
                <a:ea typeface="Times New Roman"/>
                <a:cs typeface="Times New Roman"/>
              </a:defRPr>
            </a:lvl3pPr>
            <a:lvl4pPr algn="l">
              <a:defRPr sz="3400" b="1">
                <a:solidFill>
                  <a:srgbClr val="174A35"/>
                </a:solidFill>
                <a:latin typeface="Times New Roman"/>
                <a:ea typeface="Times New Roman"/>
                <a:cs typeface="Times New Roman"/>
              </a:defRPr>
            </a:lvl4pPr>
            <a:lvl5pPr algn="l">
              <a:defRPr sz="3400" b="1">
                <a:solidFill>
                  <a:srgbClr val="174A35"/>
                </a:solidFill>
                <a:latin typeface="Times New Roman"/>
                <a:ea typeface="Times New Roman"/>
                <a:cs typeface="Times New Roman"/>
              </a:defRPr>
            </a:lvl5pPr>
            <a:lvl6pPr algn="l">
              <a:defRPr sz="3400" b="1">
                <a:solidFill>
                  <a:srgbClr val="174A35"/>
                </a:solidFill>
                <a:latin typeface="Times New Roman"/>
                <a:ea typeface="Times New Roman"/>
                <a:cs typeface="Times New Roman"/>
              </a:defRPr>
            </a:lvl6pPr>
            <a:lvl7pPr algn="l">
              <a:defRPr sz="3400" b="1">
                <a:solidFill>
                  <a:srgbClr val="174A35"/>
                </a:solidFill>
                <a:latin typeface="Times New Roman"/>
                <a:ea typeface="Times New Roman"/>
                <a:cs typeface="Times New Roman"/>
              </a:defRPr>
            </a:lvl7pPr>
            <a:lvl8pPr algn="l">
              <a:defRPr sz="3400" b="1">
                <a:solidFill>
                  <a:srgbClr val="174A35"/>
                </a:solidFill>
                <a:latin typeface="Times New Roman"/>
                <a:ea typeface="Times New Roman"/>
                <a:cs typeface="Times New Roman"/>
              </a:defRPr>
            </a:lvl8pPr>
            <a:lvl9pPr algn="l">
              <a:defRPr sz="3400" b="1">
                <a:solidFill>
                  <a:srgbClr val="174A35"/>
                </a:solidFill>
                <a:latin typeface="Times New Roman"/>
                <a:ea typeface="Times New Roman"/>
                <a:cs typeface="Times New Roman"/>
              </a:defRPr>
            </a:lvl9pPr>
          </a:lstStyle>
          <a:p xmlns:a="http://schemas.openxmlformats.org/drawingml/2006/main">
            <a:pPr algn="l">
              <a:defRPr sz="3400" b="1">
                <a:solidFill>
                  <a:srgbClr val="174A35"/>
                </a:solidFill>
                <a:latin typeface="Times New Roman"/>
                <a:ea typeface="Times New Roman"/>
                <a:cs typeface="Times New Roman"/>
              </a:defRPr>
            </a:pPr>
            <a:r>
              <a:rPr sz="3400" b="1">
                <a:solidFill>
                  <a:srgbClr val="174A35"/>
                </a:solidFill>
                <a:latin typeface="Times New Roman"/>
                <a:ea typeface="Times New Roman"/>
                <a:cs typeface="Times New Roman"/>
              </a:rPr>
              <a:t>Henderson–Hasselbalch: dos entradas</a:t>
            </a:r>
          </a:p>
        </p:txBody>
      </p:sp>
      <p:sp>
        <p:nvSpPr>
          <p:cNvPr id="2" name="page-number">
            <a:extLst xmlns:a="http://schemas.openxmlformats.org/drawingml/2006/main">
              <a:ext uri="{FF2B5EF4-FFF2-40B4-BE49-F238E27FC236}">
                <a16:creationId xmlns:a16="http://schemas.microsoft.com/office/drawing/2014/main" id="{C2D7F824-A266-4C57-BBF7-19F76ACCBF40}"/>
              </a:ext>
            </a:extLst>
          </p:cNvPr>
          <p:cNvSpPr>
            <a:spLocks xmlns:a="http://schemas.openxmlformats.org/drawingml/2006/main" noGrp="1"/>
          </p:cNvSpPr>
          <p:nvPr/>
        </p:nvSpPr>
        <p:spPr>
          <a:xfrm xmlns:a="http://schemas.openxmlformats.org/drawingml/2006/main">
            <a:off x="11077575" y="64198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00" b="0">
                <a:solidFill>
                  <a:srgbClr val="367653"/>
                </a:solidFill>
                <a:latin typeface="Times New Roman"/>
                <a:ea typeface="Times New Roman"/>
                <a:cs typeface="Times New Roman"/>
              </a:defRPr>
            </a:defPPr>
            <a:lvl1pPr algn="r">
              <a:defRPr sz="1200" b="0">
                <a:solidFill>
                  <a:srgbClr val="367653"/>
                </a:solidFill>
                <a:latin typeface="Times New Roman"/>
                <a:ea typeface="Times New Roman"/>
                <a:cs typeface="Times New Roman"/>
              </a:defRPr>
            </a:lvl1pPr>
            <a:lvl2pPr algn="r">
              <a:defRPr sz="1200" b="0">
                <a:solidFill>
                  <a:srgbClr val="367653"/>
                </a:solidFill>
                <a:latin typeface="Times New Roman"/>
                <a:ea typeface="Times New Roman"/>
                <a:cs typeface="Times New Roman"/>
              </a:defRPr>
            </a:lvl2pPr>
            <a:lvl3pPr algn="r">
              <a:defRPr sz="1200" b="0">
                <a:solidFill>
                  <a:srgbClr val="367653"/>
                </a:solidFill>
                <a:latin typeface="Times New Roman"/>
                <a:ea typeface="Times New Roman"/>
                <a:cs typeface="Times New Roman"/>
              </a:defRPr>
            </a:lvl3pPr>
            <a:lvl4pPr algn="r">
              <a:defRPr sz="1200" b="0">
                <a:solidFill>
                  <a:srgbClr val="367653"/>
                </a:solidFill>
                <a:latin typeface="Times New Roman"/>
                <a:ea typeface="Times New Roman"/>
                <a:cs typeface="Times New Roman"/>
              </a:defRPr>
            </a:lvl4pPr>
            <a:lvl5pPr algn="r">
              <a:defRPr sz="1200" b="0">
                <a:solidFill>
                  <a:srgbClr val="367653"/>
                </a:solidFill>
                <a:latin typeface="Times New Roman"/>
                <a:ea typeface="Times New Roman"/>
                <a:cs typeface="Times New Roman"/>
              </a:defRPr>
            </a:lvl5pPr>
            <a:lvl6pPr algn="r">
              <a:defRPr sz="1200" b="0">
                <a:solidFill>
                  <a:srgbClr val="367653"/>
                </a:solidFill>
                <a:latin typeface="Times New Roman"/>
                <a:ea typeface="Times New Roman"/>
                <a:cs typeface="Times New Roman"/>
              </a:defRPr>
            </a:lvl6pPr>
            <a:lvl7pPr algn="r">
              <a:defRPr sz="1200" b="0">
                <a:solidFill>
                  <a:srgbClr val="367653"/>
                </a:solidFill>
                <a:latin typeface="Times New Roman"/>
                <a:ea typeface="Times New Roman"/>
                <a:cs typeface="Times New Roman"/>
              </a:defRPr>
            </a:lvl7pPr>
            <a:lvl8pPr algn="r">
              <a:defRPr sz="1200" b="0">
                <a:solidFill>
                  <a:srgbClr val="367653"/>
                </a:solidFill>
                <a:latin typeface="Times New Roman"/>
                <a:ea typeface="Times New Roman"/>
                <a:cs typeface="Times New Roman"/>
              </a:defRPr>
            </a:lvl8pPr>
            <a:lvl9pPr algn="r">
              <a:defRPr sz="1200" b="0">
                <a:solidFill>
                  <a:srgbClr val="367653"/>
                </a:solidFill>
                <a:latin typeface="Times New Roman"/>
                <a:ea typeface="Times New Roman"/>
                <a:cs typeface="Times New Roman"/>
              </a:defRPr>
            </a:lvl9pPr>
          </a:lstStyle>
          <a:p xmlns:a="http://schemas.openxmlformats.org/drawingml/2006/main">
            <a:pPr algn="r">
              <a:defRPr sz="1200" b="0">
                <a:solidFill>
                  <a:srgbClr val="367653"/>
                </a:solidFill>
                <a:latin typeface="Times New Roman"/>
                <a:ea typeface="Times New Roman"/>
                <a:cs typeface="Times New Roman"/>
              </a:defRPr>
            </a:pPr>
            <a:r>
              <a:rPr sz="1200" b="0">
                <a:solidFill>
                  <a:srgbClr val="367653"/>
                </a:solidFill>
                <a:latin typeface="Times New Roman"/>
                <a:ea typeface="Times New Roman"/>
                <a:cs typeface="Times New Roman"/>
              </a:rPr>
              <a:t>11</a:t>
            </a:r>
          </a:p>
        </p:txBody>
      </p:sp>
      <p:sp>
        <p:nvSpPr>
          <p:cNvPr id="3" name="sources">
            <a:extLst xmlns:a="http://schemas.openxmlformats.org/drawingml/2006/main">
              <a:ext uri="{FF2B5EF4-FFF2-40B4-BE49-F238E27FC236}">
                <a16:creationId xmlns:a16="http://schemas.microsoft.com/office/drawing/2014/main" id="{D8DE6B06-3C88-40B3-9641-50079F1E7DFB}"/>
              </a:ext>
            </a:extLst>
          </p:cNvPr>
          <p:cNvSpPr>
            <a:spLocks xmlns:a="http://schemas.openxmlformats.org/drawingml/2006/main" noGrp="1"/>
          </p:cNvSpPr>
          <p:nvPr/>
        </p:nvSpPr>
        <p:spPr>
          <a:xfrm xmlns:a="http://schemas.openxmlformats.org/drawingml/2006/main">
            <a:off x="609600" y="6419850"/>
            <a:ext cx="10287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200" b="0">
                <a:solidFill>
                  <a:srgbClr val="515151"/>
                </a:solidFill>
                <a:latin typeface="Times New Roman"/>
                <a:ea typeface="Times New Roman"/>
                <a:cs typeface="Times New Roman"/>
              </a:defRPr>
            </a:defPPr>
            <a:lvl1pPr algn="l">
              <a:defRPr sz="1200" b="0">
                <a:solidFill>
                  <a:srgbClr val="515151"/>
                </a:solidFill>
                <a:latin typeface="Times New Roman"/>
                <a:ea typeface="Times New Roman"/>
                <a:cs typeface="Times New Roman"/>
              </a:defRPr>
            </a:lvl1pPr>
            <a:lvl2pPr algn="l">
              <a:defRPr sz="1200" b="0">
                <a:solidFill>
                  <a:srgbClr val="515151"/>
                </a:solidFill>
                <a:latin typeface="Times New Roman"/>
                <a:ea typeface="Times New Roman"/>
                <a:cs typeface="Times New Roman"/>
              </a:defRPr>
            </a:lvl2pPr>
            <a:lvl3pPr algn="l">
              <a:defRPr sz="1200" b="0">
                <a:solidFill>
                  <a:srgbClr val="515151"/>
                </a:solidFill>
                <a:latin typeface="Times New Roman"/>
                <a:ea typeface="Times New Roman"/>
                <a:cs typeface="Times New Roman"/>
              </a:defRPr>
            </a:lvl3pPr>
            <a:lvl4pPr algn="l">
              <a:defRPr sz="1200" b="0">
                <a:solidFill>
                  <a:srgbClr val="515151"/>
                </a:solidFill>
                <a:latin typeface="Times New Roman"/>
                <a:ea typeface="Times New Roman"/>
                <a:cs typeface="Times New Roman"/>
              </a:defRPr>
            </a:lvl4pPr>
            <a:lvl5pPr algn="l">
              <a:defRPr sz="1200" b="0">
                <a:solidFill>
                  <a:srgbClr val="515151"/>
                </a:solidFill>
                <a:latin typeface="Times New Roman"/>
                <a:ea typeface="Times New Roman"/>
                <a:cs typeface="Times New Roman"/>
              </a:defRPr>
            </a:lvl5pPr>
            <a:lvl6pPr algn="l">
              <a:defRPr sz="1200" b="0">
                <a:solidFill>
                  <a:srgbClr val="515151"/>
                </a:solidFill>
                <a:latin typeface="Times New Roman"/>
                <a:ea typeface="Times New Roman"/>
                <a:cs typeface="Times New Roman"/>
              </a:defRPr>
            </a:lvl6pPr>
            <a:lvl7pPr algn="l">
              <a:defRPr sz="1200" b="0">
                <a:solidFill>
                  <a:srgbClr val="515151"/>
                </a:solidFill>
                <a:latin typeface="Times New Roman"/>
                <a:ea typeface="Times New Roman"/>
                <a:cs typeface="Times New Roman"/>
              </a:defRPr>
            </a:lvl7pPr>
            <a:lvl8pPr algn="l">
              <a:defRPr sz="1200" b="0">
                <a:solidFill>
                  <a:srgbClr val="515151"/>
                </a:solidFill>
                <a:latin typeface="Times New Roman"/>
                <a:ea typeface="Times New Roman"/>
                <a:cs typeface="Times New Roman"/>
              </a:defRPr>
            </a:lvl8pPr>
            <a:lvl9pPr algn="l">
              <a:defRPr sz="1200" b="0">
                <a:solidFill>
                  <a:srgbClr val="515151"/>
                </a:solidFill>
                <a:latin typeface="Times New Roman"/>
                <a:ea typeface="Times New Roman"/>
                <a:cs typeface="Times New Roman"/>
              </a:defRPr>
            </a:lvl9pPr>
          </a:lstStyle>
          <a:p xmlns:a="http://schemas.openxmlformats.org/drawingml/2006/main">
            <a:pPr algn="l">
              <a:defRPr sz="1200" b="0">
                <a:solidFill>
                  <a:srgbClr val="515151"/>
                </a:solidFill>
                <a:latin typeface="Times New Roman"/>
                <a:ea typeface="Times New Roman"/>
                <a:cs typeface="Times New Roman"/>
              </a:defRPr>
            </a:pPr>
            <a:r>
              <a:rPr sz="1200" b="0">
                <a:solidFill>
                  <a:srgbClr val="515151"/>
                </a:solidFill>
                <a:latin typeface="Times New Roman"/>
                <a:ea typeface="Times New Roman"/>
                <a:cs typeface="Times New Roman"/>
              </a:rPr>
              <a:t>Fuentes: [2] [9]</a:t>
            </a:r>
          </a:p>
        </p:txBody>
      </p:sp>
      <p:graphicFrame>
        <p:nvGraphicFramePr>
          <p:cNvPr id="4" name="Chart">
            <a:extLst xmlns:a="http://schemas.openxmlformats.org/drawingml/2006/main">
              <a:ext uri="{FF2B5EF4-FFF2-40B4-BE49-F238E27FC236}">
                <a16:creationId xmlns:a16="http://schemas.microsoft.com/office/drawing/2014/main" id="{E030AA98-D4BF-432B-96EF-C5A67FDFEAC6}"/>
              </a:ext>
            </a:extLst>
          </p:cNvPr>
          <p:cNvGraphicFramePr/>
          <p:nvPr/>
        </p:nvGraphicFramePr>
        <p:xfrm>
          <a:off xmlns:a="http://schemas.openxmlformats.org/drawingml/2006/main" x="514350" y="1533525"/>
          <a:ext xmlns:a="http://schemas.openxmlformats.org/drawingml/2006/main" cx="7762875" cy="4543425"/>
        </p:xfrm>
        <a:graphic xmlns:a="http://schemas.openxmlformats.org/drawingml/2006/main">
          <a:graphicData uri="http://schemas.openxmlformats.org/drawingml/2006/chart">
            <c:chart xmlns:r="http://schemas.openxmlformats.org/officeDocument/2006/relationships" xmlns:c="http://schemas.openxmlformats.org/drawingml/2006/chart" r:id="R3477422ed5db48e6"/>
          </a:graphicData>
        </a:graphic>
      </p:graphicFrame>
      <p:sp>
        <p:nvSpPr>
          <p:cNvPr id="5" name="text">
            <a:extLst xmlns:a="http://schemas.openxmlformats.org/drawingml/2006/main">
              <a:ext uri="{FF2B5EF4-FFF2-40B4-BE49-F238E27FC236}">
                <a16:creationId xmlns:a16="http://schemas.microsoft.com/office/drawing/2014/main" id="{CA003456-ACBB-48B4-8D36-BFA906DAF262}"/>
              </a:ext>
            </a:extLst>
          </p:cNvPr>
          <p:cNvSpPr>
            <a:spLocks xmlns:a="http://schemas.openxmlformats.org/drawingml/2006/main" noGrp="1"/>
          </p:cNvSpPr>
          <p:nvPr/>
        </p:nvSpPr>
        <p:spPr>
          <a:xfrm xmlns:a="http://schemas.openxmlformats.org/drawingml/2006/main">
            <a:off x="8601075" y="1657350"/>
            <a:ext cx="2981325"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300" b="1">
                <a:solidFill>
                  <a:srgbClr val="367653"/>
                </a:solidFill>
                <a:latin typeface="Times New Roman"/>
                <a:ea typeface="Times New Roman"/>
                <a:cs typeface="Times New Roman"/>
              </a:defRPr>
            </a:defPPr>
            <a:lvl1pPr algn="l">
              <a:defRPr sz="2300" b="1">
                <a:solidFill>
                  <a:srgbClr val="367653"/>
                </a:solidFill>
                <a:latin typeface="Times New Roman"/>
                <a:ea typeface="Times New Roman"/>
                <a:cs typeface="Times New Roman"/>
              </a:defRPr>
            </a:lvl1pPr>
            <a:lvl2pPr algn="l">
              <a:defRPr sz="2300" b="1">
                <a:solidFill>
                  <a:srgbClr val="367653"/>
                </a:solidFill>
                <a:latin typeface="Times New Roman"/>
                <a:ea typeface="Times New Roman"/>
                <a:cs typeface="Times New Roman"/>
              </a:defRPr>
            </a:lvl2pPr>
            <a:lvl3pPr algn="l">
              <a:defRPr sz="2300" b="1">
                <a:solidFill>
                  <a:srgbClr val="367653"/>
                </a:solidFill>
                <a:latin typeface="Times New Roman"/>
                <a:ea typeface="Times New Roman"/>
                <a:cs typeface="Times New Roman"/>
              </a:defRPr>
            </a:lvl3pPr>
            <a:lvl4pPr algn="l">
              <a:defRPr sz="2300" b="1">
                <a:solidFill>
                  <a:srgbClr val="367653"/>
                </a:solidFill>
                <a:latin typeface="Times New Roman"/>
                <a:ea typeface="Times New Roman"/>
                <a:cs typeface="Times New Roman"/>
              </a:defRPr>
            </a:lvl4pPr>
            <a:lvl5pPr algn="l">
              <a:defRPr sz="2300" b="1">
                <a:solidFill>
                  <a:srgbClr val="367653"/>
                </a:solidFill>
                <a:latin typeface="Times New Roman"/>
                <a:ea typeface="Times New Roman"/>
                <a:cs typeface="Times New Roman"/>
              </a:defRPr>
            </a:lvl5pPr>
            <a:lvl6pPr algn="l">
              <a:defRPr sz="2300" b="1">
                <a:solidFill>
                  <a:srgbClr val="367653"/>
                </a:solidFill>
                <a:latin typeface="Times New Roman"/>
                <a:ea typeface="Times New Roman"/>
                <a:cs typeface="Times New Roman"/>
              </a:defRPr>
            </a:lvl6pPr>
            <a:lvl7pPr algn="l">
              <a:defRPr sz="2300" b="1">
                <a:solidFill>
                  <a:srgbClr val="367653"/>
                </a:solidFill>
                <a:latin typeface="Times New Roman"/>
                <a:ea typeface="Times New Roman"/>
                <a:cs typeface="Times New Roman"/>
              </a:defRPr>
            </a:lvl7pPr>
            <a:lvl8pPr algn="l">
              <a:defRPr sz="2300" b="1">
                <a:solidFill>
                  <a:srgbClr val="367653"/>
                </a:solidFill>
                <a:latin typeface="Times New Roman"/>
                <a:ea typeface="Times New Roman"/>
                <a:cs typeface="Times New Roman"/>
              </a:defRPr>
            </a:lvl8pPr>
            <a:lvl9pPr algn="l">
              <a:defRPr sz="2300" b="1">
                <a:solidFill>
                  <a:srgbClr val="367653"/>
                </a:solidFill>
                <a:latin typeface="Times New Roman"/>
                <a:ea typeface="Times New Roman"/>
                <a:cs typeface="Times New Roman"/>
              </a:defRPr>
            </a:lvl9pPr>
          </a:lstStyle>
          <a:p xmlns:a="http://schemas.openxmlformats.org/drawingml/2006/main">
            <a:pPr algn="l">
              <a:defRPr sz="2300" b="1">
                <a:solidFill>
                  <a:srgbClr val="367653"/>
                </a:solidFill>
                <a:latin typeface="Times New Roman"/>
                <a:ea typeface="Times New Roman"/>
                <a:cs typeface="Times New Roman"/>
              </a:defRPr>
            </a:pPr>
            <a:r>
              <a:rPr sz="2300" b="1">
                <a:solidFill>
                  <a:srgbClr val="367653"/>
                </a:solidFill>
                <a:latin typeface="Times New Roman"/>
                <a:ea typeface="Times New Roman"/>
                <a:cs typeface="Times New Roman"/>
              </a:rPr>
              <a:t>Una relación conservada</a:t>
            </a:r>
          </a:p>
        </p:txBody>
      </p:sp>
      <p:sp>
        <p:nvSpPr>
          <p:cNvPr id="6" name="text">
            <a:extLst xmlns:a="http://schemas.openxmlformats.org/drawingml/2006/main">
              <a:ext uri="{FF2B5EF4-FFF2-40B4-BE49-F238E27FC236}">
                <a16:creationId xmlns:a16="http://schemas.microsoft.com/office/drawing/2014/main" id="{699AF22B-D48C-4748-A18E-9702B2B0F470}"/>
              </a:ext>
            </a:extLst>
          </p:cNvPr>
          <p:cNvSpPr>
            <a:spLocks xmlns:a="http://schemas.openxmlformats.org/drawingml/2006/main" noGrp="1"/>
          </p:cNvSpPr>
          <p:nvPr/>
        </p:nvSpPr>
        <p:spPr>
          <a:xfrm xmlns:a="http://schemas.openxmlformats.org/drawingml/2006/main">
            <a:off x="8601075" y="2724150"/>
            <a:ext cx="2981325"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00" b="0">
                <a:solidFill>
                  <a:srgbClr val="181818"/>
                </a:solidFill>
                <a:latin typeface="Times New Roman"/>
                <a:ea typeface="Times New Roman"/>
                <a:cs typeface="Times New Roman"/>
              </a:defRPr>
            </a:defPPr>
            <a:lvl1pPr algn="l">
              <a:defRPr sz="2200" b="0">
                <a:solidFill>
                  <a:srgbClr val="181818"/>
                </a:solidFill>
                <a:latin typeface="Times New Roman"/>
                <a:ea typeface="Times New Roman"/>
                <a:cs typeface="Times New Roman"/>
              </a:defRPr>
            </a:lvl1pPr>
            <a:lvl2pPr algn="l">
              <a:defRPr sz="2200" b="0">
                <a:solidFill>
                  <a:srgbClr val="181818"/>
                </a:solidFill>
                <a:latin typeface="Times New Roman"/>
                <a:ea typeface="Times New Roman"/>
                <a:cs typeface="Times New Roman"/>
              </a:defRPr>
            </a:lvl2pPr>
            <a:lvl3pPr algn="l">
              <a:defRPr sz="2200" b="0">
                <a:solidFill>
                  <a:srgbClr val="181818"/>
                </a:solidFill>
                <a:latin typeface="Times New Roman"/>
                <a:ea typeface="Times New Roman"/>
                <a:cs typeface="Times New Roman"/>
              </a:defRPr>
            </a:lvl3pPr>
            <a:lvl4pPr algn="l">
              <a:defRPr sz="2200" b="0">
                <a:solidFill>
                  <a:srgbClr val="181818"/>
                </a:solidFill>
                <a:latin typeface="Times New Roman"/>
                <a:ea typeface="Times New Roman"/>
                <a:cs typeface="Times New Roman"/>
              </a:defRPr>
            </a:lvl4pPr>
            <a:lvl5pPr algn="l">
              <a:defRPr sz="2200" b="0">
                <a:solidFill>
                  <a:srgbClr val="181818"/>
                </a:solidFill>
                <a:latin typeface="Times New Roman"/>
                <a:ea typeface="Times New Roman"/>
                <a:cs typeface="Times New Roman"/>
              </a:defRPr>
            </a:lvl5pPr>
            <a:lvl6pPr algn="l">
              <a:defRPr sz="2200" b="0">
                <a:solidFill>
                  <a:srgbClr val="181818"/>
                </a:solidFill>
                <a:latin typeface="Times New Roman"/>
                <a:ea typeface="Times New Roman"/>
                <a:cs typeface="Times New Roman"/>
              </a:defRPr>
            </a:lvl6pPr>
            <a:lvl7pPr algn="l">
              <a:defRPr sz="2200" b="0">
                <a:solidFill>
                  <a:srgbClr val="181818"/>
                </a:solidFill>
                <a:latin typeface="Times New Roman"/>
                <a:ea typeface="Times New Roman"/>
                <a:cs typeface="Times New Roman"/>
              </a:defRPr>
            </a:lvl7pPr>
            <a:lvl8pPr algn="l">
              <a:defRPr sz="2200" b="0">
                <a:solidFill>
                  <a:srgbClr val="181818"/>
                </a:solidFill>
                <a:latin typeface="Times New Roman"/>
                <a:ea typeface="Times New Roman"/>
                <a:cs typeface="Times New Roman"/>
              </a:defRPr>
            </a:lvl8pPr>
            <a:lvl9pPr algn="l">
              <a:defRPr sz="2200" b="0">
                <a:solidFill>
                  <a:srgbClr val="181818"/>
                </a:solidFill>
                <a:latin typeface="Times New Roman"/>
                <a:ea typeface="Times New Roman"/>
                <a:cs typeface="Times New Roman"/>
              </a:defRPr>
            </a:lvl9pPr>
          </a:lstStyle>
          <a:p xmlns:a="http://schemas.openxmlformats.org/drawingml/2006/main">
            <a:pPr algn="l">
              <a:defRPr sz="2200" b="0">
                <a:solidFill>
                  <a:srgbClr val="181818"/>
                </a:solidFill>
                <a:latin typeface="Times New Roman"/>
                <a:ea typeface="Times New Roman"/>
                <a:cs typeface="Times New Roman"/>
              </a:defRPr>
            </a:pPr>
            <a:r>
              <a:rPr sz="2200" b="0">
                <a:solidFill>
                  <a:srgbClr val="181818"/>
                </a:solidFill>
                <a:latin typeface="Times New Roman"/>
                <a:ea typeface="Times New Roman"/>
                <a:cs typeface="Times New Roman"/>
              </a:rPr>
              <a:t>24 / 40 → pH 7,40</a:t>
            </a:r>
          </a:p>
          <a:p xmlns:a="http://schemas.openxmlformats.org/drawingml/2006/main">
            <a:pPr algn="l">
              <a:defRPr sz="2200" b="0">
                <a:solidFill>
                  <a:srgbClr val="181818"/>
                </a:solidFill>
                <a:latin typeface="Times New Roman"/>
                <a:ea typeface="Times New Roman"/>
                <a:cs typeface="Times New Roman"/>
              </a:defRPr>
            </a:pPr>
            <a:r>
              <a:rPr sz="2200" b="0">
                <a:solidFill>
                  <a:srgbClr val="181818"/>
                </a:solidFill>
                <a:latin typeface="Times New Roman"/>
                <a:ea typeface="Times New Roman"/>
                <a:cs typeface="Times New Roman"/>
              </a:rPr>
              <a:t>36 / 60 → pH 7,40</a:t>
            </a:r>
          </a:p>
        </p:txBody>
      </p:sp>
      <p:sp>
        <p:nvSpPr>
          <p:cNvPr id="7" name="text">
            <a:extLst xmlns:a="http://schemas.openxmlformats.org/drawingml/2006/main">
              <a:ext uri="{FF2B5EF4-FFF2-40B4-BE49-F238E27FC236}">
                <a16:creationId xmlns:a16="http://schemas.microsoft.com/office/drawing/2014/main" id="{709F13F7-A2BE-4820-BA49-A44D5854866D}"/>
              </a:ext>
            </a:extLst>
          </p:cNvPr>
          <p:cNvSpPr>
            <a:spLocks xmlns:a="http://schemas.openxmlformats.org/drawingml/2006/main" noGrp="1"/>
          </p:cNvSpPr>
          <p:nvPr/>
        </p:nvSpPr>
        <p:spPr>
          <a:xfrm xmlns:a="http://schemas.openxmlformats.org/drawingml/2006/main">
            <a:off x="8601075" y="4057650"/>
            <a:ext cx="2981325" cy="847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00" b="0">
                <a:solidFill>
                  <a:srgbClr val="181818"/>
                </a:solidFill>
                <a:latin typeface="Times New Roman"/>
                <a:ea typeface="Times New Roman"/>
                <a:cs typeface="Times New Roman"/>
              </a:defRPr>
            </a:defPPr>
            <a:lvl1pPr algn="l">
              <a:defRPr sz="2000" b="0">
                <a:solidFill>
                  <a:srgbClr val="181818"/>
                </a:solidFill>
                <a:latin typeface="Times New Roman"/>
                <a:ea typeface="Times New Roman"/>
                <a:cs typeface="Times New Roman"/>
              </a:defRPr>
            </a:lvl1pPr>
            <a:lvl2pPr algn="l">
              <a:defRPr sz="2000" b="0">
                <a:solidFill>
                  <a:srgbClr val="181818"/>
                </a:solidFill>
                <a:latin typeface="Times New Roman"/>
                <a:ea typeface="Times New Roman"/>
                <a:cs typeface="Times New Roman"/>
              </a:defRPr>
            </a:lvl2pPr>
            <a:lvl3pPr algn="l">
              <a:defRPr sz="2000" b="0">
                <a:solidFill>
                  <a:srgbClr val="181818"/>
                </a:solidFill>
                <a:latin typeface="Times New Roman"/>
                <a:ea typeface="Times New Roman"/>
                <a:cs typeface="Times New Roman"/>
              </a:defRPr>
            </a:lvl3pPr>
            <a:lvl4pPr algn="l">
              <a:defRPr sz="2000" b="0">
                <a:solidFill>
                  <a:srgbClr val="181818"/>
                </a:solidFill>
                <a:latin typeface="Times New Roman"/>
                <a:ea typeface="Times New Roman"/>
                <a:cs typeface="Times New Roman"/>
              </a:defRPr>
            </a:lvl4pPr>
            <a:lvl5pPr algn="l">
              <a:defRPr sz="2000" b="0">
                <a:solidFill>
                  <a:srgbClr val="181818"/>
                </a:solidFill>
                <a:latin typeface="Times New Roman"/>
                <a:ea typeface="Times New Roman"/>
                <a:cs typeface="Times New Roman"/>
              </a:defRPr>
            </a:lvl5pPr>
            <a:lvl6pPr algn="l">
              <a:defRPr sz="2000" b="0">
                <a:solidFill>
                  <a:srgbClr val="181818"/>
                </a:solidFill>
                <a:latin typeface="Times New Roman"/>
                <a:ea typeface="Times New Roman"/>
                <a:cs typeface="Times New Roman"/>
              </a:defRPr>
            </a:lvl6pPr>
            <a:lvl7pPr algn="l">
              <a:defRPr sz="2000" b="0">
                <a:solidFill>
                  <a:srgbClr val="181818"/>
                </a:solidFill>
                <a:latin typeface="Times New Roman"/>
                <a:ea typeface="Times New Roman"/>
                <a:cs typeface="Times New Roman"/>
              </a:defRPr>
            </a:lvl7pPr>
            <a:lvl8pPr algn="l">
              <a:defRPr sz="2000" b="0">
                <a:solidFill>
                  <a:srgbClr val="181818"/>
                </a:solidFill>
                <a:latin typeface="Times New Roman"/>
                <a:ea typeface="Times New Roman"/>
                <a:cs typeface="Times New Roman"/>
              </a:defRPr>
            </a:lvl8pPr>
            <a:lvl9pPr algn="l">
              <a:defRPr sz="2000" b="0">
                <a:solidFill>
                  <a:srgbClr val="181818"/>
                </a:solidFill>
                <a:latin typeface="Times New Roman"/>
                <a:ea typeface="Times New Roman"/>
                <a:cs typeface="Times New Roman"/>
              </a:defRPr>
            </a:lvl9pPr>
          </a:lstStyle>
          <a:p xmlns:a="http://schemas.openxmlformats.org/drawingml/2006/main">
            <a:pPr algn="l">
              <a:defRPr sz="2000" b="0">
                <a:solidFill>
                  <a:srgbClr val="181818"/>
                </a:solidFill>
                <a:latin typeface="Times New Roman"/>
                <a:ea typeface="Times New Roman"/>
                <a:cs typeface="Times New Roman"/>
              </a:defRPr>
            </a:pPr>
            <a:r>
              <a:rPr sz="2000" b="0">
                <a:solidFill>
                  <a:srgbClr val="181818"/>
                </a:solidFill>
                <a:latin typeface="Times New Roman"/>
                <a:ea typeface="Times New Roman"/>
                <a:cs typeface="Times New Roman"/>
              </a:rPr>
              <a:t>HCO₃⁻ en mmol/L;</a:t>
            </a:r>
          </a:p>
          <a:p xmlns:a="http://schemas.openxmlformats.org/drawingml/2006/main">
            <a:pPr algn="l">
              <a:defRPr sz="2000" b="0">
                <a:solidFill>
                  <a:srgbClr val="181818"/>
                </a:solidFill>
                <a:latin typeface="Times New Roman"/>
                <a:ea typeface="Times New Roman"/>
                <a:cs typeface="Times New Roman"/>
              </a:defRPr>
            </a:pPr>
            <a:r>
              <a:rPr sz="2000" b="0">
                <a:solidFill>
                  <a:srgbClr val="181818"/>
                </a:solidFill>
                <a:latin typeface="Times New Roman"/>
                <a:ea typeface="Times New Roman"/>
                <a:cs typeface="Times New Roman"/>
              </a:rPr>
              <a:t>PCO₂ en mmHg.</a:t>
            </a:r>
          </a:p>
        </p:txBody>
      </p:sp>
      <p:sp>
        <p:nvSpPr>
          <p:cNvPr id="8" name="text">
            <a:extLst xmlns:a="http://schemas.openxmlformats.org/drawingml/2006/main">
              <a:ext uri="{FF2B5EF4-FFF2-40B4-BE49-F238E27FC236}">
                <a16:creationId xmlns:a16="http://schemas.microsoft.com/office/drawing/2014/main" id="{BE395B0B-B4F7-405D-BCBE-FFEA2A7E504C}"/>
              </a:ext>
            </a:extLst>
          </p:cNvPr>
          <p:cNvSpPr>
            <a:spLocks xmlns:a="http://schemas.openxmlformats.org/drawingml/2006/main" noGrp="1"/>
          </p:cNvSpPr>
          <p:nvPr/>
        </p:nvSpPr>
        <p:spPr>
          <a:xfrm xmlns:a="http://schemas.openxmlformats.org/drawingml/2006/main">
            <a:off x="8601075" y="5238750"/>
            <a:ext cx="2981325" cy="866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1">
                <a:solidFill>
                  <a:srgbClr val="181818"/>
                </a:solidFill>
                <a:latin typeface="Times New Roman"/>
                <a:ea typeface="Times New Roman"/>
                <a:cs typeface="Times New Roman"/>
              </a:defRPr>
            </a:defPPr>
            <a:lvl1pPr algn="l">
              <a:defRPr sz="2100" b="1">
                <a:solidFill>
                  <a:srgbClr val="181818"/>
                </a:solidFill>
                <a:latin typeface="Times New Roman"/>
                <a:ea typeface="Times New Roman"/>
                <a:cs typeface="Times New Roman"/>
              </a:defRPr>
            </a:lvl1pPr>
            <a:lvl2pPr algn="l">
              <a:defRPr sz="2100" b="1">
                <a:solidFill>
                  <a:srgbClr val="181818"/>
                </a:solidFill>
                <a:latin typeface="Times New Roman"/>
                <a:ea typeface="Times New Roman"/>
                <a:cs typeface="Times New Roman"/>
              </a:defRPr>
            </a:lvl2pPr>
            <a:lvl3pPr algn="l">
              <a:defRPr sz="2100" b="1">
                <a:solidFill>
                  <a:srgbClr val="181818"/>
                </a:solidFill>
                <a:latin typeface="Times New Roman"/>
                <a:ea typeface="Times New Roman"/>
                <a:cs typeface="Times New Roman"/>
              </a:defRPr>
            </a:lvl3pPr>
            <a:lvl4pPr algn="l">
              <a:defRPr sz="2100" b="1">
                <a:solidFill>
                  <a:srgbClr val="181818"/>
                </a:solidFill>
                <a:latin typeface="Times New Roman"/>
                <a:ea typeface="Times New Roman"/>
                <a:cs typeface="Times New Roman"/>
              </a:defRPr>
            </a:lvl4pPr>
            <a:lvl5pPr algn="l">
              <a:defRPr sz="2100" b="1">
                <a:solidFill>
                  <a:srgbClr val="181818"/>
                </a:solidFill>
                <a:latin typeface="Times New Roman"/>
                <a:ea typeface="Times New Roman"/>
                <a:cs typeface="Times New Roman"/>
              </a:defRPr>
            </a:lvl5pPr>
            <a:lvl6pPr algn="l">
              <a:defRPr sz="2100" b="1">
                <a:solidFill>
                  <a:srgbClr val="181818"/>
                </a:solidFill>
                <a:latin typeface="Times New Roman"/>
                <a:ea typeface="Times New Roman"/>
                <a:cs typeface="Times New Roman"/>
              </a:defRPr>
            </a:lvl6pPr>
            <a:lvl7pPr algn="l">
              <a:defRPr sz="2100" b="1">
                <a:solidFill>
                  <a:srgbClr val="181818"/>
                </a:solidFill>
                <a:latin typeface="Times New Roman"/>
                <a:ea typeface="Times New Roman"/>
                <a:cs typeface="Times New Roman"/>
              </a:defRPr>
            </a:lvl7pPr>
            <a:lvl8pPr algn="l">
              <a:defRPr sz="2100" b="1">
                <a:solidFill>
                  <a:srgbClr val="181818"/>
                </a:solidFill>
                <a:latin typeface="Times New Roman"/>
                <a:ea typeface="Times New Roman"/>
                <a:cs typeface="Times New Roman"/>
              </a:defRPr>
            </a:lvl8pPr>
            <a:lvl9pPr algn="l">
              <a:defRPr sz="2100" b="1">
                <a:solidFill>
                  <a:srgbClr val="181818"/>
                </a:solidFill>
                <a:latin typeface="Times New Roman"/>
                <a:ea typeface="Times New Roman"/>
                <a:cs typeface="Times New Roman"/>
              </a:defRPr>
            </a:lvl9pPr>
          </a:lstStyle>
          <a:p xmlns:a="http://schemas.openxmlformats.org/drawingml/2006/main">
            <a:pPr algn="l">
              <a:defRPr sz="2100" b="1">
                <a:solidFill>
                  <a:srgbClr val="181818"/>
                </a:solidFill>
                <a:latin typeface="Times New Roman"/>
                <a:ea typeface="Times New Roman"/>
                <a:cs typeface="Times New Roman"/>
              </a:defRPr>
            </a:pPr>
            <a:r>
              <a:rPr sz="2100" b="1">
                <a:solidFill>
                  <a:srgbClr val="181818"/>
                </a:solidFill>
                <a:latin typeface="Times New Roman"/>
                <a:ea typeface="Times New Roman"/>
                <a:cs typeface="Times New Roman"/>
              </a:rPr>
              <a:t>Mayor PCO₂ reduce el pH con HCO₃⁻ fijo.</a:t>
            </a:r>
          </a:p>
        </p:txBody>
      </p:sp>
    </p:spTree>
    <p:extLst>
      <p:ext uri="{BB962C8B-B14F-4D97-AF65-F5344CB8AC3E}">
        <p14:creationId xmlns:p14="http://schemas.microsoft.com/office/powerpoint/2010/main" val="184806486"/>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slide-title">
            <a:extLst xmlns:a="http://schemas.openxmlformats.org/drawingml/2006/main">
              <a:ext uri="{FF2B5EF4-FFF2-40B4-BE49-F238E27FC236}">
                <a16:creationId xmlns:a16="http://schemas.microsoft.com/office/drawing/2014/main" id="{D342327B-EF92-49B5-8B87-E6DBB9239251}"/>
              </a:ext>
            </a:extLst>
          </p:cNvPr>
          <p:cNvSpPr>
            <a:spLocks xmlns:a="http://schemas.openxmlformats.org/drawingml/2006/main" noGrp="1"/>
          </p:cNvSpPr>
          <p:nvPr/>
        </p:nvSpPr>
        <p:spPr>
          <a:xfrm xmlns:a="http://schemas.openxmlformats.org/drawingml/2006/main">
            <a:off x="609600" y="390525"/>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400" b="1">
                <a:solidFill>
                  <a:srgbClr val="174A35"/>
                </a:solidFill>
                <a:latin typeface="Times New Roman"/>
                <a:ea typeface="Times New Roman"/>
                <a:cs typeface="Times New Roman"/>
              </a:defRPr>
            </a:defPPr>
            <a:lvl1pPr algn="l">
              <a:defRPr sz="3400" b="1">
                <a:solidFill>
                  <a:srgbClr val="174A35"/>
                </a:solidFill>
                <a:latin typeface="Times New Roman"/>
                <a:ea typeface="Times New Roman"/>
                <a:cs typeface="Times New Roman"/>
              </a:defRPr>
            </a:lvl1pPr>
            <a:lvl2pPr algn="l">
              <a:defRPr sz="3400" b="1">
                <a:solidFill>
                  <a:srgbClr val="174A35"/>
                </a:solidFill>
                <a:latin typeface="Times New Roman"/>
                <a:ea typeface="Times New Roman"/>
                <a:cs typeface="Times New Roman"/>
              </a:defRPr>
            </a:lvl2pPr>
            <a:lvl3pPr algn="l">
              <a:defRPr sz="3400" b="1">
                <a:solidFill>
                  <a:srgbClr val="174A35"/>
                </a:solidFill>
                <a:latin typeface="Times New Roman"/>
                <a:ea typeface="Times New Roman"/>
                <a:cs typeface="Times New Roman"/>
              </a:defRPr>
            </a:lvl3pPr>
            <a:lvl4pPr algn="l">
              <a:defRPr sz="3400" b="1">
                <a:solidFill>
                  <a:srgbClr val="174A35"/>
                </a:solidFill>
                <a:latin typeface="Times New Roman"/>
                <a:ea typeface="Times New Roman"/>
                <a:cs typeface="Times New Roman"/>
              </a:defRPr>
            </a:lvl4pPr>
            <a:lvl5pPr algn="l">
              <a:defRPr sz="3400" b="1">
                <a:solidFill>
                  <a:srgbClr val="174A35"/>
                </a:solidFill>
                <a:latin typeface="Times New Roman"/>
                <a:ea typeface="Times New Roman"/>
                <a:cs typeface="Times New Roman"/>
              </a:defRPr>
            </a:lvl5pPr>
            <a:lvl6pPr algn="l">
              <a:defRPr sz="3400" b="1">
                <a:solidFill>
                  <a:srgbClr val="174A35"/>
                </a:solidFill>
                <a:latin typeface="Times New Roman"/>
                <a:ea typeface="Times New Roman"/>
                <a:cs typeface="Times New Roman"/>
              </a:defRPr>
            </a:lvl6pPr>
            <a:lvl7pPr algn="l">
              <a:defRPr sz="3400" b="1">
                <a:solidFill>
                  <a:srgbClr val="174A35"/>
                </a:solidFill>
                <a:latin typeface="Times New Roman"/>
                <a:ea typeface="Times New Roman"/>
                <a:cs typeface="Times New Roman"/>
              </a:defRPr>
            </a:lvl7pPr>
            <a:lvl8pPr algn="l">
              <a:defRPr sz="3400" b="1">
                <a:solidFill>
                  <a:srgbClr val="174A35"/>
                </a:solidFill>
                <a:latin typeface="Times New Roman"/>
                <a:ea typeface="Times New Roman"/>
                <a:cs typeface="Times New Roman"/>
              </a:defRPr>
            </a:lvl8pPr>
            <a:lvl9pPr algn="l">
              <a:defRPr sz="3400" b="1">
                <a:solidFill>
                  <a:srgbClr val="174A35"/>
                </a:solidFill>
                <a:latin typeface="Times New Roman"/>
                <a:ea typeface="Times New Roman"/>
                <a:cs typeface="Times New Roman"/>
              </a:defRPr>
            </a:lvl9pPr>
          </a:lstStyle>
          <a:p xmlns:a="http://schemas.openxmlformats.org/drawingml/2006/main">
            <a:pPr algn="l">
              <a:defRPr sz="3400" b="1">
                <a:solidFill>
                  <a:srgbClr val="174A35"/>
                </a:solidFill>
                <a:latin typeface="Times New Roman"/>
                <a:ea typeface="Times New Roman"/>
                <a:cs typeface="Times New Roman"/>
              </a:defRPr>
            </a:pPr>
            <a:r>
              <a:rPr sz="3400" b="1">
                <a:solidFill>
                  <a:srgbClr val="174A35"/>
                </a:solidFill>
                <a:latin typeface="Times New Roman"/>
                <a:ea typeface="Times New Roman"/>
                <a:cs typeface="Times New Roman"/>
              </a:rPr>
              <a:t>Preguntas para el grupo</a:t>
            </a:r>
          </a:p>
        </p:txBody>
      </p:sp>
      <p:sp>
        <p:nvSpPr>
          <p:cNvPr id="2" name="page-number">
            <a:extLst xmlns:a="http://schemas.openxmlformats.org/drawingml/2006/main">
              <a:ext uri="{FF2B5EF4-FFF2-40B4-BE49-F238E27FC236}">
                <a16:creationId xmlns:a16="http://schemas.microsoft.com/office/drawing/2014/main" id="{5A382CA0-043C-4CB4-90A2-C6850C763D55}"/>
              </a:ext>
            </a:extLst>
          </p:cNvPr>
          <p:cNvSpPr>
            <a:spLocks xmlns:a="http://schemas.openxmlformats.org/drawingml/2006/main" noGrp="1"/>
          </p:cNvSpPr>
          <p:nvPr/>
        </p:nvSpPr>
        <p:spPr>
          <a:xfrm xmlns:a="http://schemas.openxmlformats.org/drawingml/2006/main">
            <a:off x="11077575" y="64198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00" b="0">
                <a:solidFill>
                  <a:srgbClr val="367653"/>
                </a:solidFill>
                <a:latin typeface="Times New Roman"/>
                <a:ea typeface="Times New Roman"/>
                <a:cs typeface="Times New Roman"/>
              </a:defRPr>
            </a:defPPr>
            <a:lvl1pPr algn="r">
              <a:defRPr sz="1200" b="0">
                <a:solidFill>
                  <a:srgbClr val="367653"/>
                </a:solidFill>
                <a:latin typeface="Times New Roman"/>
                <a:ea typeface="Times New Roman"/>
                <a:cs typeface="Times New Roman"/>
              </a:defRPr>
            </a:lvl1pPr>
            <a:lvl2pPr algn="r">
              <a:defRPr sz="1200" b="0">
                <a:solidFill>
                  <a:srgbClr val="367653"/>
                </a:solidFill>
                <a:latin typeface="Times New Roman"/>
                <a:ea typeface="Times New Roman"/>
                <a:cs typeface="Times New Roman"/>
              </a:defRPr>
            </a:lvl2pPr>
            <a:lvl3pPr algn="r">
              <a:defRPr sz="1200" b="0">
                <a:solidFill>
                  <a:srgbClr val="367653"/>
                </a:solidFill>
                <a:latin typeface="Times New Roman"/>
                <a:ea typeface="Times New Roman"/>
                <a:cs typeface="Times New Roman"/>
              </a:defRPr>
            </a:lvl3pPr>
            <a:lvl4pPr algn="r">
              <a:defRPr sz="1200" b="0">
                <a:solidFill>
                  <a:srgbClr val="367653"/>
                </a:solidFill>
                <a:latin typeface="Times New Roman"/>
                <a:ea typeface="Times New Roman"/>
                <a:cs typeface="Times New Roman"/>
              </a:defRPr>
            </a:lvl4pPr>
            <a:lvl5pPr algn="r">
              <a:defRPr sz="1200" b="0">
                <a:solidFill>
                  <a:srgbClr val="367653"/>
                </a:solidFill>
                <a:latin typeface="Times New Roman"/>
                <a:ea typeface="Times New Roman"/>
                <a:cs typeface="Times New Roman"/>
              </a:defRPr>
            </a:lvl5pPr>
            <a:lvl6pPr algn="r">
              <a:defRPr sz="1200" b="0">
                <a:solidFill>
                  <a:srgbClr val="367653"/>
                </a:solidFill>
                <a:latin typeface="Times New Roman"/>
                <a:ea typeface="Times New Roman"/>
                <a:cs typeface="Times New Roman"/>
              </a:defRPr>
            </a:lvl6pPr>
            <a:lvl7pPr algn="r">
              <a:defRPr sz="1200" b="0">
                <a:solidFill>
                  <a:srgbClr val="367653"/>
                </a:solidFill>
                <a:latin typeface="Times New Roman"/>
                <a:ea typeface="Times New Roman"/>
                <a:cs typeface="Times New Roman"/>
              </a:defRPr>
            </a:lvl7pPr>
            <a:lvl8pPr algn="r">
              <a:defRPr sz="1200" b="0">
                <a:solidFill>
                  <a:srgbClr val="367653"/>
                </a:solidFill>
                <a:latin typeface="Times New Roman"/>
                <a:ea typeface="Times New Roman"/>
                <a:cs typeface="Times New Roman"/>
              </a:defRPr>
            </a:lvl8pPr>
            <a:lvl9pPr algn="r">
              <a:defRPr sz="1200" b="0">
                <a:solidFill>
                  <a:srgbClr val="367653"/>
                </a:solidFill>
                <a:latin typeface="Times New Roman"/>
                <a:ea typeface="Times New Roman"/>
                <a:cs typeface="Times New Roman"/>
              </a:defRPr>
            </a:lvl9pPr>
          </a:lstStyle>
          <a:p xmlns:a="http://schemas.openxmlformats.org/drawingml/2006/main">
            <a:pPr algn="r">
              <a:defRPr sz="1200" b="0">
                <a:solidFill>
                  <a:srgbClr val="367653"/>
                </a:solidFill>
                <a:latin typeface="Times New Roman"/>
                <a:ea typeface="Times New Roman"/>
                <a:cs typeface="Times New Roman"/>
              </a:defRPr>
            </a:pPr>
            <a:r>
              <a:rPr sz="1200" b="0">
                <a:solidFill>
                  <a:srgbClr val="367653"/>
                </a:solidFill>
                <a:latin typeface="Times New Roman"/>
                <a:ea typeface="Times New Roman"/>
                <a:cs typeface="Times New Roman"/>
              </a:rPr>
              <a:t>12</a:t>
            </a:r>
          </a:p>
        </p:txBody>
      </p:sp>
      <p:sp>
        <p:nvSpPr>
          <p:cNvPr id="3" name="sources">
            <a:extLst xmlns:a="http://schemas.openxmlformats.org/drawingml/2006/main">
              <a:ext uri="{FF2B5EF4-FFF2-40B4-BE49-F238E27FC236}">
                <a16:creationId xmlns:a16="http://schemas.microsoft.com/office/drawing/2014/main" id="{214B1D7D-5434-4022-B312-2871EBAE3E0B}"/>
              </a:ext>
            </a:extLst>
          </p:cNvPr>
          <p:cNvSpPr>
            <a:spLocks xmlns:a="http://schemas.openxmlformats.org/drawingml/2006/main" noGrp="1"/>
          </p:cNvSpPr>
          <p:nvPr/>
        </p:nvSpPr>
        <p:spPr>
          <a:xfrm xmlns:a="http://schemas.openxmlformats.org/drawingml/2006/main">
            <a:off x="609600" y="6419850"/>
            <a:ext cx="10287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200" b="0">
                <a:solidFill>
                  <a:srgbClr val="515151"/>
                </a:solidFill>
                <a:latin typeface="Times New Roman"/>
                <a:ea typeface="Times New Roman"/>
                <a:cs typeface="Times New Roman"/>
              </a:defRPr>
            </a:defPPr>
            <a:lvl1pPr algn="l">
              <a:defRPr sz="1200" b="0">
                <a:solidFill>
                  <a:srgbClr val="515151"/>
                </a:solidFill>
                <a:latin typeface="Times New Roman"/>
                <a:ea typeface="Times New Roman"/>
                <a:cs typeface="Times New Roman"/>
              </a:defRPr>
            </a:lvl1pPr>
            <a:lvl2pPr algn="l">
              <a:defRPr sz="1200" b="0">
                <a:solidFill>
                  <a:srgbClr val="515151"/>
                </a:solidFill>
                <a:latin typeface="Times New Roman"/>
                <a:ea typeface="Times New Roman"/>
                <a:cs typeface="Times New Roman"/>
              </a:defRPr>
            </a:lvl2pPr>
            <a:lvl3pPr algn="l">
              <a:defRPr sz="1200" b="0">
                <a:solidFill>
                  <a:srgbClr val="515151"/>
                </a:solidFill>
                <a:latin typeface="Times New Roman"/>
                <a:ea typeface="Times New Roman"/>
                <a:cs typeface="Times New Roman"/>
              </a:defRPr>
            </a:lvl3pPr>
            <a:lvl4pPr algn="l">
              <a:defRPr sz="1200" b="0">
                <a:solidFill>
                  <a:srgbClr val="515151"/>
                </a:solidFill>
                <a:latin typeface="Times New Roman"/>
                <a:ea typeface="Times New Roman"/>
                <a:cs typeface="Times New Roman"/>
              </a:defRPr>
            </a:lvl4pPr>
            <a:lvl5pPr algn="l">
              <a:defRPr sz="1200" b="0">
                <a:solidFill>
                  <a:srgbClr val="515151"/>
                </a:solidFill>
                <a:latin typeface="Times New Roman"/>
                <a:ea typeface="Times New Roman"/>
                <a:cs typeface="Times New Roman"/>
              </a:defRPr>
            </a:lvl5pPr>
            <a:lvl6pPr algn="l">
              <a:defRPr sz="1200" b="0">
                <a:solidFill>
                  <a:srgbClr val="515151"/>
                </a:solidFill>
                <a:latin typeface="Times New Roman"/>
                <a:ea typeface="Times New Roman"/>
                <a:cs typeface="Times New Roman"/>
              </a:defRPr>
            </a:lvl6pPr>
            <a:lvl7pPr algn="l">
              <a:defRPr sz="1200" b="0">
                <a:solidFill>
                  <a:srgbClr val="515151"/>
                </a:solidFill>
                <a:latin typeface="Times New Roman"/>
                <a:ea typeface="Times New Roman"/>
                <a:cs typeface="Times New Roman"/>
              </a:defRPr>
            </a:lvl7pPr>
            <a:lvl8pPr algn="l">
              <a:defRPr sz="1200" b="0">
                <a:solidFill>
                  <a:srgbClr val="515151"/>
                </a:solidFill>
                <a:latin typeface="Times New Roman"/>
                <a:ea typeface="Times New Roman"/>
                <a:cs typeface="Times New Roman"/>
              </a:defRPr>
            </a:lvl8pPr>
            <a:lvl9pPr algn="l">
              <a:defRPr sz="1200" b="0">
                <a:solidFill>
                  <a:srgbClr val="515151"/>
                </a:solidFill>
                <a:latin typeface="Times New Roman"/>
                <a:ea typeface="Times New Roman"/>
                <a:cs typeface="Times New Roman"/>
              </a:defRPr>
            </a:lvl9pPr>
          </a:lstStyle>
          <a:p xmlns:a="http://schemas.openxmlformats.org/drawingml/2006/main">
            <a:pPr algn="l">
              <a:defRPr sz="1200" b="0">
                <a:solidFill>
                  <a:srgbClr val="515151"/>
                </a:solidFill>
                <a:latin typeface="Times New Roman"/>
                <a:ea typeface="Times New Roman"/>
                <a:cs typeface="Times New Roman"/>
              </a:defRPr>
            </a:pPr>
            <a:r>
              <a:rPr sz="1200" b="0">
                <a:solidFill>
                  <a:srgbClr val="515151"/>
                </a:solidFill>
                <a:latin typeface="Times New Roman"/>
                <a:ea typeface="Times New Roman"/>
                <a:cs typeface="Times New Roman"/>
              </a:rPr>
              <a:t>Fuentes: [1] [2] [4] [6]</a:t>
            </a:r>
          </a:p>
        </p:txBody>
      </p:sp>
      <p:sp>
        <p:nvSpPr>
          <p:cNvPr id="4" name="text">
            <a:extLst xmlns:a="http://schemas.openxmlformats.org/drawingml/2006/main">
              <a:ext uri="{FF2B5EF4-FFF2-40B4-BE49-F238E27FC236}">
                <a16:creationId xmlns:a16="http://schemas.microsoft.com/office/drawing/2014/main" id="{A37051ED-AE42-418D-8E79-36EE337DCB87}"/>
              </a:ext>
            </a:extLst>
          </p:cNvPr>
          <p:cNvSpPr>
            <a:spLocks xmlns:a="http://schemas.openxmlformats.org/drawingml/2006/main" noGrp="1"/>
          </p:cNvSpPr>
          <p:nvPr/>
        </p:nvSpPr>
        <p:spPr>
          <a:xfrm xmlns:a="http://schemas.openxmlformats.org/drawingml/2006/main">
            <a:off x="609600" y="1390650"/>
            <a:ext cx="109728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50" b="1">
                <a:solidFill>
                  <a:srgbClr val="367653"/>
                </a:solidFill>
                <a:latin typeface="Times New Roman"/>
                <a:ea typeface="Times New Roman"/>
                <a:cs typeface="Times New Roman"/>
              </a:defRPr>
            </a:defPPr>
            <a:lvl1pPr algn="l">
              <a:defRPr sz="2150" b="1">
                <a:solidFill>
                  <a:srgbClr val="367653"/>
                </a:solidFill>
                <a:latin typeface="Times New Roman"/>
                <a:ea typeface="Times New Roman"/>
                <a:cs typeface="Times New Roman"/>
              </a:defRPr>
            </a:lvl1pPr>
            <a:lvl2pPr algn="l">
              <a:defRPr sz="2150" b="1">
                <a:solidFill>
                  <a:srgbClr val="367653"/>
                </a:solidFill>
                <a:latin typeface="Times New Roman"/>
                <a:ea typeface="Times New Roman"/>
                <a:cs typeface="Times New Roman"/>
              </a:defRPr>
            </a:lvl2pPr>
            <a:lvl3pPr algn="l">
              <a:defRPr sz="2150" b="1">
                <a:solidFill>
                  <a:srgbClr val="367653"/>
                </a:solidFill>
                <a:latin typeface="Times New Roman"/>
                <a:ea typeface="Times New Roman"/>
                <a:cs typeface="Times New Roman"/>
              </a:defRPr>
            </a:lvl3pPr>
            <a:lvl4pPr algn="l">
              <a:defRPr sz="2150" b="1">
                <a:solidFill>
                  <a:srgbClr val="367653"/>
                </a:solidFill>
                <a:latin typeface="Times New Roman"/>
                <a:ea typeface="Times New Roman"/>
                <a:cs typeface="Times New Roman"/>
              </a:defRPr>
            </a:lvl4pPr>
            <a:lvl5pPr algn="l">
              <a:defRPr sz="2150" b="1">
                <a:solidFill>
                  <a:srgbClr val="367653"/>
                </a:solidFill>
                <a:latin typeface="Times New Roman"/>
                <a:ea typeface="Times New Roman"/>
                <a:cs typeface="Times New Roman"/>
              </a:defRPr>
            </a:lvl5pPr>
            <a:lvl6pPr algn="l">
              <a:defRPr sz="2150" b="1">
                <a:solidFill>
                  <a:srgbClr val="367653"/>
                </a:solidFill>
                <a:latin typeface="Times New Roman"/>
                <a:ea typeface="Times New Roman"/>
                <a:cs typeface="Times New Roman"/>
              </a:defRPr>
            </a:lvl6pPr>
            <a:lvl7pPr algn="l">
              <a:defRPr sz="2150" b="1">
                <a:solidFill>
                  <a:srgbClr val="367653"/>
                </a:solidFill>
                <a:latin typeface="Times New Roman"/>
                <a:ea typeface="Times New Roman"/>
                <a:cs typeface="Times New Roman"/>
              </a:defRPr>
            </a:lvl7pPr>
            <a:lvl8pPr algn="l">
              <a:defRPr sz="2150" b="1">
                <a:solidFill>
                  <a:srgbClr val="367653"/>
                </a:solidFill>
                <a:latin typeface="Times New Roman"/>
                <a:ea typeface="Times New Roman"/>
                <a:cs typeface="Times New Roman"/>
              </a:defRPr>
            </a:lvl8pPr>
            <a:lvl9pPr algn="l">
              <a:defRPr sz="2150" b="1">
                <a:solidFill>
                  <a:srgbClr val="367653"/>
                </a:solidFill>
                <a:latin typeface="Times New Roman"/>
                <a:ea typeface="Times New Roman"/>
                <a:cs typeface="Times New Roman"/>
              </a:defRPr>
            </a:lvl9pPr>
          </a:lstStyle>
          <a:p xmlns:a="http://schemas.openxmlformats.org/drawingml/2006/main">
            <a:pPr algn="l">
              <a:defRPr sz="2150" b="1">
                <a:solidFill>
                  <a:srgbClr val="367653"/>
                </a:solidFill>
                <a:latin typeface="Times New Roman"/>
                <a:ea typeface="Times New Roman"/>
                <a:cs typeface="Times New Roman"/>
              </a:defRPr>
            </a:pPr>
            <a:r>
              <a:rPr sz="2150" b="1">
                <a:solidFill>
                  <a:srgbClr val="367653"/>
                </a:solidFill>
                <a:latin typeface="Times New Roman"/>
                <a:ea typeface="Times New Roman"/>
                <a:cs typeface="Times New Roman"/>
              </a:rPr>
              <a:t>1. Un pH dentro del intervalo de referencia significa que…</a:t>
            </a:r>
          </a:p>
        </p:txBody>
      </p:sp>
      <p:sp>
        <p:nvSpPr>
          <p:cNvPr id="5" name="text">
            <a:extLst xmlns:a="http://schemas.openxmlformats.org/drawingml/2006/main">
              <a:ext uri="{FF2B5EF4-FFF2-40B4-BE49-F238E27FC236}">
                <a16:creationId xmlns:a16="http://schemas.microsoft.com/office/drawing/2014/main" id="{9097A992-6AB4-45C7-86B6-17368B218ED4}"/>
              </a:ext>
            </a:extLst>
          </p:cNvPr>
          <p:cNvSpPr>
            <a:spLocks xmlns:a="http://schemas.openxmlformats.org/drawingml/2006/main" noGrp="1"/>
          </p:cNvSpPr>
          <p:nvPr/>
        </p:nvSpPr>
        <p:spPr>
          <a:xfrm xmlns:a="http://schemas.openxmlformats.org/drawingml/2006/main">
            <a:off x="838200" y="1981200"/>
            <a:ext cx="107442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00" b="0">
                <a:solidFill>
                  <a:srgbClr val="181818"/>
                </a:solidFill>
                <a:latin typeface="Times New Roman"/>
                <a:ea typeface="Times New Roman"/>
                <a:cs typeface="Times New Roman"/>
              </a:defRPr>
            </a:defPPr>
            <a:lvl1pPr algn="l">
              <a:defRPr sz="2000" b="0">
                <a:solidFill>
                  <a:srgbClr val="181818"/>
                </a:solidFill>
                <a:latin typeface="Times New Roman"/>
                <a:ea typeface="Times New Roman"/>
                <a:cs typeface="Times New Roman"/>
              </a:defRPr>
            </a:lvl1pPr>
            <a:lvl2pPr algn="l">
              <a:defRPr sz="2000" b="0">
                <a:solidFill>
                  <a:srgbClr val="181818"/>
                </a:solidFill>
                <a:latin typeface="Times New Roman"/>
                <a:ea typeface="Times New Roman"/>
                <a:cs typeface="Times New Roman"/>
              </a:defRPr>
            </a:lvl2pPr>
            <a:lvl3pPr algn="l">
              <a:defRPr sz="2000" b="0">
                <a:solidFill>
                  <a:srgbClr val="181818"/>
                </a:solidFill>
                <a:latin typeface="Times New Roman"/>
                <a:ea typeface="Times New Roman"/>
                <a:cs typeface="Times New Roman"/>
              </a:defRPr>
            </a:lvl3pPr>
            <a:lvl4pPr algn="l">
              <a:defRPr sz="2000" b="0">
                <a:solidFill>
                  <a:srgbClr val="181818"/>
                </a:solidFill>
                <a:latin typeface="Times New Roman"/>
                <a:ea typeface="Times New Roman"/>
                <a:cs typeface="Times New Roman"/>
              </a:defRPr>
            </a:lvl4pPr>
            <a:lvl5pPr algn="l">
              <a:defRPr sz="2000" b="0">
                <a:solidFill>
                  <a:srgbClr val="181818"/>
                </a:solidFill>
                <a:latin typeface="Times New Roman"/>
                <a:ea typeface="Times New Roman"/>
                <a:cs typeface="Times New Roman"/>
              </a:defRPr>
            </a:lvl5pPr>
            <a:lvl6pPr algn="l">
              <a:defRPr sz="2000" b="0">
                <a:solidFill>
                  <a:srgbClr val="181818"/>
                </a:solidFill>
                <a:latin typeface="Times New Roman"/>
                <a:ea typeface="Times New Roman"/>
                <a:cs typeface="Times New Roman"/>
              </a:defRPr>
            </a:lvl6pPr>
            <a:lvl7pPr algn="l">
              <a:defRPr sz="2000" b="0">
                <a:solidFill>
                  <a:srgbClr val="181818"/>
                </a:solidFill>
                <a:latin typeface="Times New Roman"/>
                <a:ea typeface="Times New Roman"/>
                <a:cs typeface="Times New Roman"/>
              </a:defRPr>
            </a:lvl7pPr>
            <a:lvl8pPr algn="l">
              <a:defRPr sz="2000" b="0">
                <a:solidFill>
                  <a:srgbClr val="181818"/>
                </a:solidFill>
                <a:latin typeface="Times New Roman"/>
                <a:ea typeface="Times New Roman"/>
                <a:cs typeface="Times New Roman"/>
              </a:defRPr>
            </a:lvl8pPr>
            <a:lvl9pPr algn="l">
              <a:defRPr sz="2000" b="0">
                <a:solidFill>
                  <a:srgbClr val="181818"/>
                </a:solidFill>
                <a:latin typeface="Times New Roman"/>
                <a:ea typeface="Times New Roman"/>
                <a:cs typeface="Times New Roman"/>
              </a:defRPr>
            </a:lvl9pPr>
          </a:lstStyle>
          <a:p xmlns:a="http://schemas.openxmlformats.org/drawingml/2006/main">
            <a:pPr algn="l">
              <a:defRPr sz="2000" b="0">
                <a:solidFill>
                  <a:srgbClr val="181818"/>
                </a:solidFill>
                <a:latin typeface="Times New Roman"/>
                <a:ea typeface="Times New Roman"/>
                <a:cs typeface="Times New Roman"/>
              </a:defRPr>
            </a:pPr>
            <a:r>
              <a:rPr sz="2000" b="0">
                <a:solidFill>
                  <a:srgbClr val="181818"/>
                </a:solidFill>
                <a:latin typeface="Times New Roman"/>
                <a:ea typeface="Times New Roman"/>
                <a:cs typeface="Times New Roman"/>
              </a:rPr>
              <a:t>A. No puede existir ningún trastorno ácido-base.</a:t>
            </a:r>
          </a:p>
          <a:p xmlns:a="http://schemas.openxmlformats.org/drawingml/2006/main">
            <a:pPr algn="l">
              <a:defRPr sz="2000" b="0">
                <a:solidFill>
                  <a:srgbClr val="181818"/>
                </a:solidFill>
                <a:latin typeface="Times New Roman"/>
                <a:ea typeface="Times New Roman"/>
                <a:cs typeface="Times New Roman"/>
              </a:defRPr>
            </a:pPr>
            <a:r>
              <a:rPr sz="2000" b="0">
                <a:solidFill>
                  <a:srgbClr val="181818"/>
                </a:solidFill>
                <a:latin typeface="Times New Roman"/>
                <a:ea typeface="Times New Roman"/>
                <a:cs typeface="Times New Roman"/>
              </a:rPr>
              <a:t>B. Hay que revisar PCO₂, HCO₃⁻ y el contexto.</a:t>
            </a:r>
          </a:p>
          <a:p xmlns:a="http://schemas.openxmlformats.org/drawingml/2006/main">
            <a:pPr algn="l">
              <a:defRPr sz="2000" b="0">
                <a:solidFill>
                  <a:srgbClr val="181818"/>
                </a:solidFill>
                <a:latin typeface="Times New Roman"/>
                <a:ea typeface="Times New Roman"/>
                <a:cs typeface="Times New Roman"/>
              </a:defRPr>
            </a:pPr>
            <a:r>
              <a:rPr sz="2000" b="0">
                <a:solidFill>
                  <a:srgbClr val="181818"/>
                </a:solidFill>
                <a:latin typeface="Times New Roman"/>
                <a:ea typeface="Times New Roman"/>
                <a:cs typeface="Times New Roman"/>
              </a:rPr>
              <a:t>C. El paciente está completamente compensado y recuperado.</a:t>
            </a:r>
          </a:p>
        </p:txBody>
      </p:sp>
      <p:sp>
        <p:nvSpPr>
          <p:cNvPr id="6" name="text">
            <a:extLst xmlns:a="http://schemas.openxmlformats.org/drawingml/2006/main">
              <a:ext uri="{FF2B5EF4-FFF2-40B4-BE49-F238E27FC236}">
                <a16:creationId xmlns:a16="http://schemas.microsoft.com/office/drawing/2014/main" id="{8550429A-DCDF-449D-8059-233E81098043}"/>
              </a:ext>
            </a:extLst>
          </p:cNvPr>
          <p:cNvSpPr>
            <a:spLocks xmlns:a="http://schemas.openxmlformats.org/drawingml/2006/main" noGrp="1"/>
          </p:cNvSpPr>
          <p:nvPr/>
        </p:nvSpPr>
        <p:spPr>
          <a:xfrm xmlns:a="http://schemas.openxmlformats.org/drawingml/2006/main">
            <a:off x="609600" y="2990850"/>
            <a:ext cx="109728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50" b="1">
                <a:solidFill>
                  <a:srgbClr val="367653"/>
                </a:solidFill>
                <a:latin typeface="Times New Roman"/>
                <a:ea typeface="Times New Roman"/>
                <a:cs typeface="Times New Roman"/>
              </a:defRPr>
            </a:defPPr>
            <a:lvl1pPr algn="l">
              <a:defRPr sz="2150" b="1">
                <a:solidFill>
                  <a:srgbClr val="367653"/>
                </a:solidFill>
                <a:latin typeface="Times New Roman"/>
                <a:ea typeface="Times New Roman"/>
                <a:cs typeface="Times New Roman"/>
              </a:defRPr>
            </a:lvl1pPr>
            <a:lvl2pPr algn="l">
              <a:defRPr sz="2150" b="1">
                <a:solidFill>
                  <a:srgbClr val="367653"/>
                </a:solidFill>
                <a:latin typeface="Times New Roman"/>
                <a:ea typeface="Times New Roman"/>
                <a:cs typeface="Times New Roman"/>
              </a:defRPr>
            </a:lvl2pPr>
            <a:lvl3pPr algn="l">
              <a:defRPr sz="2150" b="1">
                <a:solidFill>
                  <a:srgbClr val="367653"/>
                </a:solidFill>
                <a:latin typeface="Times New Roman"/>
                <a:ea typeface="Times New Roman"/>
                <a:cs typeface="Times New Roman"/>
              </a:defRPr>
            </a:lvl3pPr>
            <a:lvl4pPr algn="l">
              <a:defRPr sz="2150" b="1">
                <a:solidFill>
                  <a:srgbClr val="367653"/>
                </a:solidFill>
                <a:latin typeface="Times New Roman"/>
                <a:ea typeface="Times New Roman"/>
                <a:cs typeface="Times New Roman"/>
              </a:defRPr>
            </a:lvl4pPr>
            <a:lvl5pPr algn="l">
              <a:defRPr sz="2150" b="1">
                <a:solidFill>
                  <a:srgbClr val="367653"/>
                </a:solidFill>
                <a:latin typeface="Times New Roman"/>
                <a:ea typeface="Times New Roman"/>
                <a:cs typeface="Times New Roman"/>
              </a:defRPr>
            </a:lvl5pPr>
            <a:lvl6pPr algn="l">
              <a:defRPr sz="2150" b="1">
                <a:solidFill>
                  <a:srgbClr val="367653"/>
                </a:solidFill>
                <a:latin typeface="Times New Roman"/>
                <a:ea typeface="Times New Roman"/>
                <a:cs typeface="Times New Roman"/>
              </a:defRPr>
            </a:lvl6pPr>
            <a:lvl7pPr algn="l">
              <a:defRPr sz="2150" b="1">
                <a:solidFill>
                  <a:srgbClr val="367653"/>
                </a:solidFill>
                <a:latin typeface="Times New Roman"/>
                <a:ea typeface="Times New Roman"/>
                <a:cs typeface="Times New Roman"/>
              </a:defRPr>
            </a:lvl7pPr>
            <a:lvl8pPr algn="l">
              <a:defRPr sz="2150" b="1">
                <a:solidFill>
                  <a:srgbClr val="367653"/>
                </a:solidFill>
                <a:latin typeface="Times New Roman"/>
                <a:ea typeface="Times New Roman"/>
                <a:cs typeface="Times New Roman"/>
              </a:defRPr>
            </a:lvl8pPr>
            <a:lvl9pPr algn="l">
              <a:defRPr sz="2150" b="1">
                <a:solidFill>
                  <a:srgbClr val="367653"/>
                </a:solidFill>
                <a:latin typeface="Times New Roman"/>
                <a:ea typeface="Times New Roman"/>
                <a:cs typeface="Times New Roman"/>
              </a:defRPr>
            </a:lvl9pPr>
          </a:lstStyle>
          <a:p xmlns:a="http://schemas.openxmlformats.org/drawingml/2006/main">
            <a:pPr algn="l">
              <a:defRPr sz="2150" b="1">
                <a:solidFill>
                  <a:srgbClr val="367653"/>
                </a:solidFill>
                <a:latin typeface="Times New Roman"/>
                <a:ea typeface="Times New Roman"/>
                <a:cs typeface="Times New Roman"/>
              </a:defRPr>
            </a:pPr>
            <a:r>
              <a:rPr sz="2150" b="1">
                <a:solidFill>
                  <a:srgbClr val="367653"/>
                </a:solidFill>
                <a:latin typeface="Times New Roman"/>
                <a:ea typeface="Times New Roman"/>
                <a:cs typeface="Times New Roman"/>
              </a:rPr>
              <a:t>2. En el simulador, si HCO₃⁻ permanece fijo y aumenta PCO₂, ¿qué ocurre con el pH?</a:t>
            </a:r>
          </a:p>
        </p:txBody>
      </p:sp>
      <p:sp>
        <p:nvSpPr>
          <p:cNvPr id="7" name="text">
            <a:extLst xmlns:a="http://schemas.openxmlformats.org/drawingml/2006/main">
              <a:ext uri="{FF2B5EF4-FFF2-40B4-BE49-F238E27FC236}">
                <a16:creationId xmlns:a16="http://schemas.microsoft.com/office/drawing/2014/main" id="{5B316852-ED67-41B2-8720-1946A971EBBD}"/>
              </a:ext>
            </a:extLst>
          </p:cNvPr>
          <p:cNvSpPr>
            <a:spLocks xmlns:a="http://schemas.openxmlformats.org/drawingml/2006/main" noGrp="1"/>
          </p:cNvSpPr>
          <p:nvPr/>
        </p:nvSpPr>
        <p:spPr>
          <a:xfrm xmlns:a="http://schemas.openxmlformats.org/drawingml/2006/main">
            <a:off x="838200" y="3581400"/>
            <a:ext cx="107442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00" b="0">
                <a:solidFill>
                  <a:srgbClr val="181818"/>
                </a:solidFill>
                <a:latin typeface="Times New Roman"/>
                <a:ea typeface="Times New Roman"/>
                <a:cs typeface="Times New Roman"/>
              </a:defRPr>
            </a:defPPr>
            <a:lvl1pPr algn="l">
              <a:defRPr sz="2000" b="0">
                <a:solidFill>
                  <a:srgbClr val="181818"/>
                </a:solidFill>
                <a:latin typeface="Times New Roman"/>
                <a:ea typeface="Times New Roman"/>
                <a:cs typeface="Times New Roman"/>
              </a:defRPr>
            </a:lvl1pPr>
            <a:lvl2pPr algn="l">
              <a:defRPr sz="2000" b="0">
                <a:solidFill>
                  <a:srgbClr val="181818"/>
                </a:solidFill>
                <a:latin typeface="Times New Roman"/>
                <a:ea typeface="Times New Roman"/>
                <a:cs typeface="Times New Roman"/>
              </a:defRPr>
            </a:lvl2pPr>
            <a:lvl3pPr algn="l">
              <a:defRPr sz="2000" b="0">
                <a:solidFill>
                  <a:srgbClr val="181818"/>
                </a:solidFill>
                <a:latin typeface="Times New Roman"/>
                <a:ea typeface="Times New Roman"/>
                <a:cs typeface="Times New Roman"/>
              </a:defRPr>
            </a:lvl3pPr>
            <a:lvl4pPr algn="l">
              <a:defRPr sz="2000" b="0">
                <a:solidFill>
                  <a:srgbClr val="181818"/>
                </a:solidFill>
                <a:latin typeface="Times New Roman"/>
                <a:ea typeface="Times New Roman"/>
                <a:cs typeface="Times New Roman"/>
              </a:defRPr>
            </a:lvl4pPr>
            <a:lvl5pPr algn="l">
              <a:defRPr sz="2000" b="0">
                <a:solidFill>
                  <a:srgbClr val="181818"/>
                </a:solidFill>
                <a:latin typeface="Times New Roman"/>
                <a:ea typeface="Times New Roman"/>
                <a:cs typeface="Times New Roman"/>
              </a:defRPr>
            </a:lvl5pPr>
            <a:lvl6pPr algn="l">
              <a:defRPr sz="2000" b="0">
                <a:solidFill>
                  <a:srgbClr val="181818"/>
                </a:solidFill>
                <a:latin typeface="Times New Roman"/>
                <a:ea typeface="Times New Roman"/>
                <a:cs typeface="Times New Roman"/>
              </a:defRPr>
            </a:lvl6pPr>
            <a:lvl7pPr algn="l">
              <a:defRPr sz="2000" b="0">
                <a:solidFill>
                  <a:srgbClr val="181818"/>
                </a:solidFill>
                <a:latin typeface="Times New Roman"/>
                <a:ea typeface="Times New Roman"/>
                <a:cs typeface="Times New Roman"/>
              </a:defRPr>
            </a:lvl7pPr>
            <a:lvl8pPr algn="l">
              <a:defRPr sz="2000" b="0">
                <a:solidFill>
                  <a:srgbClr val="181818"/>
                </a:solidFill>
                <a:latin typeface="Times New Roman"/>
                <a:ea typeface="Times New Roman"/>
                <a:cs typeface="Times New Roman"/>
              </a:defRPr>
            </a:lvl8pPr>
            <a:lvl9pPr algn="l">
              <a:defRPr sz="2000" b="0">
                <a:solidFill>
                  <a:srgbClr val="181818"/>
                </a:solidFill>
                <a:latin typeface="Times New Roman"/>
                <a:ea typeface="Times New Roman"/>
                <a:cs typeface="Times New Roman"/>
              </a:defRPr>
            </a:lvl9pPr>
          </a:lstStyle>
          <a:p xmlns:a="http://schemas.openxmlformats.org/drawingml/2006/main">
            <a:pPr algn="l">
              <a:defRPr sz="2000" b="0">
                <a:solidFill>
                  <a:srgbClr val="181818"/>
                </a:solidFill>
                <a:latin typeface="Times New Roman"/>
                <a:ea typeface="Times New Roman"/>
                <a:cs typeface="Times New Roman"/>
              </a:defRPr>
            </a:pPr>
            <a:r>
              <a:rPr sz="2000" b="0">
                <a:solidFill>
                  <a:srgbClr val="181818"/>
                </a:solidFill>
                <a:latin typeface="Times New Roman"/>
                <a:ea typeface="Times New Roman"/>
                <a:cs typeface="Times New Roman"/>
              </a:rPr>
              <a:t>A. Aumenta.</a:t>
            </a:r>
          </a:p>
          <a:p xmlns:a="http://schemas.openxmlformats.org/drawingml/2006/main">
            <a:pPr algn="l">
              <a:defRPr sz="2000" b="0">
                <a:solidFill>
                  <a:srgbClr val="181818"/>
                </a:solidFill>
                <a:latin typeface="Times New Roman"/>
                <a:ea typeface="Times New Roman"/>
                <a:cs typeface="Times New Roman"/>
              </a:defRPr>
            </a:pPr>
            <a:r>
              <a:rPr sz="2000" b="0">
                <a:solidFill>
                  <a:srgbClr val="181818"/>
                </a:solidFill>
                <a:latin typeface="Times New Roman"/>
                <a:ea typeface="Times New Roman"/>
                <a:cs typeface="Times New Roman"/>
              </a:rPr>
              <a:t>B. Disminuye.</a:t>
            </a:r>
          </a:p>
          <a:p xmlns:a="http://schemas.openxmlformats.org/drawingml/2006/main">
            <a:pPr algn="l">
              <a:defRPr sz="2000" b="0">
                <a:solidFill>
                  <a:srgbClr val="181818"/>
                </a:solidFill>
                <a:latin typeface="Times New Roman"/>
                <a:ea typeface="Times New Roman"/>
                <a:cs typeface="Times New Roman"/>
              </a:defRPr>
            </a:pPr>
            <a:r>
              <a:rPr sz="2000" b="0">
                <a:solidFill>
                  <a:srgbClr val="181818"/>
                </a:solidFill>
                <a:latin typeface="Times New Roman"/>
                <a:ea typeface="Times New Roman"/>
                <a:cs typeface="Times New Roman"/>
              </a:rPr>
              <a:t>C. No cambia.</a:t>
            </a:r>
          </a:p>
        </p:txBody>
      </p:sp>
      <p:sp>
        <p:nvSpPr>
          <p:cNvPr id="8" name="text">
            <a:extLst xmlns:a="http://schemas.openxmlformats.org/drawingml/2006/main">
              <a:ext uri="{FF2B5EF4-FFF2-40B4-BE49-F238E27FC236}">
                <a16:creationId xmlns:a16="http://schemas.microsoft.com/office/drawing/2014/main" id="{C6B0C544-C279-4C09-A836-1577D0EED7C4}"/>
              </a:ext>
            </a:extLst>
          </p:cNvPr>
          <p:cNvSpPr>
            <a:spLocks xmlns:a="http://schemas.openxmlformats.org/drawingml/2006/main" noGrp="1"/>
          </p:cNvSpPr>
          <p:nvPr/>
        </p:nvSpPr>
        <p:spPr>
          <a:xfrm xmlns:a="http://schemas.openxmlformats.org/drawingml/2006/main">
            <a:off x="609600" y="4591050"/>
            <a:ext cx="109728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50" b="1">
                <a:solidFill>
                  <a:srgbClr val="367653"/>
                </a:solidFill>
                <a:latin typeface="Times New Roman"/>
                <a:ea typeface="Times New Roman"/>
                <a:cs typeface="Times New Roman"/>
              </a:defRPr>
            </a:defPPr>
            <a:lvl1pPr algn="l">
              <a:defRPr sz="2150" b="1">
                <a:solidFill>
                  <a:srgbClr val="367653"/>
                </a:solidFill>
                <a:latin typeface="Times New Roman"/>
                <a:ea typeface="Times New Roman"/>
                <a:cs typeface="Times New Roman"/>
              </a:defRPr>
            </a:lvl1pPr>
            <a:lvl2pPr algn="l">
              <a:defRPr sz="2150" b="1">
                <a:solidFill>
                  <a:srgbClr val="367653"/>
                </a:solidFill>
                <a:latin typeface="Times New Roman"/>
                <a:ea typeface="Times New Roman"/>
                <a:cs typeface="Times New Roman"/>
              </a:defRPr>
            </a:lvl2pPr>
            <a:lvl3pPr algn="l">
              <a:defRPr sz="2150" b="1">
                <a:solidFill>
                  <a:srgbClr val="367653"/>
                </a:solidFill>
                <a:latin typeface="Times New Roman"/>
                <a:ea typeface="Times New Roman"/>
                <a:cs typeface="Times New Roman"/>
              </a:defRPr>
            </a:lvl3pPr>
            <a:lvl4pPr algn="l">
              <a:defRPr sz="2150" b="1">
                <a:solidFill>
                  <a:srgbClr val="367653"/>
                </a:solidFill>
                <a:latin typeface="Times New Roman"/>
                <a:ea typeface="Times New Roman"/>
                <a:cs typeface="Times New Roman"/>
              </a:defRPr>
            </a:lvl4pPr>
            <a:lvl5pPr algn="l">
              <a:defRPr sz="2150" b="1">
                <a:solidFill>
                  <a:srgbClr val="367653"/>
                </a:solidFill>
                <a:latin typeface="Times New Roman"/>
                <a:ea typeface="Times New Roman"/>
                <a:cs typeface="Times New Roman"/>
              </a:defRPr>
            </a:lvl5pPr>
            <a:lvl6pPr algn="l">
              <a:defRPr sz="2150" b="1">
                <a:solidFill>
                  <a:srgbClr val="367653"/>
                </a:solidFill>
                <a:latin typeface="Times New Roman"/>
                <a:ea typeface="Times New Roman"/>
                <a:cs typeface="Times New Roman"/>
              </a:defRPr>
            </a:lvl6pPr>
            <a:lvl7pPr algn="l">
              <a:defRPr sz="2150" b="1">
                <a:solidFill>
                  <a:srgbClr val="367653"/>
                </a:solidFill>
                <a:latin typeface="Times New Roman"/>
                <a:ea typeface="Times New Roman"/>
                <a:cs typeface="Times New Roman"/>
              </a:defRPr>
            </a:lvl7pPr>
            <a:lvl8pPr algn="l">
              <a:defRPr sz="2150" b="1">
                <a:solidFill>
                  <a:srgbClr val="367653"/>
                </a:solidFill>
                <a:latin typeface="Times New Roman"/>
                <a:ea typeface="Times New Roman"/>
                <a:cs typeface="Times New Roman"/>
              </a:defRPr>
            </a:lvl8pPr>
            <a:lvl9pPr algn="l">
              <a:defRPr sz="2150" b="1">
                <a:solidFill>
                  <a:srgbClr val="367653"/>
                </a:solidFill>
                <a:latin typeface="Times New Roman"/>
                <a:ea typeface="Times New Roman"/>
                <a:cs typeface="Times New Roman"/>
              </a:defRPr>
            </a:lvl9pPr>
          </a:lstStyle>
          <a:p xmlns:a="http://schemas.openxmlformats.org/drawingml/2006/main">
            <a:pPr algn="l">
              <a:defRPr sz="2150" b="1">
                <a:solidFill>
                  <a:srgbClr val="367653"/>
                </a:solidFill>
                <a:latin typeface="Times New Roman"/>
                <a:ea typeface="Times New Roman"/>
                <a:cs typeface="Times New Roman"/>
              </a:defRPr>
            </a:pPr>
            <a:r>
              <a:rPr sz="2150" b="1">
                <a:solidFill>
                  <a:srgbClr val="367653"/>
                </a:solidFill>
                <a:latin typeface="Times New Roman"/>
                <a:ea typeface="Times New Roman"/>
                <a:cs typeface="Times New Roman"/>
              </a:rPr>
              <a:t>3. ¿Qué distingue recuperar bicarbonato de generar bicarbonato nuevo?</a:t>
            </a:r>
          </a:p>
        </p:txBody>
      </p:sp>
      <p:sp>
        <p:nvSpPr>
          <p:cNvPr id="9" name="text">
            <a:extLst xmlns:a="http://schemas.openxmlformats.org/drawingml/2006/main">
              <a:ext uri="{FF2B5EF4-FFF2-40B4-BE49-F238E27FC236}">
                <a16:creationId xmlns:a16="http://schemas.microsoft.com/office/drawing/2014/main" id="{80F5E5B5-08AE-46B8-934C-6508FE28C6C6}"/>
              </a:ext>
            </a:extLst>
          </p:cNvPr>
          <p:cNvSpPr>
            <a:spLocks xmlns:a="http://schemas.openxmlformats.org/drawingml/2006/main" noGrp="1"/>
          </p:cNvSpPr>
          <p:nvPr/>
        </p:nvSpPr>
        <p:spPr>
          <a:xfrm xmlns:a="http://schemas.openxmlformats.org/drawingml/2006/main">
            <a:off x="838200" y="5181600"/>
            <a:ext cx="107442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00" b="0">
                <a:solidFill>
                  <a:srgbClr val="181818"/>
                </a:solidFill>
                <a:latin typeface="Times New Roman"/>
                <a:ea typeface="Times New Roman"/>
                <a:cs typeface="Times New Roman"/>
              </a:defRPr>
            </a:defPPr>
            <a:lvl1pPr algn="l">
              <a:defRPr sz="2000" b="0">
                <a:solidFill>
                  <a:srgbClr val="181818"/>
                </a:solidFill>
                <a:latin typeface="Times New Roman"/>
                <a:ea typeface="Times New Roman"/>
                <a:cs typeface="Times New Roman"/>
              </a:defRPr>
            </a:lvl1pPr>
            <a:lvl2pPr algn="l">
              <a:defRPr sz="2000" b="0">
                <a:solidFill>
                  <a:srgbClr val="181818"/>
                </a:solidFill>
                <a:latin typeface="Times New Roman"/>
                <a:ea typeface="Times New Roman"/>
                <a:cs typeface="Times New Roman"/>
              </a:defRPr>
            </a:lvl2pPr>
            <a:lvl3pPr algn="l">
              <a:defRPr sz="2000" b="0">
                <a:solidFill>
                  <a:srgbClr val="181818"/>
                </a:solidFill>
                <a:latin typeface="Times New Roman"/>
                <a:ea typeface="Times New Roman"/>
                <a:cs typeface="Times New Roman"/>
              </a:defRPr>
            </a:lvl3pPr>
            <a:lvl4pPr algn="l">
              <a:defRPr sz="2000" b="0">
                <a:solidFill>
                  <a:srgbClr val="181818"/>
                </a:solidFill>
                <a:latin typeface="Times New Roman"/>
                <a:ea typeface="Times New Roman"/>
                <a:cs typeface="Times New Roman"/>
              </a:defRPr>
            </a:lvl4pPr>
            <a:lvl5pPr algn="l">
              <a:defRPr sz="2000" b="0">
                <a:solidFill>
                  <a:srgbClr val="181818"/>
                </a:solidFill>
                <a:latin typeface="Times New Roman"/>
                <a:ea typeface="Times New Roman"/>
                <a:cs typeface="Times New Roman"/>
              </a:defRPr>
            </a:lvl5pPr>
            <a:lvl6pPr algn="l">
              <a:defRPr sz="2000" b="0">
                <a:solidFill>
                  <a:srgbClr val="181818"/>
                </a:solidFill>
                <a:latin typeface="Times New Roman"/>
                <a:ea typeface="Times New Roman"/>
                <a:cs typeface="Times New Roman"/>
              </a:defRPr>
            </a:lvl6pPr>
            <a:lvl7pPr algn="l">
              <a:defRPr sz="2000" b="0">
                <a:solidFill>
                  <a:srgbClr val="181818"/>
                </a:solidFill>
                <a:latin typeface="Times New Roman"/>
                <a:ea typeface="Times New Roman"/>
                <a:cs typeface="Times New Roman"/>
              </a:defRPr>
            </a:lvl7pPr>
            <a:lvl8pPr algn="l">
              <a:defRPr sz="2000" b="0">
                <a:solidFill>
                  <a:srgbClr val="181818"/>
                </a:solidFill>
                <a:latin typeface="Times New Roman"/>
                <a:ea typeface="Times New Roman"/>
                <a:cs typeface="Times New Roman"/>
              </a:defRPr>
            </a:lvl8pPr>
            <a:lvl9pPr algn="l">
              <a:defRPr sz="2000" b="0">
                <a:solidFill>
                  <a:srgbClr val="181818"/>
                </a:solidFill>
                <a:latin typeface="Times New Roman"/>
                <a:ea typeface="Times New Roman"/>
                <a:cs typeface="Times New Roman"/>
              </a:defRPr>
            </a:lvl9pPr>
          </a:lstStyle>
          <a:p xmlns:a="http://schemas.openxmlformats.org/drawingml/2006/main">
            <a:pPr algn="l">
              <a:defRPr sz="2000" b="0">
                <a:solidFill>
                  <a:srgbClr val="181818"/>
                </a:solidFill>
                <a:latin typeface="Times New Roman"/>
                <a:ea typeface="Times New Roman"/>
                <a:cs typeface="Times New Roman"/>
              </a:defRPr>
            </a:pPr>
            <a:r>
              <a:rPr sz="2000" b="0">
                <a:solidFill>
                  <a:srgbClr val="181818"/>
                </a:solidFill>
                <a:latin typeface="Times New Roman"/>
                <a:ea typeface="Times New Roman"/>
                <a:cs typeface="Times New Roman"/>
              </a:rPr>
              <a:t>A. Son dos nombres de exactamente el mismo balance.</a:t>
            </a:r>
          </a:p>
          <a:p xmlns:a="http://schemas.openxmlformats.org/drawingml/2006/main">
            <a:pPr algn="l">
              <a:defRPr sz="2000" b="0">
                <a:solidFill>
                  <a:srgbClr val="181818"/>
                </a:solidFill>
                <a:latin typeface="Times New Roman"/>
                <a:ea typeface="Times New Roman"/>
                <a:cs typeface="Times New Roman"/>
              </a:defRPr>
            </a:pPr>
            <a:r>
              <a:rPr sz="2000" b="0">
                <a:solidFill>
                  <a:srgbClr val="181818"/>
                </a:solidFill>
                <a:latin typeface="Times New Roman"/>
                <a:ea typeface="Times New Roman"/>
                <a:cs typeface="Times New Roman"/>
              </a:rPr>
              <a:t>B. La excreción neta de ácido permite reponer bicarbonato.</a:t>
            </a:r>
          </a:p>
          <a:p xmlns:a="http://schemas.openxmlformats.org/drawingml/2006/main">
            <a:pPr algn="l">
              <a:defRPr sz="2000" b="0">
                <a:solidFill>
                  <a:srgbClr val="181818"/>
                </a:solidFill>
                <a:latin typeface="Times New Roman"/>
                <a:ea typeface="Times New Roman"/>
                <a:cs typeface="Times New Roman"/>
              </a:defRPr>
            </a:pPr>
            <a:r>
              <a:rPr sz="2000" b="0">
                <a:solidFill>
                  <a:srgbClr val="181818"/>
                </a:solidFill>
                <a:latin typeface="Times New Roman"/>
                <a:ea typeface="Times New Roman"/>
                <a:cs typeface="Times New Roman"/>
              </a:rPr>
              <a:t>C. Todo bicarbonato nuevo procede de los pulmones.</a:t>
            </a:r>
          </a:p>
        </p:txBody>
      </p:sp>
    </p:spTree>
    <p:extLst>
      <p:ext uri="{BB962C8B-B14F-4D97-AF65-F5344CB8AC3E}">
        <p14:creationId xmlns:p14="http://schemas.microsoft.com/office/powerpoint/2010/main" val="1605516497"/>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slide-title">
            <a:extLst xmlns:a="http://schemas.openxmlformats.org/drawingml/2006/main">
              <a:ext uri="{FF2B5EF4-FFF2-40B4-BE49-F238E27FC236}">
                <a16:creationId xmlns:a16="http://schemas.microsoft.com/office/drawing/2014/main" id="{300022B7-5BCC-4CD6-8DF2-9C17C73700FC}"/>
              </a:ext>
            </a:extLst>
          </p:cNvPr>
          <p:cNvSpPr>
            <a:spLocks xmlns:a="http://schemas.openxmlformats.org/drawingml/2006/main" noGrp="1"/>
          </p:cNvSpPr>
          <p:nvPr/>
        </p:nvSpPr>
        <p:spPr>
          <a:xfrm xmlns:a="http://schemas.openxmlformats.org/drawingml/2006/main">
            <a:off x="609600" y="390525"/>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400" b="1">
                <a:solidFill>
                  <a:srgbClr val="174A35"/>
                </a:solidFill>
                <a:latin typeface="Times New Roman"/>
                <a:ea typeface="Times New Roman"/>
                <a:cs typeface="Times New Roman"/>
              </a:defRPr>
            </a:defPPr>
            <a:lvl1pPr algn="l">
              <a:defRPr sz="3400" b="1">
                <a:solidFill>
                  <a:srgbClr val="174A35"/>
                </a:solidFill>
                <a:latin typeface="Times New Roman"/>
                <a:ea typeface="Times New Roman"/>
                <a:cs typeface="Times New Roman"/>
              </a:defRPr>
            </a:lvl1pPr>
            <a:lvl2pPr algn="l">
              <a:defRPr sz="3400" b="1">
                <a:solidFill>
                  <a:srgbClr val="174A35"/>
                </a:solidFill>
                <a:latin typeface="Times New Roman"/>
                <a:ea typeface="Times New Roman"/>
                <a:cs typeface="Times New Roman"/>
              </a:defRPr>
            </a:lvl2pPr>
            <a:lvl3pPr algn="l">
              <a:defRPr sz="3400" b="1">
                <a:solidFill>
                  <a:srgbClr val="174A35"/>
                </a:solidFill>
                <a:latin typeface="Times New Roman"/>
                <a:ea typeface="Times New Roman"/>
                <a:cs typeface="Times New Roman"/>
              </a:defRPr>
            </a:lvl3pPr>
            <a:lvl4pPr algn="l">
              <a:defRPr sz="3400" b="1">
                <a:solidFill>
                  <a:srgbClr val="174A35"/>
                </a:solidFill>
                <a:latin typeface="Times New Roman"/>
                <a:ea typeface="Times New Roman"/>
                <a:cs typeface="Times New Roman"/>
              </a:defRPr>
            </a:lvl4pPr>
            <a:lvl5pPr algn="l">
              <a:defRPr sz="3400" b="1">
                <a:solidFill>
                  <a:srgbClr val="174A35"/>
                </a:solidFill>
                <a:latin typeface="Times New Roman"/>
                <a:ea typeface="Times New Roman"/>
                <a:cs typeface="Times New Roman"/>
              </a:defRPr>
            </a:lvl5pPr>
            <a:lvl6pPr algn="l">
              <a:defRPr sz="3400" b="1">
                <a:solidFill>
                  <a:srgbClr val="174A35"/>
                </a:solidFill>
                <a:latin typeface="Times New Roman"/>
                <a:ea typeface="Times New Roman"/>
                <a:cs typeface="Times New Roman"/>
              </a:defRPr>
            </a:lvl6pPr>
            <a:lvl7pPr algn="l">
              <a:defRPr sz="3400" b="1">
                <a:solidFill>
                  <a:srgbClr val="174A35"/>
                </a:solidFill>
                <a:latin typeface="Times New Roman"/>
                <a:ea typeface="Times New Roman"/>
                <a:cs typeface="Times New Roman"/>
              </a:defRPr>
            </a:lvl7pPr>
            <a:lvl8pPr algn="l">
              <a:defRPr sz="3400" b="1">
                <a:solidFill>
                  <a:srgbClr val="174A35"/>
                </a:solidFill>
                <a:latin typeface="Times New Roman"/>
                <a:ea typeface="Times New Roman"/>
                <a:cs typeface="Times New Roman"/>
              </a:defRPr>
            </a:lvl8pPr>
            <a:lvl9pPr algn="l">
              <a:defRPr sz="3400" b="1">
                <a:solidFill>
                  <a:srgbClr val="174A35"/>
                </a:solidFill>
                <a:latin typeface="Times New Roman"/>
                <a:ea typeface="Times New Roman"/>
                <a:cs typeface="Times New Roman"/>
              </a:defRPr>
            </a:lvl9pPr>
          </a:lstStyle>
          <a:p xmlns:a="http://schemas.openxmlformats.org/drawingml/2006/main">
            <a:pPr algn="l">
              <a:defRPr sz="3400" b="1">
                <a:solidFill>
                  <a:srgbClr val="174A35"/>
                </a:solidFill>
                <a:latin typeface="Times New Roman"/>
                <a:ea typeface="Times New Roman"/>
                <a:cs typeface="Times New Roman"/>
              </a:defRPr>
            </a:pPr>
            <a:r>
              <a:rPr sz="3400" b="1">
                <a:solidFill>
                  <a:srgbClr val="174A35"/>
                </a:solidFill>
                <a:latin typeface="Times New Roman"/>
                <a:ea typeface="Times New Roman"/>
                <a:cs typeface="Times New Roman"/>
              </a:rPr>
              <a:t>Pregunta 4. Ternero con diarrea</a:t>
            </a:r>
          </a:p>
        </p:txBody>
      </p:sp>
      <p:sp>
        <p:nvSpPr>
          <p:cNvPr id="2" name="page-number">
            <a:extLst xmlns:a="http://schemas.openxmlformats.org/drawingml/2006/main">
              <a:ext uri="{FF2B5EF4-FFF2-40B4-BE49-F238E27FC236}">
                <a16:creationId xmlns:a16="http://schemas.microsoft.com/office/drawing/2014/main" id="{9E21533F-D43E-47DC-B9B8-5D77A14FE1D9}"/>
              </a:ext>
            </a:extLst>
          </p:cNvPr>
          <p:cNvSpPr>
            <a:spLocks xmlns:a="http://schemas.openxmlformats.org/drawingml/2006/main" noGrp="1"/>
          </p:cNvSpPr>
          <p:nvPr/>
        </p:nvSpPr>
        <p:spPr>
          <a:xfrm xmlns:a="http://schemas.openxmlformats.org/drawingml/2006/main">
            <a:off x="11077575" y="64198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00" b="0">
                <a:solidFill>
                  <a:srgbClr val="367653"/>
                </a:solidFill>
                <a:latin typeface="Times New Roman"/>
                <a:ea typeface="Times New Roman"/>
                <a:cs typeface="Times New Roman"/>
              </a:defRPr>
            </a:defPPr>
            <a:lvl1pPr algn="r">
              <a:defRPr sz="1200" b="0">
                <a:solidFill>
                  <a:srgbClr val="367653"/>
                </a:solidFill>
                <a:latin typeface="Times New Roman"/>
                <a:ea typeface="Times New Roman"/>
                <a:cs typeface="Times New Roman"/>
              </a:defRPr>
            </a:lvl1pPr>
            <a:lvl2pPr algn="r">
              <a:defRPr sz="1200" b="0">
                <a:solidFill>
                  <a:srgbClr val="367653"/>
                </a:solidFill>
                <a:latin typeface="Times New Roman"/>
                <a:ea typeface="Times New Roman"/>
                <a:cs typeface="Times New Roman"/>
              </a:defRPr>
            </a:lvl2pPr>
            <a:lvl3pPr algn="r">
              <a:defRPr sz="1200" b="0">
                <a:solidFill>
                  <a:srgbClr val="367653"/>
                </a:solidFill>
                <a:latin typeface="Times New Roman"/>
                <a:ea typeface="Times New Roman"/>
                <a:cs typeface="Times New Roman"/>
              </a:defRPr>
            </a:lvl3pPr>
            <a:lvl4pPr algn="r">
              <a:defRPr sz="1200" b="0">
                <a:solidFill>
                  <a:srgbClr val="367653"/>
                </a:solidFill>
                <a:latin typeface="Times New Roman"/>
                <a:ea typeface="Times New Roman"/>
                <a:cs typeface="Times New Roman"/>
              </a:defRPr>
            </a:lvl4pPr>
            <a:lvl5pPr algn="r">
              <a:defRPr sz="1200" b="0">
                <a:solidFill>
                  <a:srgbClr val="367653"/>
                </a:solidFill>
                <a:latin typeface="Times New Roman"/>
                <a:ea typeface="Times New Roman"/>
                <a:cs typeface="Times New Roman"/>
              </a:defRPr>
            </a:lvl5pPr>
            <a:lvl6pPr algn="r">
              <a:defRPr sz="1200" b="0">
                <a:solidFill>
                  <a:srgbClr val="367653"/>
                </a:solidFill>
                <a:latin typeface="Times New Roman"/>
                <a:ea typeface="Times New Roman"/>
                <a:cs typeface="Times New Roman"/>
              </a:defRPr>
            </a:lvl6pPr>
            <a:lvl7pPr algn="r">
              <a:defRPr sz="1200" b="0">
                <a:solidFill>
                  <a:srgbClr val="367653"/>
                </a:solidFill>
                <a:latin typeface="Times New Roman"/>
                <a:ea typeface="Times New Roman"/>
                <a:cs typeface="Times New Roman"/>
              </a:defRPr>
            </a:lvl7pPr>
            <a:lvl8pPr algn="r">
              <a:defRPr sz="1200" b="0">
                <a:solidFill>
                  <a:srgbClr val="367653"/>
                </a:solidFill>
                <a:latin typeface="Times New Roman"/>
                <a:ea typeface="Times New Roman"/>
                <a:cs typeface="Times New Roman"/>
              </a:defRPr>
            </a:lvl8pPr>
            <a:lvl9pPr algn="r">
              <a:defRPr sz="1200" b="0">
                <a:solidFill>
                  <a:srgbClr val="367653"/>
                </a:solidFill>
                <a:latin typeface="Times New Roman"/>
                <a:ea typeface="Times New Roman"/>
                <a:cs typeface="Times New Roman"/>
              </a:defRPr>
            </a:lvl9pPr>
          </a:lstStyle>
          <a:p xmlns:a="http://schemas.openxmlformats.org/drawingml/2006/main">
            <a:pPr algn="r">
              <a:defRPr sz="1200" b="0">
                <a:solidFill>
                  <a:srgbClr val="367653"/>
                </a:solidFill>
                <a:latin typeface="Times New Roman"/>
                <a:ea typeface="Times New Roman"/>
                <a:cs typeface="Times New Roman"/>
              </a:defRPr>
            </a:pPr>
            <a:r>
              <a:rPr sz="1200" b="0">
                <a:solidFill>
                  <a:srgbClr val="367653"/>
                </a:solidFill>
                <a:latin typeface="Times New Roman"/>
                <a:ea typeface="Times New Roman"/>
                <a:cs typeface="Times New Roman"/>
              </a:rPr>
              <a:t>13</a:t>
            </a:r>
          </a:p>
        </p:txBody>
      </p:sp>
      <p:sp>
        <p:nvSpPr>
          <p:cNvPr id="3" name="sources">
            <a:extLst xmlns:a="http://schemas.openxmlformats.org/drawingml/2006/main">
              <a:ext uri="{FF2B5EF4-FFF2-40B4-BE49-F238E27FC236}">
                <a16:creationId xmlns:a16="http://schemas.microsoft.com/office/drawing/2014/main" id="{9076CADF-CD6A-456E-97B7-5DCFADC980E1}"/>
              </a:ext>
            </a:extLst>
          </p:cNvPr>
          <p:cNvSpPr>
            <a:spLocks xmlns:a="http://schemas.openxmlformats.org/drawingml/2006/main" noGrp="1"/>
          </p:cNvSpPr>
          <p:nvPr/>
        </p:nvSpPr>
        <p:spPr>
          <a:xfrm xmlns:a="http://schemas.openxmlformats.org/drawingml/2006/main">
            <a:off x="609600" y="6419850"/>
            <a:ext cx="10287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200" b="0">
                <a:solidFill>
                  <a:srgbClr val="515151"/>
                </a:solidFill>
                <a:latin typeface="Times New Roman"/>
                <a:ea typeface="Times New Roman"/>
                <a:cs typeface="Times New Roman"/>
              </a:defRPr>
            </a:defPPr>
            <a:lvl1pPr algn="l">
              <a:defRPr sz="1200" b="0">
                <a:solidFill>
                  <a:srgbClr val="515151"/>
                </a:solidFill>
                <a:latin typeface="Times New Roman"/>
                <a:ea typeface="Times New Roman"/>
                <a:cs typeface="Times New Roman"/>
              </a:defRPr>
            </a:lvl1pPr>
            <a:lvl2pPr algn="l">
              <a:defRPr sz="1200" b="0">
                <a:solidFill>
                  <a:srgbClr val="515151"/>
                </a:solidFill>
                <a:latin typeface="Times New Roman"/>
                <a:ea typeface="Times New Roman"/>
                <a:cs typeface="Times New Roman"/>
              </a:defRPr>
            </a:lvl2pPr>
            <a:lvl3pPr algn="l">
              <a:defRPr sz="1200" b="0">
                <a:solidFill>
                  <a:srgbClr val="515151"/>
                </a:solidFill>
                <a:latin typeface="Times New Roman"/>
                <a:ea typeface="Times New Roman"/>
                <a:cs typeface="Times New Roman"/>
              </a:defRPr>
            </a:lvl3pPr>
            <a:lvl4pPr algn="l">
              <a:defRPr sz="1200" b="0">
                <a:solidFill>
                  <a:srgbClr val="515151"/>
                </a:solidFill>
                <a:latin typeface="Times New Roman"/>
                <a:ea typeface="Times New Roman"/>
                <a:cs typeface="Times New Roman"/>
              </a:defRPr>
            </a:lvl4pPr>
            <a:lvl5pPr algn="l">
              <a:defRPr sz="1200" b="0">
                <a:solidFill>
                  <a:srgbClr val="515151"/>
                </a:solidFill>
                <a:latin typeface="Times New Roman"/>
                <a:ea typeface="Times New Roman"/>
                <a:cs typeface="Times New Roman"/>
              </a:defRPr>
            </a:lvl5pPr>
            <a:lvl6pPr algn="l">
              <a:defRPr sz="1200" b="0">
                <a:solidFill>
                  <a:srgbClr val="515151"/>
                </a:solidFill>
                <a:latin typeface="Times New Roman"/>
                <a:ea typeface="Times New Roman"/>
                <a:cs typeface="Times New Roman"/>
              </a:defRPr>
            </a:lvl6pPr>
            <a:lvl7pPr algn="l">
              <a:defRPr sz="1200" b="0">
                <a:solidFill>
                  <a:srgbClr val="515151"/>
                </a:solidFill>
                <a:latin typeface="Times New Roman"/>
                <a:ea typeface="Times New Roman"/>
                <a:cs typeface="Times New Roman"/>
              </a:defRPr>
            </a:lvl7pPr>
            <a:lvl8pPr algn="l">
              <a:defRPr sz="1200" b="0">
                <a:solidFill>
                  <a:srgbClr val="515151"/>
                </a:solidFill>
                <a:latin typeface="Times New Roman"/>
                <a:ea typeface="Times New Roman"/>
                <a:cs typeface="Times New Roman"/>
              </a:defRPr>
            </a:lvl8pPr>
            <a:lvl9pPr algn="l">
              <a:defRPr sz="1200" b="0">
                <a:solidFill>
                  <a:srgbClr val="515151"/>
                </a:solidFill>
                <a:latin typeface="Times New Roman"/>
                <a:ea typeface="Times New Roman"/>
                <a:cs typeface="Times New Roman"/>
              </a:defRPr>
            </a:lvl9pPr>
          </a:lstStyle>
          <a:p xmlns:a="http://schemas.openxmlformats.org/drawingml/2006/main">
            <a:pPr algn="l">
              <a:defRPr sz="1200" b="0">
                <a:solidFill>
                  <a:srgbClr val="515151"/>
                </a:solidFill>
                <a:latin typeface="Times New Roman"/>
                <a:ea typeface="Times New Roman"/>
                <a:cs typeface="Times New Roman"/>
              </a:defRPr>
            </a:pPr>
            <a:r>
              <a:rPr sz="1200" b="0">
                <a:solidFill>
                  <a:srgbClr val="515151"/>
                </a:solidFill>
                <a:latin typeface="Times New Roman"/>
                <a:ea typeface="Times New Roman"/>
                <a:cs typeface="Times New Roman"/>
              </a:rPr>
              <a:t>Fuentes: [3] [7] [10] [11] [12]</a:t>
            </a:r>
          </a:p>
        </p:txBody>
      </p:sp>
      <p:sp>
        <p:nvSpPr>
          <p:cNvPr id="4" name="text">
            <a:extLst xmlns:a="http://schemas.openxmlformats.org/drawingml/2006/main">
              <a:ext uri="{FF2B5EF4-FFF2-40B4-BE49-F238E27FC236}">
                <a16:creationId xmlns:a16="http://schemas.microsoft.com/office/drawing/2014/main" id="{FE9BEC76-DE46-4E49-A97A-2AB48AEDB7B2}"/>
              </a:ext>
            </a:extLst>
          </p:cNvPr>
          <p:cNvSpPr>
            <a:spLocks xmlns:a="http://schemas.openxmlformats.org/drawingml/2006/main" noGrp="1"/>
          </p:cNvSpPr>
          <p:nvPr/>
        </p:nvSpPr>
        <p:spPr>
          <a:xfrm xmlns:a="http://schemas.openxmlformats.org/drawingml/2006/main">
            <a:off x="609600" y="1343025"/>
            <a:ext cx="109728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00" b="0">
                <a:solidFill>
                  <a:srgbClr val="181818"/>
                </a:solidFill>
                <a:latin typeface="Times New Roman"/>
                <a:ea typeface="Times New Roman"/>
                <a:cs typeface="Times New Roman"/>
              </a:defRPr>
            </a:defPPr>
            <a:lvl1pPr algn="l">
              <a:defRPr sz="2200" b="0">
                <a:solidFill>
                  <a:srgbClr val="181818"/>
                </a:solidFill>
                <a:latin typeface="Times New Roman"/>
                <a:ea typeface="Times New Roman"/>
                <a:cs typeface="Times New Roman"/>
              </a:defRPr>
            </a:lvl1pPr>
            <a:lvl2pPr algn="l">
              <a:defRPr sz="2200" b="0">
                <a:solidFill>
                  <a:srgbClr val="181818"/>
                </a:solidFill>
                <a:latin typeface="Times New Roman"/>
                <a:ea typeface="Times New Roman"/>
                <a:cs typeface="Times New Roman"/>
              </a:defRPr>
            </a:lvl2pPr>
            <a:lvl3pPr algn="l">
              <a:defRPr sz="2200" b="0">
                <a:solidFill>
                  <a:srgbClr val="181818"/>
                </a:solidFill>
                <a:latin typeface="Times New Roman"/>
                <a:ea typeface="Times New Roman"/>
                <a:cs typeface="Times New Roman"/>
              </a:defRPr>
            </a:lvl3pPr>
            <a:lvl4pPr algn="l">
              <a:defRPr sz="2200" b="0">
                <a:solidFill>
                  <a:srgbClr val="181818"/>
                </a:solidFill>
                <a:latin typeface="Times New Roman"/>
                <a:ea typeface="Times New Roman"/>
                <a:cs typeface="Times New Roman"/>
              </a:defRPr>
            </a:lvl4pPr>
            <a:lvl5pPr algn="l">
              <a:defRPr sz="2200" b="0">
                <a:solidFill>
                  <a:srgbClr val="181818"/>
                </a:solidFill>
                <a:latin typeface="Times New Roman"/>
                <a:ea typeface="Times New Roman"/>
                <a:cs typeface="Times New Roman"/>
              </a:defRPr>
            </a:lvl5pPr>
            <a:lvl6pPr algn="l">
              <a:defRPr sz="2200" b="0">
                <a:solidFill>
                  <a:srgbClr val="181818"/>
                </a:solidFill>
                <a:latin typeface="Times New Roman"/>
                <a:ea typeface="Times New Roman"/>
                <a:cs typeface="Times New Roman"/>
              </a:defRPr>
            </a:lvl6pPr>
            <a:lvl7pPr algn="l">
              <a:defRPr sz="2200" b="0">
                <a:solidFill>
                  <a:srgbClr val="181818"/>
                </a:solidFill>
                <a:latin typeface="Times New Roman"/>
                <a:ea typeface="Times New Roman"/>
                <a:cs typeface="Times New Roman"/>
              </a:defRPr>
            </a:lvl7pPr>
            <a:lvl8pPr algn="l">
              <a:defRPr sz="2200" b="0">
                <a:solidFill>
                  <a:srgbClr val="181818"/>
                </a:solidFill>
                <a:latin typeface="Times New Roman"/>
                <a:ea typeface="Times New Roman"/>
                <a:cs typeface="Times New Roman"/>
              </a:defRPr>
            </a:lvl8pPr>
            <a:lvl9pPr algn="l">
              <a:defRPr sz="2200" b="0">
                <a:solidFill>
                  <a:srgbClr val="181818"/>
                </a:solidFill>
                <a:latin typeface="Times New Roman"/>
                <a:ea typeface="Times New Roman"/>
                <a:cs typeface="Times New Roman"/>
              </a:defRPr>
            </a:lvl9pPr>
          </a:lstStyle>
          <a:p xmlns:a="http://schemas.openxmlformats.org/drawingml/2006/main">
            <a:pPr algn="l">
              <a:defRPr sz="2200" b="0">
                <a:solidFill>
                  <a:srgbClr val="181818"/>
                </a:solidFill>
                <a:latin typeface="Times New Roman"/>
                <a:ea typeface="Times New Roman"/>
                <a:cs typeface="Times New Roman"/>
              </a:defRPr>
            </a:pPr>
            <a:r>
              <a:rPr sz="2200" b="0">
                <a:solidFill>
                  <a:srgbClr val="181818"/>
                </a:solidFill>
                <a:latin typeface="Times New Roman"/>
                <a:ea typeface="Times New Roman"/>
                <a:cs typeface="Times New Roman"/>
              </a:rPr>
              <a:t>12 días. Diarrea de 24 h y debilidad. Sangre venosa yugular a 37 °C.</a:t>
            </a:r>
          </a:p>
        </p:txBody>
      </p:sp>
      <p:pic>
        <p:nvPicPr>
          <p:cNvPr id="5" name="">
            <a:extLst xmlns:a="http://schemas.openxmlformats.org/drawingml/2006/main">
              <a:ext uri="{FF2B5EF4-FFF2-40B4-BE49-F238E27FC236}">
                <a16:creationId xmlns:a16="http://schemas.microsoft.com/office/drawing/2014/main" id="{2FB634C0-53AC-4638-A4E3-2F6DA8638EA8}"/>
              </a:ext>
            </a:extLst>
          </p:cNvPr>
          <p:cNvPicPr>
            <a:picLocks xmlns:a="http://schemas.openxmlformats.org/drawingml/2006/main" noChangeAspect="1"/>
          </p:cNvPicPr>
          <p:nvPr/>
        </p:nvPicPr>
        <p:blipFill>
          <a:blip xmlns:r="http://schemas.openxmlformats.org/officeDocument/2006/relationships" xmlns:a="http://schemas.openxmlformats.org/drawingml/2006/main" r:embed="Re593b12cb0b9463f"/>
          <a:stretch xmlns:a="http://schemas.openxmlformats.org/drawingml/2006/main"/>
        </p:blipFill>
        <p:spPr>
          <a:xfrm xmlns:a="http://schemas.openxmlformats.org/drawingml/2006/main">
            <a:off x="609600" y="2200258"/>
            <a:ext cx="4095750" cy="2305084"/>
          </a:xfrm>
          <a:prstGeom xmlns:a="http://schemas.openxmlformats.org/drawingml/2006/main" prst="rect">
            <a:avLst/>
          </a:prstGeom>
        </p:spPr>
      </p:pic>
      <p:sp>
        <p:nvSpPr>
          <p:cNvPr id="6" name="text">
            <a:extLst xmlns:a="http://schemas.openxmlformats.org/drawingml/2006/main">
              <a:ext uri="{FF2B5EF4-FFF2-40B4-BE49-F238E27FC236}">
                <a16:creationId xmlns:a16="http://schemas.microsoft.com/office/drawing/2014/main" id="{0453A07E-CDF7-40F7-AB90-ED5981899AE7}"/>
              </a:ext>
            </a:extLst>
          </p:cNvPr>
          <p:cNvSpPr>
            <a:spLocks xmlns:a="http://schemas.openxmlformats.org/drawingml/2006/main" noGrp="1"/>
          </p:cNvSpPr>
          <p:nvPr/>
        </p:nvSpPr>
        <p:spPr>
          <a:xfrm xmlns:a="http://schemas.openxmlformats.org/drawingml/2006/main">
            <a:off x="609600" y="4572000"/>
            <a:ext cx="4095750"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200" b="0">
                <a:solidFill>
                  <a:srgbClr val="515151"/>
                </a:solidFill>
                <a:latin typeface="Times New Roman"/>
                <a:ea typeface="Times New Roman"/>
                <a:cs typeface="Times New Roman"/>
              </a:defRPr>
            </a:defPPr>
            <a:lvl1pPr algn="l">
              <a:defRPr sz="1200" b="0">
                <a:solidFill>
                  <a:srgbClr val="515151"/>
                </a:solidFill>
                <a:latin typeface="Times New Roman"/>
                <a:ea typeface="Times New Roman"/>
                <a:cs typeface="Times New Roman"/>
              </a:defRPr>
            </a:lvl1pPr>
            <a:lvl2pPr algn="l">
              <a:defRPr sz="1200" b="0">
                <a:solidFill>
                  <a:srgbClr val="515151"/>
                </a:solidFill>
                <a:latin typeface="Times New Roman"/>
                <a:ea typeface="Times New Roman"/>
                <a:cs typeface="Times New Roman"/>
              </a:defRPr>
            </a:lvl2pPr>
            <a:lvl3pPr algn="l">
              <a:defRPr sz="1200" b="0">
                <a:solidFill>
                  <a:srgbClr val="515151"/>
                </a:solidFill>
                <a:latin typeface="Times New Roman"/>
                <a:ea typeface="Times New Roman"/>
                <a:cs typeface="Times New Roman"/>
              </a:defRPr>
            </a:lvl3pPr>
            <a:lvl4pPr algn="l">
              <a:defRPr sz="1200" b="0">
                <a:solidFill>
                  <a:srgbClr val="515151"/>
                </a:solidFill>
                <a:latin typeface="Times New Roman"/>
                <a:ea typeface="Times New Roman"/>
                <a:cs typeface="Times New Roman"/>
              </a:defRPr>
            </a:lvl4pPr>
            <a:lvl5pPr algn="l">
              <a:defRPr sz="1200" b="0">
                <a:solidFill>
                  <a:srgbClr val="515151"/>
                </a:solidFill>
                <a:latin typeface="Times New Roman"/>
                <a:ea typeface="Times New Roman"/>
                <a:cs typeface="Times New Roman"/>
              </a:defRPr>
            </a:lvl5pPr>
            <a:lvl6pPr algn="l">
              <a:defRPr sz="1200" b="0">
                <a:solidFill>
                  <a:srgbClr val="515151"/>
                </a:solidFill>
                <a:latin typeface="Times New Roman"/>
                <a:ea typeface="Times New Roman"/>
                <a:cs typeface="Times New Roman"/>
              </a:defRPr>
            </a:lvl6pPr>
            <a:lvl7pPr algn="l">
              <a:defRPr sz="1200" b="0">
                <a:solidFill>
                  <a:srgbClr val="515151"/>
                </a:solidFill>
                <a:latin typeface="Times New Roman"/>
                <a:ea typeface="Times New Roman"/>
                <a:cs typeface="Times New Roman"/>
              </a:defRPr>
            </a:lvl7pPr>
            <a:lvl8pPr algn="l">
              <a:defRPr sz="1200" b="0">
                <a:solidFill>
                  <a:srgbClr val="515151"/>
                </a:solidFill>
                <a:latin typeface="Times New Roman"/>
                <a:ea typeface="Times New Roman"/>
                <a:cs typeface="Times New Roman"/>
              </a:defRPr>
            </a:lvl8pPr>
            <a:lvl9pPr algn="l">
              <a:defRPr sz="1200" b="0">
                <a:solidFill>
                  <a:srgbClr val="515151"/>
                </a:solidFill>
                <a:latin typeface="Times New Roman"/>
                <a:ea typeface="Times New Roman"/>
                <a:cs typeface="Times New Roman"/>
              </a:defRPr>
            </a:lvl9pPr>
          </a:lstStyle>
          <a:p xmlns:a="http://schemas.openxmlformats.org/drawingml/2006/main">
            <a:pPr algn="l">
              <a:defRPr sz="1200" b="0">
                <a:solidFill>
                  <a:srgbClr val="515151"/>
                </a:solidFill>
                <a:latin typeface="Times New Roman"/>
                <a:ea typeface="Times New Roman"/>
                <a:cs typeface="Times New Roman"/>
              </a:defRPr>
            </a:pPr>
            <a:r>
              <a:rPr sz="1200" b="0">
                <a:solidFill>
                  <a:srgbClr val="515151"/>
                </a:solidFill>
                <a:latin typeface="Times New Roman"/>
                <a:ea typeface="Times New Roman"/>
                <a:cs typeface="Times New Roman"/>
              </a:rPr>
              <a:t>Ilustración didáctica del contexto bovino; no corresponde a un paciente real.</a:t>
            </a:r>
          </a:p>
        </p:txBody>
      </p:sp>
      <p:graphicFrame>
        <p:nvGraphicFramePr>
          <p:cNvPr id="7" name="">
            <a:extLst xmlns:a="http://schemas.openxmlformats.org/drawingml/2006/main">
              <a:ext uri="{FF2B5EF4-FFF2-40B4-BE49-F238E27FC236}">
                <a16:creationId xmlns:a16="http://schemas.microsoft.com/office/drawing/2014/main" id="{04FE7C28-7598-4504-BEB7-3136784B9A02}"/>
              </a:ext>
            </a:extLst>
          </p:cNvPr>
          <p:cNvGraphicFramePr/>
          <p:nvPr/>
        </p:nvGraphicFramePr>
        <p:xfrm>
          <a:off xmlns:a="http://schemas.openxmlformats.org/drawingml/2006/main" x="5143500" y="2076450"/>
          <a:ext xmlns:a="http://schemas.openxmlformats.org/drawingml/2006/main" cx="6438900" cy="2724150"/>
        </p:xfrm>
        <a:graphic xmlns:a="http://schemas.openxmlformats.org/drawingml/2006/main">
          <a:graphicData uri="http://schemas.openxmlformats.org/drawingml/2006/table">
            <a:tbl>
              <a:tblPr firstRow="1" bandRow="0"/>
              <a:tblGrid>
                <a:gridCol w="2762250"/>
                <a:gridCol w="3676650"/>
              </a:tblGrid>
              <a:tr h="514350">
                <a:tc>
                  <a:txBody>
                    <a:bodyPr wrap="square">
                      <a:noAutofit/>
                    </a:bodyPr>
                    <a:lstStyle/>
                    <a:p>
                      <a:pPr algn="l"/>
                      <a:r>
                        <a:rPr sz="2200" b="1">
                          <a:solidFill>
                            <a:srgbClr val="FFFFFF"/>
                          </a:solidFill>
                          <a:latin typeface="Times New Roman"/>
                          <a:ea typeface="Times New Roman"/>
                          <a:cs typeface="Times New Roman"/>
                        </a:rPr>
                        <a:t>Variable</a:t>
                      </a:r>
                    </a:p>
                  </a:txBody>
                  <a:tcPr marL="142875" marR="142875" marT="114300" marB="95250" anchor="ctr">
                    <a:lnL w="19050">
                      <a:solidFill>
                        <a:srgbClr val="FFFFFF"/>
                      </a:solidFill>
                      <a:prstDash val="solid"/>
                    </a:lnL>
                    <a:lnR w="19050">
                      <a:solidFill>
                        <a:srgbClr val="FFFFFF"/>
                      </a:solidFill>
                      <a:prstDash val="solid"/>
                    </a:lnR>
                    <a:lnT w="19050">
                      <a:solidFill>
                        <a:srgbClr val="FFFFFF"/>
                      </a:solidFill>
                      <a:prstDash val="solid"/>
                    </a:lnT>
                    <a:lnB w="19050">
                      <a:solidFill>
                        <a:srgbClr val="FFFFFF"/>
                      </a:solidFill>
                      <a:prstDash val="solid"/>
                    </a:lnB>
                    <a:solidFill>
                      <a:srgbClr val="174A35"/>
                    </a:solidFill>
                  </a:tcPr>
                </a:tc>
                <a:tc>
                  <a:txBody>
                    <a:bodyPr wrap="square">
                      <a:noAutofit/>
                    </a:bodyPr>
                    <a:lstStyle/>
                    <a:p>
                      <a:pPr algn="l"/>
                      <a:r>
                        <a:rPr sz="2200" b="1">
                          <a:solidFill>
                            <a:srgbClr val="FFFFFF"/>
                          </a:solidFill>
                          <a:latin typeface="Times New Roman"/>
                          <a:ea typeface="Times New Roman"/>
                          <a:cs typeface="Times New Roman"/>
                        </a:rPr>
                        <a:t>Resultado</a:t>
                      </a:r>
                    </a:p>
                  </a:txBody>
                  <a:tcPr marL="142875" marR="142875" marT="114300" marB="95250" anchor="ctr">
                    <a:lnR w="19050">
                      <a:solidFill>
                        <a:srgbClr val="FFFFFF"/>
                      </a:solidFill>
                      <a:prstDash val="solid"/>
                    </a:lnR>
                    <a:lnT w="19050">
                      <a:solidFill>
                        <a:srgbClr val="FFFFFF"/>
                      </a:solidFill>
                      <a:prstDash val="solid"/>
                    </a:lnT>
                    <a:lnB w="19050">
                      <a:solidFill>
                        <a:srgbClr val="FFFFFF"/>
                      </a:solidFill>
                      <a:prstDash val="solid"/>
                    </a:lnB>
                    <a:solidFill>
                      <a:srgbClr val="174A35"/>
                    </a:solidFill>
                  </a:tcPr>
                </a:tc>
              </a:tr>
              <a:tr h="514350">
                <a:tc>
                  <a:txBody>
                    <a:bodyPr wrap="square">
                      <a:noAutofit/>
                    </a:bodyPr>
                    <a:lstStyle/>
                    <a:p>
                      <a:pPr algn="l"/>
                      <a:r>
                        <a:rPr sz="2100" b="0">
                          <a:solidFill>
                            <a:srgbClr val="181818"/>
                          </a:solidFill>
                          <a:latin typeface="Times New Roman"/>
                          <a:ea typeface="Times New Roman"/>
                          <a:cs typeface="Times New Roman"/>
                        </a:rPr>
                        <a:t>pH</a:t>
                      </a:r>
                    </a:p>
                  </a:txBody>
                  <a:tcPr marL="142875" marR="142875" marT="114300" marB="95250" anchor="ctr">
                    <a:lnL w="19050">
                      <a:solidFill>
                        <a:srgbClr val="FFFFFF"/>
                      </a:solidFill>
                      <a:prstDash val="solid"/>
                    </a:lnL>
                    <a:lnR w="19050">
                      <a:solidFill>
                        <a:srgbClr val="FFFFFF"/>
                      </a:solidFill>
                      <a:prstDash val="solid"/>
                    </a:lnR>
                    <a:lnB w="19050">
                      <a:solidFill>
                        <a:srgbClr val="FFFFFF"/>
                      </a:solidFill>
                      <a:prstDash val="solid"/>
                    </a:lnB>
                    <a:solidFill>
                      <a:srgbClr val="F0F5EF"/>
                    </a:solidFill>
                  </a:tcPr>
                </a:tc>
                <a:tc>
                  <a:txBody>
                    <a:bodyPr wrap="square">
                      <a:noAutofit/>
                    </a:bodyPr>
                    <a:lstStyle/>
                    <a:p>
                      <a:pPr algn="l"/>
                      <a:r>
                        <a:rPr sz="2100" b="0">
                          <a:solidFill>
                            <a:srgbClr val="181818"/>
                          </a:solidFill>
                          <a:latin typeface="Times New Roman"/>
                          <a:ea typeface="Times New Roman"/>
                          <a:cs typeface="Times New Roman"/>
                        </a:rPr>
                        <a:t>7,15</a:t>
                      </a:r>
                    </a:p>
                  </a:txBody>
                  <a:tcPr marL="142875" marR="142875" marT="114300" marB="95250" anchor="ctr">
                    <a:lnR w="19050">
                      <a:solidFill>
                        <a:srgbClr val="FFFFFF"/>
                      </a:solidFill>
                      <a:prstDash val="solid"/>
                    </a:lnR>
                    <a:lnB w="19050">
                      <a:solidFill>
                        <a:srgbClr val="FFFFFF"/>
                      </a:solidFill>
                      <a:prstDash val="solid"/>
                    </a:lnB>
                    <a:solidFill>
                      <a:srgbClr val="F0F5EF"/>
                    </a:solidFill>
                  </a:tcPr>
                </a:tc>
              </a:tr>
              <a:tr h="514350">
                <a:tc>
                  <a:txBody>
                    <a:bodyPr wrap="square">
                      <a:noAutofit/>
                    </a:bodyPr>
                    <a:lstStyle/>
                    <a:p>
                      <a:pPr algn="l"/>
                      <a:r>
                        <a:rPr sz="2100" b="0">
                          <a:solidFill>
                            <a:srgbClr val="181818"/>
                          </a:solidFill>
                          <a:latin typeface="Times New Roman"/>
                          <a:ea typeface="Times New Roman"/>
                          <a:cs typeface="Times New Roman"/>
                        </a:rPr>
                        <a:t>PCO₂</a:t>
                      </a:r>
                    </a:p>
                  </a:txBody>
                  <a:tcPr marL="142875" marR="142875" marT="114300" marB="95250" anchor="ctr">
                    <a:lnL w="19050">
                      <a:solidFill>
                        <a:srgbClr val="FFFFFF"/>
                      </a:solidFill>
                      <a:prstDash val="solid"/>
                    </a:lnL>
                    <a:lnR w="19050">
                      <a:solidFill>
                        <a:srgbClr val="FFFFFF"/>
                      </a:solidFill>
                      <a:prstDash val="solid"/>
                    </a:lnR>
                    <a:lnB w="19050">
                      <a:solidFill>
                        <a:srgbClr val="FFFFFF"/>
                      </a:solidFill>
                      <a:prstDash val="solid"/>
                    </a:lnB>
                    <a:solidFill>
                      <a:srgbClr val="FFFFFF"/>
                    </a:solidFill>
                  </a:tcPr>
                </a:tc>
                <a:tc>
                  <a:txBody>
                    <a:bodyPr wrap="square">
                      <a:noAutofit/>
                    </a:bodyPr>
                    <a:lstStyle/>
                    <a:p>
                      <a:pPr algn="l"/>
                      <a:r>
                        <a:rPr sz="2100" b="0">
                          <a:solidFill>
                            <a:srgbClr val="181818"/>
                          </a:solidFill>
                          <a:latin typeface="Times New Roman"/>
                          <a:ea typeface="Times New Roman"/>
                          <a:cs typeface="Times New Roman"/>
                        </a:rPr>
                        <a:t>30 mmHg</a:t>
                      </a:r>
                    </a:p>
                  </a:txBody>
                  <a:tcPr marL="142875" marR="142875" marT="114300" marB="95250" anchor="ctr">
                    <a:lnR w="19050">
                      <a:solidFill>
                        <a:srgbClr val="FFFFFF"/>
                      </a:solidFill>
                      <a:prstDash val="solid"/>
                    </a:lnR>
                    <a:lnB w="19050">
                      <a:solidFill>
                        <a:srgbClr val="FFFFFF"/>
                      </a:solidFill>
                      <a:prstDash val="solid"/>
                    </a:lnB>
                    <a:solidFill>
                      <a:srgbClr val="FFFFFF"/>
                    </a:solidFill>
                  </a:tcPr>
                </a:tc>
              </a:tr>
              <a:tr h="514350">
                <a:tc>
                  <a:txBody>
                    <a:bodyPr wrap="square">
                      <a:noAutofit/>
                    </a:bodyPr>
                    <a:lstStyle/>
                    <a:p>
                      <a:pPr algn="l"/>
                      <a:r>
                        <a:rPr sz="2100" b="0">
                          <a:solidFill>
                            <a:srgbClr val="181818"/>
                          </a:solidFill>
                          <a:latin typeface="Times New Roman"/>
                          <a:ea typeface="Times New Roman"/>
                          <a:cs typeface="Times New Roman"/>
                        </a:rPr>
                        <a:t>HCO₃⁻</a:t>
                      </a:r>
                    </a:p>
                  </a:txBody>
                  <a:tcPr marL="142875" marR="142875" marT="114300" marB="95250" anchor="ctr">
                    <a:lnL w="19050">
                      <a:solidFill>
                        <a:srgbClr val="FFFFFF"/>
                      </a:solidFill>
                      <a:prstDash val="solid"/>
                    </a:lnL>
                    <a:lnR w="19050">
                      <a:solidFill>
                        <a:srgbClr val="FFFFFF"/>
                      </a:solidFill>
                      <a:prstDash val="solid"/>
                    </a:lnR>
                    <a:lnB w="19050">
                      <a:solidFill>
                        <a:srgbClr val="FFFFFF"/>
                      </a:solidFill>
                      <a:prstDash val="solid"/>
                    </a:lnB>
                    <a:solidFill>
                      <a:srgbClr val="F0F5EF"/>
                    </a:solidFill>
                  </a:tcPr>
                </a:tc>
                <a:tc>
                  <a:txBody>
                    <a:bodyPr wrap="square">
                      <a:noAutofit/>
                    </a:bodyPr>
                    <a:lstStyle/>
                    <a:p>
                      <a:pPr algn="l"/>
                      <a:r>
                        <a:rPr sz="2100" b="0">
                          <a:solidFill>
                            <a:srgbClr val="181818"/>
                          </a:solidFill>
                          <a:latin typeface="Times New Roman"/>
                          <a:ea typeface="Times New Roman"/>
                          <a:cs typeface="Times New Roman"/>
                        </a:rPr>
                        <a:t>10 mmol/L</a:t>
                      </a:r>
                    </a:p>
                  </a:txBody>
                  <a:tcPr marL="142875" marR="142875" marT="114300" marB="95250" anchor="ctr">
                    <a:lnR w="19050">
                      <a:solidFill>
                        <a:srgbClr val="FFFFFF"/>
                      </a:solidFill>
                      <a:prstDash val="solid"/>
                    </a:lnR>
                    <a:lnB w="19050">
                      <a:solidFill>
                        <a:srgbClr val="FFFFFF"/>
                      </a:solidFill>
                      <a:prstDash val="solid"/>
                    </a:lnB>
                    <a:solidFill>
                      <a:srgbClr val="F0F5EF"/>
                    </a:solidFill>
                  </a:tcPr>
                </a:tc>
              </a:tr>
              <a:tr h="666750">
                <a:tc>
                  <a:txBody>
                    <a:bodyPr wrap="square">
                      <a:noAutofit/>
                    </a:bodyPr>
                    <a:lstStyle/>
                    <a:p>
                      <a:pPr algn="l"/>
                      <a:r>
                        <a:rPr sz="2100" b="0">
                          <a:solidFill>
                            <a:srgbClr val="181818"/>
                          </a:solidFill>
                          <a:latin typeface="Times New Roman"/>
                          <a:ea typeface="Times New Roman"/>
                          <a:cs typeface="Times New Roman"/>
                        </a:rPr>
                        <a:t>Na⁺ / K⁺ / Cl⁻</a:t>
                      </a:r>
                    </a:p>
                  </a:txBody>
                  <a:tcPr marL="142875" marR="142875" marT="114300" marB="95250" anchor="ctr">
                    <a:lnL w="19050">
                      <a:solidFill>
                        <a:srgbClr val="FFFFFF"/>
                      </a:solidFill>
                      <a:prstDash val="solid"/>
                    </a:lnL>
                    <a:lnR w="19050">
                      <a:solidFill>
                        <a:srgbClr val="FFFFFF"/>
                      </a:solidFill>
                      <a:prstDash val="solid"/>
                    </a:lnR>
                    <a:lnB w="19050">
                      <a:solidFill>
                        <a:srgbClr val="FFFFFF"/>
                      </a:solidFill>
                      <a:prstDash val="solid"/>
                    </a:lnB>
                    <a:solidFill>
                      <a:srgbClr val="FFFFFF"/>
                    </a:solidFill>
                  </a:tcPr>
                </a:tc>
                <a:tc>
                  <a:txBody>
                    <a:bodyPr wrap="square">
                      <a:noAutofit/>
                    </a:bodyPr>
                    <a:lstStyle/>
                    <a:p>
                      <a:pPr algn="l"/>
                      <a:r>
                        <a:rPr sz="2100" b="0">
                          <a:solidFill>
                            <a:srgbClr val="181818"/>
                          </a:solidFill>
                          <a:latin typeface="Times New Roman"/>
                          <a:ea typeface="Times New Roman"/>
                          <a:cs typeface="Times New Roman"/>
                        </a:rPr>
                        <a:t>135 / 4,8 / 102 mmol/L</a:t>
                      </a:r>
                    </a:p>
                  </a:txBody>
                  <a:tcPr marL="142875" marR="142875" marT="114300" marB="95250" anchor="ctr">
                    <a:lnR w="19050">
                      <a:solidFill>
                        <a:srgbClr val="FFFFFF"/>
                      </a:solidFill>
                      <a:prstDash val="solid"/>
                    </a:lnR>
                    <a:lnB w="19050">
                      <a:solidFill>
                        <a:srgbClr val="FFFFFF"/>
                      </a:solidFill>
                      <a:prstDash val="solid"/>
                    </a:lnB>
                    <a:solidFill>
                      <a:srgbClr val="FFFFFF"/>
                    </a:solidFill>
                  </a:tcPr>
                </a:tc>
              </a:tr>
            </a:tbl>
          </a:graphicData>
        </a:graphic>
      </p:graphicFrame>
      <p:sp>
        <p:nvSpPr>
          <p:cNvPr id="8" name="text">
            <a:extLst xmlns:a="http://schemas.openxmlformats.org/drawingml/2006/main">
              <a:ext uri="{FF2B5EF4-FFF2-40B4-BE49-F238E27FC236}">
                <a16:creationId xmlns:a16="http://schemas.microsoft.com/office/drawing/2014/main" id="{CCADFEE0-C16B-4BA0-BE89-9D73B5F25C66}"/>
              </a:ext>
            </a:extLst>
          </p:cNvPr>
          <p:cNvSpPr>
            <a:spLocks xmlns:a="http://schemas.openxmlformats.org/drawingml/2006/main" noGrp="1"/>
          </p:cNvSpPr>
          <p:nvPr/>
        </p:nvSpPr>
        <p:spPr>
          <a:xfrm xmlns:a="http://schemas.openxmlformats.org/drawingml/2006/main">
            <a:off x="609600" y="5019675"/>
            <a:ext cx="10972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00" b="1">
                <a:solidFill>
                  <a:srgbClr val="367653"/>
                </a:solidFill>
                <a:latin typeface="Times New Roman"/>
                <a:ea typeface="Times New Roman"/>
                <a:cs typeface="Times New Roman"/>
              </a:defRPr>
            </a:defPPr>
            <a:lvl1pPr algn="l">
              <a:defRPr sz="2200" b="1">
                <a:solidFill>
                  <a:srgbClr val="367653"/>
                </a:solidFill>
                <a:latin typeface="Times New Roman"/>
                <a:ea typeface="Times New Roman"/>
                <a:cs typeface="Times New Roman"/>
              </a:defRPr>
            </a:lvl1pPr>
            <a:lvl2pPr algn="l">
              <a:defRPr sz="2200" b="1">
                <a:solidFill>
                  <a:srgbClr val="367653"/>
                </a:solidFill>
                <a:latin typeface="Times New Roman"/>
                <a:ea typeface="Times New Roman"/>
                <a:cs typeface="Times New Roman"/>
              </a:defRPr>
            </a:lvl2pPr>
            <a:lvl3pPr algn="l">
              <a:defRPr sz="2200" b="1">
                <a:solidFill>
                  <a:srgbClr val="367653"/>
                </a:solidFill>
                <a:latin typeface="Times New Roman"/>
                <a:ea typeface="Times New Roman"/>
                <a:cs typeface="Times New Roman"/>
              </a:defRPr>
            </a:lvl3pPr>
            <a:lvl4pPr algn="l">
              <a:defRPr sz="2200" b="1">
                <a:solidFill>
                  <a:srgbClr val="367653"/>
                </a:solidFill>
                <a:latin typeface="Times New Roman"/>
                <a:ea typeface="Times New Roman"/>
                <a:cs typeface="Times New Roman"/>
              </a:defRPr>
            </a:lvl4pPr>
            <a:lvl5pPr algn="l">
              <a:defRPr sz="2200" b="1">
                <a:solidFill>
                  <a:srgbClr val="367653"/>
                </a:solidFill>
                <a:latin typeface="Times New Roman"/>
                <a:ea typeface="Times New Roman"/>
                <a:cs typeface="Times New Roman"/>
              </a:defRPr>
            </a:lvl5pPr>
            <a:lvl6pPr algn="l">
              <a:defRPr sz="2200" b="1">
                <a:solidFill>
                  <a:srgbClr val="367653"/>
                </a:solidFill>
                <a:latin typeface="Times New Roman"/>
                <a:ea typeface="Times New Roman"/>
                <a:cs typeface="Times New Roman"/>
              </a:defRPr>
            </a:lvl6pPr>
            <a:lvl7pPr algn="l">
              <a:defRPr sz="2200" b="1">
                <a:solidFill>
                  <a:srgbClr val="367653"/>
                </a:solidFill>
                <a:latin typeface="Times New Roman"/>
                <a:ea typeface="Times New Roman"/>
                <a:cs typeface="Times New Roman"/>
              </a:defRPr>
            </a:lvl7pPr>
            <a:lvl8pPr algn="l">
              <a:defRPr sz="2200" b="1">
                <a:solidFill>
                  <a:srgbClr val="367653"/>
                </a:solidFill>
                <a:latin typeface="Times New Roman"/>
                <a:ea typeface="Times New Roman"/>
                <a:cs typeface="Times New Roman"/>
              </a:defRPr>
            </a:lvl8pPr>
            <a:lvl9pPr algn="l">
              <a:defRPr sz="2200" b="1">
                <a:solidFill>
                  <a:srgbClr val="367653"/>
                </a:solidFill>
                <a:latin typeface="Times New Roman"/>
                <a:ea typeface="Times New Roman"/>
                <a:cs typeface="Times New Roman"/>
              </a:defRPr>
            </a:lvl9pPr>
          </a:lstStyle>
          <a:p xmlns:a="http://schemas.openxmlformats.org/drawingml/2006/main">
            <a:pPr algn="l">
              <a:defRPr sz="2200" b="1">
                <a:solidFill>
                  <a:srgbClr val="367653"/>
                </a:solidFill>
                <a:latin typeface="Times New Roman"/>
                <a:ea typeface="Times New Roman"/>
                <a:cs typeface="Times New Roman"/>
              </a:defRPr>
            </a:pPr>
            <a:r>
              <a:rPr sz="2200" b="1">
                <a:solidFill>
                  <a:srgbClr val="367653"/>
                </a:solidFill>
                <a:latin typeface="Times New Roman"/>
                <a:ea typeface="Times New Roman"/>
                <a:cs typeface="Times New Roman"/>
              </a:rPr>
              <a:t>¿Qué interpretación está mejor sustentada?</a:t>
            </a:r>
          </a:p>
        </p:txBody>
      </p:sp>
      <p:sp>
        <p:nvSpPr>
          <p:cNvPr id="9" name="text">
            <a:extLst xmlns:a="http://schemas.openxmlformats.org/drawingml/2006/main">
              <a:ext uri="{FF2B5EF4-FFF2-40B4-BE49-F238E27FC236}">
                <a16:creationId xmlns:a16="http://schemas.microsoft.com/office/drawing/2014/main" id="{36B0B073-592F-4FF0-A76A-5BEEADE324A3}"/>
              </a:ext>
            </a:extLst>
          </p:cNvPr>
          <p:cNvSpPr>
            <a:spLocks xmlns:a="http://schemas.openxmlformats.org/drawingml/2006/main" noGrp="1"/>
          </p:cNvSpPr>
          <p:nvPr/>
        </p:nvSpPr>
        <p:spPr>
          <a:xfrm xmlns:a="http://schemas.openxmlformats.org/drawingml/2006/main">
            <a:off x="609600" y="5438775"/>
            <a:ext cx="10972800" cy="866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00" b="0">
                <a:solidFill>
                  <a:srgbClr val="181818"/>
                </a:solidFill>
                <a:latin typeface="Times New Roman"/>
                <a:ea typeface="Times New Roman"/>
                <a:cs typeface="Times New Roman"/>
              </a:defRPr>
            </a:defPPr>
            <a:lvl1pPr algn="l">
              <a:defRPr sz="2000" b="0">
                <a:solidFill>
                  <a:srgbClr val="181818"/>
                </a:solidFill>
                <a:latin typeface="Times New Roman"/>
                <a:ea typeface="Times New Roman"/>
                <a:cs typeface="Times New Roman"/>
              </a:defRPr>
            </a:lvl1pPr>
            <a:lvl2pPr algn="l">
              <a:defRPr sz="2000" b="0">
                <a:solidFill>
                  <a:srgbClr val="181818"/>
                </a:solidFill>
                <a:latin typeface="Times New Roman"/>
                <a:ea typeface="Times New Roman"/>
                <a:cs typeface="Times New Roman"/>
              </a:defRPr>
            </a:lvl2pPr>
            <a:lvl3pPr algn="l">
              <a:defRPr sz="2000" b="0">
                <a:solidFill>
                  <a:srgbClr val="181818"/>
                </a:solidFill>
                <a:latin typeface="Times New Roman"/>
                <a:ea typeface="Times New Roman"/>
                <a:cs typeface="Times New Roman"/>
              </a:defRPr>
            </a:lvl3pPr>
            <a:lvl4pPr algn="l">
              <a:defRPr sz="2000" b="0">
                <a:solidFill>
                  <a:srgbClr val="181818"/>
                </a:solidFill>
                <a:latin typeface="Times New Roman"/>
                <a:ea typeface="Times New Roman"/>
                <a:cs typeface="Times New Roman"/>
              </a:defRPr>
            </a:lvl4pPr>
            <a:lvl5pPr algn="l">
              <a:defRPr sz="2000" b="0">
                <a:solidFill>
                  <a:srgbClr val="181818"/>
                </a:solidFill>
                <a:latin typeface="Times New Roman"/>
                <a:ea typeface="Times New Roman"/>
                <a:cs typeface="Times New Roman"/>
              </a:defRPr>
            </a:lvl5pPr>
            <a:lvl6pPr algn="l">
              <a:defRPr sz="2000" b="0">
                <a:solidFill>
                  <a:srgbClr val="181818"/>
                </a:solidFill>
                <a:latin typeface="Times New Roman"/>
                <a:ea typeface="Times New Roman"/>
                <a:cs typeface="Times New Roman"/>
              </a:defRPr>
            </a:lvl6pPr>
            <a:lvl7pPr algn="l">
              <a:defRPr sz="2000" b="0">
                <a:solidFill>
                  <a:srgbClr val="181818"/>
                </a:solidFill>
                <a:latin typeface="Times New Roman"/>
                <a:ea typeface="Times New Roman"/>
                <a:cs typeface="Times New Roman"/>
              </a:defRPr>
            </a:lvl7pPr>
            <a:lvl8pPr algn="l">
              <a:defRPr sz="2000" b="0">
                <a:solidFill>
                  <a:srgbClr val="181818"/>
                </a:solidFill>
                <a:latin typeface="Times New Roman"/>
                <a:ea typeface="Times New Roman"/>
                <a:cs typeface="Times New Roman"/>
              </a:defRPr>
            </a:lvl8pPr>
            <a:lvl9pPr algn="l">
              <a:defRPr sz="2000" b="0">
                <a:solidFill>
                  <a:srgbClr val="181818"/>
                </a:solidFill>
                <a:latin typeface="Times New Roman"/>
                <a:ea typeface="Times New Roman"/>
                <a:cs typeface="Times New Roman"/>
              </a:defRPr>
            </a:lvl9pPr>
          </a:lstStyle>
          <a:p xmlns:a="http://schemas.openxmlformats.org/drawingml/2006/main">
            <a:pPr algn="l">
              <a:defRPr sz="2000" b="0">
                <a:solidFill>
                  <a:srgbClr val="181818"/>
                </a:solidFill>
                <a:latin typeface="Times New Roman"/>
                <a:ea typeface="Times New Roman"/>
                <a:cs typeface="Times New Roman"/>
              </a:defRPr>
            </a:pPr>
            <a:r>
              <a:rPr sz="2000" b="0">
                <a:solidFill>
                  <a:srgbClr val="181818"/>
                </a:solidFill>
                <a:latin typeface="Times New Roman"/>
                <a:ea typeface="Times New Roman"/>
                <a:cs typeface="Times New Roman"/>
              </a:rPr>
              <a:t>A. Acidosis metabólica; causa por caracterizar.</a:t>
            </a:r>
          </a:p>
          <a:p xmlns:a="http://schemas.openxmlformats.org/drawingml/2006/main">
            <a:pPr algn="l">
              <a:defRPr sz="2000" b="0">
                <a:solidFill>
                  <a:srgbClr val="181818"/>
                </a:solidFill>
                <a:latin typeface="Times New Roman"/>
                <a:ea typeface="Times New Roman"/>
                <a:cs typeface="Times New Roman"/>
              </a:defRPr>
            </a:pPr>
            <a:r>
              <a:rPr sz="2000" b="0">
                <a:solidFill>
                  <a:srgbClr val="181818"/>
                </a:solidFill>
                <a:latin typeface="Times New Roman"/>
                <a:ea typeface="Times New Roman"/>
                <a:cs typeface="Times New Roman"/>
              </a:rPr>
              <a:t>B. Alcalosis respiratoria como única explicación.</a:t>
            </a:r>
          </a:p>
          <a:p xmlns:a="http://schemas.openxmlformats.org/drawingml/2006/main">
            <a:pPr algn="l">
              <a:defRPr sz="2000" b="0">
                <a:solidFill>
                  <a:srgbClr val="181818"/>
                </a:solidFill>
                <a:latin typeface="Times New Roman"/>
                <a:ea typeface="Times New Roman"/>
                <a:cs typeface="Times New Roman"/>
              </a:defRPr>
            </a:pPr>
            <a:r>
              <a:rPr sz="2000" b="0">
                <a:solidFill>
                  <a:srgbClr val="181818"/>
                </a:solidFill>
                <a:latin typeface="Times New Roman"/>
                <a:ea typeface="Times New Roman"/>
                <a:cs typeface="Times New Roman"/>
              </a:rPr>
              <a:t>C. Acidosis por D-lactato demostrada.</a:t>
            </a:r>
          </a:p>
        </p:txBody>
      </p:sp>
    </p:spTree>
    <p:extLst>
      <p:ext uri="{BB962C8B-B14F-4D97-AF65-F5344CB8AC3E}">
        <p14:creationId xmlns:p14="http://schemas.microsoft.com/office/powerpoint/2010/main" val="1221733432"/>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slide-title">
            <a:extLst xmlns:a="http://schemas.openxmlformats.org/drawingml/2006/main">
              <a:ext uri="{FF2B5EF4-FFF2-40B4-BE49-F238E27FC236}">
                <a16:creationId xmlns:a16="http://schemas.microsoft.com/office/drawing/2014/main" id="{1481160B-9A9C-4BF2-A016-B20E5C532923}"/>
              </a:ext>
            </a:extLst>
          </p:cNvPr>
          <p:cNvSpPr>
            <a:spLocks xmlns:a="http://schemas.openxmlformats.org/drawingml/2006/main" noGrp="1"/>
          </p:cNvSpPr>
          <p:nvPr/>
        </p:nvSpPr>
        <p:spPr>
          <a:xfrm xmlns:a="http://schemas.openxmlformats.org/drawingml/2006/main">
            <a:off x="609600" y="390525"/>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400" b="1">
                <a:solidFill>
                  <a:srgbClr val="174A35"/>
                </a:solidFill>
                <a:latin typeface="Times New Roman"/>
                <a:ea typeface="Times New Roman"/>
                <a:cs typeface="Times New Roman"/>
              </a:defRPr>
            </a:defPPr>
            <a:lvl1pPr algn="l">
              <a:defRPr sz="3400" b="1">
                <a:solidFill>
                  <a:srgbClr val="174A35"/>
                </a:solidFill>
                <a:latin typeface="Times New Roman"/>
                <a:ea typeface="Times New Roman"/>
                <a:cs typeface="Times New Roman"/>
              </a:defRPr>
            </a:lvl1pPr>
            <a:lvl2pPr algn="l">
              <a:defRPr sz="3400" b="1">
                <a:solidFill>
                  <a:srgbClr val="174A35"/>
                </a:solidFill>
                <a:latin typeface="Times New Roman"/>
                <a:ea typeface="Times New Roman"/>
                <a:cs typeface="Times New Roman"/>
              </a:defRPr>
            </a:lvl2pPr>
            <a:lvl3pPr algn="l">
              <a:defRPr sz="3400" b="1">
                <a:solidFill>
                  <a:srgbClr val="174A35"/>
                </a:solidFill>
                <a:latin typeface="Times New Roman"/>
                <a:ea typeface="Times New Roman"/>
                <a:cs typeface="Times New Roman"/>
              </a:defRPr>
            </a:lvl3pPr>
            <a:lvl4pPr algn="l">
              <a:defRPr sz="3400" b="1">
                <a:solidFill>
                  <a:srgbClr val="174A35"/>
                </a:solidFill>
                <a:latin typeface="Times New Roman"/>
                <a:ea typeface="Times New Roman"/>
                <a:cs typeface="Times New Roman"/>
              </a:defRPr>
            </a:lvl4pPr>
            <a:lvl5pPr algn="l">
              <a:defRPr sz="3400" b="1">
                <a:solidFill>
                  <a:srgbClr val="174A35"/>
                </a:solidFill>
                <a:latin typeface="Times New Roman"/>
                <a:ea typeface="Times New Roman"/>
                <a:cs typeface="Times New Roman"/>
              </a:defRPr>
            </a:lvl5pPr>
            <a:lvl6pPr algn="l">
              <a:defRPr sz="3400" b="1">
                <a:solidFill>
                  <a:srgbClr val="174A35"/>
                </a:solidFill>
                <a:latin typeface="Times New Roman"/>
                <a:ea typeface="Times New Roman"/>
                <a:cs typeface="Times New Roman"/>
              </a:defRPr>
            </a:lvl6pPr>
            <a:lvl7pPr algn="l">
              <a:defRPr sz="3400" b="1">
                <a:solidFill>
                  <a:srgbClr val="174A35"/>
                </a:solidFill>
                <a:latin typeface="Times New Roman"/>
                <a:ea typeface="Times New Roman"/>
                <a:cs typeface="Times New Roman"/>
              </a:defRPr>
            </a:lvl7pPr>
            <a:lvl8pPr algn="l">
              <a:defRPr sz="3400" b="1">
                <a:solidFill>
                  <a:srgbClr val="174A35"/>
                </a:solidFill>
                <a:latin typeface="Times New Roman"/>
                <a:ea typeface="Times New Roman"/>
                <a:cs typeface="Times New Roman"/>
              </a:defRPr>
            </a:lvl8pPr>
            <a:lvl9pPr algn="l">
              <a:defRPr sz="3400" b="1">
                <a:solidFill>
                  <a:srgbClr val="174A35"/>
                </a:solidFill>
                <a:latin typeface="Times New Roman"/>
                <a:ea typeface="Times New Roman"/>
                <a:cs typeface="Times New Roman"/>
              </a:defRPr>
            </a:lvl9pPr>
          </a:lstStyle>
          <a:p xmlns:a="http://schemas.openxmlformats.org/drawingml/2006/main">
            <a:pPr algn="l">
              <a:defRPr sz="3400" b="1">
                <a:solidFill>
                  <a:srgbClr val="174A35"/>
                </a:solidFill>
                <a:latin typeface="Times New Roman"/>
                <a:ea typeface="Times New Roman"/>
                <a:cs typeface="Times New Roman"/>
              </a:defRPr>
            </a:pPr>
            <a:r>
              <a:rPr sz="3400" b="1">
                <a:solidFill>
                  <a:srgbClr val="174A35"/>
                </a:solidFill>
                <a:latin typeface="Times New Roman"/>
                <a:ea typeface="Times New Roman"/>
                <a:cs typeface="Times New Roman"/>
              </a:rPr>
              <a:t>Pregunta 5. Hipoventilación en un perro</a:t>
            </a:r>
          </a:p>
        </p:txBody>
      </p:sp>
      <p:sp>
        <p:nvSpPr>
          <p:cNvPr id="2" name="page-number">
            <a:extLst xmlns:a="http://schemas.openxmlformats.org/drawingml/2006/main">
              <a:ext uri="{FF2B5EF4-FFF2-40B4-BE49-F238E27FC236}">
                <a16:creationId xmlns:a16="http://schemas.microsoft.com/office/drawing/2014/main" id="{2AB9F423-5BF3-4850-903D-D3BF6FE30166}"/>
              </a:ext>
            </a:extLst>
          </p:cNvPr>
          <p:cNvSpPr>
            <a:spLocks xmlns:a="http://schemas.openxmlformats.org/drawingml/2006/main" noGrp="1"/>
          </p:cNvSpPr>
          <p:nvPr/>
        </p:nvSpPr>
        <p:spPr>
          <a:xfrm xmlns:a="http://schemas.openxmlformats.org/drawingml/2006/main">
            <a:off x="11077575" y="64198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00" b="0">
                <a:solidFill>
                  <a:srgbClr val="367653"/>
                </a:solidFill>
                <a:latin typeface="Times New Roman"/>
                <a:ea typeface="Times New Roman"/>
                <a:cs typeface="Times New Roman"/>
              </a:defRPr>
            </a:defPPr>
            <a:lvl1pPr algn="r">
              <a:defRPr sz="1200" b="0">
                <a:solidFill>
                  <a:srgbClr val="367653"/>
                </a:solidFill>
                <a:latin typeface="Times New Roman"/>
                <a:ea typeface="Times New Roman"/>
                <a:cs typeface="Times New Roman"/>
              </a:defRPr>
            </a:lvl1pPr>
            <a:lvl2pPr algn="r">
              <a:defRPr sz="1200" b="0">
                <a:solidFill>
                  <a:srgbClr val="367653"/>
                </a:solidFill>
                <a:latin typeface="Times New Roman"/>
                <a:ea typeface="Times New Roman"/>
                <a:cs typeface="Times New Roman"/>
              </a:defRPr>
            </a:lvl2pPr>
            <a:lvl3pPr algn="r">
              <a:defRPr sz="1200" b="0">
                <a:solidFill>
                  <a:srgbClr val="367653"/>
                </a:solidFill>
                <a:latin typeface="Times New Roman"/>
                <a:ea typeface="Times New Roman"/>
                <a:cs typeface="Times New Roman"/>
              </a:defRPr>
            </a:lvl3pPr>
            <a:lvl4pPr algn="r">
              <a:defRPr sz="1200" b="0">
                <a:solidFill>
                  <a:srgbClr val="367653"/>
                </a:solidFill>
                <a:latin typeface="Times New Roman"/>
                <a:ea typeface="Times New Roman"/>
                <a:cs typeface="Times New Roman"/>
              </a:defRPr>
            </a:lvl4pPr>
            <a:lvl5pPr algn="r">
              <a:defRPr sz="1200" b="0">
                <a:solidFill>
                  <a:srgbClr val="367653"/>
                </a:solidFill>
                <a:latin typeface="Times New Roman"/>
                <a:ea typeface="Times New Roman"/>
                <a:cs typeface="Times New Roman"/>
              </a:defRPr>
            </a:lvl5pPr>
            <a:lvl6pPr algn="r">
              <a:defRPr sz="1200" b="0">
                <a:solidFill>
                  <a:srgbClr val="367653"/>
                </a:solidFill>
                <a:latin typeface="Times New Roman"/>
                <a:ea typeface="Times New Roman"/>
                <a:cs typeface="Times New Roman"/>
              </a:defRPr>
            </a:lvl6pPr>
            <a:lvl7pPr algn="r">
              <a:defRPr sz="1200" b="0">
                <a:solidFill>
                  <a:srgbClr val="367653"/>
                </a:solidFill>
                <a:latin typeface="Times New Roman"/>
                <a:ea typeface="Times New Roman"/>
                <a:cs typeface="Times New Roman"/>
              </a:defRPr>
            </a:lvl7pPr>
            <a:lvl8pPr algn="r">
              <a:defRPr sz="1200" b="0">
                <a:solidFill>
                  <a:srgbClr val="367653"/>
                </a:solidFill>
                <a:latin typeface="Times New Roman"/>
                <a:ea typeface="Times New Roman"/>
                <a:cs typeface="Times New Roman"/>
              </a:defRPr>
            </a:lvl8pPr>
            <a:lvl9pPr algn="r">
              <a:defRPr sz="1200" b="0">
                <a:solidFill>
                  <a:srgbClr val="367653"/>
                </a:solidFill>
                <a:latin typeface="Times New Roman"/>
                <a:ea typeface="Times New Roman"/>
                <a:cs typeface="Times New Roman"/>
              </a:defRPr>
            </a:lvl9pPr>
          </a:lstStyle>
          <a:p xmlns:a="http://schemas.openxmlformats.org/drawingml/2006/main">
            <a:pPr algn="r">
              <a:defRPr sz="1200" b="0">
                <a:solidFill>
                  <a:srgbClr val="367653"/>
                </a:solidFill>
                <a:latin typeface="Times New Roman"/>
                <a:ea typeface="Times New Roman"/>
                <a:cs typeface="Times New Roman"/>
              </a:defRPr>
            </a:pPr>
            <a:r>
              <a:rPr sz="1200" b="0">
                <a:solidFill>
                  <a:srgbClr val="367653"/>
                </a:solidFill>
                <a:latin typeface="Times New Roman"/>
                <a:ea typeface="Times New Roman"/>
                <a:cs typeface="Times New Roman"/>
              </a:rPr>
              <a:t>14</a:t>
            </a:r>
          </a:p>
        </p:txBody>
      </p:sp>
      <p:sp>
        <p:nvSpPr>
          <p:cNvPr id="3" name="sources">
            <a:extLst xmlns:a="http://schemas.openxmlformats.org/drawingml/2006/main">
              <a:ext uri="{FF2B5EF4-FFF2-40B4-BE49-F238E27FC236}">
                <a16:creationId xmlns:a16="http://schemas.microsoft.com/office/drawing/2014/main" id="{DD8949E8-88A0-4350-BB6D-68D1CD63327C}"/>
              </a:ext>
            </a:extLst>
          </p:cNvPr>
          <p:cNvSpPr>
            <a:spLocks xmlns:a="http://schemas.openxmlformats.org/drawingml/2006/main" noGrp="1"/>
          </p:cNvSpPr>
          <p:nvPr/>
        </p:nvSpPr>
        <p:spPr>
          <a:xfrm xmlns:a="http://schemas.openxmlformats.org/drawingml/2006/main">
            <a:off x="609600" y="6419850"/>
            <a:ext cx="10287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200" b="0">
                <a:solidFill>
                  <a:srgbClr val="515151"/>
                </a:solidFill>
                <a:latin typeface="Times New Roman"/>
                <a:ea typeface="Times New Roman"/>
                <a:cs typeface="Times New Roman"/>
              </a:defRPr>
            </a:defPPr>
            <a:lvl1pPr algn="l">
              <a:defRPr sz="1200" b="0">
                <a:solidFill>
                  <a:srgbClr val="515151"/>
                </a:solidFill>
                <a:latin typeface="Times New Roman"/>
                <a:ea typeface="Times New Roman"/>
                <a:cs typeface="Times New Roman"/>
              </a:defRPr>
            </a:lvl1pPr>
            <a:lvl2pPr algn="l">
              <a:defRPr sz="1200" b="0">
                <a:solidFill>
                  <a:srgbClr val="515151"/>
                </a:solidFill>
                <a:latin typeface="Times New Roman"/>
                <a:ea typeface="Times New Roman"/>
                <a:cs typeface="Times New Roman"/>
              </a:defRPr>
            </a:lvl2pPr>
            <a:lvl3pPr algn="l">
              <a:defRPr sz="1200" b="0">
                <a:solidFill>
                  <a:srgbClr val="515151"/>
                </a:solidFill>
                <a:latin typeface="Times New Roman"/>
                <a:ea typeface="Times New Roman"/>
                <a:cs typeface="Times New Roman"/>
              </a:defRPr>
            </a:lvl3pPr>
            <a:lvl4pPr algn="l">
              <a:defRPr sz="1200" b="0">
                <a:solidFill>
                  <a:srgbClr val="515151"/>
                </a:solidFill>
                <a:latin typeface="Times New Roman"/>
                <a:ea typeface="Times New Roman"/>
                <a:cs typeface="Times New Roman"/>
              </a:defRPr>
            </a:lvl4pPr>
            <a:lvl5pPr algn="l">
              <a:defRPr sz="1200" b="0">
                <a:solidFill>
                  <a:srgbClr val="515151"/>
                </a:solidFill>
                <a:latin typeface="Times New Roman"/>
                <a:ea typeface="Times New Roman"/>
                <a:cs typeface="Times New Roman"/>
              </a:defRPr>
            </a:lvl5pPr>
            <a:lvl6pPr algn="l">
              <a:defRPr sz="1200" b="0">
                <a:solidFill>
                  <a:srgbClr val="515151"/>
                </a:solidFill>
                <a:latin typeface="Times New Roman"/>
                <a:ea typeface="Times New Roman"/>
                <a:cs typeface="Times New Roman"/>
              </a:defRPr>
            </a:lvl6pPr>
            <a:lvl7pPr algn="l">
              <a:defRPr sz="1200" b="0">
                <a:solidFill>
                  <a:srgbClr val="515151"/>
                </a:solidFill>
                <a:latin typeface="Times New Roman"/>
                <a:ea typeface="Times New Roman"/>
                <a:cs typeface="Times New Roman"/>
              </a:defRPr>
            </a:lvl7pPr>
            <a:lvl8pPr algn="l">
              <a:defRPr sz="1200" b="0">
                <a:solidFill>
                  <a:srgbClr val="515151"/>
                </a:solidFill>
                <a:latin typeface="Times New Roman"/>
                <a:ea typeface="Times New Roman"/>
                <a:cs typeface="Times New Roman"/>
              </a:defRPr>
            </a:lvl8pPr>
            <a:lvl9pPr algn="l">
              <a:defRPr sz="1200" b="0">
                <a:solidFill>
                  <a:srgbClr val="515151"/>
                </a:solidFill>
                <a:latin typeface="Times New Roman"/>
                <a:ea typeface="Times New Roman"/>
                <a:cs typeface="Times New Roman"/>
              </a:defRPr>
            </a:lvl9pPr>
          </a:lstStyle>
          <a:p xmlns:a="http://schemas.openxmlformats.org/drawingml/2006/main">
            <a:pPr algn="l">
              <a:defRPr sz="1200" b="0">
                <a:solidFill>
                  <a:srgbClr val="515151"/>
                </a:solidFill>
                <a:latin typeface="Times New Roman"/>
                <a:ea typeface="Times New Roman"/>
                <a:cs typeface="Times New Roman"/>
              </a:defRPr>
            </a:pPr>
            <a:r>
              <a:rPr sz="1200" b="0">
                <a:solidFill>
                  <a:srgbClr val="515151"/>
                </a:solidFill>
                <a:latin typeface="Times New Roman"/>
                <a:ea typeface="Times New Roman"/>
                <a:cs typeface="Times New Roman"/>
              </a:rPr>
              <a:t>Fuentes: [1] [3] [4] [9]</a:t>
            </a:r>
          </a:p>
        </p:txBody>
      </p:sp>
      <p:sp>
        <p:nvSpPr>
          <p:cNvPr id="4" name="text">
            <a:extLst xmlns:a="http://schemas.openxmlformats.org/drawingml/2006/main">
              <a:ext uri="{FF2B5EF4-FFF2-40B4-BE49-F238E27FC236}">
                <a16:creationId xmlns:a16="http://schemas.microsoft.com/office/drawing/2014/main" id="{3FC9C4BC-03FD-4773-8D1E-914DA67373AB}"/>
              </a:ext>
            </a:extLst>
          </p:cNvPr>
          <p:cNvSpPr>
            <a:spLocks xmlns:a="http://schemas.openxmlformats.org/drawingml/2006/main" noGrp="1"/>
          </p:cNvSpPr>
          <p:nvPr/>
        </p:nvSpPr>
        <p:spPr>
          <a:xfrm xmlns:a="http://schemas.openxmlformats.org/drawingml/2006/main">
            <a:off x="609600" y="1343025"/>
            <a:ext cx="109728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00" b="0">
                <a:solidFill>
                  <a:srgbClr val="181818"/>
                </a:solidFill>
                <a:latin typeface="Times New Roman"/>
                <a:ea typeface="Times New Roman"/>
                <a:cs typeface="Times New Roman"/>
              </a:defRPr>
            </a:defPPr>
            <a:lvl1pPr algn="l">
              <a:defRPr sz="2200" b="0">
                <a:solidFill>
                  <a:srgbClr val="181818"/>
                </a:solidFill>
                <a:latin typeface="Times New Roman"/>
                <a:ea typeface="Times New Roman"/>
                <a:cs typeface="Times New Roman"/>
              </a:defRPr>
            </a:lvl1pPr>
            <a:lvl2pPr algn="l">
              <a:defRPr sz="2200" b="0">
                <a:solidFill>
                  <a:srgbClr val="181818"/>
                </a:solidFill>
                <a:latin typeface="Times New Roman"/>
                <a:ea typeface="Times New Roman"/>
                <a:cs typeface="Times New Roman"/>
              </a:defRPr>
            </a:lvl2pPr>
            <a:lvl3pPr algn="l">
              <a:defRPr sz="2200" b="0">
                <a:solidFill>
                  <a:srgbClr val="181818"/>
                </a:solidFill>
                <a:latin typeface="Times New Roman"/>
                <a:ea typeface="Times New Roman"/>
                <a:cs typeface="Times New Roman"/>
              </a:defRPr>
            </a:lvl3pPr>
            <a:lvl4pPr algn="l">
              <a:defRPr sz="2200" b="0">
                <a:solidFill>
                  <a:srgbClr val="181818"/>
                </a:solidFill>
                <a:latin typeface="Times New Roman"/>
                <a:ea typeface="Times New Roman"/>
                <a:cs typeface="Times New Roman"/>
              </a:defRPr>
            </a:lvl4pPr>
            <a:lvl5pPr algn="l">
              <a:defRPr sz="2200" b="0">
                <a:solidFill>
                  <a:srgbClr val="181818"/>
                </a:solidFill>
                <a:latin typeface="Times New Roman"/>
                <a:ea typeface="Times New Roman"/>
                <a:cs typeface="Times New Roman"/>
              </a:defRPr>
            </a:lvl5pPr>
            <a:lvl6pPr algn="l">
              <a:defRPr sz="2200" b="0">
                <a:solidFill>
                  <a:srgbClr val="181818"/>
                </a:solidFill>
                <a:latin typeface="Times New Roman"/>
                <a:ea typeface="Times New Roman"/>
                <a:cs typeface="Times New Roman"/>
              </a:defRPr>
            </a:lvl6pPr>
            <a:lvl7pPr algn="l">
              <a:defRPr sz="2200" b="0">
                <a:solidFill>
                  <a:srgbClr val="181818"/>
                </a:solidFill>
                <a:latin typeface="Times New Roman"/>
                <a:ea typeface="Times New Roman"/>
                <a:cs typeface="Times New Roman"/>
              </a:defRPr>
            </a:lvl7pPr>
            <a:lvl8pPr algn="l">
              <a:defRPr sz="2200" b="0">
                <a:solidFill>
                  <a:srgbClr val="181818"/>
                </a:solidFill>
                <a:latin typeface="Times New Roman"/>
                <a:ea typeface="Times New Roman"/>
                <a:cs typeface="Times New Roman"/>
              </a:defRPr>
            </a:lvl8pPr>
            <a:lvl9pPr algn="l">
              <a:defRPr sz="2200" b="0">
                <a:solidFill>
                  <a:srgbClr val="181818"/>
                </a:solidFill>
                <a:latin typeface="Times New Roman"/>
                <a:ea typeface="Times New Roman"/>
                <a:cs typeface="Times New Roman"/>
              </a:defRPr>
            </a:lvl9pPr>
          </a:lstStyle>
          <a:p xmlns:a="http://schemas.openxmlformats.org/drawingml/2006/main">
            <a:pPr algn="l">
              <a:defRPr sz="2200" b="0">
                <a:solidFill>
                  <a:srgbClr val="181818"/>
                </a:solidFill>
                <a:latin typeface="Times New Roman"/>
                <a:ea typeface="Times New Roman"/>
                <a:cs typeface="Times New Roman"/>
              </a:defRPr>
            </a:pPr>
            <a:r>
              <a:rPr sz="2200" b="0">
                <a:solidFill>
                  <a:srgbClr val="181818"/>
                </a:solidFill>
                <a:latin typeface="Times New Roman"/>
                <a:ea typeface="Times New Roman"/>
                <a:cs typeface="Times New Roman"/>
              </a:rPr>
              <a:t>Anestesia con menor ventilación alveolar durante 20 min. Sangre arterial a 37 °C.</a:t>
            </a:r>
          </a:p>
        </p:txBody>
      </p:sp>
      <p:pic>
        <p:nvPicPr>
          <p:cNvPr id="5" name="">
            <a:extLst xmlns:a="http://schemas.openxmlformats.org/drawingml/2006/main">
              <a:ext uri="{FF2B5EF4-FFF2-40B4-BE49-F238E27FC236}">
                <a16:creationId xmlns:a16="http://schemas.microsoft.com/office/drawing/2014/main" id="{69A7F762-B7A3-4670-A1DE-C14C8B41CDD9}"/>
              </a:ext>
            </a:extLst>
          </p:cNvPr>
          <p:cNvPicPr>
            <a:picLocks xmlns:a="http://schemas.openxmlformats.org/drawingml/2006/main" noChangeAspect="1"/>
          </p:cNvPicPr>
          <p:nvPr/>
        </p:nvPicPr>
        <p:blipFill>
          <a:blip xmlns:r="http://schemas.openxmlformats.org/officeDocument/2006/relationships" xmlns:a="http://schemas.openxmlformats.org/drawingml/2006/main" r:embed="Rc46e4817592a43aa"/>
          <a:stretch xmlns:a="http://schemas.openxmlformats.org/drawingml/2006/main"/>
        </p:blipFill>
        <p:spPr>
          <a:xfrm xmlns:a="http://schemas.openxmlformats.org/drawingml/2006/main">
            <a:off x="609600" y="2200258"/>
            <a:ext cx="4095750" cy="2305084"/>
          </a:xfrm>
          <a:prstGeom xmlns:a="http://schemas.openxmlformats.org/drawingml/2006/main" prst="rect">
            <a:avLst/>
          </a:prstGeom>
        </p:spPr>
      </p:pic>
      <p:sp>
        <p:nvSpPr>
          <p:cNvPr id="6" name="text">
            <a:extLst xmlns:a="http://schemas.openxmlformats.org/drawingml/2006/main">
              <a:ext uri="{FF2B5EF4-FFF2-40B4-BE49-F238E27FC236}">
                <a16:creationId xmlns:a16="http://schemas.microsoft.com/office/drawing/2014/main" id="{7A53D57B-8ACF-4140-AAE9-143C7A353D99}"/>
              </a:ext>
            </a:extLst>
          </p:cNvPr>
          <p:cNvSpPr>
            <a:spLocks xmlns:a="http://schemas.openxmlformats.org/drawingml/2006/main" noGrp="1"/>
          </p:cNvSpPr>
          <p:nvPr/>
        </p:nvSpPr>
        <p:spPr>
          <a:xfrm xmlns:a="http://schemas.openxmlformats.org/drawingml/2006/main">
            <a:off x="609600" y="4572000"/>
            <a:ext cx="4095750"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200" b="0">
                <a:solidFill>
                  <a:srgbClr val="515151"/>
                </a:solidFill>
                <a:latin typeface="Times New Roman"/>
                <a:ea typeface="Times New Roman"/>
                <a:cs typeface="Times New Roman"/>
              </a:defRPr>
            </a:defPPr>
            <a:lvl1pPr algn="l">
              <a:defRPr sz="1200" b="0">
                <a:solidFill>
                  <a:srgbClr val="515151"/>
                </a:solidFill>
                <a:latin typeface="Times New Roman"/>
                <a:ea typeface="Times New Roman"/>
                <a:cs typeface="Times New Roman"/>
              </a:defRPr>
            </a:lvl1pPr>
            <a:lvl2pPr algn="l">
              <a:defRPr sz="1200" b="0">
                <a:solidFill>
                  <a:srgbClr val="515151"/>
                </a:solidFill>
                <a:latin typeface="Times New Roman"/>
                <a:ea typeface="Times New Roman"/>
                <a:cs typeface="Times New Roman"/>
              </a:defRPr>
            </a:lvl2pPr>
            <a:lvl3pPr algn="l">
              <a:defRPr sz="1200" b="0">
                <a:solidFill>
                  <a:srgbClr val="515151"/>
                </a:solidFill>
                <a:latin typeface="Times New Roman"/>
                <a:ea typeface="Times New Roman"/>
                <a:cs typeface="Times New Roman"/>
              </a:defRPr>
            </a:lvl3pPr>
            <a:lvl4pPr algn="l">
              <a:defRPr sz="1200" b="0">
                <a:solidFill>
                  <a:srgbClr val="515151"/>
                </a:solidFill>
                <a:latin typeface="Times New Roman"/>
                <a:ea typeface="Times New Roman"/>
                <a:cs typeface="Times New Roman"/>
              </a:defRPr>
            </a:lvl4pPr>
            <a:lvl5pPr algn="l">
              <a:defRPr sz="1200" b="0">
                <a:solidFill>
                  <a:srgbClr val="515151"/>
                </a:solidFill>
                <a:latin typeface="Times New Roman"/>
                <a:ea typeface="Times New Roman"/>
                <a:cs typeface="Times New Roman"/>
              </a:defRPr>
            </a:lvl5pPr>
            <a:lvl6pPr algn="l">
              <a:defRPr sz="1200" b="0">
                <a:solidFill>
                  <a:srgbClr val="515151"/>
                </a:solidFill>
                <a:latin typeface="Times New Roman"/>
                <a:ea typeface="Times New Roman"/>
                <a:cs typeface="Times New Roman"/>
              </a:defRPr>
            </a:lvl6pPr>
            <a:lvl7pPr algn="l">
              <a:defRPr sz="1200" b="0">
                <a:solidFill>
                  <a:srgbClr val="515151"/>
                </a:solidFill>
                <a:latin typeface="Times New Roman"/>
                <a:ea typeface="Times New Roman"/>
                <a:cs typeface="Times New Roman"/>
              </a:defRPr>
            </a:lvl7pPr>
            <a:lvl8pPr algn="l">
              <a:defRPr sz="1200" b="0">
                <a:solidFill>
                  <a:srgbClr val="515151"/>
                </a:solidFill>
                <a:latin typeface="Times New Roman"/>
                <a:ea typeface="Times New Roman"/>
                <a:cs typeface="Times New Roman"/>
              </a:defRPr>
            </a:lvl8pPr>
            <a:lvl9pPr algn="l">
              <a:defRPr sz="1200" b="0">
                <a:solidFill>
                  <a:srgbClr val="515151"/>
                </a:solidFill>
                <a:latin typeface="Times New Roman"/>
                <a:ea typeface="Times New Roman"/>
                <a:cs typeface="Times New Roman"/>
              </a:defRPr>
            </a:lvl9pPr>
          </a:lstStyle>
          <a:p xmlns:a="http://schemas.openxmlformats.org/drawingml/2006/main">
            <a:pPr algn="l">
              <a:defRPr sz="1200" b="0">
                <a:solidFill>
                  <a:srgbClr val="515151"/>
                </a:solidFill>
                <a:latin typeface="Times New Roman"/>
                <a:ea typeface="Times New Roman"/>
                <a:cs typeface="Times New Roman"/>
              </a:defRPr>
            </a:pPr>
            <a:r>
              <a:rPr sz="1200" b="0">
                <a:solidFill>
                  <a:srgbClr val="515151"/>
                </a:solidFill>
                <a:latin typeface="Times New Roman"/>
                <a:ea typeface="Times New Roman"/>
                <a:cs typeface="Times New Roman"/>
              </a:rPr>
              <a:t>Ilustración didáctica del contexto canino; no representa un protocolo anestésico.</a:t>
            </a:r>
          </a:p>
        </p:txBody>
      </p:sp>
      <p:graphicFrame>
        <p:nvGraphicFramePr>
          <p:cNvPr id="7" name="">
            <a:extLst xmlns:a="http://schemas.openxmlformats.org/drawingml/2006/main">
              <a:ext uri="{FF2B5EF4-FFF2-40B4-BE49-F238E27FC236}">
                <a16:creationId xmlns:a16="http://schemas.microsoft.com/office/drawing/2014/main" id="{78377C97-EB3C-4C63-A113-F3E6692843B8}"/>
              </a:ext>
            </a:extLst>
          </p:cNvPr>
          <p:cNvGraphicFramePr/>
          <p:nvPr/>
        </p:nvGraphicFramePr>
        <p:xfrm>
          <a:off xmlns:a="http://schemas.openxmlformats.org/drawingml/2006/main" x="5143500" y="2076450"/>
          <a:ext xmlns:a="http://schemas.openxmlformats.org/drawingml/2006/main" cx="6438900" cy="2724150"/>
        </p:xfrm>
        <a:graphic xmlns:a="http://schemas.openxmlformats.org/drawingml/2006/main">
          <a:graphicData uri="http://schemas.openxmlformats.org/drawingml/2006/table">
            <a:tbl>
              <a:tblPr firstRow="1" bandRow="0"/>
              <a:tblGrid>
                <a:gridCol w="2152650"/>
                <a:gridCol w="2143125"/>
                <a:gridCol w="2143125"/>
              </a:tblGrid>
              <a:tr h="581025">
                <a:tc>
                  <a:txBody>
                    <a:bodyPr wrap="square">
                      <a:noAutofit/>
                    </a:bodyPr>
                    <a:lstStyle/>
                    <a:p>
                      <a:pPr algn="l"/>
                      <a:r>
                        <a:rPr sz="2200" b="1">
                          <a:solidFill>
                            <a:srgbClr val="FFFFFF"/>
                          </a:solidFill>
                          <a:latin typeface="Times New Roman"/>
                          <a:ea typeface="Times New Roman"/>
                          <a:cs typeface="Times New Roman"/>
                        </a:rPr>
                        <a:t>Variable</a:t>
                      </a:r>
                    </a:p>
                  </a:txBody>
                  <a:tcPr marL="142875" marR="142875" marT="114300" marB="95250" anchor="ctr">
                    <a:lnL w="19050">
                      <a:solidFill>
                        <a:srgbClr val="FFFFFF"/>
                      </a:solidFill>
                      <a:prstDash val="solid"/>
                    </a:lnL>
                    <a:lnR w="19050">
                      <a:solidFill>
                        <a:srgbClr val="FFFFFF"/>
                      </a:solidFill>
                      <a:prstDash val="solid"/>
                    </a:lnR>
                    <a:lnT w="19050">
                      <a:solidFill>
                        <a:srgbClr val="FFFFFF"/>
                      </a:solidFill>
                      <a:prstDash val="solid"/>
                    </a:lnT>
                    <a:lnB w="19050">
                      <a:solidFill>
                        <a:srgbClr val="FFFFFF"/>
                      </a:solidFill>
                      <a:prstDash val="solid"/>
                    </a:lnB>
                    <a:solidFill>
                      <a:srgbClr val="174A35"/>
                    </a:solidFill>
                  </a:tcPr>
                </a:tc>
                <a:tc>
                  <a:txBody>
                    <a:bodyPr wrap="square">
                      <a:noAutofit/>
                    </a:bodyPr>
                    <a:lstStyle/>
                    <a:p>
                      <a:pPr algn="l"/>
                      <a:r>
                        <a:rPr sz="2200" b="1">
                          <a:solidFill>
                            <a:srgbClr val="FFFFFF"/>
                          </a:solidFill>
                          <a:latin typeface="Times New Roman"/>
                          <a:ea typeface="Times New Roman"/>
                          <a:cs typeface="Times New Roman"/>
                        </a:rPr>
                        <a:t>Previo</a:t>
                      </a:r>
                    </a:p>
                  </a:txBody>
                  <a:tcPr marL="142875" marR="142875" marT="114300" marB="95250" anchor="ctr">
                    <a:lnR w="19050">
                      <a:solidFill>
                        <a:srgbClr val="FFFFFF"/>
                      </a:solidFill>
                      <a:prstDash val="solid"/>
                    </a:lnR>
                    <a:lnT w="19050">
                      <a:solidFill>
                        <a:srgbClr val="FFFFFF"/>
                      </a:solidFill>
                      <a:prstDash val="solid"/>
                    </a:lnT>
                    <a:lnB w="19050">
                      <a:solidFill>
                        <a:srgbClr val="FFFFFF"/>
                      </a:solidFill>
                      <a:prstDash val="solid"/>
                    </a:lnB>
                    <a:solidFill>
                      <a:srgbClr val="174A35"/>
                    </a:solidFill>
                  </a:tcPr>
                </a:tc>
                <a:tc>
                  <a:txBody>
                    <a:bodyPr wrap="square">
                      <a:noAutofit/>
                    </a:bodyPr>
                    <a:lstStyle/>
                    <a:p>
                      <a:pPr algn="l"/>
                      <a:r>
                        <a:rPr sz="2200" b="1">
                          <a:solidFill>
                            <a:srgbClr val="FFFFFF"/>
                          </a:solidFill>
                          <a:latin typeface="Times New Roman"/>
                          <a:ea typeface="Times New Roman"/>
                          <a:cs typeface="Times New Roman"/>
                        </a:rPr>
                        <a:t>20 min</a:t>
                      </a:r>
                    </a:p>
                  </a:txBody>
                  <a:tcPr marL="142875" marR="142875" marT="114300" marB="95250" anchor="ctr">
                    <a:lnR w="19050">
                      <a:solidFill>
                        <a:srgbClr val="FFFFFF"/>
                      </a:solidFill>
                      <a:prstDash val="solid"/>
                    </a:lnR>
                    <a:lnT w="19050">
                      <a:solidFill>
                        <a:srgbClr val="FFFFFF"/>
                      </a:solidFill>
                      <a:prstDash val="solid"/>
                    </a:lnT>
                    <a:lnB w="19050">
                      <a:solidFill>
                        <a:srgbClr val="FFFFFF"/>
                      </a:solidFill>
                      <a:prstDash val="solid"/>
                    </a:lnB>
                    <a:solidFill>
                      <a:srgbClr val="174A35"/>
                    </a:solidFill>
                  </a:tcPr>
                </a:tc>
              </a:tr>
              <a:tr h="714375">
                <a:tc>
                  <a:txBody>
                    <a:bodyPr wrap="square">
                      <a:noAutofit/>
                    </a:bodyPr>
                    <a:lstStyle/>
                    <a:p>
                      <a:pPr algn="l"/>
                      <a:r>
                        <a:rPr sz="2200" b="0">
                          <a:solidFill>
                            <a:srgbClr val="181818"/>
                          </a:solidFill>
                          <a:latin typeface="Times New Roman"/>
                          <a:ea typeface="Times New Roman"/>
                          <a:cs typeface="Times New Roman"/>
                        </a:rPr>
                        <a:t>pH</a:t>
                      </a:r>
                    </a:p>
                  </a:txBody>
                  <a:tcPr marL="142875" marR="142875" marT="114300" marB="95250" anchor="ctr">
                    <a:lnL w="19050">
                      <a:solidFill>
                        <a:srgbClr val="FFFFFF"/>
                      </a:solidFill>
                      <a:prstDash val="solid"/>
                    </a:lnL>
                    <a:lnR w="19050">
                      <a:solidFill>
                        <a:srgbClr val="FFFFFF"/>
                      </a:solidFill>
                      <a:prstDash val="solid"/>
                    </a:lnR>
                    <a:lnB w="19050">
                      <a:solidFill>
                        <a:srgbClr val="FFFFFF"/>
                      </a:solidFill>
                      <a:prstDash val="solid"/>
                    </a:lnB>
                    <a:solidFill>
                      <a:srgbClr val="F0F5EF"/>
                    </a:solidFill>
                  </a:tcPr>
                </a:tc>
                <a:tc>
                  <a:txBody>
                    <a:bodyPr wrap="square">
                      <a:noAutofit/>
                    </a:bodyPr>
                    <a:lstStyle/>
                    <a:p>
                      <a:pPr algn="l"/>
                      <a:r>
                        <a:rPr sz="2200" b="0">
                          <a:solidFill>
                            <a:srgbClr val="181818"/>
                          </a:solidFill>
                          <a:latin typeface="Times New Roman"/>
                          <a:ea typeface="Times New Roman"/>
                          <a:cs typeface="Times New Roman"/>
                        </a:rPr>
                        <a:t>7,40</a:t>
                      </a:r>
                    </a:p>
                  </a:txBody>
                  <a:tcPr marL="142875" marR="142875" marT="114300" marB="95250" anchor="ctr">
                    <a:lnR w="19050">
                      <a:solidFill>
                        <a:srgbClr val="FFFFFF"/>
                      </a:solidFill>
                      <a:prstDash val="solid"/>
                    </a:lnR>
                    <a:lnB w="19050">
                      <a:solidFill>
                        <a:srgbClr val="FFFFFF"/>
                      </a:solidFill>
                      <a:prstDash val="solid"/>
                    </a:lnB>
                    <a:solidFill>
                      <a:srgbClr val="F0F5EF"/>
                    </a:solidFill>
                  </a:tcPr>
                </a:tc>
                <a:tc>
                  <a:txBody>
                    <a:bodyPr wrap="square">
                      <a:noAutofit/>
                    </a:bodyPr>
                    <a:lstStyle/>
                    <a:p>
                      <a:pPr algn="l"/>
                      <a:r>
                        <a:rPr sz="2200" b="0">
                          <a:solidFill>
                            <a:srgbClr val="181818"/>
                          </a:solidFill>
                          <a:latin typeface="Times New Roman"/>
                          <a:ea typeface="Times New Roman"/>
                          <a:cs typeface="Times New Roman"/>
                        </a:rPr>
                        <a:t>7,28</a:t>
                      </a:r>
                    </a:p>
                  </a:txBody>
                  <a:tcPr marL="142875" marR="142875" marT="114300" marB="95250" anchor="ctr">
                    <a:lnR w="19050">
                      <a:solidFill>
                        <a:srgbClr val="FFFFFF"/>
                      </a:solidFill>
                      <a:prstDash val="solid"/>
                    </a:lnR>
                    <a:lnB w="19050">
                      <a:solidFill>
                        <a:srgbClr val="FFFFFF"/>
                      </a:solidFill>
                      <a:prstDash val="solid"/>
                    </a:lnB>
                    <a:solidFill>
                      <a:srgbClr val="F0F5EF"/>
                    </a:solidFill>
                  </a:tcPr>
                </a:tc>
              </a:tr>
              <a:tr h="714375">
                <a:tc>
                  <a:txBody>
                    <a:bodyPr wrap="square">
                      <a:noAutofit/>
                    </a:bodyPr>
                    <a:lstStyle/>
                    <a:p>
                      <a:pPr algn="l"/>
                      <a:r>
                        <a:rPr sz="2200" b="0">
                          <a:solidFill>
                            <a:srgbClr val="181818"/>
                          </a:solidFill>
                          <a:latin typeface="Times New Roman"/>
                          <a:ea typeface="Times New Roman"/>
                          <a:cs typeface="Times New Roman"/>
                        </a:rPr>
                        <a:t>PCO₂</a:t>
                      </a:r>
                    </a:p>
                  </a:txBody>
                  <a:tcPr marL="142875" marR="142875" marT="114300" marB="95250" anchor="ctr">
                    <a:lnL w="19050">
                      <a:solidFill>
                        <a:srgbClr val="FFFFFF"/>
                      </a:solidFill>
                      <a:prstDash val="solid"/>
                    </a:lnL>
                    <a:lnR w="19050">
                      <a:solidFill>
                        <a:srgbClr val="FFFFFF"/>
                      </a:solidFill>
                      <a:prstDash val="solid"/>
                    </a:lnR>
                    <a:lnB w="19050">
                      <a:solidFill>
                        <a:srgbClr val="FFFFFF"/>
                      </a:solidFill>
                      <a:prstDash val="solid"/>
                    </a:lnB>
                    <a:solidFill>
                      <a:srgbClr val="FFFFFF"/>
                    </a:solidFill>
                  </a:tcPr>
                </a:tc>
                <a:tc>
                  <a:txBody>
                    <a:bodyPr wrap="square">
                      <a:noAutofit/>
                    </a:bodyPr>
                    <a:lstStyle/>
                    <a:p>
                      <a:pPr algn="l"/>
                      <a:r>
                        <a:rPr sz="2200" b="0">
                          <a:solidFill>
                            <a:srgbClr val="181818"/>
                          </a:solidFill>
                          <a:latin typeface="Times New Roman"/>
                          <a:ea typeface="Times New Roman"/>
                          <a:cs typeface="Times New Roman"/>
                        </a:rPr>
                        <a:t>40 mmHg</a:t>
                      </a:r>
                    </a:p>
                  </a:txBody>
                  <a:tcPr marL="142875" marR="142875" marT="114300" marB="95250" anchor="ctr">
                    <a:lnR w="19050">
                      <a:solidFill>
                        <a:srgbClr val="FFFFFF"/>
                      </a:solidFill>
                      <a:prstDash val="solid"/>
                    </a:lnR>
                    <a:lnB w="19050">
                      <a:solidFill>
                        <a:srgbClr val="FFFFFF"/>
                      </a:solidFill>
                      <a:prstDash val="solid"/>
                    </a:lnB>
                    <a:solidFill>
                      <a:srgbClr val="FFFFFF"/>
                    </a:solidFill>
                  </a:tcPr>
                </a:tc>
                <a:tc>
                  <a:txBody>
                    <a:bodyPr wrap="square">
                      <a:noAutofit/>
                    </a:bodyPr>
                    <a:lstStyle/>
                    <a:p>
                      <a:pPr algn="l"/>
                      <a:r>
                        <a:rPr sz="2200" b="0">
                          <a:solidFill>
                            <a:srgbClr val="181818"/>
                          </a:solidFill>
                          <a:latin typeface="Times New Roman"/>
                          <a:ea typeface="Times New Roman"/>
                          <a:cs typeface="Times New Roman"/>
                        </a:rPr>
                        <a:t>60 mmHg</a:t>
                      </a:r>
                    </a:p>
                  </a:txBody>
                  <a:tcPr marL="142875" marR="142875" marT="114300" marB="95250" anchor="ctr">
                    <a:lnR w="19050">
                      <a:solidFill>
                        <a:srgbClr val="FFFFFF"/>
                      </a:solidFill>
                      <a:prstDash val="solid"/>
                    </a:lnR>
                    <a:lnB w="19050">
                      <a:solidFill>
                        <a:srgbClr val="FFFFFF"/>
                      </a:solidFill>
                      <a:prstDash val="solid"/>
                    </a:lnB>
                    <a:solidFill>
                      <a:srgbClr val="FFFFFF"/>
                    </a:solidFill>
                  </a:tcPr>
                </a:tc>
              </a:tr>
              <a:tr h="714375">
                <a:tc>
                  <a:txBody>
                    <a:bodyPr wrap="square">
                      <a:noAutofit/>
                    </a:bodyPr>
                    <a:lstStyle/>
                    <a:p>
                      <a:pPr algn="l"/>
                      <a:r>
                        <a:rPr sz="2200" b="0">
                          <a:solidFill>
                            <a:srgbClr val="181818"/>
                          </a:solidFill>
                          <a:latin typeface="Times New Roman"/>
                          <a:ea typeface="Times New Roman"/>
                          <a:cs typeface="Times New Roman"/>
                        </a:rPr>
                        <a:t>HCO₃⁻</a:t>
                      </a:r>
                    </a:p>
                  </a:txBody>
                  <a:tcPr marL="142875" marR="142875" marT="114300" marB="95250" anchor="ctr">
                    <a:lnL w="19050">
                      <a:solidFill>
                        <a:srgbClr val="FFFFFF"/>
                      </a:solidFill>
                      <a:prstDash val="solid"/>
                    </a:lnL>
                    <a:lnR w="19050">
                      <a:solidFill>
                        <a:srgbClr val="FFFFFF"/>
                      </a:solidFill>
                      <a:prstDash val="solid"/>
                    </a:lnR>
                    <a:lnB w="19050">
                      <a:solidFill>
                        <a:srgbClr val="FFFFFF"/>
                      </a:solidFill>
                      <a:prstDash val="solid"/>
                    </a:lnB>
                    <a:solidFill>
                      <a:srgbClr val="F0F5EF"/>
                    </a:solidFill>
                  </a:tcPr>
                </a:tc>
                <a:tc>
                  <a:txBody>
                    <a:bodyPr wrap="square">
                      <a:noAutofit/>
                    </a:bodyPr>
                    <a:lstStyle/>
                    <a:p>
                      <a:pPr algn="l"/>
                      <a:r>
                        <a:rPr sz="2200" b="0">
                          <a:solidFill>
                            <a:srgbClr val="181818"/>
                          </a:solidFill>
                          <a:latin typeface="Times New Roman"/>
                          <a:ea typeface="Times New Roman"/>
                          <a:cs typeface="Times New Roman"/>
                        </a:rPr>
                        <a:t>24 mmol/L</a:t>
                      </a:r>
                    </a:p>
                  </a:txBody>
                  <a:tcPr marL="142875" marR="142875" marT="114300" marB="95250" anchor="ctr">
                    <a:lnR w="19050">
                      <a:solidFill>
                        <a:srgbClr val="FFFFFF"/>
                      </a:solidFill>
                      <a:prstDash val="solid"/>
                    </a:lnR>
                    <a:lnB w="19050">
                      <a:solidFill>
                        <a:srgbClr val="FFFFFF"/>
                      </a:solidFill>
                      <a:prstDash val="solid"/>
                    </a:lnB>
                    <a:solidFill>
                      <a:srgbClr val="F0F5EF"/>
                    </a:solidFill>
                  </a:tcPr>
                </a:tc>
                <a:tc>
                  <a:txBody>
                    <a:bodyPr wrap="square">
                      <a:noAutofit/>
                    </a:bodyPr>
                    <a:lstStyle/>
                    <a:p>
                      <a:pPr algn="l"/>
                      <a:r>
                        <a:rPr sz="2200" b="0">
                          <a:solidFill>
                            <a:srgbClr val="181818"/>
                          </a:solidFill>
                          <a:latin typeface="Times New Roman"/>
                          <a:ea typeface="Times New Roman"/>
                          <a:cs typeface="Times New Roman"/>
                        </a:rPr>
                        <a:t>27 mmol/L</a:t>
                      </a:r>
                    </a:p>
                  </a:txBody>
                  <a:tcPr marL="142875" marR="142875" marT="114300" marB="95250" anchor="ctr">
                    <a:lnR w="19050">
                      <a:solidFill>
                        <a:srgbClr val="FFFFFF"/>
                      </a:solidFill>
                      <a:prstDash val="solid"/>
                    </a:lnR>
                    <a:lnB w="19050">
                      <a:solidFill>
                        <a:srgbClr val="FFFFFF"/>
                      </a:solidFill>
                      <a:prstDash val="solid"/>
                    </a:lnB>
                    <a:solidFill>
                      <a:srgbClr val="F0F5EF"/>
                    </a:solidFill>
                  </a:tcPr>
                </a:tc>
              </a:tr>
            </a:tbl>
          </a:graphicData>
        </a:graphic>
      </p:graphicFrame>
      <p:sp>
        <p:nvSpPr>
          <p:cNvPr id="8" name="text">
            <a:extLst xmlns:a="http://schemas.openxmlformats.org/drawingml/2006/main">
              <a:ext uri="{FF2B5EF4-FFF2-40B4-BE49-F238E27FC236}">
                <a16:creationId xmlns:a16="http://schemas.microsoft.com/office/drawing/2014/main" id="{D0F47AE5-2932-4186-9BC5-D16A29017D24}"/>
              </a:ext>
            </a:extLst>
          </p:cNvPr>
          <p:cNvSpPr>
            <a:spLocks xmlns:a="http://schemas.openxmlformats.org/drawingml/2006/main" noGrp="1"/>
          </p:cNvSpPr>
          <p:nvPr/>
        </p:nvSpPr>
        <p:spPr>
          <a:xfrm xmlns:a="http://schemas.openxmlformats.org/drawingml/2006/main">
            <a:off x="609600" y="5019675"/>
            <a:ext cx="10972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00" b="1">
                <a:solidFill>
                  <a:srgbClr val="367653"/>
                </a:solidFill>
                <a:latin typeface="Times New Roman"/>
                <a:ea typeface="Times New Roman"/>
                <a:cs typeface="Times New Roman"/>
              </a:defRPr>
            </a:defPPr>
            <a:lvl1pPr algn="l">
              <a:defRPr sz="2200" b="1">
                <a:solidFill>
                  <a:srgbClr val="367653"/>
                </a:solidFill>
                <a:latin typeface="Times New Roman"/>
                <a:ea typeface="Times New Roman"/>
                <a:cs typeface="Times New Roman"/>
              </a:defRPr>
            </a:lvl1pPr>
            <a:lvl2pPr algn="l">
              <a:defRPr sz="2200" b="1">
                <a:solidFill>
                  <a:srgbClr val="367653"/>
                </a:solidFill>
                <a:latin typeface="Times New Roman"/>
                <a:ea typeface="Times New Roman"/>
                <a:cs typeface="Times New Roman"/>
              </a:defRPr>
            </a:lvl2pPr>
            <a:lvl3pPr algn="l">
              <a:defRPr sz="2200" b="1">
                <a:solidFill>
                  <a:srgbClr val="367653"/>
                </a:solidFill>
                <a:latin typeface="Times New Roman"/>
                <a:ea typeface="Times New Roman"/>
                <a:cs typeface="Times New Roman"/>
              </a:defRPr>
            </a:lvl3pPr>
            <a:lvl4pPr algn="l">
              <a:defRPr sz="2200" b="1">
                <a:solidFill>
                  <a:srgbClr val="367653"/>
                </a:solidFill>
                <a:latin typeface="Times New Roman"/>
                <a:ea typeface="Times New Roman"/>
                <a:cs typeface="Times New Roman"/>
              </a:defRPr>
            </a:lvl4pPr>
            <a:lvl5pPr algn="l">
              <a:defRPr sz="2200" b="1">
                <a:solidFill>
                  <a:srgbClr val="367653"/>
                </a:solidFill>
                <a:latin typeface="Times New Roman"/>
                <a:ea typeface="Times New Roman"/>
                <a:cs typeface="Times New Roman"/>
              </a:defRPr>
            </a:lvl5pPr>
            <a:lvl6pPr algn="l">
              <a:defRPr sz="2200" b="1">
                <a:solidFill>
                  <a:srgbClr val="367653"/>
                </a:solidFill>
                <a:latin typeface="Times New Roman"/>
                <a:ea typeface="Times New Roman"/>
                <a:cs typeface="Times New Roman"/>
              </a:defRPr>
            </a:lvl6pPr>
            <a:lvl7pPr algn="l">
              <a:defRPr sz="2200" b="1">
                <a:solidFill>
                  <a:srgbClr val="367653"/>
                </a:solidFill>
                <a:latin typeface="Times New Roman"/>
                <a:ea typeface="Times New Roman"/>
                <a:cs typeface="Times New Roman"/>
              </a:defRPr>
            </a:lvl7pPr>
            <a:lvl8pPr algn="l">
              <a:defRPr sz="2200" b="1">
                <a:solidFill>
                  <a:srgbClr val="367653"/>
                </a:solidFill>
                <a:latin typeface="Times New Roman"/>
                <a:ea typeface="Times New Roman"/>
                <a:cs typeface="Times New Roman"/>
              </a:defRPr>
            </a:lvl8pPr>
            <a:lvl9pPr algn="l">
              <a:defRPr sz="2200" b="1">
                <a:solidFill>
                  <a:srgbClr val="367653"/>
                </a:solidFill>
                <a:latin typeface="Times New Roman"/>
                <a:ea typeface="Times New Roman"/>
                <a:cs typeface="Times New Roman"/>
              </a:defRPr>
            </a:lvl9pPr>
          </a:lstStyle>
          <a:p xmlns:a="http://schemas.openxmlformats.org/drawingml/2006/main">
            <a:pPr algn="l">
              <a:defRPr sz="2200" b="1">
                <a:solidFill>
                  <a:srgbClr val="367653"/>
                </a:solidFill>
                <a:latin typeface="Times New Roman"/>
                <a:ea typeface="Times New Roman"/>
                <a:cs typeface="Times New Roman"/>
              </a:defRPr>
            </a:pPr>
            <a:r>
              <a:rPr sz="2200" b="1">
                <a:solidFill>
                  <a:srgbClr val="367653"/>
                </a:solidFill>
                <a:latin typeface="Times New Roman"/>
                <a:ea typeface="Times New Roman"/>
                <a:cs typeface="Times New Roman"/>
              </a:rPr>
              <a:t>¿Qué proceso explica mejor el cambio reciente?</a:t>
            </a:r>
          </a:p>
        </p:txBody>
      </p:sp>
      <p:sp>
        <p:nvSpPr>
          <p:cNvPr id="9" name="text">
            <a:extLst xmlns:a="http://schemas.openxmlformats.org/drawingml/2006/main">
              <a:ext uri="{FF2B5EF4-FFF2-40B4-BE49-F238E27FC236}">
                <a16:creationId xmlns:a16="http://schemas.microsoft.com/office/drawing/2014/main" id="{DB4F99F1-402B-43E6-9D4E-C831F0841E8B}"/>
              </a:ext>
            </a:extLst>
          </p:cNvPr>
          <p:cNvSpPr>
            <a:spLocks xmlns:a="http://schemas.openxmlformats.org/drawingml/2006/main" noGrp="1"/>
          </p:cNvSpPr>
          <p:nvPr/>
        </p:nvSpPr>
        <p:spPr>
          <a:xfrm xmlns:a="http://schemas.openxmlformats.org/drawingml/2006/main">
            <a:off x="609600" y="5438775"/>
            <a:ext cx="10972800" cy="866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00" b="0">
                <a:solidFill>
                  <a:srgbClr val="181818"/>
                </a:solidFill>
                <a:latin typeface="Times New Roman"/>
                <a:ea typeface="Times New Roman"/>
                <a:cs typeface="Times New Roman"/>
              </a:defRPr>
            </a:defPPr>
            <a:lvl1pPr algn="l">
              <a:defRPr sz="2000" b="0">
                <a:solidFill>
                  <a:srgbClr val="181818"/>
                </a:solidFill>
                <a:latin typeface="Times New Roman"/>
                <a:ea typeface="Times New Roman"/>
                <a:cs typeface="Times New Roman"/>
              </a:defRPr>
            </a:lvl1pPr>
            <a:lvl2pPr algn="l">
              <a:defRPr sz="2000" b="0">
                <a:solidFill>
                  <a:srgbClr val="181818"/>
                </a:solidFill>
                <a:latin typeface="Times New Roman"/>
                <a:ea typeface="Times New Roman"/>
                <a:cs typeface="Times New Roman"/>
              </a:defRPr>
            </a:lvl2pPr>
            <a:lvl3pPr algn="l">
              <a:defRPr sz="2000" b="0">
                <a:solidFill>
                  <a:srgbClr val="181818"/>
                </a:solidFill>
                <a:latin typeface="Times New Roman"/>
                <a:ea typeface="Times New Roman"/>
                <a:cs typeface="Times New Roman"/>
              </a:defRPr>
            </a:lvl3pPr>
            <a:lvl4pPr algn="l">
              <a:defRPr sz="2000" b="0">
                <a:solidFill>
                  <a:srgbClr val="181818"/>
                </a:solidFill>
                <a:latin typeface="Times New Roman"/>
                <a:ea typeface="Times New Roman"/>
                <a:cs typeface="Times New Roman"/>
              </a:defRPr>
            </a:lvl4pPr>
            <a:lvl5pPr algn="l">
              <a:defRPr sz="2000" b="0">
                <a:solidFill>
                  <a:srgbClr val="181818"/>
                </a:solidFill>
                <a:latin typeface="Times New Roman"/>
                <a:ea typeface="Times New Roman"/>
                <a:cs typeface="Times New Roman"/>
              </a:defRPr>
            </a:lvl5pPr>
            <a:lvl6pPr algn="l">
              <a:defRPr sz="2000" b="0">
                <a:solidFill>
                  <a:srgbClr val="181818"/>
                </a:solidFill>
                <a:latin typeface="Times New Roman"/>
                <a:ea typeface="Times New Roman"/>
                <a:cs typeface="Times New Roman"/>
              </a:defRPr>
            </a:lvl6pPr>
            <a:lvl7pPr algn="l">
              <a:defRPr sz="2000" b="0">
                <a:solidFill>
                  <a:srgbClr val="181818"/>
                </a:solidFill>
                <a:latin typeface="Times New Roman"/>
                <a:ea typeface="Times New Roman"/>
                <a:cs typeface="Times New Roman"/>
              </a:defRPr>
            </a:lvl7pPr>
            <a:lvl8pPr algn="l">
              <a:defRPr sz="2000" b="0">
                <a:solidFill>
                  <a:srgbClr val="181818"/>
                </a:solidFill>
                <a:latin typeface="Times New Roman"/>
                <a:ea typeface="Times New Roman"/>
                <a:cs typeface="Times New Roman"/>
              </a:defRPr>
            </a:lvl8pPr>
            <a:lvl9pPr algn="l">
              <a:defRPr sz="2000" b="0">
                <a:solidFill>
                  <a:srgbClr val="181818"/>
                </a:solidFill>
                <a:latin typeface="Times New Roman"/>
                <a:ea typeface="Times New Roman"/>
                <a:cs typeface="Times New Roman"/>
              </a:defRPr>
            </a:lvl9pPr>
          </a:lstStyle>
          <a:p xmlns:a="http://schemas.openxmlformats.org/drawingml/2006/main">
            <a:pPr algn="l">
              <a:defRPr sz="2000" b="0">
                <a:solidFill>
                  <a:srgbClr val="181818"/>
                </a:solidFill>
                <a:latin typeface="Times New Roman"/>
                <a:ea typeface="Times New Roman"/>
                <a:cs typeface="Times New Roman"/>
              </a:defRPr>
            </a:pPr>
            <a:r>
              <a:rPr sz="2000" b="0">
                <a:solidFill>
                  <a:srgbClr val="181818"/>
                </a:solidFill>
                <a:latin typeface="Times New Roman"/>
                <a:ea typeface="Times New Roman"/>
                <a:cs typeface="Times New Roman"/>
              </a:rPr>
              <a:t>A. Acidosis respiratoria aguda por retención de CO₂.</a:t>
            </a:r>
          </a:p>
          <a:p xmlns:a="http://schemas.openxmlformats.org/drawingml/2006/main">
            <a:pPr algn="l">
              <a:defRPr sz="2000" b="0">
                <a:solidFill>
                  <a:srgbClr val="181818"/>
                </a:solidFill>
                <a:latin typeface="Times New Roman"/>
                <a:ea typeface="Times New Roman"/>
                <a:cs typeface="Times New Roman"/>
              </a:defRPr>
            </a:pPr>
            <a:r>
              <a:rPr sz="2000" b="0">
                <a:solidFill>
                  <a:srgbClr val="181818"/>
                </a:solidFill>
                <a:latin typeface="Times New Roman"/>
                <a:ea typeface="Times New Roman"/>
                <a:cs typeface="Times New Roman"/>
              </a:rPr>
              <a:t>B. Alcalosis metabólica primaria.</a:t>
            </a:r>
          </a:p>
          <a:p xmlns:a="http://schemas.openxmlformats.org/drawingml/2006/main">
            <a:pPr algn="l">
              <a:defRPr sz="2000" b="0">
                <a:solidFill>
                  <a:srgbClr val="181818"/>
                </a:solidFill>
                <a:latin typeface="Times New Roman"/>
                <a:ea typeface="Times New Roman"/>
                <a:cs typeface="Times New Roman"/>
              </a:defRPr>
            </a:pPr>
            <a:r>
              <a:rPr sz="2000" b="0">
                <a:solidFill>
                  <a:srgbClr val="181818"/>
                </a:solidFill>
                <a:latin typeface="Times New Roman"/>
                <a:ea typeface="Times New Roman"/>
                <a:cs typeface="Times New Roman"/>
              </a:rPr>
              <a:t>C. Compensación renal crónica completa.</a:t>
            </a:r>
          </a:p>
        </p:txBody>
      </p:sp>
    </p:spTree>
    <p:extLst>
      <p:ext uri="{BB962C8B-B14F-4D97-AF65-F5344CB8AC3E}">
        <p14:creationId xmlns:p14="http://schemas.microsoft.com/office/powerpoint/2010/main" val="2016761821"/>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slide-title">
            <a:extLst xmlns:a="http://schemas.openxmlformats.org/drawingml/2006/main">
              <a:ext uri="{FF2B5EF4-FFF2-40B4-BE49-F238E27FC236}">
                <a16:creationId xmlns:a16="http://schemas.microsoft.com/office/drawing/2014/main" id="{6853AEE3-EE00-49A4-AA4C-694FA0E6EBB2}"/>
              </a:ext>
            </a:extLst>
          </p:cNvPr>
          <p:cNvSpPr>
            <a:spLocks xmlns:a="http://schemas.openxmlformats.org/drawingml/2006/main" noGrp="1"/>
          </p:cNvSpPr>
          <p:nvPr/>
        </p:nvSpPr>
        <p:spPr>
          <a:xfrm xmlns:a="http://schemas.openxmlformats.org/drawingml/2006/main">
            <a:off x="609600" y="390525"/>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400" b="1">
                <a:solidFill>
                  <a:srgbClr val="174A35"/>
                </a:solidFill>
                <a:latin typeface="Times New Roman"/>
                <a:ea typeface="Times New Roman"/>
                <a:cs typeface="Times New Roman"/>
              </a:defRPr>
            </a:defPPr>
            <a:lvl1pPr algn="l">
              <a:defRPr sz="3400" b="1">
                <a:solidFill>
                  <a:srgbClr val="174A35"/>
                </a:solidFill>
                <a:latin typeface="Times New Roman"/>
                <a:ea typeface="Times New Roman"/>
                <a:cs typeface="Times New Roman"/>
              </a:defRPr>
            </a:lvl1pPr>
            <a:lvl2pPr algn="l">
              <a:defRPr sz="3400" b="1">
                <a:solidFill>
                  <a:srgbClr val="174A35"/>
                </a:solidFill>
                <a:latin typeface="Times New Roman"/>
                <a:ea typeface="Times New Roman"/>
                <a:cs typeface="Times New Roman"/>
              </a:defRPr>
            </a:lvl2pPr>
            <a:lvl3pPr algn="l">
              <a:defRPr sz="3400" b="1">
                <a:solidFill>
                  <a:srgbClr val="174A35"/>
                </a:solidFill>
                <a:latin typeface="Times New Roman"/>
                <a:ea typeface="Times New Roman"/>
                <a:cs typeface="Times New Roman"/>
              </a:defRPr>
            </a:lvl3pPr>
            <a:lvl4pPr algn="l">
              <a:defRPr sz="3400" b="1">
                <a:solidFill>
                  <a:srgbClr val="174A35"/>
                </a:solidFill>
                <a:latin typeface="Times New Roman"/>
                <a:ea typeface="Times New Roman"/>
                <a:cs typeface="Times New Roman"/>
              </a:defRPr>
            </a:lvl4pPr>
            <a:lvl5pPr algn="l">
              <a:defRPr sz="3400" b="1">
                <a:solidFill>
                  <a:srgbClr val="174A35"/>
                </a:solidFill>
                <a:latin typeface="Times New Roman"/>
                <a:ea typeface="Times New Roman"/>
                <a:cs typeface="Times New Roman"/>
              </a:defRPr>
            </a:lvl5pPr>
            <a:lvl6pPr algn="l">
              <a:defRPr sz="3400" b="1">
                <a:solidFill>
                  <a:srgbClr val="174A35"/>
                </a:solidFill>
                <a:latin typeface="Times New Roman"/>
                <a:ea typeface="Times New Roman"/>
                <a:cs typeface="Times New Roman"/>
              </a:defRPr>
            </a:lvl6pPr>
            <a:lvl7pPr algn="l">
              <a:defRPr sz="3400" b="1">
                <a:solidFill>
                  <a:srgbClr val="174A35"/>
                </a:solidFill>
                <a:latin typeface="Times New Roman"/>
                <a:ea typeface="Times New Roman"/>
                <a:cs typeface="Times New Roman"/>
              </a:defRPr>
            </a:lvl7pPr>
            <a:lvl8pPr algn="l">
              <a:defRPr sz="3400" b="1">
                <a:solidFill>
                  <a:srgbClr val="174A35"/>
                </a:solidFill>
                <a:latin typeface="Times New Roman"/>
                <a:ea typeface="Times New Roman"/>
                <a:cs typeface="Times New Roman"/>
              </a:defRPr>
            </a:lvl8pPr>
            <a:lvl9pPr algn="l">
              <a:defRPr sz="3400" b="1">
                <a:solidFill>
                  <a:srgbClr val="174A35"/>
                </a:solidFill>
                <a:latin typeface="Times New Roman"/>
                <a:ea typeface="Times New Roman"/>
                <a:cs typeface="Times New Roman"/>
              </a:defRPr>
            </a:lvl9pPr>
          </a:lstStyle>
          <a:p xmlns:a="http://schemas.openxmlformats.org/drawingml/2006/main">
            <a:pPr algn="l">
              <a:defRPr sz="3400" b="1">
                <a:solidFill>
                  <a:srgbClr val="174A35"/>
                </a:solidFill>
                <a:latin typeface="Times New Roman"/>
                <a:ea typeface="Times New Roman"/>
                <a:cs typeface="Times New Roman"/>
              </a:defRPr>
            </a:pPr>
            <a:r>
              <a:rPr sz="3400" b="1">
                <a:solidFill>
                  <a:srgbClr val="174A35"/>
                </a:solidFill>
                <a:latin typeface="Times New Roman"/>
                <a:ea typeface="Times New Roman"/>
                <a:cs typeface="Times New Roman"/>
              </a:rPr>
              <a:t>Referencias y materiales</a:t>
            </a:r>
          </a:p>
        </p:txBody>
      </p:sp>
      <p:sp>
        <p:nvSpPr>
          <p:cNvPr id="2" name="page-number">
            <a:extLst xmlns:a="http://schemas.openxmlformats.org/drawingml/2006/main">
              <a:ext uri="{FF2B5EF4-FFF2-40B4-BE49-F238E27FC236}">
                <a16:creationId xmlns:a16="http://schemas.microsoft.com/office/drawing/2014/main" id="{619F26A0-D56B-4F24-B6F3-5C7D2AA1895D}"/>
              </a:ext>
            </a:extLst>
          </p:cNvPr>
          <p:cNvSpPr>
            <a:spLocks xmlns:a="http://schemas.openxmlformats.org/drawingml/2006/main" noGrp="1"/>
          </p:cNvSpPr>
          <p:nvPr/>
        </p:nvSpPr>
        <p:spPr>
          <a:xfrm xmlns:a="http://schemas.openxmlformats.org/drawingml/2006/main">
            <a:off x="11077575" y="64198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00" b="0">
                <a:solidFill>
                  <a:srgbClr val="367653"/>
                </a:solidFill>
                <a:latin typeface="Times New Roman"/>
                <a:ea typeface="Times New Roman"/>
                <a:cs typeface="Times New Roman"/>
              </a:defRPr>
            </a:defPPr>
            <a:lvl1pPr algn="r">
              <a:defRPr sz="1200" b="0">
                <a:solidFill>
                  <a:srgbClr val="367653"/>
                </a:solidFill>
                <a:latin typeface="Times New Roman"/>
                <a:ea typeface="Times New Roman"/>
                <a:cs typeface="Times New Roman"/>
              </a:defRPr>
            </a:lvl1pPr>
            <a:lvl2pPr algn="r">
              <a:defRPr sz="1200" b="0">
                <a:solidFill>
                  <a:srgbClr val="367653"/>
                </a:solidFill>
                <a:latin typeface="Times New Roman"/>
                <a:ea typeface="Times New Roman"/>
                <a:cs typeface="Times New Roman"/>
              </a:defRPr>
            </a:lvl2pPr>
            <a:lvl3pPr algn="r">
              <a:defRPr sz="1200" b="0">
                <a:solidFill>
                  <a:srgbClr val="367653"/>
                </a:solidFill>
                <a:latin typeface="Times New Roman"/>
                <a:ea typeface="Times New Roman"/>
                <a:cs typeface="Times New Roman"/>
              </a:defRPr>
            </a:lvl3pPr>
            <a:lvl4pPr algn="r">
              <a:defRPr sz="1200" b="0">
                <a:solidFill>
                  <a:srgbClr val="367653"/>
                </a:solidFill>
                <a:latin typeface="Times New Roman"/>
                <a:ea typeface="Times New Roman"/>
                <a:cs typeface="Times New Roman"/>
              </a:defRPr>
            </a:lvl4pPr>
            <a:lvl5pPr algn="r">
              <a:defRPr sz="1200" b="0">
                <a:solidFill>
                  <a:srgbClr val="367653"/>
                </a:solidFill>
                <a:latin typeface="Times New Roman"/>
                <a:ea typeface="Times New Roman"/>
                <a:cs typeface="Times New Roman"/>
              </a:defRPr>
            </a:lvl5pPr>
            <a:lvl6pPr algn="r">
              <a:defRPr sz="1200" b="0">
                <a:solidFill>
                  <a:srgbClr val="367653"/>
                </a:solidFill>
                <a:latin typeface="Times New Roman"/>
                <a:ea typeface="Times New Roman"/>
                <a:cs typeface="Times New Roman"/>
              </a:defRPr>
            </a:lvl6pPr>
            <a:lvl7pPr algn="r">
              <a:defRPr sz="1200" b="0">
                <a:solidFill>
                  <a:srgbClr val="367653"/>
                </a:solidFill>
                <a:latin typeface="Times New Roman"/>
                <a:ea typeface="Times New Roman"/>
                <a:cs typeface="Times New Roman"/>
              </a:defRPr>
            </a:lvl7pPr>
            <a:lvl8pPr algn="r">
              <a:defRPr sz="1200" b="0">
                <a:solidFill>
                  <a:srgbClr val="367653"/>
                </a:solidFill>
                <a:latin typeface="Times New Roman"/>
                <a:ea typeface="Times New Roman"/>
                <a:cs typeface="Times New Roman"/>
              </a:defRPr>
            </a:lvl8pPr>
            <a:lvl9pPr algn="r">
              <a:defRPr sz="1200" b="0">
                <a:solidFill>
                  <a:srgbClr val="367653"/>
                </a:solidFill>
                <a:latin typeface="Times New Roman"/>
                <a:ea typeface="Times New Roman"/>
                <a:cs typeface="Times New Roman"/>
              </a:defRPr>
            </a:lvl9pPr>
          </a:lstStyle>
          <a:p xmlns:a="http://schemas.openxmlformats.org/drawingml/2006/main">
            <a:pPr algn="r">
              <a:defRPr sz="1200" b="0">
                <a:solidFill>
                  <a:srgbClr val="367653"/>
                </a:solidFill>
                <a:latin typeface="Times New Roman"/>
                <a:ea typeface="Times New Roman"/>
                <a:cs typeface="Times New Roman"/>
              </a:defRPr>
            </a:pPr>
            <a:r>
              <a:rPr sz="1200" b="0">
                <a:solidFill>
                  <a:srgbClr val="367653"/>
                </a:solidFill>
                <a:latin typeface="Times New Roman"/>
                <a:ea typeface="Times New Roman"/>
                <a:cs typeface="Times New Roman"/>
              </a:rPr>
              <a:t>15</a:t>
            </a:r>
          </a:p>
        </p:txBody>
      </p:sp>
      <p:sp>
        <p:nvSpPr>
          <p:cNvPr id="3" name="text">
            <a:extLst xmlns:a="http://schemas.openxmlformats.org/drawingml/2006/main">
              <a:ext uri="{FF2B5EF4-FFF2-40B4-BE49-F238E27FC236}">
                <a16:creationId xmlns:a16="http://schemas.microsoft.com/office/drawing/2014/main" id="{53186DF8-354E-43D7-AEB5-03E9E1B3A5E0}"/>
              </a:ext>
            </a:extLst>
          </p:cNvPr>
          <p:cNvSpPr>
            <a:spLocks xmlns:a="http://schemas.openxmlformats.org/drawingml/2006/main" noGrp="1"/>
          </p:cNvSpPr>
          <p:nvPr/>
        </p:nvSpPr>
        <p:spPr>
          <a:xfrm xmlns:a="http://schemas.openxmlformats.org/drawingml/2006/main">
            <a:off x="609600" y="1457325"/>
            <a:ext cx="5162550" cy="657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181818"/>
                </a:solidFill>
                <a:latin typeface="Times New Roman"/>
                <a:ea typeface="Times New Roman"/>
                <a:cs typeface="Times New Roman"/>
              </a:defRPr>
            </a:defPPr>
            <a:lvl1pPr algn="l">
              <a:defRPr sz="1650" b="0">
                <a:solidFill>
                  <a:srgbClr val="181818"/>
                </a:solidFill>
                <a:latin typeface="Times New Roman"/>
                <a:ea typeface="Times New Roman"/>
                <a:cs typeface="Times New Roman"/>
              </a:defRPr>
            </a:lvl1pPr>
            <a:lvl2pPr algn="l">
              <a:defRPr sz="1650" b="0">
                <a:solidFill>
                  <a:srgbClr val="181818"/>
                </a:solidFill>
                <a:latin typeface="Times New Roman"/>
                <a:ea typeface="Times New Roman"/>
                <a:cs typeface="Times New Roman"/>
              </a:defRPr>
            </a:lvl2pPr>
            <a:lvl3pPr algn="l">
              <a:defRPr sz="1650" b="0">
                <a:solidFill>
                  <a:srgbClr val="181818"/>
                </a:solidFill>
                <a:latin typeface="Times New Roman"/>
                <a:ea typeface="Times New Roman"/>
                <a:cs typeface="Times New Roman"/>
              </a:defRPr>
            </a:lvl3pPr>
            <a:lvl4pPr algn="l">
              <a:defRPr sz="1650" b="0">
                <a:solidFill>
                  <a:srgbClr val="181818"/>
                </a:solidFill>
                <a:latin typeface="Times New Roman"/>
                <a:ea typeface="Times New Roman"/>
                <a:cs typeface="Times New Roman"/>
              </a:defRPr>
            </a:lvl4pPr>
            <a:lvl5pPr algn="l">
              <a:defRPr sz="1650" b="0">
                <a:solidFill>
                  <a:srgbClr val="181818"/>
                </a:solidFill>
                <a:latin typeface="Times New Roman"/>
                <a:ea typeface="Times New Roman"/>
                <a:cs typeface="Times New Roman"/>
              </a:defRPr>
            </a:lvl5pPr>
            <a:lvl6pPr algn="l">
              <a:defRPr sz="1650" b="0">
                <a:solidFill>
                  <a:srgbClr val="181818"/>
                </a:solidFill>
                <a:latin typeface="Times New Roman"/>
                <a:ea typeface="Times New Roman"/>
                <a:cs typeface="Times New Roman"/>
              </a:defRPr>
            </a:lvl6pPr>
            <a:lvl7pPr algn="l">
              <a:defRPr sz="1650" b="0">
                <a:solidFill>
                  <a:srgbClr val="181818"/>
                </a:solidFill>
                <a:latin typeface="Times New Roman"/>
                <a:ea typeface="Times New Roman"/>
                <a:cs typeface="Times New Roman"/>
              </a:defRPr>
            </a:lvl7pPr>
            <a:lvl8pPr algn="l">
              <a:defRPr sz="1650" b="0">
                <a:solidFill>
                  <a:srgbClr val="181818"/>
                </a:solidFill>
                <a:latin typeface="Times New Roman"/>
                <a:ea typeface="Times New Roman"/>
                <a:cs typeface="Times New Roman"/>
              </a:defRPr>
            </a:lvl8pPr>
            <a:lvl9pPr algn="l">
              <a:defRPr sz="1650" b="0">
                <a:solidFill>
                  <a:srgbClr val="181818"/>
                </a:solidFill>
                <a:latin typeface="Times New Roman"/>
                <a:ea typeface="Times New Roman"/>
                <a:cs typeface="Times New Roman"/>
              </a:defRPr>
            </a:lvl9pPr>
          </a:lstStyle>
          <a:p xmlns:a="http://schemas.openxmlformats.org/drawingml/2006/main">
            <a:pPr algn="l">
              <a:defRPr sz="1650" b="0">
                <a:solidFill>
                  <a:srgbClr val="181818"/>
                </a:solidFill>
                <a:latin typeface="Times New Roman"/>
                <a:ea typeface="Times New Roman"/>
                <a:cs typeface="Times New Roman"/>
              </a:defRPr>
            </a:pPr>
            <a:r>
              <a:rPr sz="1650" b="0">
                <a:solidFill>
                  <a:srgbClr val="181818"/>
                </a:solidFill>
                <a:latin typeface="Times New Roman"/>
                <a:ea typeface="Times New Roman"/>
                <a:cs typeface="Times New Roman"/>
              </a:rPr>
              <a:t>1. Cornell University. Overview. eClinPath.</a:t>
            </a:r>
          </a:p>
        </p:txBody>
      </p:sp>
      <p:sp>
        <p:nvSpPr>
          <p:cNvPr id="4" name="text">
            <a:extLst xmlns:a="http://schemas.openxmlformats.org/drawingml/2006/main">
              <a:ext uri="{FF2B5EF4-FFF2-40B4-BE49-F238E27FC236}">
                <a16:creationId xmlns:a16="http://schemas.microsoft.com/office/drawing/2014/main" id="{7CE48052-AFD5-4429-B36D-C0BE77347F9F}"/>
              </a:ext>
            </a:extLst>
          </p:cNvPr>
          <p:cNvSpPr>
            <a:spLocks xmlns:a="http://schemas.openxmlformats.org/drawingml/2006/main" noGrp="1"/>
          </p:cNvSpPr>
          <p:nvPr/>
        </p:nvSpPr>
        <p:spPr>
          <a:xfrm xmlns:a="http://schemas.openxmlformats.org/drawingml/2006/main">
            <a:off x="609600" y="2171700"/>
            <a:ext cx="5162550" cy="657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181818"/>
                </a:solidFill>
                <a:latin typeface="Times New Roman"/>
                <a:ea typeface="Times New Roman"/>
                <a:cs typeface="Times New Roman"/>
              </a:defRPr>
            </a:defPPr>
            <a:lvl1pPr algn="l">
              <a:defRPr sz="1650" b="0">
                <a:solidFill>
                  <a:srgbClr val="181818"/>
                </a:solidFill>
                <a:latin typeface="Times New Roman"/>
                <a:ea typeface="Times New Roman"/>
                <a:cs typeface="Times New Roman"/>
              </a:defRPr>
            </a:lvl1pPr>
            <a:lvl2pPr algn="l">
              <a:defRPr sz="1650" b="0">
                <a:solidFill>
                  <a:srgbClr val="181818"/>
                </a:solidFill>
                <a:latin typeface="Times New Roman"/>
                <a:ea typeface="Times New Roman"/>
                <a:cs typeface="Times New Roman"/>
              </a:defRPr>
            </a:lvl2pPr>
            <a:lvl3pPr algn="l">
              <a:defRPr sz="1650" b="0">
                <a:solidFill>
                  <a:srgbClr val="181818"/>
                </a:solidFill>
                <a:latin typeface="Times New Roman"/>
                <a:ea typeface="Times New Roman"/>
                <a:cs typeface="Times New Roman"/>
              </a:defRPr>
            </a:lvl3pPr>
            <a:lvl4pPr algn="l">
              <a:defRPr sz="1650" b="0">
                <a:solidFill>
                  <a:srgbClr val="181818"/>
                </a:solidFill>
                <a:latin typeface="Times New Roman"/>
                <a:ea typeface="Times New Roman"/>
                <a:cs typeface="Times New Roman"/>
              </a:defRPr>
            </a:lvl4pPr>
            <a:lvl5pPr algn="l">
              <a:defRPr sz="1650" b="0">
                <a:solidFill>
                  <a:srgbClr val="181818"/>
                </a:solidFill>
                <a:latin typeface="Times New Roman"/>
                <a:ea typeface="Times New Roman"/>
                <a:cs typeface="Times New Roman"/>
              </a:defRPr>
            </a:lvl5pPr>
            <a:lvl6pPr algn="l">
              <a:defRPr sz="1650" b="0">
                <a:solidFill>
                  <a:srgbClr val="181818"/>
                </a:solidFill>
                <a:latin typeface="Times New Roman"/>
                <a:ea typeface="Times New Roman"/>
                <a:cs typeface="Times New Roman"/>
              </a:defRPr>
            </a:lvl6pPr>
            <a:lvl7pPr algn="l">
              <a:defRPr sz="1650" b="0">
                <a:solidFill>
                  <a:srgbClr val="181818"/>
                </a:solidFill>
                <a:latin typeface="Times New Roman"/>
                <a:ea typeface="Times New Roman"/>
                <a:cs typeface="Times New Roman"/>
              </a:defRPr>
            </a:lvl7pPr>
            <a:lvl8pPr algn="l">
              <a:defRPr sz="1650" b="0">
                <a:solidFill>
                  <a:srgbClr val="181818"/>
                </a:solidFill>
                <a:latin typeface="Times New Roman"/>
                <a:ea typeface="Times New Roman"/>
                <a:cs typeface="Times New Roman"/>
              </a:defRPr>
            </a:lvl8pPr>
            <a:lvl9pPr algn="l">
              <a:defRPr sz="1650" b="0">
                <a:solidFill>
                  <a:srgbClr val="181818"/>
                </a:solidFill>
                <a:latin typeface="Times New Roman"/>
                <a:ea typeface="Times New Roman"/>
                <a:cs typeface="Times New Roman"/>
              </a:defRPr>
            </a:lvl9pPr>
          </a:lstStyle>
          <a:p xmlns:a="http://schemas.openxmlformats.org/drawingml/2006/main">
            <a:pPr algn="l">
              <a:defRPr sz="1650" b="0">
                <a:solidFill>
                  <a:srgbClr val="181818"/>
                </a:solidFill>
                <a:latin typeface="Times New Roman"/>
                <a:ea typeface="Times New Roman"/>
                <a:cs typeface="Times New Roman"/>
              </a:defRPr>
            </a:pPr>
            <a:r>
              <a:rPr sz="1650" b="0">
                <a:solidFill>
                  <a:srgbClr val="181818"/>
                </a:solidFill>
                <a:latin typeface="Times New Roman"/>
                <a:ea typeface="Times New Roman"/>
                <a:cs typeface="Times New Roman"/>
              </a:rPr>
              <a:t>2. Baquero-Parrado JR. Equilibrio ácido-base en ganado bovino. Rev UDCA. 2008;11(2):85–100.</a:t>
            </a:r>
          </a:p>
        </p:txBody>
      </p:sp>
      <p:sp>
        <p:nvSpPr>
          <p:cNvPr id="5" name="text">
            <a:extLst xmlns:a="http://schemas.openxmlformats.org/drawingml/2006/main">
              <a:ext uri="{FF2B5EF4-FFF2-40B4-BE49-F238E27FC236}">
                <a16:creationId xmlns:a16="http://schemas.microsoft.com/office/drawing/2014/main" id="{CF1AB5EC-52D7-44CA-B0DF-1677994C2AEA}"/>
              </a:ext>
            </a:extLst>
          </p:cNvPr>
          <p:cNvSpPr>
            <a:spLocks xmlns:a="http://schemas.openxmlformats.org/drawingml/2006/main" noGrp="1"/>
          </p:cNvSpPr>
          <p:nvPr/>
        </p:nvSpPr>
        <p:spPr>
          <a:xfrm xmlns:a="http://schemas.openxmlformats.org/drawingml/2006/main">
            <a:off x="609600" y="2886075"/>
            <a:ext cx="5162550" cy="657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181818"/>
                </a:solidFill>
                <a:latin typeface="Times New Roman"/>
                <a:ea typeface="Times New Roman"/>
                <a:cs typeface="Times New Roman"/>
              </a:defRPr>
            </a:defPPr>
            <a:lvl1pPr algn="l">
              <a:defRPr sz="1650" b="0">
                <a:solidFill>
                  <a:srgbClr val="181818"/>
                </a:solidFill>
                <a:latin typeface="Times New Roman"/>
                <a:ea typeface="Times New Roman"/>
                <a:cs typeface="Times New Roman"/>
              </a:defRPr>
            </a:lvl1pPr>
            <a:lvl2pPr algn="l">
              <a:defRPr sz="1650" b="0">
                <a:solidFill>
                  <a:srgbClr val="181818"/>
                </a:solidFill>
                <a:latin typeface="Times New Roman"/>
                <a:ea typeface="Times New Roman"/>
                <a:cs typeface="Times New Roman"/>
              </a:defRPr>
            </a:lvl2pPr>
            <a:lvl3pPr algn="l">
              <a:defRPr sz="1650" b="0">
                <a:solidFill>
                  <a:srgbClr val="181818"/>
                </a:solidFill>
                <a:latin typeface="Times New Roman"/>
                <a:ea typeface="Times New Roman"/>
                <a:cs typeface="Times New Roman"/>
              </a:defRPr>
            </a:lvl3pPr>
            <a:lvl4pPr algn="l">
              <a:defRPr sz="1650" b="0">
                <a:solidFill>
                  <a:srgbClr val="181818"/>
                </a:solidFill>
                <a:latin typeface="Times New Roman"/>
                <a:ea typeface="Times New Roman"/>
                <a:cs typeface="Times New Roman"/>
              </a:defRPr>
            </a:lvl4pPr>
            <a:lvl5pPr algn="l">
              <a:defRPr sz="1650" b="0">
                <a:solidFill>
                  <a:srgbClr val="181818"/>
                </a:solidFill>
                <a:latin typeface="Times New Roman"/>
                <a:ea typeface="Times New Roman"/>
                <a:cs typeface="Times New Roman"/>
              </a:defRPr>
            </a:lvl5pPr>
            <a:lvl6pPr algn="l">
              <a:defRPr sz="1650" b="0">
                <a:solidFill>
                  <a:srgbClr val="181818"/>
                </a:solidFill>
                <a:latin typeface="Times New Roman"/>
                <a:ea typeface="Times New Roman"/>
                <a:cs typeface="Times New Roman"/>
              </a:defRPr>
            </a:lvl6pPr>
            <a:lvl7pPr algn="l">
              <a:defRPr sz="1650" b="0">
                <a:solidFill>
                  <a:srgbClr val="181818"/>
                </a:solidFill>
                <a:latin typeface="Times New Roman"/>
                <a:ea typeface="Times New Roman"/>
                <a:cs typeface="Times New Roman"/>
              </a:defRPr>
            </a:lvl7pPr>
            <a:lvl8pPr algn="l">
              <a:defRPr sz="1650" b="0">
                <a:solidFill>
                  <a:srgbClr val="181818"/>
                </a:solidFill>
                <a:latin typeface="Times New Roman"/>
                <a:ea typeface="Times New Roman"/>
                <a:cs typeface="Times New Roman"/>
              </a:defRPr>
            </a:lvl8pPr>
            <a:lvl9pPr algn="l">
              <a:defRPr sz="1650" b="0">
                <a:solidFill>
                  <a:srgbClr val="181818"/>
                </a:solidFill>
                <a:latin typeface="Times New Roman"/>
                <a:ea typeface="Times New Roman"/>
                <a:cs typeface="Times New Roman"/>
              </a:defRPr>
            </a:lvl9pPr>
          </a:lstStyle>
          <a:p xmlns:a="http://schemas.openxmlformats.org/drawingml/2006/main">
            <a:pPr algn="l">
              <a:defRPr sz="1650" b="0">
                <a:solidFill>
                  <a:srgbClr val="181818"/>
                </a:solidFill>
                <a:latin typeface="Times New Roman"/>
                <a:ea typeface="Times New Roman"/>
                <a:cs typeface="Times New Roman"/>
              </a:defRPr>
            </a:pPr>
            <a:r>
              <a:rPr sz="1650" b="0">
                <a:solidFill>
                  <a:srgbClr val="181818"/>
                </a:solidFill>
                <a:latin typeface="Times New Roman"/>
                <a:ea typeface="Times New Roman"/>
                <a:cs typeface="Times New Roman"/>
              </a:rPr>
              <a:t>3. Cornell University. Response to disturbances. eClinPath.</a:t>
            </a:r>
          </a:p>
        </p:txBody>
      </p:sp>
      <p:sp>
        <p:nvSpPr>
          <p:cNvPr id="6" name="text">
            <a:extLst xmlns:a="http://schemas.openxmlformats.org/drawingml/2006/main">
              <a:ext uri="{FF2B5EF4-FFF2-40B4-BE49-F238E27FC236}">
                <a16:creationId xmlns:a16="http://schemas.microsoft.com/office/drawing/2014/main" id="{62604C78-AB5F-46A0-B34A-946B88F07E57}"/>
              </a:ext>
            </a:extLst>
          </p:cNvPr>
          <p:cNvSpPr>
            <a:spLocks xmlns:a="http://schemas.openxmlformats.org/drawingml/2006/main" noGrp="1"/>
          </p:cNvSpPr>
          <p:nvPr/>
        </p:nvSpPr>
        <p:spPr>
          <a:xfrm xmlns:a="http://schemas.openxmlformats.org/drawingml/2006/main">
            <a:off x="609600" y="3600450"/>
            <a:ext cx="5162550" cy="657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181818"/>
                </a:solidFill>
                <a:latin typeface="Times New Roman"/>
                <a:ea typeface="Times New Roman"/>
                <a:cs typeface="Times New Roman"/>
              </a:defRPr>
            </a:defPPr>
            <a:lvl1pPr algn="l">
              <a:defRPr sz="1650" b="0">
                <a:solidFill>
                  <a:srgbClr val="181818"/>
                </a:solidFill>
                <a:latin typeface="Times New Roman"/>
                <a:ea typeface="Times New Roman"/>
                <a:cs typeface="Times New Roman"/>
              </a:defRPr>
            </a:lvl1pPr>
            <a:lvl2pPr algn="l">
              <a:defRPr sz="1650" b="0">
                <a:solidFill>
                  <a:srgbClr val="181818"/>
                </a:solidFill>
                <a:latin typeface="Times New Roman"/>
                <a:ea typeface="Times New Roman"/>
                <a:cs typeface="Times New Roman"/>
              </a:defRPr>
            </a:lvl2pPr>
            <a:lvl3pPr algn="l">
              <a:defRPr sz="1650" b="0">
                <a:solidFill>
                  <a:srgbClr val="181818"/>
                </a:solidFill>
                <a:latin typeface="Times New Roman"/>
                <a:ea typeface="Times New Roman"/>
                <a:cs typeface="Times New Roman"/>
              </a:defRPr>
            </a:lvl3pPr>
            <a:lvl4pPr algn="l">
              <a:defRPr sz="1650" b="0">
                <a:solidFill>
                  <a:srgbClr val="181818"/>
                </a:solidFill>
                <a:latin typeface="Times New Roman"/>
                <a:ea typeface="Times New Roman"/>
                <a:cs typeface="Times New Roman"/>
              </a:defRPr>
            </a:lvl4pPr>
            <a:lvl5pPr algn="l">
              <a:defRPr sz="1650" b="0">
                <a:solidFill>
                  <a:srgbClr val="181818"/>
                </a:solidFill>
                <a:latin typeface="Times New Roman"/>
                <a:ea typeface="Times New Roman"/>
                <a:cs typeface="Times New Roman"/>
              </a:defRPr>
            </a:lvl5pPr>
            <a:lvl6pPr algn="l">
              <a:defRPr sz="1650" b="0">
                <a:solidFill>
                  <a:srgbClr val="181818"/>
                </a:solidFill>
                <a:latin typeface="Times New Roman"/>
                <a:ea typeface="Times New Roman"/>
                <a:cs typeface="Times New Roman"/>
              </a:defRPr>
            </a:lvl6pPr>
            <a:lvl7pPr algn="l">
              <a:defRPr sz="1650" b="0">
                <a:solidFill>
                  <a:srgbClr val="181818"/>
                </a:solidFill>
                <a:latin typeface="Times New Roman"/>
                <a:ea typeface="Times New Roman"/>
                <a:cs typeface="Times New Roman"/>
              </a:defRPr>
            </a:lvl7pPr>
            <a:lvl8pPr algn="l">
              <a:defRPr sz="1650" b="0">
                <a:solidFill>
                  <a:srgbClr val="181818"/>
                </a:solidFill>
                <a:latin typeface="Times New Roman"/>
                <a:ea typeface="Times New Roman"/>
                <a:cs typeface="Times New Roman"/>
              </a:defRPr>
            </a:lvl8pPr>
            <a:lvl9pPr algn="l">
              <a:defRPr sz="1650" b="0">
                <a:solidFill>
                  <a:srgbClr val="181818"/>
                </a:solidFill>
                <a:latin typeface="Times New Roman"/>
                <a:ea typeface="Times New Roman"/>
                <a:cs typeface="Times New Roman"/>
              </a:defRPr>
            </a:lvl9pPr>
          </a:lstStyle>
          <a:p xmlns:a="http://schemas.openxmlformats.org/drawingml/2006/main">
            <a:pPr algn="l">
              <a:defRPr sz="1650" b="0">
                <a:solidFill>
                  <a:srgbClr val="181818"/>
                </a:solidFill>
                <a:latin typeface="Times New Roman"/>
                <a:ea typeface="Times New Roman"/>
                <a:cs typeface="Times New Roman"/>
              </a:defRPr>
            </a:pPr>
            <a:r>
              <a:rPr sz="1650" b="0">
                <a:solidFill>
                  <a:srgbClr val="181818"/>
                </a:solidFill>
                <a:latin typeface="Times New Roman"/>
                <a:ea typeface="Times New Roman"/>
                <a:cs typeface="Times New Roman"/>
              </a:rPr>
              <a:t>4. Cornell University. Types of disturbances. eClinPath.</a:t>
            </a:r>
          </a:p>
        </p:txBody>
      </p:sp>
      <p:sp>
        <p:nvSpPr>
          <p:cNvPr id="7" name="text">
            <a:extLst xmlns:a="http://schemas.openxmlformats.org/drawingml/2006/main">
              <a:ext uri="{FF2B5EF4-FFF2-40B4-BE49-F238E27FC236}">
                <a16:creationId xmlns:a16="http://schemas.microsoft.com/office/drawing/2014/main" id="{11910C67-E313-4F4F-B828-EDB2B3673587}"/>
              </a:ext>
            </a:extLst>
          </p:cNvPr>
          <p:cNvSpPr>
            <a:spLocks xmlns:a="http://schemas.openxmlformats.org/drawingml/2006/main" noGrp="1"/>
          </p:cNvSpPr>
          <p:nvPr/>
        </p:nvSpPr>
        <p:spPr>
          <a:xfrm xmlns:a="http://schemas.openxmlformats.org/drawingml/2006/main">
            <a:off x="609600" y="4314825"/>
            <a:ext cx="5162550" cy="657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181818"/>
                </a:solidFill>
                <a:latin typeface="Times New Roman"/>
                <a:ea typeface="Times New Roman"/>
                <a:cs typeface="Times New Roman"/>
              </a:defRPr>
            </a:defPPr>
            <a:lvl1pPr algn="l">
              <a:defRPr sz="1650" b="0">
                <a:solidFill>
                  <a:srgbClr val="181818"/>
                </a:solidFill>
                <a:latin typeface="Times New Roman"/>
                <a:ea typeface="Times New Roman"/>
                <a:cs typeface="Times New Roman"/>
              </a:defRPr>
            </a:lvl1pPr>
            <a:lvl2pPr algn="l">
              <a:defRPr sz="1650" b="0">
                <a:solidFill>
                  <a:srgbClr val="181818"/>
                </a:solidFill>
                <a:latin typeface="Times New Roman"/>
                <a:ea typeface="Times New Roman"/>
                <a:cs typeface="Times New Roman"/>
              </a:defRPr>
            </a:lvl2pPr>
            <a:lvl3pPr algn="l">
              <a:defRPr sz="1650" b="0">
                <a:solidFill>
                  <a:srgbClr val="181818"/>
                </a:solidFill>
                <a:latin typeface="Times New Roman"/>
                <a:ea typeface="Times New Roman"/>
                <a:cs typeface="Times New Roman"/>
              </a:defRPr>
            </a:lvl3pPr>
            <a:lvl4pPr algn="l">
              <a:defRPr sz="1650" b="0">
                <a:solidFill>
                  <a:srgbClr val="181818"/>
                </a:solidFill>
                <a:latin typeface="Times New Roman"/>
                <a:ea typeface="Times New Roman"/>
                <a:cs typeface="Times New Roman"/>
              </a:defRPr>
            </a:lvl4pPr>
            <a:lvl5pPr algn="l">
              <a:defRPr sz="1650" b="0">
                <a:solidFill>
                  <a:srgbClr val="181818"/>
                </a:solidFill>
                <a:latin typeface="Times New Roman"/>
                <a:ea typeface="Times New Roman"/>
                <a:cs typeface="Times New Roman"/>
              </a:defRPr>
            </a:lvl5pPr>
            <a:lvl6pPr algn="l">
              <a:defRPr sz="1650" b="0">
                <a:solidFill>
                  <a:srgbClr val="181818"/>
                </a:solidFill>
                <a:latin typeface="Times New Roman"/>
                <a:ea typeface="Times New Roman"/>
                <a:cs typeface="Times New Roman"/>
              </a:defRPr>
            </a:lvl6pPr>
            <a:lvl7pPr algn="l">
              <a:defRPr sz="1650" b="0">
                <a:solidFill>
                  <a:srgbClr val="181818"/>
                </a:solidFill>
                <a:latin typeface="Times New Roman"/>
                <a:ea typeface="Times New Roman"/>
                <a:cs typeface="Times New Roman"/>
              </a:defRPr>
            </a:lvl7pPr>
            <a:lvl8pPr algn="l">
              <a:defRPr sz="1650" b="0">
                <a:solidFill>
                  <a:srgbClr val="181818"/>
                </a:solidFill>
                <a:latin typeface="Times New Roman"/>
                <a:ea typeface="Times New Roman"/>
                <a:cs typeface="Times New Roman"/>
              </a:defRPr>
            </a:lvl8pPr>
            <a:lvl9pPr algn="l">
              <a:defRPr sz="1650" b="0">
                <a:solidFill>
                  <a:srgbClr val="181818"/>
                </a:solidFill>
                <a:latin typeface="Times New Roman"/>
                <a:ea typeface="Times New Roman"/>
                <a:cs typeface="Times New Roman"/>
              </a:defRPr>
            </a:lvl9pPr>
          </a:lstStyle>
          <a:p xmlns:a="http://schemas.openxmlformats.org/drawingml/2006/main">
            <a:pPr algn="l">
              <a:defRPr sz="1650" b="0">
                <a:solidFill>
                  <a:srgbClr val="181818"/>
                </a:solidFill>
                <a:latin typeface="Times New Roman"/>
                <a:ea typeface="Times New Roman"/>
                <a:cs typeface="Times New Roman"/>
              </a:defRPr>
            </a:pPr>
            <a:r>
              <a:rPr sz="1650" b="0">
                <a:solidFill>
                  <a:srgbClr val="181818"/>
                </a:solidFill>
                <a:latin typeface="Times New Roman"/>
                <a:ea typeface="Times New Roman"/>
                <a:cs typeface="Times New Roman"/>
              </a:rPr>
              <a:t>5. Columbia University. Abnormal ventilation, abnormal gas exchange. Material docente. p. 6.</a:t>
            </a:r>
          </a:p>
        </p:txBody>
      </p:sp>
      <p:sp>
        <p:nvSpPr>
          <p:cNvPr id="8" name="text">
            <a:extLst xmlns:a="http://schemas.openxmlformats.org/drawingml/2006/main">
              <a:ext uri="{FF2B5EF4-FFF2-40B4-BE49-F238E27FC236}">
                <a16:creationId xmlns:a16="http://schemas.microsoft.com/office/drawing/2014/main" id="{5E690B4C-20AA-4E93-B92F-053AA3B11FC1}"/>
              </a:ext>
            </a:extLst>
          </p:cNvPr>
          <p:cNvSpPr>
            <a:spLocks xmlns:a="http://schemas.openxmlformats.org/drawingml/2006/main" noGrp="1"/>
          </p:cNvSpPr>
          <p:nvPr/>
        </p:nvSpPr>
        <p:spPr>
          <a:xfrm xmlns:a="http://schemas.openxmlformats.org/drawingml/2006/main">
            <a:off x="609600" y="5029200"/>
            <a:ext cx="5162550" cy="657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181818"/>
                </a:solidFill>
                <a:latin typeface="Times New Roman"/>
                <a:ea typeface="Times New Roman"/>
                <a:cs typeface="Times New Roman"/>
              </a:defRPr>
            </a:defPPr>
            <a:lvl1pPr algn="l">
              <a:defRPr sz="1650" b="0">
                <a:solidFill>
                  <a:srgbClr val="181818"/>
                </a:solidFill>
                <a:latin typeface="Times New Roman"/>
                <a:ea typeface="Times New Roman"/>
                <a:cs typeface="Times New Roman"/>
              </a:defRPr>
            </a:lvl1pPr>
            <a:lvl2pPr algn="l">
              <a:defRPr sz="1650" b="0">
                <a:solidFill>
                  <a:srgbClr val="181818"/>
                </a:solidFill>
                <a:latin typeface="Times New Roman"/>
                <a:ea typeface="Times New Roman"/>
                <a:cs typeface="Times New Roman"/>
              </a:defRPr>
            </a:lvl2pPr>
            <a:lvl3pPr algn="l">
              <a:defRPr sz="1650" b="0">
                <a:solidFill>
                  <a:srgbClr val="181818"/>
                </a:solidFill>
                <a:latin typeface="Times New Roman"/>
                <a:ea typeface="Times New Roman"/>
                <a:cs typeface="Times New Roman"/>
              </a:defRPr>
            </a:lvl3pPr>
            <a:lvl4pPr algn="l">
              <a:defRPr sz="1650" b="0">
                <a:solidFill>
                  <a:srgbClr val="181818"/>
                </a:solidFill>
                <a:latin typeface="Times New Roman"/>
                <a:ea typeface="Times New Roman"/>
                <a:cs typeface="Times New Roman"/>
              </a:defRPr>
            </a:lvl4pPr>
            <a:lvl5pPr algn="l">
              <a:defRPr sz="1650" b="0">
                <a:solidFill>
                  <a:srgbClr val="181818"/>
                </a:solidFill>
                <a:latin typeface="Times New Roman"/>
                <a:ea typeface="Times New Roman"/>
                <a:cs typeface="Times New Roman"/>
              </a:defRPr>
            </a:lvl5pPr>
            <a:lvl6pPr algn="l">
              <a:defRPr sz="1650" b="0">
                <a:solidFill>
                  <a:srgbClr val="181818"/>
                </a:solidFill>
                <a:latin typeface="Times New Roman"/>
                <a:ea typeface="Times New Roman"/>
                <a:cs typeface="Times New Roman"/>
              </a:defRPr>
            </a:lvl6pPr>
            <a:lvl7pPr algn="l">
              <a:defRPr sz="1650" b="0">
                <a:solidFill>
                  <a:srgbClr val="181818"/>
                </a:solidFill>
                <a:latin typeface="Times New Roman"/>
                <a:ea typeface="Times New Roman"/>
                <a:cs typeface="Times New Roman"/>
              </a:defRPr>
            </a:lvl7pPr>
            <a:lvl8pPr algn="l">
              <a:defRPr sz="1650" b="0">
                <a:solidFill>
                  <a:srgbClr val="181818"/>
                </a:solidFill>
                <a:latin typeface="Times New Roman"/>
                <a:ea typeface="Times New Roman"/>
                <a:cs typeface="Times New Roman"/>
              </a:defRPr>
            </a:lvl8pPr>
            <a:lvl9pPr algn="l">
              <a:defRPr sz="1650" b="0">
                <a:solidFill>
                  <a:srgbClr val="181818"/>
                </a:solidFill>
                <a:latin typeface="Times New Roman"/>
                <a:ea typeface="Times New Roman"/>
                <a:cs typeface="Times New Roman"/>
              </a:defRPr>
            </a:lvl9pPr>
          </a:lstStyle>
          <a:p xmlns:a="http://schemas.openxmlformats.org/drawingml/2006/main">
            <a:pPr algn="l">
              <a:defRPr sz="1650" b="0">
                <a:solidFill>
                  <a:srgbClr val="181818"/>
                </a:solidFill>
                <a:latin typeface="Times New Roman"/>
                <a:ea typeface="Times New Roman"/>
                <a:cs typeface="Times New Roman"/>
              </a:defRPr>
            </a:pPr>
            <a:r>
              <a:rPr sz="1650" b="0">
                <a:solidFill>
                  <a:srgbClr val="181818"/>
                </a:solidFill>
                <a:latin typeface="Times New Roman"/>
                <a:ea typeface="Times New Roman"/>
                <a:cs typeface="Times New Roman"/>
              </a:rPr>
              <a:t>6. Cornell University. Physiology. eClinPath.</a:t>
            </a:r>
          </a:p>
        </p:txBody>
      </p:sp>
      <p:sp>
        <p:nvSpPr>
          <p:cNvPr id="9" name="text">
            <a:extLst xmlns:a="http://schemas.openxmlformats.org/drawingml/2006/main">
              <a:ext uri="{FF2B5EF4-FFF2-40B4-BE49-F238E27FC236}">
                <a16:creationId xmlns:a16="http://schemas.microsoft.com/office/drawing/2014/main" id="{EE20683A-1D3E-444E-BE4A-607578419CBB}"/>
              </a:ext>
            </a:extLst>
          </p:cNvPr>
          <p:cNvSpPr>
            <a:spLocks xmlns:a="http://schemas.openxmlformats.org/drawingml/2006/main" noGrp="1"/>
          </p:cNvSpPr>
          <p:nvPr/>
        </p:nvSpPr>
        <p:spPr>
          <a:xfrm xmlns:a="http://schemas.openxmlformats.org/drawingml/2006/main">
            <a:off x="6419850" y="1457325"/>
            <a:ext cx="5162550" cy="657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181818"/>
                </a:solidFill>
                <a:latin typeface="Times New Roman"/>
                <a:ea typeface="Times New Roman"/>
                <a:cs typeface="Times New Roman"/>
              </a:defRPr>
            </a:defPPr>
            <a:lvl1pPr algn="l">
              <a:defRPr sz="1650" b="0">
                <a:solidFill>
                  <a:srgbClr val="181818"/>
                </a:solidFill>
                <a:latin typeface="Times New Roman"/>
                <a:ea typeface="Times New Roman"/>
                <a:cs typeface="Times New Roman"/>
              </a:defRPr>
            </a:lvl1pPr>
            <a:lvl2pPr algn="l">
              <a:defRPr sz="1650" b="0">
                <a:solidFill>
                  <a:srgbClr val="181818"/>
                </a:solidFill>
                <a:latin typeface="Times New Roman"/>
                <a:ea typeface="Times New Roman"/>
                <a:cs typeface="Times New Roman"/>
              </a:defRPr>
            </a:lvl2pPr>
            <a:lvl3pPr algn="l">
              <a:defRPr sz="1650" b="0">
                <a:solidFill>
                  <a:srgbClr val="181818"/>
                </a:solidFill>
                <a:latin typeface="Times New Roman"/>
                <a:ea typeface="Times New Roman"/>
                <a:cs typeface="Times New Roman"/>
              </a:defRPr>
            </a:lvl3pPr>
            <a:lvl4pPr algn="l">
              <a:defRPr sz="1650" b="0">
                <a:solidFill>
                  <a:srgbClr val="181818"/>
                </a:solidFill>
                <a:latin typeface="Times New Roman"/>
                <a:ea typeface="Times New Roman"/>
                <a:cs typeface="Times New Roman"/>
              </a:defRPr>
            </a:lvl4pPr>
            <a:lvl5pPr algn="l">
              <a:defRPr sz="1650" b="0">
                <a:solidFill>
                  <a:srgbClr val="181818"/>
                </a:solidFill>
                <a:latin typeface="Times New Roman"/>
                <a:ea typeface="Times New Roman"/>
                <a:cs typeface="Times New Roman"/>
              </a:defRPr>
            </a:lvl5pPr>
            <a:lvl6pPr algn="l">
              <a:defRPr sz="1650" b="0">
                <a:solidFill>
                  <a:srgbClr val="181818"/>
                </a:solidFill>
                <a:latin typeface="Times New Roman"/>
                <a:ea typeface="Times New Roman"/>
                <a:cs typeface="Times New Roman"/>
              </a:defRPr>
            </a:lvl6pPr>
            <a:lvl7pPr algn="l">
              <a:defRPr sz="1650" b="0">
                <a:solidFill>
                  <a:srgbClr val="181818"/>
                </a:solidFill>
                <a:latin typeface="Times New Roman"/>
                <a:ea typeface="Times New Roman"/>
                <a:cs typeface="Times New Roman"/>
              </a:defRPr>
            </a:lvl7pPr>
            <a:lvl8pPr algn="l">
              <a:defRPr sz="1650" b="0">
                <a:solidFill>
                  <a:srgbClr val="181818"/>
                </a:solidFill>
                <a:latin typeface="Times New Roman"/>
                <a:ea typeface="Times New Roman"/>
                <a:cs typeface="Times New Roman"/>
              </a:defRPr>
            </a:lvl8pPr>
            <a:lvl9pPr algn="l">
              <a:defRPr sz="1650" b="0">
                <a:solidFill>
                  <a:srgbClr val="181818"/>
                </a:solidFill>
                <a:latin typeface="Times New Roman"/>
                <a:ea typeface="Times New Roman"/>
                <a:cs typeface="Times New Roman"/>
              </a:defRPr>
            </a:lvl9pPr>
          </a:lstStyle>
          <a:p xmlns:a="http://schemas.openxmlformats.org/drawingml/2006/main">
            <a:pPr algn="l">
              <a:defRPr sz="1650" b="0">
                <a:solidFill>
                  <a:srgbClr val="181818"/>
                </a:solidFill>
                <a:latin typeface="Times New Roman"/>
                <a:ea typeface="Times New Roman"/>
                <a:cs typeface="Times New Roman"/>
              </a:defRPr>
            </a:pPr>
            <a:r>
              <a:rPr sz="1650" b="0">
                <a:solidFill>
                  <a:srgbClr val="181818"/>
                </a:solidFill>
                <a:latin typeface="Times New Roman"/>
                <a:ea typeface="Times New Roman"/>
                <a:cs typeface="Times New Roman"/>
              </a:rPr>
              <a:t>7. Cornell University. Bicarbonate. eClinPath.</a:t>
            </a:r>
          </a:p>
        </p:txBody>
      </p:sp>
      <p:sp>
        <p:nvSpPr>
          <p:cNvPr id="10" name="text">
            <a:extLst xmlns:a="http://schemas.openxmlformats.org/drawingml/2006/main">
              <a:ext uri="{FF2B5EF4-FFF2-40B4-BE49-F238E27FC236}">
                <a16:creationId xmlns:a16="http://schemas.microsoft.com/office/drawing/2014/main" id="{6B836F75-D2A1-41BA-9D14-9FA513F0878E}"/>
              </a:ext>
            </a:extLst>
          </p:cNvPr>
          <p:cNvSpPr>
            <a:spLocks xmlns:a="http://schemas.openxmlformats.org/drawingml/2006/main" noGrp="1"/>
          </p:cNvSpPr>
          <p:nvPr/>
        </p:nvSpPr>
        <p:spPr>
          <a:xfrm xmlns:a="http://schemas.openxmlformats.org/drawingml/2006/main">
            <a:off x="6419850" y="2171700"/>
            <a:ext cx="5162550" cy="657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181818"/>
                </a:solidFill>
                <a:latin typeface="Times New Roman"/>
                <a:ea typeface="Times New Roman"/>
                <a:cs typeface="Times New Roman"/>
              </a:defRPr>
            </a:defPPr>
            <a:lvl1pPr algn="l">
              <a:defRPr sz="1650" b="0">
                <a:solidFill>
                  <a:srgbClr val="181818"/>
                </a:solidFill>
                <a:latin typeface="Times New Roman"/>
                <a:ea typeface="Times New Roman"/>
                <a:cs typeface="Times New Roman"/>
              </a:defRPr>
            </a:lvl1pPr>
            <a:lvl2pPr algn="l">
              <a:defRPr sz="1650" b="0">
                <a:solidFill>
                  <a:srgbClr val="181818"/>
                </a:solidFill>
                <a:latin typeface="Times New Roman"/>
                <a:ea typeface="Times New Roman"/>
                <a:cs typeface="Times New Roman"/>
              </a:defRPr>
            </a:lvl2pPr>
            <a:lvl3pPr algn="l">
              <a:defRPr sz="1650" b="0">
                <a:solidFill>
                  <a:srgbClr val="181818"/>
                </a:solidFill>
                <a:latin typeface="Times New Roman"/>
                <a:ea typeface="Times New Roman"/>
                <a:cs typeface="Times New Roman"/>
              </a:defRPr>
            </a:lvl3pPr>
            <a:lvl4pPr algn="l">
              <a:defRPr sz="1650" b="0">
                <a:solidFill>
                  <a:srgbClr val="181818"/>
                </a:solidFill>
                <a:latin typeface="Times New Roman"/>
                <a:ea typeface="Times New Roman"/>
                <a:cs typeface="Times New Roman"/>
              </a:defRPr>
            </a:lvl4pPr>
            <a:lvl5pPr algn="l">
              <a:defRPr sz="1650" b="0">
                <a:solidFill>
                  <a:srgbClr val="181818"/>
                </a:solidFill>
                <a:latin typeface="Times New Roman"/>
                <a:ea typeface="Times New Roman"/>
                <a:cs typeface="Times New Roman"/>
              </a:defRPr>
            </a:lvl5pPr>
            <a:lvl6pPr algn="l">
              <a:defRPr sz="1650" b="0">
                <a:solidFill>
                  <a:srgbClr val="181818"/>
                </a:solidFill>
                <a:latin typeface="Times New Roman"/>
                <a:ea typeface="Times New Roman"/>
                <a:cs typeface="Times New Roman"/>
              </a:defRPr>
            </a:lvl6pPr>
            <a:lvl7pPr algn="l">
              <a:defRPr sz="1650" b="0">
                <a:solidFill>
                  <a:srgbClr val="181818"/>
                </a:solidFill>
                <a:latin typeface="Times New Roman"/>
                <a:ea typeface="Times New Roman"/>
                <a:cs typeface="Times New Roman"/>
              </a:defRPr>
            </a:lvl7pPr>
            <a:lvl8pPr algn="l">
              <a:defRPr sz="1650" b="0">
                <a:solidFill>
                  <a:srgbClr val="181818"/>
                </a:solidFill>
                <a:latin typeface="Times New Roman"/>
                <a:ea typeface="Times New Roman"/>
                <a:cs typeface="Times New Roman"/>
              </a:defRPr>
            </a:lvl8pPr>
            <a:lvl9pPr algn="l">
              <a:defRPr sz="1650" b="0">
                <a:solidFill>
                  <a:srgbClr val="181818"/>
                </a:solidFill>
                <a:latin typeface="Times New Roman"/>
                <a:ea typeface="Times New Roman"/>
                <a:cs typeface="Times New Roman"/>
              </a:defRPr>
            </a:lvl9pPr>
          </a:lstStyle>
          <a:p xmlns:a="http://schemas.openxmlformats.org/drawingml/2006/main">
            <a:pPr algn="l">
              <a:defRPr sz="1650" b="0">
                <a:solidFill>
                  <a:srgbClr val="181818"/>
                </a:solidFill>
                <a:latin typeface="Times New Roman"/>
                <a:ea typeface="Times New Roman"/>
                <a:cs typeface="Times New Roman"/>
              </a:defRPr>
            </a:pPr>
            <a:r>
              <a:rPr sz="1650" b="0">
                <a:solidFill>
                  <a:srgbClr val="181818"/>
                </a:solidFill>
                <a:latin typeface="Times New Roman"/>
                <a:ea typeface="Times New Roman"/>
                <a:cs typeface="Times New Roman"/>
              </a:rPr>
              <a:t>8. Braun U, et al. Displaced abomasum and volvulus. Acta Vet Scand. 2022;64:40.</a:t>
            </a:r>
          </a:p>
        </p:txBody>
      </p:sp>
      <p:sp>
        <p:nvSpPr>
          <p:cNvPr id="11" name="text">
            <a:extLst xmlns:a="http://schemas.openxmlformats.org/drawingml/2006/main">
              <a:ext uri="{FF2B5EF4-FFF2-40B4-BE49-F238E27FC236}">
                <a16:creationId xmlns:a16="http://schemas.microsoft.com/office/drawing/2014/main" id="{2C61AA05-3778-4857-8E2E-56EE8EC6C131}"/>
              </a:ext>
            </a:extLst>
          </p:cNvPr>
          <p:cNvSpPr>
            <a:spLocks xmlns:a="http://schemas.openxmlformats.org/drawingml/2006/main" noGrp="1"/>
          </p:cNvSpPr>
          <p:nvPr/>
        </p:nvSpPr>
        <p:spPr>
          <a:xfrm xmlns:a="http://schemas.openxmlformats.org/drawingml/2006/main">
            <a:off x="6419850" y="2886075"/>
            <a:ext cx="5162550" cy="657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181818"/>
                </a:solidFill>
                <a:latin typeface="Times New Roman"/>
                <a:ea typeface="Times New Roman"/>
                <a:cs typeface="Times New Roman"/>
              </a:defRPr>
            </a:defPPr>
            <a:lvl1pPr algn="l">
              <a:defRPr sz="1650" b="0">
                <a:solidFill>
                  <a:srgbClr val="181818"/>
                </a:solidFill>
                <a:latin typeface="Times New Roman"/>
                <a:ea typeface="Times New Roman"/>
                <a:cs typeface="Times New Roman"/>
              </a:defRPr>
            </a:lvl1pPr>
            <a:lvl2pPr algn="l">
              <a:defRPr sz="1650" b="0">
                <a:solidFill>
                  <a:srgbClr val="181818"/>
                </a:solidFill>
                <a:latin typeface="Times New Roman"/>
                <a:ea typeface="Times New Roman"/>
                <a:cs typeface="Times New Roman"/>
              </a:defRPr>
            </a:lvl2pPr>
            <a:lvl3pPr algn="l">
              <a:defRPr sz="1650" b="0">
                <a:solidFill>
                  <a:srgbClr val="181818"/>
                </a:solidFill>
                <a:latin typeface="Times New Roman"/>
                <a:ea typeface="Times New Roman"/>
                <a:cs typeface="Times New Roman"/>
              </a:defRPr>
            </a:lvl3pPr>
            <a:lvl4pPr algn="l">
              <a:defRPr sz="1650" b="0">
                <a:solidFill>
                  <a:srgbClr val="181818"/>
                </a:solidFill>
                <a:latin typeface="Times New Roman"/>
                <a:ea typeface="Times New Roman"/>
                <a:cs typeface="Times New Roman"/>
              </a:defRPr>
            </a:lvl4pPr>
            <a:lvl5pPr algn="l">
              <a:defRPr sz="1650" b="0">
                <a:solidFill>
                  <a:srgbClr val="181818"/>
                </a:solidFill>
                <a:latin typeface="Times New Roman"/>
                <a:ea typeface="Times New Roman"/>
                <a:cs typeface="Times New Roman"/>
              </a:defRPr>
            </a:lvl5pPr>
            <a:lvl6pPr algn="l">
              <a:defRPr sz="1650" b="0">
                <a:solidFill>
                  <a:srgbClr val="181818"/>
                </a:solidFill>
                <a:latin typeface="Times New Roman"/>
                <a:ea typeface="Times New Roman"/>
                <a:cs typeface="Times New Roman"/>
              </a:defRPr>
            </a:lvl6pPr>
            <a:lvl7pPr algn="l">
              <a:defRPr sz="1650" b="0">
                <a:solidFill>
                  <a:srgbClr val="181818"/>
                </a:solidFill>
                <a:latin typeface="Times New Roman"/>
                <a:ea typeface="Times New Roman"/>
                <a:cs typeface="Times New Roman"/>
              </a:defRPr>
            </a:lvl7pPr>
            <a:lvl8pPr algn="l">
              <a:defRPr sz="1650" b="0">
                <a:solidFill>
                  <a:srgbClr val="181818"/>
                </a:solidFill>
                <a:latin typeface="Times New Roman"/>
                <a:ea typeface="Times New Roman"/>
                <a:cs typeface="Times New Roman"/>
              </a:defRPr>
            </a:lvl8pPr>
            <a:lvl9pPr algn="l">
              <a:defRPr sz="1650" b="0">
                <a:solidFill>
                  <a:srgbClr val="181818"/>
                </a:solidFill>
                <a:latin typeface="Times New Roman"/>
                <a:ea typeface="Times New Roman"/>
                <a:cs typeface="Times New Roman"/>
              </a:defRPr>
            </a:lvl9pPr>
          </a:lstStyle>
          <a:p xmlns:a="http://schemas.openxmlformats.org/drawingml/2006/main">
            <a:pPr algn="l">
              <a:defRPr sz="1650" b="0">
                <a:solidFill>
                  <a:srgbClr val="181818"/>
                </a:solidFill>
                <a:latin typeface="Times New Roman"/>
                <a:ea typeface="Times New Roman"/>
                <a:cs typeface="Times New Roman"/>
              </a:defRPr>
            </a:pPr>
            <a:r>
              <a:rPr sz="1650" b="0">
                <a:solidFill>
                  <a:srgbClr val="181818"/>
                </a:solidFill>
                <a:latin typeface="Times New Roman"/>
                <a:ea typeface="Times New Roman"/>
                <a:cs typeface="Times New Roman"/>
              </a:rPr>
              <a:t>9. Cornell University. Laboratory detection. eClinPath.</a:t>
            </a:r>
          </a:p>
        </p:txBody>
      </p:sp>
      <p:sp>
        <p:nvSpPr>
          <p:cNvPr id="12" name="text">
            <a:extLst xmlns:a="http://schemas.openxmlformats.org/drawingml/2006/main">
              <a:ext uri="{FF2B5EF4-FFF2-40B4-BE49-F238E27FC236}">
                <a16:creationId xmlns:a16="http://schemas.microsoft.com/office/drawing/2014/main" id="{9A8F208D-2DFC-4FB6-A47E-8E2644E55BE8}"/>
              </a:ext>
            </a:extLst>
          </p:cNvPr>
          <p:cNvSpPr>
            <a:spLocks xmlns:a="http://schemas.openxmlformats.org/drawingml/2006/main" noGrp="1"/>
          </p:cNvSpPr>
          <p:nvPr/>
        </p:nvSpPr>
        <p:spPr>
          <a:xfrm xmlns:a="http://schemas.openxmlformats.org/drawingml/2006/main">
            <a:off x="6419850" y="3600450"/>
            <a:ext cx="5162550" cy="657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181818"/>
                </a:solidFill>
                <a:latin typeface="Times New Roman"/>
                <a:ea typeface="Times New Roman"/>
                <a:cs typeface="Times New Roman"/>
              </a:defRPr>
            </a:defPPr>
            <a:lvl1pPr algn="l">
              <a:defRPr sz="1650" b="0">
                <a:solidFill>
                  <a:srgbClr val="181818"/>
                </a:solidFill>
                <a:latin typeface="Times New Roman"/>
                <a:ea typeface="Times New Roman"/>
                <a:cs typeface="Times New Roman"/>
              </a:defRPr>
            </a:lvl1pPr>
            <a:lvl2pPr algn="l">
              <a:defRPr sz="1650" b="0">
                <a:solidFill>
                  <a:srgbClr val="181818"/>
                </a:solidFill>
                <a:latin typeface="Times New Roman"/>
                <a:ea typeface="Times New Roman"/>
                <a:cs typeface="Times New Roman"/>
              </a:defRPr>
            </a:lvl2pPr>
            <a:lvl3pPr algn="l">
              <a:defRPr sz="1650" b="0">
                <a:solidFill>
                  <a:srgbClr val="181818"/>
                </a:solidFill>
                <a:latin typeface="Times New Roman"/>
                <a:ea typeface="Times New Roman"/>
                <a:cs typeface="Times New Roman"/>
              </a:defRPr>
            </a:lvl3pPr>
            <a:lvl4pPr algn="l">
              <a:defRPr sz="1650" b="0">
                <a:solidFill>
                  <a:srgbClr val="181818"/>
                </a:solidFill>
                <a:latin typeface="Times New Roman"/>
                <a:ea typeface="Times New Roman"/>
                <a:cs typeface="Times New Roman"/>
              </a:defRPr>
            </a:lvl4pPr>
            <a:lvl5pPr algn="l">
              <a:defRPr sz="1650" b="0">
                <a:solidFill>
                  <a:srgbClr val="181818"/>
                </a:solidFill>
                <a:latin typeface="Times New Roman"/>
                <a:ea typeface="Times New Roman"/>
                <a:cs typeface="Times New Roman"/>
              </a:defRPr>
            </a:lvl5pPr>
            <a:lvl6pPr algn="l">
              <a:defRPr sz="1650" b="0">
                <a:solidFill>
                  <a:srgbClr val="181818"/>
                </a:solidFill>
                <a:latin typeface="Times New Roman"/>
                <a:ea typeface="Times New Roman"/>
                <a:cs typeface="Times New Roman"/>
              </a:defRPr>
            </a:lvl6pPr>
            <a:lvl7pPr algn="l">
              <a:defRPr sz="1650" b="0">
                <a:solidFill>
                  <a:srgbClr val="181818"/>
                </a:solidFill>
                <a:latin typeface="Times New Roman"/>
                <a:ea typeface="Times New Roman"/>
                <a:cs typeface="Times New Roman"/>
              </a:defRPr>
            </a:lvl7pPr>
            <a:lvl8pPr algn="l">
              <a:defRPr sz="1650" b="0">
                <a:solidFill>
                  <a:srgbClr val="181818"/>
                </a:solidFill>
                <a:latin typeface="Times New Roman"/>
                <a:ea typeface="Times New Roman"/>
                <a:cs typeface="Times New Roman"/>
              </a:defRPr>
            </a:lvl8pPr>
            <a:lvl9pPr algn="l">
              <a:defRPr sz="1650" b="0">
                <a:solidFill>
                  <a:srgbClr val="181818"/>
                </a:solidFill>
                <a:latin typeface="Times New Roman"/>
                <a:ea typeface="Times New Roman"/>
                <a:cs typeface="Times New Roman"/>
              </a:defRPr>
            </a:lvl9pPr>
          </a:lstStyle>
          <a:p xmlns:a="http://schemas.openxmlformats.org/drawingml/2006/main">
            <a:pPr algn="l">
              <a:defRPr sz="1650" b="0">
                <a:solidFill>
                  <a:srgbClr val="181818"/>
                </a:solidFill>
                <a:latin typeface="Times New Roman"/>
                <a:ea typeface="Times New Roman"/>
                <a:cs typeface="Times New Roman"/>
              </a:defRPr>
            </a:pPr>
            <a:r>
              <a:rPr sz="1650" b="0">
                <a:solidFill>
                  <a:srgbClr val="181818"/>
                </a:solidFill>
                <a:latin typeface="Times New Roman"/>
                <a:ea typeface="Times New Roman"/>
                <a:cs typeface="Times New Roman"/>
              </a:rPr>
              <a:t>10. Cornell University. Anion gap. eClinPath.</a:t>
            </a:r>
          </a:p>
        </p:txBody>
      </p:sp>
      <p:sp>
        <p:nvSpPr>
          <p:cNvPr id="13" name="text">
            <a:extLst xmlns:a="http://schemas.openxmlformats.org/drawingml/2006/main">
              <a:ext uri="{FF2B5EF4-FFF2-40B4-BE49-F238E27FC236}">
                <a16:creationId xmlns:a16="http://schemas.microsoft.com/office/drawing/2014/main" id="{E40CE1CA-C82A-4900-AC0F-BB4F0FA11F9C}"/>
              </a:ext>
            </a:extLst>
          </p:cNvPr>
          <p:cNvSpPr>
            <a:spLocks xmlns:a="http://schemas.openxmlformats.org/drawingml/2006/main" noGrp="1"/>
          </p:cNvSpPr>
          <p:nvPr/>
        </p:nvSpPr>
        <p:spPr>
          <a:xfrm xmlns:a="http://schemas.openxmlformats.org/drawingml/2006/main">
            <a:off x="6419850" y="4314825"/>
            <a:ext cx="5162550" cy="657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181818"/>
                </a:solidFill>
                <a:latin typeface="Times New Roman"/>
                <a:ea typeface="Times New Roman"/>
                <a:cs typeface="Times New Roman"/>
              </a:defRPr>
            </a:defPPr>
            <a:lvl1pPr algn="l">
              <a:defRPr sz="1650" b="0">
                <a:solidFill>
                  <a:srgbClr val="181818"/>
                </a:solidFill>
                <a:latin typeface="Times New Roman"/>
                <a:ea typeface="Times New Roman"/>
                <a:cs typeface="Times New Roman"/>
              </a:defRPr>
            </a:lvl1pPr>
            <a:lvl2pPr algn="l">
              <a:defRPr sz="1650" b="0">
                <a:solidFill>
                  <a:srgbClr val="181818"/>
                </a:solidFill>
                <a:latin typeface="Times New Roman"/>
                <a:ea typeface="Times New Roman"/>
                <a:cs typeface="Times New Roman"/>
              </a:defRPr>
            </a:lvl2pPr>
            <a:lvl3pPr algn="l">
              <a:defRPr sz="1650" b="0">
                <a:solidFill>
                  <a:srgbClr val="181818"/>
                </a:solidFill>
                <a:latin typeface="Times New Roman"/>
                <a:ea typeface="Times New Roman"/>
                <a:cs typeface="Times New Roman"/>
              </a:defRPr>
            </a:lvl3pPr>
            <a:lvl4pPr algn="l">
              <a:defRPr sz="1650" b="0">
                <a:solidFill>
                  <a:srgbClr val="181818"/>
                </a:solidFill>
                <a:latin typeface="Times New Roman"/>
                <a:ea typeface="Times New Roman"/>
                <a:cs typeface="Times New Roman"/>
              </a:defRPr>
            </a:lvl4pPr>
            <a:lvl5pPr algn="l">
              <a:defRPr sz="1650" b="0">
                <a:solidFill>
                  <a:srgbClr val="181818"/>
                </a:solidFill>
                <a:latin typeface="Times New Roman"/>
                <a:ea typeface="Times New Roman"/>
                <a:cs typeface="Times New Roman"/>
              </a:defRPr>
            </a:lvl5pPr>
            <a:lvl6pPr algn="l">
              <a:defRPr sz="1650" b="0">
                <a:solidFill>
                  <a:srgbClr val="181818"/>
                </a:solidFill>
                <a:latin typeface="Times New Roman"/>
                <a:ea typeface="Times New Roman"/>
                <a:cs typeface="Times New Roman"/>
              </a:defRPr>
            </a:lvl6pPr>
            <a:lvl7pPr algn="l">
              <a:defRPr sz="1650" b="0">
                <a:solidFill>
                  <a:srgbClr val="181818"/>
                </a:solidFill>
                <a:latin typeface="Times New Roman"/>
                <a:ea typeface="Times New Roman"/>
                <a:cs typeface="Times New Roman"/>
              </a:defRPr>
            </a:lvl7pPr>
            <a:lvl8pPr algn="l">
              <a:defRPr sz="1650" b="0">
                <a:solidFill>
                  <a:srgbClr val="181818"/>
                </a:solidFill>
                <a:latin typeface="Times New Roman"/>
                <a:ea typeface="Times New Roman"/>
                <a:cs typeface="Times New Roman"/>
              </a:defRPr>
            </a:lvl8pPr>
            <a:lvl9pPr algn="l">
              <a:defRPr sz="1650" b="0">
                <a:solidFill>
                  <a:srgbClr val="181818"/>
                </a:solidFill>
                <a:latin typeface="Times New Roman"/>
                <a:ea typeface="Times New Roman"/>
                <a:cs typeface="Times New Roman"/>
              </a:defRPr>
            </a:lvl9pPr>
          </a:lstStyle>
          <a:p xmlns:a="http://schemas.openxmlformats.org/drawingml/2006/main">
            <a:pPr algn="l">
              <a:defRPr sz="1650" b="0">
                <a:solidFill>
                  <a:srgbClr val="181818"/>
                </a:solidFill>
                <a:latin typeface="Times New Roman"/>
                <a:ea typeface="Times New Roman"/>
                <a:cs typeface="Times New Roman"/>
              </a:defRPr>
            </a:pPr>
            <a:r>
              <a:rPr sz="1650" b="0">
                <a:solidFill>
                  <a:srgbClr val="181818"/>
                </a:solidFill>
                <a:latin typeface="Times New Roman"/>
                <a:ea typeface="Times New Roman"/>
                <a:cs typeface="Times New Roman"/>
              </a:rPr>
              <a:t>11. Jung Y, et al. Lactate concentrations and acidemia in calf diarrhea. BMC Vet Res. 2024;20:373.</a:t>
            </a:r>
          </a:p>
        </p:txBody>
      </p:sp>
      <p:sp>
        <p:nvSpPr>
          <p:cNvPr id="14" name="text">
            <a:extLst xmlns:a="http://schemas.openxmlformats.org/drawingml/2006/main">
              <a:ext uri="{FF2B5EF4-FFF2-40B4-BE49-F238E27FC236}">
                <a16:creationId xmlns:a16="http://schemas.microsoft.com/office/drawing/2014/main" id="{F58C125A-5F7A-42CD-B5B3-420152426D1C}"/>
              </a:ext>
            </a:extLst>
          </p:cNvPr>
          <p:cNvSpPr>
            <a:spLocks xmlns:a="http://schemas.openxmlformats.org/drawingml/2006/main" noGrp="1"/>
          </p:cNvSpPr>
          <p:nvPr/>
        </p:nvSpPr>
        <p:spPr>
          <a:xfrm xmlns:a="http://schemas.openxmlformats.org/drawingml/2006/main">
            <a:off x="6419850" y="5029200"/>
            <a:ext cx="5162550" cy="657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181818"/>
                </a:solidFill>
                <a:latin typeface="Times New Roman"/>
                <a:ea typeface="Times New Roman"/>
                <a:cs typeface="Times New Roman"/>
              </a:defRPr>
            </a:defPPr>
            <a:lvl1pPr algn="l">
              <a:defRPr sz="1650" b="0">
                <a:solidFill>
                  <a:srgbClr val="181818"/>
                </a:solidFill>
                <a:latin typeface="Times New Roman"/>
                <a:ea typeface="Times New Roman"/>
                <a:cs typeface="Times New Roman"/>
              </a:defRPr>
            </a:lvl1pPr>
            <a:lvl2pPr algn="l">
              <a:defRPr sz="1650" b="0">
                <a:solidFill>
                  <a:srgbClr val="181818"/>
                </a:solidFill>
                <a:latin typeface="Times New Roman"/>
                <a:ea typeface="Times New Roman"/>
                <a:cs typeface="Times New Roman"/>
              </a:defRPr>
            </a:lvl2pPr>
            <a:lvl3pPr algn="l">
              <a:defRPr sz="1650" b="0">
                <a:solidFill>
                  <a:srgbClr val="181818"/>
                </a:solidFill>
                <a:latin typeface="Times New Roman"/>
                <a:ea typeface="Times New Roman"/>
                <a:cs typeface="Times New Roman"/>
              </a:defRPr>
            </a:lvl3pPr>
            <a:lvl4pPr algn="l">
              <a:defRPr sz="1650" b="0">
                <a:solidFill>
                  <a:srgbClr val="181818"/>
                </a:solidFill>
                <a:latin typeface="Times New Roman"/>
                <a:ea typeface="Times New Roman"/>
                <a:cs typeface="Times New Roman"/>
              </a:defRPr>
            </a:lvl4pPr>
            <a:lvl5pPr algn="l">
              <a:defRPr sz="1650" b="0">
                <a:solidFill>
                  <a:srgbClr val="181818"/>
                </a:solidFill>
                <a:latin typeface="Times New Roman"/>
                <a:ea typeface="Times New Roman"/>
                <a:cs typeface="Times New Roman"/>
              </a:defRPr>
            </a:lvl5pPr>
            <a:lvl6pPr algn="l">
              <a:defRPr sz="1650" b="0">
                <a:solidFill>
                  <a:srgbClr val="181818"/>
                </a:solidFill>
                <a:latin typeface="Times New Roman"/>
                <a:ea typeface="Times New Roman"/>
                <a:cs typeface="Times New Roman"/>
              </a:defRPr>
            </a:lvl6pPr>
            <a:lvl7pPr algn="l">
              <a:defRPr sz="1650" b="0">
                <a:solidFill>
                  <a:srgbClr val="181818"/>
                </a:solidFill>
                <a:latin typeface="Times New Roman"/>
                <a:ea typeface="Times New Roman"/>
                <a:cs typeface="Times New Roman"/>
              </a:defRPr>
            </a:lvl7pPr>
            <a:lvl8pPr algn="l">
              <a:defRPr sz="1650" b="0">
                <a:solidFill>
                  <a:srgbClr val="181818"/>
                </a:solidFill>
                <a:latin typeface="Times New Roman"/>
                <a:ea typeface="Times New Roman"/>
                <a:cs typeface="Times New Roman"/>
              </a:defRPr>
            </a:lvl8pPr>
            <a:lvl9pPr algn="l">
              <a:defRPr sz="1650" b="0">
                <a:solidFill>
                  <a:srgbClr val="181818"/>
                </a:solidFill>
                <a:latin typeface="Times New Roman"/>
                <a:ea typeface="Times New Roman"/>
                <a:cs typeface="Times New Roman"/>
              </a:defRPr>
            </a:lvl9pPr>
          </a:lstStyle>
          <a:p xmlns:a="http://schemas.openxmlformats.org/drawingml/2006/main">
            <a:pPr algn="l">
              <a:defRPr sz="1650" b="0">
                <a:solidFill>
                  <a:srgbClr val="181818"/>
                </a:solidFill>
                <a:latin typeface="Times New Roman"/>
                <a:ea typeface="Times New Roman"/>
                <a:cs typeface="Times New Roman"/>
              </a:defRPr>
            </a:pPr>
            <a:r>
              <a:rPr sz="1650" b="0">
                <a:solidFill>
                  <a:srgbClr val="181818"/>
                </a:solidFill>
                <a:latin typeface="Times New Roman"/>
                <a:ea typeface="Times New Roman"/>
                <a:cs typeface="Times New Roman"/>
              </a:rPr>
              <a:t>12. Burgos RA, et al. The D-lactate enigma. Front Vet Sci. 2024;11:1509399.</a:t>
            </a:r>
          </a:p>
        </p:txBody>
      </p:sp>
      <p:sp>
        <p:nvSpPr>
          <p:cNvPr id="15" name="text">
            <a:extLst xmlns:a="http://schemas.openxmlformats.org/drawingml/2006/main">
              <a:ext uri="{FF2B5EF4-FFF2-40B4-BE49-F238E27FC236}">
                <a16:creationId xmlns:a16="http://schemas.microsoft.com/office/drawing/2014/main" id="{3BFE3223-70B0-4514-957C-B1EB9BC172E5}"/>
              </a:ext>
            </a:extLst>
          </p:cNvPr>
          <p:cNvSpPr>
            <a:spLocks xmlns:a="http://schemas.openxmlformats.org/drawingml/2006/main" noGrp="1"/>
          </p:cNvSpPr>
          <p:nvPr/>
        </p:nvSpPr>
        <p:spPr>
          <a:xfrm xmlns:a="http://schemas.openxmlformats.org/drawingml/2006/main">
            <a:off x="609600" y="5981700"/>
            <a:ext cx="10972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00" b="0">
                <a:solidFill>
                  <a:srgbClr val="367653"/>
                </a:solidFill>
                <a:latin typeface="Times New Roman"/>
                <a:ea typeface="Times New Roman"/>
                <a:cs typeface="Times New Roman"/>
              </a:defRPr>
            </a:defPPr>
            <a:lvl1pPr algn="l">
              <a:defRPr sz="1600" b="0">
                <a:solidFill>
                  <a:srgbClr val="367653"/>
                </a:solidFill>
                <a:latin typeface="Times New Roman"/>
                <a:ea typeface="Times New Roman"/>
                <a:cs typeface="Times New Roman"/>
              </a:defRPr>
            </a:lvl1pPr>
            <a:lvl2pPr algn="l">
              <a:defRPr sz="1600" b="0">
                <a:solidFill>
                  <a:srgbClr val="367653"/>
                </a:solidFill>
                <a:latin typeface="Times New Roman"/>
                <a:ea typeface="Times New Roman"/>
                <a:cs typeface="Times New Roman"/>
              </a:defRPr>
            </a:lvl2pPr>
            <a:lvl3pPr algn="l">
              <a:defRPr sz="1600" b="0">
                <a:solidFill>
                  <a:srgbClr val="367653"/>
                </a:solidFill>
                <a:latin typeface="Times New Roman"/>
                <a:ea typeface="Times New Roman"/>
                <a:cs typeface="Times New Roman"/>
              </a:defRPr>
            </a:lvl3pPr>
            <a:lvl4pPr algn="l">
              <a:defRPr sz="1600" b="0">
                <a:solidFill>
                  <a:srgbClr val="367653"/>
                </a:solidFill>
                <a:latin typeface="Times New Roman"/>
                <a:ea typeface="Times New Roman"/>
                <a:cs typeface="Times New Roman"/>
              </a:defRPr>
            </a:lvl4pPr>
            <a:lvl5pPr algn="l">
              <a:defRPr sz="1600" b="0">
                <a:solidFill>
                  <a:srgbClr val="367653"/>
                </a:solidFill>
                <a:latin typeface="Times New Roman"/>
                <a:ea typeface="Times New Roman"/>
                <a:cs typeface="Times New Roman"/>
              </a:defRPr>
            </a:lvl5pPr>
            <a:lvl6pPr algn="l">
              <a:defRPr sz="1600" b="0">
                <a:solidFill>
                  <a:srgbClr val="367653"/>
                </a:solidFill>
                <a:latin typeface="Times New Roman"/>
                <a:ea typeface="Times New Roman"/>
                <a:cs typeface="Times New Roman"/>
              </a:defRPr>
            </a:lvl6pPr>
            <a:lvl7pPr algn="l">
              <a:defRPr sz="1600" b="0">
                <a:solidFill>
                  <a:srgbClr val="367653"/>
                </a:solidFill>
                <a:latin typeface="Times New Roman"/>
                <a:ea typeface="Times New Roman"/>
                <a:cs typeface="Times New Roman"/>
              </a:defRPr>
            </a:lvl7pPr>
            <a:lvl8pPr algn="l">
              <a:defRPr sz="1600" b="0">
                <a:solidFill>
                  <a:srgbClr val="367653"/>
                </a:solidFill>
                <a:latin typeface="Times New Roman"/>
                <a:ea typeface="Times New Roman"/>
                <a:cs typeface="Times New Roman"/>
              </a:defRPr>
            </a:lvl8pPr>
            <a:lvl9pPr algn="l">
              <a:defRPr sz="1600" b="0">
                <a:solidFill>
                  <a:srgbClr val="367653"/>
                </a:solidFill>
                <a:latin typeface="Times New Roman"/>
                <a:ea typeface="Times New Roman"/>
                <a:cs typeface="Times New Roman"/>
              </a:defRPr>
            </a:lvl9pPr>
          </a:lstStyle>
          <a:p xmlns:a="http://schemas.openxmlformats.org/drawingml/2006/main">
            <a:pPr algn="l">
              <a:defRPr sz="1600" b="0">
                <a:solidFill>
                  <a:srgbClr val="367653"/>
                </a:solidFill>
                <a:latin typeface="Times New Roman"/>
                <a:ea typeface="Times New Roman"/>
                <a:cs typeface="Times New Roman"/>
              </a:defRPr>
            </a:pPr>
            <a:r>
              <a:rPr sz="1600" b="0">
                <a:solidFill>
                  <a:srgbClr val="367653"/>
                </a:solidFill>
                <a:latin typeface="Times New Roman"/>
                <a:ea typeface="Times New Roman"/>
                <a:cs typeface="Times New Roman"/>
              </a:rPr>
              <a:t>Materiales: vetjb.com/exposiciones/fisiopatologia/equilibrio-acido-base/</a:t>
            </a:r>
          </a:p>
        </p:txBody>
      </p:sp>
    </p:spTree>
    <p:extLst>
      <p:ext uri="{BB962C8B-B14F-4D97-AF65-F5344CB8AC3E}">
        <p14:creationId xmlns:p14="http://schemas.microsoft.com/office/powerpoint/2010/main" val="108052118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2026-10-20T23:45:48.6820000Z</dcterms:created>
  <dcterms:modified xsi:type="dcterms:W3CDTF">2026-10-20T23:45:48.6820000Z</dcterms:modified>
</coreProperties>
</file>