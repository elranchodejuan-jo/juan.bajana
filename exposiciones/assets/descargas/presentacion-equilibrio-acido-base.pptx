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261d822718f42cd" /><Relationship Type="http://schemas.openxmlformats.org/officeDocument/2006/relationships/extended-properties" Target="/docProps/app.xml" Id="Rd014f624b33e4112" /><Relationship Type="http://schemas.openxmlformats.org/officeDocument/2006/relationships/officeDocument" Target="/ppt/presentation.xml" Id="R3adff8d5a42b45b9" /></Relationships>
</file>

<file path=ppt/presentation.xml><?xml version="1.0" encoding="utf-8"?>
<p:presentation xmlns:p="http://schemas.openxmlformats.org/presentationml/2006/main">
  <p:sldMasterIdLst>
    <p:sldMasterId xmlns:r="http://schemas.openxmlformats.org/officeDocument/2006/relationships" id="2147483648" r:id="R405d392369e545b0"/>
  </p:sldMasterIdLst>
  <p:notesMasterIdLst>
    <p:notesMasterId xmlns:r="http://schemas.openxmlformats.org/officeDocument/2006/relationships" r:id="R8600a3b2b4814aa5"/>
  </p:notesMasterIdLst>
  <p:sldIdLst>
    <p:sldId xmlns:r="http://schemas.openxmlformats.org/officeDocument/2006/relationships" id="256" r:id="R2f9fa0dccc6c4c70"/>
    <p:sldId xmlns:r="http://schemas.openxmlformats.org/officeDocument/2006/relationships" id="257" r:id="R4b9553f9ae524f57"/>
    <p:sldId xmlns:r="http://schemas.openxmlformats.org/officeDocument/2006/relationships" id="258" r:id="R4a666cdbee264dd0"/>
    <p:sldId xmlns:r="http://schemas.openxmlformats.org/officeDocument/2006/relationships" id="259" r:id="R6e72c0bcaa27480f"/>
    <p:sldId xmlns:r="http://schemas.openxmlformats.org/officeDocument/2006/relationships" id="260" r:id="R47a47cfa16d847ee"/>
    <p:sldId xmlns:r="http://schemas.openxmlformats.org/officeDocument/2006/relationships" id="261" r:id="R0e500bb48a924cee"/>
    <p:sldId xmlns:r="http://schemas.openxmlformats.org/officeDocument/2006/relationships" id="262" r:id="R4abbb39571894e11"/>
    <p:sldId xmlns:r="http://schemas.openxmlformats.org/officeDocument/2006/relationships" id="263" r:id="Rcb3daf4fa9fc4df0"/>
    <p:sldId xmlns:r="http://schemas.openxmlformats.org/officeDocument/2006/relationships" id="264" r:id="R6e6a0702061e4e2c"/>
    <p:sldId xmlns:r="http://schemas.openxmlformats.org/officeDocument/2006/relationships" id="265" r:id="Rca747134d98b4411"/>
    <p:sldId xmlns:r="http://schemas.openxmlformats.org/officeDocument/2006/relationships" id="266" r:id="R00b632bc15c448bb"/>
    <p:sldId xmlns:r="http://schemas.openxmlformats.org/officeDocument/2006/relationships" id="267" r:id="R34e5e25981c54a89"/>
    <p:sldId xmlns:r="http://schemas.openxmlformats.org/officeDocument/2006/relationships" id="268" r:id="R311633d539694af7"/>
    <p:sldId xmlns:r="http://schemas.openxmlformats.org/officeDocument/2006/relationships" id="269" r:id="R4426c7115d2f42ba"/>
    <p:sldId xmlns:r="http://schemas.openxmlformats.org/officeDocument/2006/relationships" id="270" r:id="Rd474a2562d18462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1eb0e19fcee48e0" /><Relationship Type="http://schemas.openxmlformats.org/officeDocument/2006/relationships/slideMaster" Target="/ppt/slideMasters/slideMaster1.xml" Id="R405d392369e545b0" /><Relationship Type="http://schemas.openxmlformats.org/officeDocument/2006/relationships/notesMaster" Target="/ppt/notesMasters/notesMaster1.xml" Id="R8600a3b2b4814aa5" /><Relationship Type="http://schemas.openxmlformats.org/officeDocument/2006/relationships/presProps" Target="/ppt/presProps.xml" Id="Rfcf3988a1d7346f1" /><Relationship Type="http://schemas.openxmlformats.org/officeDocument/2006/relationships/tableStyles" Target="/ppt/tableStyles.xml" Id="R873427735d104e12" /><Relationship Type="http://schemas.openxmlformats.org/officeDocument/2006/relationships/slide" Target="/ppt/slides/slide1.xml" Id="R2f9fa0dccc6c4c70" /><Relationship Type="http://schemas.openxmlformats.org/officeDocument/2006/relationships/slide" Target="/ppt/slides/slide2.xml" Id="R4b9553f9ae524f57" /><Relationship Type="http://schemas.openxmlformats.org/officeDocument/2006/relationships/slide" Target="/ppt/slides/slide3.xml" Id="R4a666cdbee264dd0" /><Relationship Type="http://schemas.openxmlformats.org/officeDocument/2006/relationships/slide" Target="/ppt/slides/slide4.xml" Id="R6e72c0bcaa27480f" /><Relationship Type="http://schemas.openxmlformats.org/officeDocument/2006/relationships/slide" Target="/ppt/slides/slide5.xml" Id="R47a47cfa16d847ee" /><Relationship Type="http://schemas.openxmlformats.org/officeDocument/2006/relationships/slide" Target="/ppt/slides/slide6.xml" Id="R0e500bb48a924cee" /><Relationship Type="http://schemas.openxmlformats.org/officeDocument/2006/relationships/slide" Target="/ppt/slides/slide7.xml" Id="R4abbb39571894e11" /><Relationship Type="http://schemas.openxmlformats.org/officeDocument/2006/relationships/slide" Target="/ppt/slides/slide8.xml" Id="Rcb3daf4fa9fc4df0" /><Relationship Type="http://schemas.openxmlformats.org/officeDocument/2006/relationships/slide" Target="/ppt/slides/slide9.xml" Id="R6e6a0702061e4e2c" /><Relationship Type="http://schemas.openxmlformats.org/officeDocument/2006/relationships/slide" Target="/ppt/slides/slide10.xml" Id="Rca747134d98b4411" /><Relationship Type="http://schemas.openxmlformats.org/officeDocument/2006/relationships/slide" Target="/ppt/slides/slide11.xml" Id="R00b632bc15c448bb" /><Relationship Type="http://schemas.openxmlformats.org/officeDocument/2006/relationships/slide" Target="/ppt/slides/slide12.xml" Id="R34e5e25981c54a89" /><Relationship Type="http://schemas.openxmlformats.org/officeDocument/2006/relationships/slide" Target="/ppt/slides/slide13.xml" Id="R311633d539694af7" /><Relationship Type="http://schemas.openxmlformats.org/officeDocument/2006/relationships/slide" Target="/ppt/slides/slide14.xml" Id="R4426c7115d2f42ba" /><Relationship Type="http://schemas.openxmlformats.org/officeDocument/2006/relationships/slide" Target="/ppt/slides/slide15.xml" Id="Rd474a2562d18462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d318ea9147f4a8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5ca275535804f41" /><Relationship Type="http://schemas.openxmlformats.org/officeDocument/2006/relationships/notesMaster" Target="/ppt/notesMasters/notesMaster1.xml" Id="R442089445ae24bf4" /></Relationships>
</file>

<file path=ppt/notesSlides/_rels/notesSlide2.xml.rels>&#65279;<?xml version="1.0" encoding="utf-8"?><Relationships xmlns="http://schemas.openxmlformats.org/package/2006/relationships"><Relationship Type="http://schemas.openxmlformats.org/officeDocument/2006/relationships/slide" Target="/ppt/slides/slide2.xml" Id="Rab049dcc047b466a" /><Relationship Type="http://schemas.openxmlformats.org/officeDocument/2006/relationships/notesMaster" Target="/ppt/notesMasters/notesMaster1.xml" Id="R2e31da2dcee7415e" /></Relationships>
</file>

<file path=ppt/notesSlides/_rels/notesSlide3.xml.rels>&#65279;<?xml version="1.0" encoding="utf-8"?><Relationships xmlns="http://schemas.openxmlformats.org/package/2006/relationships"><Relationship Type="http://schemas.openxmlformats.org/officeDocument/2006/relationships/slide" Target="/ppt/slides/slide3.xml" Id="R1f14a9a144744293" /><Relationship Type="http://schemas.openxmlformats.org/officeDocument/2006/relationships/notesMaster" Target="/ppt/notesMasters/notesMaster1.xml" Id="Rd3e6e68e191b471a" /></Relationships>
</file>

<file path=ppt/notesSlides/_rels/notesSlide4.xml.rels>&#65279;<?xml version="1.0" encoding="utf-8"?><Relationships xmlns="http://schemas.openxmlformats.org/package/2006/relationships"><Relationship Type="http://schemas.openxmlformats.org/officeDocument/2006/relationships/slide" Target="/ppt/slides/slide4.xml" Id="R70f8830f5a794488" /><Relationship Type="http://schemas.openxmlformats.org/officeDocument/2006/relationships/notesMaster" Target="/ppt/notesMasters/notesMaster1.xml" Id="R263dc1f8be834e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46d57ffe8d6a492f" /><Relationship Type="http://schemas.openxmlformats.org/officeDocument/2006/relationships/notesMaster" Target="/ppt/notesMasters/notesMaster1.xml" Id="Rfb479eaff10a47d8" /></Relationships>
</file>

<file path=ppt/notesSlides/_rels/notesSlide6.xml.rels>&#65279;<?xml version="1.0" encoding="utf-8"?><Relationships xmlns="http://schemas.openxmlformats.org/package/2006/relationships"><Relationship Type="http://schemas.openxmlformats.org/officeDocument/2006/relationships/slide" Target="/ppt/slides/slide6.xml" Id="R6c76018be881433e" /><Relationship Type="http://schemas.openxmlformats.org/officeDocument/2006/relationships/notesMaster" Target="/ppt/notesMasters/notesMaster1.xml" Id="Rde5cc34926784928" /></Relationships>
</file>

<file path=ppt/notesSlides/_rels/notesSlide7.xml.rels>&#65279;<?xml version="1.0" encoding="utf-8"?><Relationships xmlns="http://schemas.openxmlformats.org/package/2006/relationships"><Relationship Type="http://schemas.openxmlformats.org/officeDocument/2006/relationships/slide" Target="/ppt/slides/slide7.xml" Id="R520398f91afc494d" /><Relationship Type="http://schemas.openxmlformats.org/officeDocument/2006/relationships/notesMaster" Target="/ppt/notesMasters/notesMaster1.xml" Id="R8c77ed8924f94ac3" /></Relationships>
</file>

<file path=ppt/notesSlides/_rels/notesSlide8.xml.rels>&#65279;<?xml version="1.0" encoding="utf-8"?><Relationships xmlns="http://schemas.openxmlformats.org/package/2006/relationships"><Relationship Type="http://schemas.openxmlformats.org/officeDocument/2006/relationships/slide" Target="/ppt/slides/slide8.xml" Id="R1122c1eafebb4202" /><Relationship Type="http://schemas.openxmlformats.org/officeDocument/2006/relationships/notesMaster" Target="/ppt/notesMasters/notesMaster1.xml" Id="R7e0f45ab37db4807" /></Relationships>
</file>

<file path=ppt/notesSlides/_rels/notesSlide9.xml.rels>&#65279;<?xml version="1.0" encoding="utf-8"?><Relationships xmlns="http://schemas.openxmlformats.org/package/2006/relationships"><Relationship Type="http://schemas.openxmlformats.org/officeDocument/2006/relationships/slide" Target="/ppt/slides/slide9.xml" Id="Rc5085e597f4840d1" /><Relationship Type="http://schemas.openxmlformats.org/officeDocument/2006/relationships/notesMaster" Target="/ppt/notesMasters/notesMaster1.xml" Id="R12146e64f5b0427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a613f8f2ee44256" /><Relationship Type="http://schemas.openxmlformats.org/officeDocument/2006/relationships/notesMaster" Target="/ppt/notesMasters/notesMaster1.xml" Id="R4b54bc06c0fb477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396ca09ad174675" /><Relationship Type="http://schemas.openxmlformats.org/officeDocument/2006/relationships/notesMaster" Target="/ppt/notesMasters/notesMaster1.xml" Id="Rbd94524c6a384cb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60de0a16baf4cc7" /><Relationship Type="http://schemas.openxmlformats.org/officeDocument/2006/relationships/notesMaster" Target="/ppt/notesMasters/notesMaster1.xml" Id="R499b7b04af2b47d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03f8b9b1e4e4f36" /><Relationship Type="http://schemas.openxmlformats.org/officeDocument/2006/relationships/notesMaster" Target="/ppt/notesMasters/notesMaster1.xml" Id="Rf72893bf653b4ea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d8547b1add04f4d" /><Relationship Type="http://schemas.openxmlformats.org/officeDocument/2006/relationships/notesMaster" Target="/ppt/notesMasters/notesMaster1.xml" Id="R605cce278fe5490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446f1f30fa1402b" /><Relationship Type="http://schemas.openxmlformats.org/officeDocument/2006/relationships/notesMaster" Target="/ppt/notesMasters/notesMaster1.xml" Id="R5151338b7e48441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Iniciar con la pregunta: ¿un pH dentro del intervalo de referencia excluye un trastorno ácido-base? Recoger una hipótesis y recuperarla al cierre. La exposición relaciona un resultado medido con los mecanismos que lo explican: amortiguación química, ventilación y función renal. Se estudiará cómo distinguir un cambio primario de una respuesta secundaria y cómo integrar el tipo de muestra con la historia. Los dos casos son construcciones didácticas, no registros de pacientes.</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1. Cornell University. Overview [Internet]. eClinPath; [citado 17 oct 2026]. Disponible en: https://eclinpath.com/chemistry/acid-base/overview/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Acidemia y alcalemia nombran el resultado: un pH por debajo o por encima del intervalo que corresponda. Acidosis y alcalosis nombran procesos que tienden a disminuirlo o aumentarlo. Esta separación impide confundir una cifra con el mecanismo. El criterio depende de especie, edad, muestra y laboratorio. Cuando coexisten procesos con efectos opuestos, el valor final puede situarse dentro del intervalo. Por ello, una cifra aparentemente conservada no demuestra ausencia de alteraciones y siempre se integra con PCO₂, HCO₃⁻ e historia.</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1. Cornell University. Overview [Internet]. eClinPath; [citado 17 oct 2026]. Disponible en: https://eclinpath.com/chemistry/acid-base/overview/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Recorrer la reacción reversible de izquierda a derecha y después en sentido contrario. No se trata de etapas irreversibles: las flechas representan relaciones de un mismo equilibrio. El modelo de Henderson–Hasselbalch relaciona el pH con bicarbonato y CO₂ disuelto. A 37 °C se emplean aquí las aproximaciones pK = 6,1 y solubilidad del CO₂ = 0,03 mmol·L⁻¹·mmHg⁻¹. Con HCO₃⁻ de 24 mmol/L y PCO₂ de 40 mmHg, el CO₂ disuelto es 1,2 mmol/L; la relación 20:1 corresponde a bicarbonato frente a CO₂ disuelto, nunca a bicarbonato frente a PCO₂. La hemoglobina, proteínas y fosfatos también amortiguan. Limitar el cambio del pH no equivale a eliminar toda la carga ácida.</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2. Baquero-Parrado JR. Consideraciones clínicas y regulación del equilibrio ácido-base en ganado bovino. Rev UDCA Actual Divulg Cient. 2008;11(2):85-100. Disponible en: https://doi.org/10.31910/rudca.v11.n2.2008.626</a:t>
            </a:r>
          </a:p>
          <a:p xmlns:a="http://schemas.openxmlformats.org/drawingml/2006/main">
            <a:r>
              <a:t/>
            </a:r>
          </a:p>
          <a:p xmlns:a="http://schemas.openxmlformats.org/drawingml/2006/main">
            <a:r>
              <a:t>3. Cornell University. Response to disturbances [Internet]. eClinPath; [citado 17 oct 2026]. Disponible en: https://eclinpath.com/chemistry/acid-base/compensation/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La variable útil es la ventilación alveolar, no la frecuencia respiratoria aislada. Para una producción de CO₂ constante, una reducción del volumen ventilado útil eleva la PCO₂, mientras que un incremento la reduce. El esquema compara estados estacionarios. La relación matemática general procede de la ecuación alveolar: PCO₂ es proporcional a producción de CO₂ dividida por ventilación alveolar. Para el ejercicio se elige 100 % de ventilación relativa y PCO₂ de 40 mmHg como referencia: PCO₂ = 40 / (ventilación relativa / 100). Así, 50 %, 100 % y 150 % corresponden a 80, 40 y 26,7 mmHg. No son intervalos universales ni datos de una especie. Se asume CO₂ inspirado despreciable y aproximación alveolar a arterial. No se representa dinámica temporal, espacio muerto ni desigualdad ventilación/perfusión.</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4. Cornell University. Types of disturbances [Internet]. eClinPath; [citado 17 oct 2026]. Disponible en: https://eclinpath.com/chemistry/acid-base/types-of-disturbances/</a:t>
            </a:r>
          </a:p>
          <a:p xmlns:a="http://schemas.openxmlformats.org/drawingml/2006/main">
            <a:r>
              <a:t/>
            </a:r>
          </a:p>
          <a:p xmlns:a="http://schemas.openxmlformats.org/drawingml/2006/main">
            <a:r>
              <a:t>5. Abnormal ventilation, abnormal gas exchange [material docente en Internet]. Columbia University; [sin fecha] [citado 18 oct 2026]. p. 6. Disponible en: https://www.columbia.edu/itc/hs/medical/pathophys/pulmonary/2008/abnormalColor.pdf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Distinguir dos balances. Recuperar bicarbonato filtrado conserva una base que ya estaba en el organismo; la secreción tubular de H⁺ que permite esa recuperación no genera por sí sola base neta. En cambio, la excreción neta de ácido, como NH₄⁺ y ácido titulable, se asocia con reposición de bicarbonato en sangre. La amoniogénesis renal utiliza glutamina. La figura es un esquema funcional, no una nefrona anatómica ni la anatomía específica de una especie. Estas funciones no son tres periodos sucesivos. En la alcalosis, el riñón también puede aumentar la excreción de bicarbonato si el volumen y los electrolitos lo permiten. La respuesta depende de la función renal y del tiempo disponible.</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6. Cornell University. Physiology [Internet]. eClinPath; [citado 17 oct 2026]. Disponible en: https://eclinpath.com/chemistry/kidney/physiology/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Explicar los mecanismos antes de asociar síntomas con etiquetas. Ganar ácidos, perder bicarbonato o reducir la excreción renal de ácido favorece acidosis metabólica. Perder o secuestrar HCl y determinados aportes de base favorecen alcalosis metabólica. En bovinos, el secuestro de contenido abomasal puede acompañarse de alcalosis hipoclorémica; una perfusión alterada puede añadir procesos acidificantes. La investigación de Braun y colaboradores documenta la diversidad clínica en enfermedad abomasal. El HCO₃⁻ aislado no establece primariedad: un valor bajo también puede acompañar la adaptación renal a una alcalosis respiratoria. No toda diarrea ni todo vómito produce un patrón único.</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7. Cornell University. Bicarbonate [Internet]. eClinPath; [citado 17 oct 2026]. Disponible en: https://eclinpath.com/chemistry/acid-base/chemistry-tests/bicarbonate/</a:t>
            </a:r>
          </a:p>
          <a:p xmlns:a="http://schemas.openxmlformats.org/drawingml/2006/main">
            <a:r>
              <a:t/>
            </a:r>
          </a:p>
          <a:p xmlns:a="http://schemas.openxmlformats.org/drawingml/2006/main">
            <a:r>
              <a:t>8. Braun U, Nuss K, Reif S, Hilbe M, Gerspach C. Left and right displaced abomasum and abomasal volvulus: comparison of clinical, laboratory and ultrasonographic findings in 1982 dairy cows. Acta Vet Scand. 2022;64:40. Disponible en: https://doi.org/10.1186/s13028-022-00656-9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La retención o eliminación de CO₂ siempre se considera en relación con su producción. Un cambio primario de PCO₂ puede explicar una alteración respiratoria: el aumento favorece descenso del pH y la disminución favorece su incremento. Hipoventilación por depresión respiratoria u obstrucción son ejemplos posibles de acidosis respiratoria; dolor, excitación o hipoxemia pueden acompañarse de hiperventilación. Son posibilidades, no diagnósticos automáticos. Una PCO₂ aislada puede ser cambio primario o respuesta secundaria a un trastorno metabólico. La secuencia temporal del caso canino ayudará a distinguirlo.</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4. Cornell University. Types of disturbances [Internet]. eClinPath; [citado 17 oct 2026]. Disponible en: https://eclinpath.com/chemistry/acid-base/types-of-disturbances/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Compensar significa reducir el efecto del proceso primario sobre el pH. En los trastornos metabólicos participa una respuesta ventilatoria; en los respiratorios se distinguen amortiguación inicial y adaptación renal posterior. La respuesta ventilatoria empieza antes que la adaptación renal completa, pero no se presentan horas concretas como reglas universales. Un pequeño aumento de HCO₃⁻ en una acidosis respiratoria reciente puede proceder de la amortiguación, sin probar cronicidad. Un trastorno mixto contiene dos o más procesos primarios, cuyos efectos pueden sumarse u oponerse. La especie y la duración condicionan lo esperable: una regla cuantitativa desarrollada en perros no se aplica automáticamente a terneros. Un pH cercano al basal tampoco demuestra curación.</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3. Cornell University. Response to disturbances [Internet]. eClinPath; [citado 17 oct 2026]. Disponible en: https://eclinpath.com/chemistry/acid-base/compensation/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Comenzar por especie, edad, tipo de muestra y condiciones de obtención. El gasómetro mide pH y PCO₂ y suele calcular bicarbonato. Aire y demora pueden alterar los resultados. Luego comparar el pH con el criterio aplicable y relacionarlo con PCO₂ y HCO₃⁻. Finalmente integrar la dirección de la respuesta, electrolitos e historia. La PO₂ venosa no sustituye a la arterial para evaluar oxigenación pulmonar. En esta exposición se incluye potasio en la fórmula de la brecha aniónica: AG = (Na⁺ + K⁺) − (Cl⁻ + HCO₃⁻). El intervalo del laboratorio debe corresponder a esa fórmula. Una elevación orienta a aniones no medidos sin identificar cuál; la albúmina baja puede enmascararla y la electroneutralidad de la sangre se conserva.</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9. Cornell University. Laboratory detection [Internet]. eClinPath; [citado 17 oct 2026]. Disponible en: https://eclinpath.com/chemistry/acid-base/laboratory-detection/</a:t>
            </a:r>
          </a:p>
          <a:p xmlns:a="http://schemas.openxmlformats.org/drawingml/2006/main">
            <a:r>
              <a:t/>
            </a:r>
          </a:p>
          <a:p xmlns:a="http://schemas.openxmlformats.org/drawingml/2006/main">
            <a:r>
              <a:t>10. Cornell University. Anion gap [Internet]. eClinPath; [citado 17 oct 2026]. Disponible en: https://eclinpath.com/chemistry/acid-base/chemistry-tests/anion-gap/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Presentar el gráfico como una relación matemática estática. Cada curva mantiene fijo HCO₃⁻ y muestra pH calculado al variar PCO₂ entre 20 y 80 mmHg. Las tres series usan HCO₃⁻ de 12, 24 y 36 mmol/L; estos valores se tomaron de los ejemplos didácticos del contenido y no son rangos clínicos. Con bicarbonato fijo, elevar PCO₂ reduce el pH. Con PCO₂ fija, elevar bicarbonato lo incrementa. Comparar 24/40 con 36/60: ambos conservan la relación y dan aproximadamente pH 7,40. El cálculo no decide si existe compensación o un trastorno mixto. Las constantes son aproximadas a 37 °C. No representa paso del tiempo, compensación automática, adaptación renal, temperatura específica de especie ni contribuciones independientes de hemoglobina, proteínas o fosfatos. Cada punto del gráfico es calculado por pH = 6,1 + log₁₀[HCO₃⁻/(0,03 × PCO₂)].</a:t>
            </a:r>
          </a:p>
          <a:p xmlns:a="http://schemas.openxmlformats.org/drawingml/2006/main">
            <a:r>
              <a:t/>
            </a:r>
          </a:p>
          <a:p xmlns:a="http://schemas.openxmlformats.org/drawingml/2006/main">
            <a:r>
              <a:t>Punto didáctico inicial: HCO₃⁻ 24 mmol/L; PCO₂ 40 mmHg; pH 7,40. Referencia matemática para comparar cambios; no representa un intervalo veterinario.</a:t>
            </a:r>
          </a:p>
          <a:p xmlns:a="http://schemas.openxmlformats.org/drawingml/2006/main">
            <a:r>
              <a:t>Menor bicarbonato: HCO₃⁻ 12 mmol/L; PCO₂ 40 mmHg; pH 7,10. Con PCO₂ fija, reducir bicarbonato disminuye el pH calculado.</a:t>
            </a:r>
          </a:p>
          <a:p xmlns:a="http://schemas.openxmlformats.org/drawingml/2006/main">
            <a:r>
              <a:t>Mayor CO₂: HCO₃⁻ 24 mmol/L; PCO₂ 60 mmHg; pH 7,22. Con bicarbonato fijo, aumentar PCO₂ disminuye el pH calculado.</a:t>
            </a:r>
          </a:p>
          <a:p xmlns:a="http://schemas.openxmlformats.org/drawingml/2006/main">
            <a:r>
              <a:t>Proporción conservada: HCO₃⁻ 36 mmol/L; PCO₂ 60 mmHg; pH 7,40. La misma relación produce el mismo pH; el cálculo no decide si existe compensación o un trastorno mixto.</a:t>
            </a:r>
          </a:p>
          <a:p xmlns:a="http://schemas.openxmlformats.org/drawingml/2006/main">
            <a:r>
              <a:t>Valores del ternero: HCO₃⁻ 10 mmol/L; PCO₂ 30 mmHg; pH 7,15. Valores construidos para el caso venoso; interpretar con sus antecedentes.</a:t>
            </a:r>
          </a:p>
          <a:p xmlns:a="http://schemas.openxmlformats.org/drawingml/2006/main">
            <a:r>
              <a:t>Valores del perro: HCO₃⁻ 27 mmol/L; PCO₂ 60 mmHg; pH 7,28. Valores construidos para el caso arterial agudo; el modelo no determina la duración.</a:t>
            </a:r>
          </a:p>
          <a:p xmlns:a="http://schemas.openxmlformats.org/drawingml/2006/main">
            <a:r>
              <a:t/>
            </a:r>
          </a:p>
          <a:p xmlns:a="http://schemas.openxmlformats.org/drawingml/2006/main">
            <a:r>
              <a:t>REFERENCIAS VANCOUVER</a:t>
            </a:r>
          </a:p>
          <a:p xmlns:a="http://schemas.openxmlformats.org/drawingml/2006/main">
            <a:r>
              <a:t>2. Baquero-Parrado JR. Consideraciones clínicas y regulación del equilibrio ácido-base en ganado bovino. Rev UDCA Actual Divulg Cient. 2008;11(2):85-100. Disponible en: https://doi.org/10.31910/rudca.v11.n2.2008.626</a:t>
            </a:r>
          </a:p>
          <a:p xmlns:a="http://schemas.openxmlformats.org/drawingml/2006/main">
            <a:r>
              <a:t/>
            </a:r>
          </a:p>
          <a:p xmlns:a="http://schemas.openxmlformats.org/drawingml/2006/main">
            <a:r>
              <a:t>9. Cornell University. Laboratory detection [Internet]. eClinPath; [citado 17 oct 2026]. Disponible en: https://eclinpath.com/chemistry/acid-base/laboratory-detection/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Leer primero la edad, la historia y la muestra. Los valores fueron construidos para razonar. La interpretación mejor sustentada es acidosis metabólica en el contexto de diarrea, cuya composición y causa requieren caracterización. La PCO₂ reducida atenúa el descenso del pH; su dirección no demuestra que sea una compensación bovina cuantitativamente adecuada. No aplicar una ecuación canina. Pedir al grupo un dato adicional que distinga pérdidas digestivas de acumulación de ácidos. La brecha no identifica D-lactato y hace falta un intervalo de laboratorio compatible con la fórmula.</a:t>
            </a:r>
          </a:p>
          <a:p xmlns:a="http://schemas.openxmlformats.org/drawingml/2006/main">
            <a:r>
              <a:t/>
            </a:r>
          </a:p>
          <a:p xmlns:a="http://schemas.openxmlformats.org/drawingml/2006/main">
            <a:r>
              <a:t>DATOS Y RAZONAMIENTO COMPLETO</a:t>
            </a:r>
          </a:p>
          <a:p xmlns:a="http://schemas.openxmlformats.org/drawingml/2006/main">
            <a:r>
              <a:t>Escenario construido para enseñanza. Diarrea acuosa de 24 horas, menor ingestión de leche y debilidad. Se obtiene la muestra al iniciar la evaluación. No se ha identificado el agente causal.</a:t>
            </a:r>
          </a:p>
          <a:p xmlns:a="http://schemas.openxmlformats.org/drawingml/2006/main">
            <a:r>
              <a:t>Sangre venosa yugular; valores expresados a 37 °C para este ejercicio.</a:t>
            </a:r>
          </a:p>
          <a:p xmlns:a="http://schemas.openxmlformats.org/drawingml/2006/main">
            <a:r>
              <a:t>Valores sintéticos matemáticamente coherentes. No corresponden a un paciente ni se tomaron de una tabla de resultados publicada.</a:t>
            </a:r>
          </a:p>
          <a:p xmlns:a="http://schemas.openxmlformats.org/drawingml/2006/main">
            <a:r>
              <a:t>Para nombrar acidemia en este ejercicio se utiliza el criterio pH venoso &lt;7,35 aplicado por Jung et al. a terneros Hanwoo con diarrea. Es una clasificación del estudio, no un intervalo validado para todas las razas, edades o analizadores.</a:t>
            </a:r>
          </a:p>
          <a:p xmlns:a="http://schemas.openxmlformats.org/drawingml/2006/main">
            <a:r>
              <a:t/>
            </a:r>
          </a:p>
          <a:p xmlns:a="http://schemas.openxmlformats.org/drawingml/2006/main">
            <a:r>
              <a:t>1. Resultado del pH: 7,15 cumple el criterio de acidemia seleccionado para el ejercicio. [11]</a:t>
            </a:r>
          </a:p>
          <a:p xmlns:a="http://schemas.openxmlformats.org/drawingml/2006/main">
            <a:r>
              <a:t/>
            </a:r>
          </a:p>
          <a:p xmlns:a="http://schemas.openxmlformats.org/drawingml/2006/main">
            <a:r>
              <a:t>2. Componente principal: HCO₃⁻ de 10 mmol/L, acidemia y diarrea apoyan acidosis metabólica. [7, 11]</a:t>
            </a:r>
          </a:p>
          <a:p xmlns:a="http://schemas.openxmlformats.org/drawingml/2006/main">
            <a:r>
              <a:t/>
            </a:r>
          </a:p>
          <a:p xmlns:a="http://schemas.openxmlformats.org/drawingml/2006/main">
            <a:r>
              <a:t>3. Dirección de la respuesta: Una disminución de PCO₂ atenúa el descenso del pH. No se usa una ecuación canina para decidir si 30 mmHg es una compensación bovina adecuada. [3]</a:t>
            </a:r>
          </a:p>
          <a:p xmlns:a="http://schemas.openxmlformats.org/drawingml/2006/main">
            <a:r>
              <a:t/>
            </a:r>
          </a:p>
          <a:p xmlns:a="http://schemas.openxmlformats.org/drawingml/2006/main">
            <a:r>
              <a:t>4. Cálculo y límite: AG = (135 + 4,8) − (102 + 10) = 27,8 mmol/L. Hace falta el intervalo del laboratorio y el contexto proteico para clasificarla; no demuestra lactacidemia. [10]</a:t>
            </a:r>
          </a:p>
          <a:p xmlns:a="http://schemas.openxmlformats.org/drawingml/2006/main">
            <a:r>
              <a:t/>
            </a:r>
          </a:p>
          <a:p xmlns:a="http://schemas.openxmlformats.org/drawingml/2006/main">
            <a:r>
              <a:t>5. Lo que falta: Considerar pérdidas digestivas, perfusión y fermentación. Diferenciar L-lactato de D-lactato y no inferir el agente causal a partir de la gasometría. [11, 12]</a:t>
            </a:r>
          </a:p>
          <a:p xmlns:a="http://schemas.openxmlformats.org/drawingml/2006/main">
            <a:r>
              <a:t/>
            </a:r>
          </a:p>
          <a:p xmlns:a="http://schemas.openxmlformats.org/drawingml/2006/main">
            <a:r>
              <a:t>RESPUESTAS DISCUTIDAS</a:t>
            </a:r>
          </a:p>
          <a:p xmlns:a="http://schemas.openxmlformats.org/drawingml/2006/main">
            <a:r>
              <a:t>Correcta: Acidosis metabólica en el contexto de diarrea; falta caracterizar sus componentes.</a:t>
            </a:r>
          </a:p>
          <a:p xmlns:a="http://schemas.openxmlformats.org/drawingml/2006/main">
            <a:r>
              <a:t>El pH bajo y el HCO₃⁻ reducido apoyan un proceso metabólico acidificante. La causa exacta y la adecuación de la respuesta requieren más información.</a:t>
            </a:r>
          </a:p>
          <a:p xmlns:a="http://schemas.openxmlformats.org/drawingml/2006/main">
            <a:r>
              <a:t/>
            </a:r>
          </a:p>
          <a:p xmlns:a="http://schemas.openxmlformats.org/drawingml/2006/main">
            <a:r>
              <a:t>Incorrecta: Alcalosis respiratoria primaria como única explicación.</a:t>
            </a:r>
          </a:p>
          <a:p xmlns:a="http://schemas.openxmlformats.org/drawingml/2006/main">
            <a:r>
              <a:t>La PCO₂ baja no explica por sí sola la acidemia; debe relacionarse con el bicarbonato marcadamente reducido y el contexto.</a:t>
            </a:r>
          </a:p>
          <a:p xmlns:a="http://schemas.openxmlformats.org/drawingml/2006/main">
            <a:r>
              <a:t/>
            </a:r>
          </a:p>
          <a:p xmlns:a="http://schemas.openxmlformats.org/drawingml/2006/main">
            <a:r>
              <a:t>Incorrecta: Acidosis por D-lactato demostrada con estos resultados.</a:t>
            </a:r>
          </a:p>
          <a:p xmlns:a="http://schemas.openxmlformats.org/drawingml/2006/main">
            <a:r>
              <a:t>No se midió D-lactato. Ni el pH ni la brecha identifican por sí solos el anión responsable.</a:t>
            </a:r>
          </a:p>
          <a:p xmlns:a="http://schemas.openxmlformats.org/drawingml/2006/main">
            <a:r>
              <a:t/>
            </a:r>
          </a:p>
          <a:p xmlns:a="http://schemas.openxmlformats.org/drawingml/2006/main">
            <a:r>
              <a:t>Comprobación matemática: 6,1 + log₁₀[10/(0,03 × 30)] = 7.145757490560675; redondeado 7,15. (135 + 4,8) − (102 + 10) = 27,8 mmol/L.</a:t>
            </a:r>
          </a:p>
          <a:p xmlns:a="http://schemas.openxmlformats.org/drawingml/2006/main">
            <a:r>
              <a:t/>
            </a:r>
          </a:p>
          <a:p xmlns:a="http://schemas.openxmlformats.org/drawingml/2006/main">
            <a:r>
              <a:t>REFERENCIAS VANCOUVER</a:t>
            </a:r>
          </a:p>
          <a:p xmlns:a="http://schemas.openxmlformats.org/drawingml/2006/main">
            <a:r>
              <a:t>3. Cornell University. Response to disturbances [Internet]. eClinPath; [citado 17 oct 2026]. Disponible en: https://eclinpath.com/chemistry/acid-base/compensation/</a:t>
            </a:r>
          </a:p>
          <a:p xmlns:a="http://schemas.openxmlformats.org/drawingml/2006/main">
            <a:r>
              <a:t/>
            </a:r>
          </a:p>
          <a:p xmlns:a="http://schemas.openxmlformats.org/drawingml/2006/main">
            <a:r>
              <a:t>7. Cornell University. Bicarbonate [Internet]. eClinPath; [citado 17 oct 2026]. Disponible en: https://eclinpath.com/chemistry/acid-base/chemistry-tests/bicarbonate/</a:t>
            </a:r>
          </a:p>
          <a:p xmlns:a="http://schemas.openxmlformats.org/drawingml/2006/main">
            <a:r>
              <a:t/>
            </a:r>
          </a:p>
          <a:p xmlns:a="http://schemas.openxmlformats.org/drawingml/2006/main">
            <a:r>
              <a:t>10. Cornell University. Anion gap [Internet]. eClinPath; [citado 17 oct 2026]. Disponible en: https://eclinpath.com/chemistry/acid-base/chemistry-tests/anion-gap/</a:t>
            </a:r>
          </a:p>
          <a:p xmlns:a="http://schemas.openxmlformats.org/drawingml/2006/main">
            <a:r>
              <a:t/>
            </a:r>
          </a:p>
          <a:p xmlns:a="http://schemas.openxmlformats.org/drawingml/2006/main">
            <a:r>
              <a:t>11. Jung Y, Ku JY, Kim B, Kim Y, Park KM, Baek J, et al. Determining lactate concentrations in Korean indigenous calves and evaluating its role as a predictor for acidemia in calf diarrhea. BMC Vet Res. 2024;20:373. Disponible en: https://doi.org/10.1186/s12917-024-04235-0</a:t>
            </a:r>
          </a:p>
          <a:p xmlns:a="http://schemas.openxmlformats.org/drawingml/2006/main">
            <a:r>
              <a:t/>
            </a:r>
          </a:p>
          <a:p xmlns:a="http://schemas.openxmlformats.org/drawingml/2006/main">
            <a:r>
              <a:t>12. Burgos RA, Manosalva C, Alarcón P, Navarro M, Quiroga J, Morán G, et al. The D-lactate enigma: exploring the inflammatory influence of D-lactate in cattle. Front Vet Sci. 2024;11:1509399. Disponible en: https://doi.org/10.3389/fvets.2024.1509399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Comparar el panel previo con el actual antes de nombrar el trastorno. En el caso, la ventilación alveolar disminuye durante anestesia y a los veinte minutos aumenta PCO₂ mientras desciende pH. La secuencia es compatible con acidosis respiratoria aguda por retención de CO₂. El aumento discreto de HCO₃⁻ puede acompañar la amortiguación inicial; no acredita adaptación renal crónica completa. El dato previo es comparación del mismo escenario sintético, no un intervalo poblacional canino. Tampoco se ha dado PaO₂ para evaluar oxigenación.</a:t>
            </a:r>
          </a:p>
          <a:p xmlns:a="http://schemas.openxmlformats.org/drawingml/2006/main">
            <a:r>
              <a:t/>
            </a:r>
          </a:p>
          <a:p xmlns:a="http://schemas.openxmlformats.org/drawingml/2006/main">
            <a:r>
              <a:t>DATOS Y RAZONAMIENTO COMPLETO</a:t>
            </a:r>
          </a:p>
          <a:p xmlns:a="http://schemas.openxmlformats.org/drawingml/2006/main">
            <a:r>
              <a:t>Escenario construido para enseñanza. Durante anestesia, disminuye la ventilación alveolar. A los 20 minutos se obtiene una gasometría arterial. En este escenario se dispone de una medición previa para comparar.</a:t>
            </a:r>
          </a:p>
          <a:p xmlns:a="http://schemas.openxmlformats.org/drawingml/2006/main">
            <a:r>
              <a:t>Sangre arterial antes y durante el episodio; valores expresados a 37 °C para este ejercicio.</a:t>
            </a:r>
          </a:p>
          <a:p xmlns:a="http://schemas.openxmlformats.org/drawingml/2006/main">
            <a:r>
              <a:t>Ambos paneles son sintéticos. El valor previo es un punto de comparación del mismo caso, no un intervalo poblacional canino.</a:t>
            </a:r>
          </a:p>
          <a:p xmlns:a="http://schemas.openxmlformats.org/drawingml/2006/main">
            <a:r>
              <a:t>Se interpreta la secuencia conocida de hipoventilación, aumento de PCO₂ y descenso de pH. No se presenta un rango de referencia universal.</a:t>
            </a:r>
          </a:p>
          <a:p xmlns:a="http://schemas.openxmlformats.org/drawingml/2006/main">
            <a:r>
              <a:t/>
            </a:r>
          </a:p>
          <a:p xmlns:a="http://schemas.openxmlformats.org/drawingml/2006/main">
            <a:r>
              <a:t>1. Cambio del pH: El pH pasó de 7,40 a 7,28: la dirección del cambio es acidificante. [1]</a:t>
            </a:r>
          </a:p>
          <a:p xmlns:a="http://schemas.openxmlformats.org/drawingml/2006/main">
            <a:r>
              <a:t/>
            </a:r>
          </a:p>
          <a:p xmlns:a="http://schemas.openxmlformats.org/drawingml/2006/main">
            <a:r>
              <a:t>2. Cambio primario compatible: PCO₂ de 40 a 60 mmHg junto a hipoventilación: retención de CO₂, compatible con acidosis respiratoria. [4]</a:t>
            </a:r>
          </a:p>
          <a:p xmlns:a="http://schemas.openxmlformats.org/drawingml/2006/main">
            <a:r>
              <a:t/>
            </a:r>
          </a:p>
          <a:p xmlns:a="http://schemas.openxmlformats.org/drawingml/2006/main">
            <a:r>
              <a:t>3. Respuesta reciente: El HCO₃⁻ discretamente mayor es compatible con amortiguación inicial. No debe llamarse compensación renal completa. [3]</a:t>
            </a:r>
          </a:p>
          <a:p xmlns:a="http://schemas.openxmlformats.org/drawingml/2006/main">
            <a:r>
              <a:t/>
            </a:r>
          </a:p>
          <a:p xmlns:a="http://schemas.openxmlformats.org/drawingml/2006/main">
            <a:r>
              <a:t>4. Límites de la conclusión: Los datos no identifican por sí solos la causa de hipoventilación ni cuantifican la oxigenación; no se proporcionó PaO₂. [9]</a:t>
            </a:r>
          </a:p>
          <a:p xmlns:a="http://schemas.openxmlformats.org/drawingml/2006/main">
            <a:r>
              <a:t/>
            </a:r>
          </a:p>
          <a:p xmlns:a="http://schemas.openxmlformats.org/drawingml/2006/main">
            <a:r>
              <a:t>RESPUESTAS DISCUTIDAS</a:t>
            </a:r>
          </a:p>
          <a:p xmlns:a="http://schemas.openxmlformats.org/drawingml/2006/main">
            <a:r>
              <a:t>Correcta: Acidosis respiratoria aguda compatible con retención de CO₂.</a:t>
            </a:r>
          </a:p>
          <a:p xmlns:a="http://schemas.openxmlformats.org/drawingml/2006/main">
            <a:r>
              <a:t>La PCO₂ aumentó mientras cayó el pH y se documentó menor ventilación alveolar. La secuencia apoya el mecanismo respiratorio.</a:t>
            </a:r>
          </a:p>
          <a:p xmlns:a="http://schemas.openxmlformats.org/drawingml/2006/main">
            <a:r>
              <a:t/>
            </a:r>
          </a:p>
          <a:p xmlns:a="http://schemas.openxmlformats.org/drawingml/2006/main">
            <a:r>
              <a:t>Incorrecta: Alcalosis metabólica primaria porque HCO₃⁻ subió a 27.</a:t>
            </a:r>
          </a:p>
          <a:p xmlns:a="http://schemas.openxmlformats.org/drawingml/2006/main">
            <a:r>
              <a:t>Un aumento discreto de HCO₃⁻ puede acompañar la amortiguación de un cambio respiratorio agudo. No explica el descenso de pH como proceso único.</a:t>
            </a:r>
          </a:p>
          <a:p xmlns:a="http://schemas.openxmlformats.org/drawingml/2006/main">
            <a:r>
              <a:t/>
            </a:r>
          </a:p>
          <a:p xmlns:a="http://schemas.openxmlformats.org/drawingml/2006/main">
            <a:r>
              <a:t>Incorrecta: Compensación renal completa que demuestra un proceso crónico.</a:t>
            </a:r>
          </a:p>
          <a:p xmlns:a="http://schemas.openxmlformats.org/drawingml/2006/main">
            <a:r>
              <a:t>Veinte minutos y estos valores no demuestran adaptación renal crónica; el tiempo y la evolución importan.</a:t>
            </a:r>
          </a:p>
          <a:p xmlns:a="http://schemas.openxmlformats.org/drawingml/2006/main">
            <a:r>
              <a:t/>
            </a:r>
          </a:p>
          <a:p xmlns:a="http://schemas.openxmlformats.org/drawingml/2006/main">
            <a:r>
              <a:t>Comprobación matemática: punto previo 7.401029995663981 y actual 6,1 + log₁₀[27/(0,03 × 60)] = 7.276091259055681; redondeados 7,40 y 7,28.</a:t>
            </a:r>
          </a:p>
          <a:p xmlns:a="http://schemas.openxmlformats.org/drawingml/2006/main">
            <a:r>
              <a:t/>
            </a:r>
          </a:p>
          <a:p xmlns:a="http://schemas.openxmlformats.org/drawingml/2006/main">
            <a:r>
              <a:t>REFERENCIAS VANCOUVER</a:t>
            </a:r>
          </a:p>
          <a:p xmlns:a="http://schemas.openxmlformats.org/drawingml/2006/main">
            <a:r>
              <a:t>1. Cornell University. Overview [Internet]. eClinPath; [citado 17 oct 2026]. Disponible en: https://eclinpath.com/chemistry/acid-base/overview/</a:t>
            </a:r>
          </a:p>
          <a:p xmlns:a="http://schemas.openxmlformats.org/drawingml/2006/main">
            <a:r>
              <a:t/>
            </a:r>
          </a:p>
          <a:p xmlns:a="http://schemas.openxmlformats.org/drawingml/2006/main">
            <a:r>
              <a:t>3. Cornell University. Response to disturbances [Internet]. eClinPath; [citado 17 oct 2026]. Disponible en: https://eclinpath.com/chemistry/acid-base/compensation/</a:t>
            </a:r>
          </a:p>
          <a:p xmlns:a="http://schemas.openxmlformats.org/drawingml/2006/main">
            <a:r>
              <a:t/>
            </a:r>
          </a:p>
          <a:p xmlns:a="http://schemas.openxmlformats.org/drawingml/2006/main">
            <a:r>
              <a:t>4. Cornell University. Types of disturbances [Internet]. eClinPath; [citado 17 oct 2026]. Disponible en: https://eclinpath.com/chemistry/acid-base/types-of-disturbances/</a:t>
            </a:r>
          </a:p>
          <a:p xmlns:a="http://schemas.openxmlformats.org/drawingml/2006/main">
            <a:r>
              <a:t/>
            </a:r>
          </a:p>
          <a:p xmlns:a="http://schemas.openxmlformats.org/drawingml/2006/main">
            <a:r>
              <a:t>9. Cornell University. Laboratory detection [Internet]. eClinPath; [citado 17 oct 2026]. Disponible en: https://eclinpath.com/chemistry/acid-base/laboratory-detection/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Solicitar una respuesta breve y, sobre todo, una explicación causal para cada pregunta. Volver a las diapositivas previas cuando el grupo confunda resultado, mecanismo y respuesta. Las respuestas y su justificación se incluyen a continuación para el expositor. No se infiere ausencia de enfermedad con pH aislado, ni se identifica un ácido por la brecha aniónica, ni se generaliza entre especies una ecuación de compensación.</a:t>
            </a:r>
          </a:p>
          <a:p xmlns:a="http://schemas.openxmlformats.org/drawingml/2006/main">
            <a:r>
              <a:t/>
            </a:r>
          </a:p>
          <a:p xmlns:a="http://schemas.openxmlformats.org/drawingml/2006/main">
            <a:r>
              <a:t>1. Un pH dentro del intervalo de referencia significa que…</a:t>
            </a:r>
          </a:p>
          <a:p xmlns:a="http://schemas.openxmlformats.org/drawingml/2006/main">
            <a:r>
              <a:t>Opciones: A. No puede existir ningún trastorno ácido-base. | B. Hay que revisar PCO₂, HCO₃⁻ y el contexto. | C. El paciente está completamente compensado y recuperado.</a:t>
            </a:r>
          </a:p>
          <a:p xmlns:a="http://schemas.openxmlformats.org/drawingml/2006/main">
            <a:r>
              <a:t>Respuesta: Hay que revisar PCO₂, HCO₃⁻ y el contexto.</a:t>
            </a:r>
          </a:p>
          <a:p xmlns:a="http://schemas.openxmlformats.org/drawingml/2006/main">
            <a:r>
              <a:t>Explicación: Los efectos de procesos opuestos pueden contrarrestarse. El pH es el resultado conjunto, no una prueba de ausencia de procesos. La recuperación no se demuestra con el pH aislado.</a:t>
            </a:r>
          </a:p>
          <a:p xmlns:a="http://schemas.openxmlformats.org/drawingml/2006/main">
            <a:r>
              <a:t>1. Cornell University. Overview [Internet]. eClinPath; [citado 17 oct 2026]. Disponible en: https://eclinpath.com/chemistry/acid-base/overview/</a:t>
            </a:r>
          </a:p>
          <a:p xmlns:a="http://schemas.openxmlformats.org/drawingml/2006/main">
            <a:r>
              <a:t/>
            </a:r>
          </a:p>
          <a:p xmlns:a="http://schemas.openxmlformats.org/drawingml/2006/main">
            <a:r>
              <a:t>4. Cornell University. Types of disturbances [Internet]. eClinPath; [citado 17 oct 2026]. Disponible en: https://eclinpath.com/chemistry/acid-base/types-of-disturbances/</a:t>
            </a:r>
          </a:p>
          <a:p xmlns:a="http://schemas.openxmlformats.org/drawingml/2006/main">
            <a:r>
              <a:t/>
            </a:r>
          </a:p>
          <a:p xmlns:a="http://schemas.openxmlformats.org/drawingml/2006/main">
            <a:r>
              <a:t>2. En el simulador, si HCO₃⁻ permanece fijo y aumenta PCO₂, ¿qué ocurre con el pH?</a:t>
            </a:r>
          </a:p>
          <a:p xmlns:a="http://schemas.openxmlformats.org/drawingml/2006/main">
            <a:r>
              <a:t>Opciones: A. Aumenta. | B. Disminuye. | C. No cambia.</a:t>
            </a:r>
          </a:p>
          <a:p xmlns:a="http://schemas.openxmlformats.org/drawingml/2006/main">
            <a:r>
              <a:t>Respuesta: Disminuye.</a:t>
            </a:r>
          </a:p>
          <a:p xmlns:a="http://schemas.openxmlformats.org/drawingml/2006/main">
            <a:r>
              <a:t>Explicación: Aumenta el denominador y disminuye la relación de la ecuación. Con bicarbonato fijo, más CO₂ disuelto reduce el pH calculado. Para conservar el pH debe conservarse la proporción, no solo una entrada.</a:t>
            </a:r>
          </a:p>
          <a:p xmlns:a="http://schemas.openxmlformats.org/drawingml/2006/main">
            <a:r>
              <a:t>2. Baquero-Parrado JR. Consideraciones clínicas y regulación del equilibrio ácido-base en ganado bovino. Rev UDCA Actual Divulg Cient. 2008;11(2):85-100. Disponible en: https://doi.org/10.31910/rudca.v11.n2.2008.626</a:t>
            </a:r>
          </a:p>
          <a:p xmlns:a="http://schemas.openxmlformats.org/drawingml/2006/main">
            <a:r>
              <a:t/>
            </a:r>
          </a:p>
          <a:p xmlns:a="http://schemas.openxmlformats.org/drawingml/2006/main">
            <a:r>
              <a:t>3. ¿Qué distingue recuperar bicarbonato de generar bicarbonato nuevo?</a:t>
            </a:r>
          </a:p>
          <a:p xmlns:a="http://schemas.openxmlformats.org/drawingml/2006/main">
            <a:r>
              <a:t>Opciones: A. Son dos nombres de exactamente el mismo balance. | B. La excreción neta de ácido permite reponer bicarbonato. | C. Todo bicarbonato nuevo procede de los pulmones.</a:t>
            </a:r>
          </a:p>
          <a:p xmlns:a="http://schemas.openxmlformats.org/drawingml/2006/main">
            <a:r>
              <a:t>Respuesta: La excreción neta de ácido permite reponer bicarbonato.</a:t>
            </a:r>
          </a:p>
          <a:p xmlns:a="http://schemas.openxmlformats.org/drawingml/2006/main">
            <a:r>
              <a:t>Explicación: Recuperar lo filtrado conserva base; excretar ácido neto repone base. Es diferente de evitar la pérdida urinaria del bicarbonato que ya existía. La ventilación controla CO₂; la función renal participa en el balance de base.</a:t>
            </a:r>
          </a:p>
          <a:p xmlns:a="http://schemas.openxmlformats.org/drawingml/2006/main">
            <a:r>
              <a:t>6. Cornell University. Physiology [Internet]. eClinPath; [citado 17 oct 2026]. Disponible en: https://eclinpath.com/chemistry/kidney/physiology/</a:t>
            </a:r>
          </a:p>
          <a:p xmlns:a="http://schemas.openxmlformats.org/drawingml/2006/main">
            <a:r>
              <a:t/>
            </a:r>
          </a:p>
          <a:p xmlns:a="http://schemas.openxmlformats.org/drawingml/2006/main">
            <a:r>
              <a:t>4. Una brecha aniónica elevada demuestra…</a:t>
            </a:r>
          </a:p>
          <a:p xmlns:a="http://schemas.openxmlformats.org/drawingml/2006/main">
            <a:r>
              <a:t>Opciones: A. Que el único ácido acumulado es lactato. | B. Una diferencia aumentada de aniones no medidos respecto de cationes no medidos. | C. Que la sangre perdió electroneutralidad.</a:t>
            </a:r>
          </a:p>
          <a:p xmlns:a="http://schemas.openxmlformats.org/drawingml/2006/main">
            <a:r>
              <a:t>Respuesta: Una diferencia aumentada de aniones no medidos respecto de cationes no medidos.</a:t>
            </a:r>
          </a:p>
          <a:p xmlns:a="http://schemas.openxmlformats.org/drawingml/2006/main">
            <a:r>
              <a:t>Explicación: La brecha no identifica un anión específico. Su causa requiere investigar el contexto, sin ignorar albúmina y método. La electroneutralidad se conserva; el panel no mide todos los iones.</a:t>
            </a:r>
          </a:p>
          <a:p xmlns:a="http://schemas.openxmlformats.org/drawingml/2006/main">
            <a:r>
              <a:t>10. Cornell University. Anion gap [Internet]. eClinPath; [citado 17 oct 2026]. Disponible en: https://eclinpath.com/chemistry/acid-base/chemistry-tests/anion-gap/</a:t>
            </a:r>
          </a:p>
          <a:p xmlns:a="http://schemas.openxmlformats.org/drawingml/2006/main">
            <a:r>
              <a:t/>
            </a:r>
          </a:p>
          <a:p xmlns:a="http://schemas.openxmlformats.org/drawingml/2006/main">
            <a:r>
              <a:t>5. ¿Cómo interpretar una regla de compensación desarrollada en perros al evaluar un ternero?</a:t>
            </a:r>
          </a:p>
          <a:p xmlns:a="http://schemas.openxmlformats.org/drawingml/2006/main">
            <a:r>
              <a:t>Opciones: A. Aplicarla como si fuera universal. | B. Suponer que cualquier PCO₂ baja es una compensación adecuada. | C. Reconocer la limitación y buscar criterios bovinos y contexto.</a:t>
            </a:r>
          </a:p>
          <a:p xmlns:a="http://schemas.openxmlformats.org/drawingml/2006/main">
            <a:r>
              <a:t>Respuesta: Reconocer la limitación y buscar criterios bovinos y contexto.</a:t>
            </a:r>
          </a:p>
          <a:p xmlns:a="http://schemas.openxmlformats.org/drawingml/2006/main">
            <a:r>
              <a:t>Explicación: La respuesta y los criterios no se trasladan automáticamente entre especies. La dirección del cambio por sí sola no determina su adecuación cuantitativa. La dirección de una respuesta orienta, pero no acredita su adecuación cuantitativa.</a:t>
            </a:r>
          </a:p>
          <a:p xmlns:a="http://schemas.openxmlformats.org/drawingml/2006/main">
            <a:r>
              <a:t>3. Cornell University. Response to disturbances [Internet]. eClinPath; [citado 17 oct 2026]. Disponible en: https://eclinpath.com/chemistry/acid-base/compensation/</a:t>
            </a:r>
          </a:p>
          <a:p xmlns:a="http://schemas.openxmlformats.org/drawingml/2006/main">
            <a:r>
              <a:t/>
            </a:r>
          </a:p>
          <a:p xmlns:a="http://schemas.openxmlformats.org/drawingml/2006/main">
            <a:r>
              <a:t>REFERENCIAS VANCOUVER</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Responder la pregunta inicial: no, un pH dentro del intervalo no descarta procesos ácido-base con efectos opuestos. El pH inicia la interpretación, pero no la termina. Para explicar el caso se conectan PCO₂, bicarbonato, electrolitos e historia con ventilación, amortiguación y función renal. Se diferencia dirección de la respuesta de adecuación cuantitativa y se consideran especie y duración. Cerrar con un dato pendiente para cada escenario: en el ternero, caracterización metabólica y contexto de la brecha; en el perro, causa de la hipoventilación y oxigenación arterial. La ecuación matemática aporta coherencia, pero no establece etiología, cronicidad ni tratamiento por sí sola.</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1. Cornell University. Overview [Internet]. eClinPath; [citado 17 oct 2026]. Disponible en: https://eclinpath.com/chemistry/acid-base/overview/</a:t>
            </a:r>
          </a:p>
          <a:p xmlns:a="http://schemas.openxmlformats.org/drawingml/2006/main">
            <a:r>
              <a:t/>
            </a:r>
          </a:p>
          <a:p xmlns:a="http://schemas.openxmlformats.org/drawingml/2006/main">
            <a:r>
              <a:t>3. Cornell University. Response to disturbances [Internet]. eClinPath; [citado 17 oct 2026]. Disponible en: https://eclinpath.com/chemistry/acid-base/compensation/</a:t>
            </a:r>
          </a:p>
          <a:p xmlns:a="http://schemas.openxmlformats.org/drawingml/2006/main">
            <a:r>
              <a:t/>
            </a:r>
          </a:p>
          <a:p xmlns:a="http://schemas.openxmlformats.org/drawingml/2006/main">
            <a:r>
              <a:t>9. Cornell University. Laboratory detection [Internet]. eClinPath; [citado 17 oct 2026]. Disponible en: https://eclinpath.com/chemistry/acid-base/laboratory-detection/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Bibliografía en orden de primera aparición. Las diapositivas conservan los números canónicos del informe y del contenido de la exposición. Se presentan títulos abreviados para lectura proyectada; estas notas incluyen las referencias completas y sus URL. Fuentes consultadas el 17 y 18 de octubre de 2026.</a:t>
            </a:r>
          </a:p>
          <a:p xmlns:a="http://schemas.openxmlformats.org/drawingml/2006/main">
            <a:r>
              <a:t/>
            </a:r>
          </a:p>
          <a:p xmlns:a="http://schemas.openxmlformats.org/drawingml/2006/main">
            <a:r>
              <a:t>1. Cornell University. Overview [Internet]. eClinPath; [citado 17 oct 2026]. Disponible en: https://eclinpath.com/chemistry/acid-base/overview/</a:t>
            </a:r>
          </a:p>
          <a:p xmlns:a="http://schemas.openxmlformats.org/drawingml/2006/main">
            <a:r>
              <a:t/>
            </a:r>
          </a:p>
          <a:p xmlns:a="http://schemas.openxmlformats.org/drawingml/2006/main">
            <a:r>
              <a:t>2. Baquero-Parrado JR. Consideraciones clínicas y regulación del equilibrio ácido-base en ganado bovino. Rev UDCA Actual Divulg Cient. 2008;11(2):85-100. Disponible en: https://doi.org/10.31910/rudca.v11.n2.2008.626</a:t>
            </a:r>
          </a:p>
          <a:p xmlns:a="http://schemas.openxmlformats.org/drawingml/2006/main">
            <a:r>
              <a:t/>
            </a:r>
          </a:p>
          <a:p xmlns:a="http://schemas.openxmlformats.org/drawingml/2006/main">
            <a:r>
              <a:t>3. Cornell University. Response to disturbances [Internet]. eClinPath; [citado 17 oct 2026]. Disponible en: https://eclinpath.com/chemistry/acid-base/compensation/</a:t>
            </a:r>
          </a:p>
          <a:p xmlns:a="http://schemas.openxmlformats.org/drawingml/2006/main">
            <a:r>
              <a:t/>
            </a:r>
          </a:p>
          <a:p xmlns:a="http://schemas.openxmlformats.org/drawingml/2006/main">
            <a:r>
              <a:t>4. Cornell University. Types of disturbances [Internet]. eClinPath; [citado 17 oct 2026]. Disponible en: https://eclinpath.com/chemistry/acid-base/types-of-disturbances/</a:t>
            </a:r>
          </a:p>
          <a:p xmlns:a="http://schemas.openxmlformats.org/drawingml/2006/main">
            <a:r>
              <a:t/>
            </a:r>
          </a:p>
          <a:p xmlns:a="http://schemas.openxmlformats.org/drawingml/2006/main">
            <a:r>
              <a:t>5. Abnormal ventilation, abnormal gas exchange [material docente en Internet]. Columbia University; [sin fecha] [citado 18 oct 2026]. p. 6. Disponible en: https://www.columbia.edu/itc/hs/medical/pathophys/pulmonary/2008/abnormalColor.pdf</a:t>
            </a:r>
          </a:p>
          <a:p xmlns:a="http://schemas.openxmlformats.org/drawingml/2006/main">
            <a:r>
              <a:t/>
            </a:r>
          </a:p>
          <a:p xmlns:a="http://schemas.openxmlformats.org/drawingml/2006/main">
            <a:r>
              <a:t>6. Cornell University. Physiology [Internet]. eClinPath; [citado 17 oct 2026]. Disponible en: https://eclinpath.com/chemistry/kidney/physiology/</a:t>
            </a:r>
          </a:p>
          <a:p xmlns:a="http://schemas.openxmlformats.org/drawingml/2006/main">
            <a:r>
              <a:t/>
            </a:r>
          </a:p>
          <a:p xmlns:a="http://schemas.openxmlformats.org/drawingml/2006/main">
            <a:r>
              <a:t>7. Cornell University. Bicarbonate [Internet]. eClinPath; [citado 17 oct 2026]. Disponible en: https://eclinpath.com/chemistry/acid-base/chemistry-tests/bicarbonate/</a:t>
            </a:r>
          </a:p>
          <a:p xmlns:a="http://schemas.openxmlformats.org/drawingml/2006/main">
            <a:r>
              <a:t/>
            </a:r>
          </a:p>
          <a:p xmlns:a="http://schemas.openxmlformats.org/drawingml/2006/main">
            <a:r>
              <a:t>8. Braun U, Nuss K, Reif S, Hilbe M, Gerspach C. Left and right displaced abomasum and abomasal volvulus: comparison of clinical, laboratory and ultrasonographic findings in 1982 dairy cows. Acta Vet Scand. 2022;64:40. Disponible en: https://doi.org/10.1186/s13028-022-00656-9</a:t>
            </a:r>
          </a:p>
          <a:p xmlns:a="http://schemas.openxmlformats.org/drawingml/2006/main">
            <a:r>
              <a:t/>
            </a:r>
          </a:p>
          <a:p xmlns:a="http://schemas.openxmlformats.org/drawingml/2006/main">
            <a:r>
              <a:t>9. Cornell University. Laboratory detection [Internet]. eClinPath; [citado 17 oct 2026]. Disponible en: https://eclinpath.com/chemistry/acid-base/laboratory-detection/</a:t>
            </a:r>
          </a:p>
          <a:p xmlns:a="http://schemas.openxmlformats.org/drawingml/2006/main">
            <a:r>
              <a:t/>
            </a:r>
          </a:p>
          <a:p xmlns:a="http://schemas.openxmlformats.org/drawingml/2006/main">
            <a:r>
              <a:t>10. Cornell University. Anion gap [Internet]. eClinPath; [citado 17 oct 2026]. Disponible en: https://eclinpath.com/chemistry/acid-base/chemistry-tests/anion-gap/</a:t>
            </a:r>
          </a:p>
          <a:p xmlns:a="http://schemas.openxmlformats.org/drawingml/2006/main">
            <a:r>
              <a:t/>
            </a:r>
          </a:p>
          <a:p xmlns:a="http://schemas.openxmlformats.org/drawingml/2006/main">
            <a:r>
              <a:t>11. Jung Y, Ku JY, Kim B, Kim Y, Park KM, Baek J, et al. Determining lactate concentrations in Korean indigenous calves and evaluating its role as a predictor for acidemia in calf diarrhea. BMC Vet Res. 2024;20:373. Disponible en: https://doi.org/10.1186/s12917-024-04235-0</a:t>
            </a:r>
          </a:p>
          <a:p xmlns:a="http://schemas.openxmlformats.org/drawingml/2006/main">
            <a:r>
              <a:t/>
            </a:r>
          </a:p>
          <a:p xmlns:a="http://schemas.openxmlformats.org/drawingml/2006/main">
            <a:r>
              <a:t>12. Burgos RA, Manosalva C, Alarcón P, Navarro M, Quiroga J, Morán G, et al. The D-lactate enigma: exploring the inflammatory influence of D-lactate in cattle. Front Vet Sci. 2024;11:1509399. Disponible en: https://doi.org/10.3389/fvets.2024.1509399</a:t>
            </a:r>
          </a:p>
          <a:p xmlns:a="http://schemas.openxmlformats.org/drawingml/2006/main">
            <a:r>
              <a:t/>
            </a:r>
          </a:p>
          <a:p xmlns:a="http://schemas.openxmlformats.org/drawingml/2006/main">
            <a:r>
              <a:t>REFERENCIAS VANCOUVER</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9a099e2d8e844d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9764c42e10c430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6ea27c96aff4fa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2441e120d914ae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29db3b39c6d412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3f32bcf18864eb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5DE2E0C-0241-4A37-960B-F5C642FBFBE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BED2B8C-114C-421E-95EF-B822B1C5C35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B58E31D-CFB5-4B1B-9B5E-8A7742D4D3A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8ED36AC-541B-4F52-8A75-1CF11236431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52B2147-EE82-4CCD-BC08-FED146B1B3D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13D9917-BE62-49C4-9455-C5F414E30F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30E1E0-BDCC-45FC-A462-C19D8EFF8D3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44BE3D8-DD41-4593-9AD1-978775DD82B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9B34E52-A026-437A-B593-4DB799B7506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8D32238-9E3B-4AC1-9E88-46D4F565662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baec3776fd842aa" /><Relationship Type="http://schemas.openxmlformats.org/officeDocument/2006/relationships/slideLayout" Target="/ppt/slideLayouts/slideLayout1.xml" Id="Rfb3c18ed4d25478c" /><Relationship Type="http://schemas.openxmlformats.org/officeDocument/2006/relationships/slideLayout" Target="/ppt/slideLayouts/slideLayout2.xml" Id="R18d6f9f5883f4822" /><Relationship Type="http://schemas.openxmlformats.org/officeDocument/2006/relationships/slideLayout" Target="/ppt/slideLayouts/slideLayout3.xml" Id="R3f8a9b93251949fc" /><Relationship Type="http://schemas.openxmlformats.org/officeDocument/2006/relationships/slideLayout" Target="/ppt/slideLayouts/slideLayout4.xml" Id="R142f829776b04ebe" /><Relationship Type="http://schemas.openxmlformats.org/officeDocument/2006/relationships/slideLayout" Target="/ppt/slideLayouts/slideLayout5.xml" Id="R09185ab0f6bf474e" /><Relationship Type="http://schemas.openxmlformats.org/officeDocument/2006/relationships/slideLayout" Target="/ppt/slideLayouts/slideLayout6.xml" Id="Rc3b8b36ef8624d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b3c18ed4d25478c"/>
    <p:sldLayoutId xmlns:r="http://schemas.openxmlformats.org/officeDocument/2006/relationships" id="2147483650" r:id="R18d6f9f5883f4822"/>
    <p:sldLayoutId xmlns:r="http://schemas.openxmlformats.org/officeDocument/2006/relationships" id="2147483651" r:id="R3f8a9b93251949fc"/>
    <p:sldLayoutId xmlns:r="http://schemas.openxmlformats.org/officeDocument/2006/relationships" id="2147483652" r:id="R142f829776b04ebe"/>
    <p:sldLayoutId xmlns:r="http://schemas.openxmlformats.org/officeDocument/2006/relationships" id="2147483653" r:id="R09185ab0f6bf474e"/>
    <p:sldLayoutId xmlns:r="http://schemas.openxmlformats.org/officeDocument/2006/relationships" id="2147483654" r:id="Rc3b8b36ef8624d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f6b62b695cc4dad" /><Relationship Type="http://schemas.openxmlformats.org/officeDocument/2006/relationships/notesSlide" Target="/ppt/notesSlides/notesSlide1.xml" Id="Ree90e9e3f716478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3ebf1b8a56743b8" /><Relationship Type="http://schemas.openxmlformats.org/officeDocument/2006/relationships/notesSlide" Target="/ppt/notesSlides/notesSlide2.xml" Id="R92237100c9624e6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039004ccedf47ca" /><Relationship Type="http://schemas.openxmlformats.org/officeDocument/2006/relationships/image" Target="/ppt/media/image.png" Id="R55639b87e4bf4d40" /><Relationship Type="http://schemas.openxmlformats.org/officeDocument/2006/relationships/notesSlide" Target="/ppt/notesSlides/notesSlide3.xml" Id="Re508af14547d4a5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f0becfc719e4441" /><Relationship Type="http://schemas.openxmlformats.org/officeDocument/2006/relationships/image" Target="/ppt/media/image2.png" Id="Rc1106b406d274a60" /><Relationship Type="http://schemas.openxmlformats.org/officeDocument/2006/relationships/notesSlide" Target="/ppt/notesSlides/notesSlide4.xml" Id="R93b5cc64f19b44d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e9a7f3f90b44567" /><Relationship Type="http://schemas.openxmlformats.org/officeDocument/2006/relationships/image" Target="/ppt/media/image3.png" Id="R82086e7251e4489e" /><Relationship Type="http://schemas.openxmlformats.org/officeDocument/2006/relationships/notesSlide" Target="/ppt/notesSlides/notesSlide5.xml" Id="R7c1a48b76e6643d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8dfeedd30a34a26" /><Relationship Type="http://schemas.openxmlformats.org/officeDocument/2006/relationships/notesSlide" Target="/ppt/notesSlides/notesSlide6.xml" Id="R5f26a9c154f54a7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32c45d1732a4ae2" /><Relationship Type="http://schemas.openxmlformats.org/officeDocument/2006/relationships/notesSlide" Target="/ppt/notesSlides/notesSlide7.xml" Id="R4adfd1c59da641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2c4368c05f240a9" /><Relationship Type="http://schemas.openxmlformats.org/officeDocument/2006/relationships/notesSlide" Target="/ppt/notesSlides/notesSlide8.xml" Id="R1f13cfd0256c4b0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6b705f3c708441d" /><Relationship Type="http://schemas.openxmlformats.org/officeDocument/2006/relationships/notesSlide" Target="/ppt/notesSlides/notesSlide9.xml" Id="R03e3352db2fe414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0a14c0dc7a9492f" /><Relationship Type="http://schemas.openxmlformats.org/officeDocument/2006/relationships/chart" Target="/ppt/slides/charts/chart1.xml" Id="R569df2b4bfb34287" /><Relationship Type="http://schemas.openxmlformats.org/officeDocument/2006/relationships/notesSlide" Target="/ppt/notesSlides/notesSlide10.xml" Id="R16c8a082a2724bc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8202704de9a468e" /><Relationship Type="http://schemas.openxmlformats.org/officeDocument/2006/relationships/notesSlide" Target="/ppt/notesSlides/notesSlide11.xml" Id="Rc6bee50caa0548c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c6fcd6a6c4849d4" /><Relationship Type="http://schemas.openxmlformats.org/officeDocument/2006/relationships/notesSlide" Target="/ppt/notesSlides/notesSlide12.xml" Id="Re9edf584b455442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8aa01d9168046b4" /><Relationship Type="http://schemas.openxmlformats.org/officeDocument/2006/relationships/notesSlide" Target="/ppt/notesSlides/notesSlide13.xml" Id="R3cee7df6b36f483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a23aaa481854c88" /><Relationship Type="http://schemas.openxmlformats.org/officeDocument/2006/relationships/notesSlide" Target="/ppt/notesSlides/notesSlide14.xml" Id="Rbc444ca4c2e94dd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4f7a19636bb4d54" /><Relationship Type="http://schemas.openxmlformats.org/officeDocument/2006/relationships/notesSlide" Target="/ppt/notesSlides/notesSlide15.xml" Id="Rbc6cec441dd3410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varyColors val="0"/>
        <c:ser>
          <c:idx val="0"/>
          <c:order val="0"/>
          <c:tx>
            <c:v>HCO₃⁻ 12 mmol/L</c:v>
          </c:tx>
          <c:spPr>
            <a:solidFill xmlns:a="http://schemas.openxmlformats.org/drawingml/2006/main">
              <a:srgbClr val="7DAA78"/>
            </a:solidFill>
            <a:ln xmlns:a="http://schemas.openxmlformats.org/drawingml/2006/main" w="28575">
              <a:solidFill>
                <a:srgbClr val="7DAA78"/>
              </a:solidFill>
              <a:prstDash val="solid"/>
            </a:ln>
          </c:spPr>
          <c:marker>
            <c:symbol val="none"/>
          </c:marker>
          <c:xVal>
            <c:numRef>
              <c:f>'Chart Data'!$A$2:$A$14</c:f>
              <c:numCache>
                <c:formatCode>General</c:formatCod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numCache>
            </c:numRef>
          </c:xVal>
          <c:yVal>
            <c:numRef>
              <c:f>'Chart Data'!$B$2:$B$14</c:f>
              <c:numCache>
                <c:formatCode>0.0</c:formatCode>
                <c:ptCount val="13"/>
                <c:pt idx="0">
                  <c:v>7.40103</c:v>
                </c:pt>
                <c:pt idx="1">
                  <c:v>7.30411998</c:v>
                </c:pt>
                <c:pt idx="2">
                  <c:v>7.22493874</c:v>
                </c:pt>
                <c:pt idx="3">
                  <c:v>7.15799195</c:v>
                </c:pt>
                <c:pt idx="4">
                  <c:v>7.1</c:v>
                </c:pt>
                <c:pt idx="5">
                  <c:v>7.04884748</c:v>
                </c:pt>
                <c:pt idx="6">
                  <c:v>7.00308999</c:v>
                </c:pt>
                <c:pt idx="7">
                  <c:v>6.9616973</c:v>
                </c:pt>
                <c:pt idx="8">
                  <c:v>6.92390874</c:v>
                </c:pt>
                <c:pt idx="9">
                  <c:v>6.88914663</c:v>
                </c:pt>
                <c:pt idx="10">
                  <c:v>6.85696195</c:v>
                </c:pt>
                <c:pt idx="11">
                  <c:v>6.82699873</c:v>
                </c:pt>
                <c:pt idx="12">
                  <c:v>6.79897</c:v>
                </c:pt>
              </c:numCache>
            </c:numRef>
          </c:yVal>
        </c:ser>
        <c:ser>
          <c:idx val="1"/>
          <c:order val="1"/>
          <c:tx>
            <c:v>HCO₃⁻ 24 mmol/L</c:v>
          </c:tx>
          <c:spPr>
            <a:solidFill xmlns:a="http://schemas.openxmlformats.org/drawingml/2006/main">
              <a:srgbClr val="367653"/>
            </a:solidFill>
            <a:ln xmlns:a="http://schemas.openxmlformats.org/drawingml/2006/main" w="28575">
              <a:solidFill>
                <a:srgbClr val="367653"/>
              </a:solidFill>
              <a:prstDash val="solid"/>
            </a:ln>
          </c:spPr>
          <c:marker>
            <c:symbol val="none"/>
          </c:marker>
          <c:xVal>
            <c:numRef>
              <c:f>'Chart Data'!$C$2:$C$14</c:f>
              <c:numCache>
                <c:formatCode>General</c:formatCod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numCache>
            </c:numRef>
          </c:xVal>
          <c:yVal>
            <c:numRef>
              <c:f>'Chart Data'!$D$2:$D$14</c:f>
              <c:numCache>
                <c:formatCode>0.0</c:formatCode>
                <c:ptCount val="13"/>
                <c:pt idx="0">
                  <c:v>7.70205999</c:v>
                </c:pt>
                <c:pt idx="1">
                  <c:v>7.60514998</c:v>
                </c:pt>
                <c:pt idx="2">
                  <c:v>7.52596873</c:v>
                </c:pt>
                <c:pt idx="3">
                  <c:v>7.45902194</c:v>
                </c:pt>
                <c:pt idx="4">
                  <c:v>7.40103</c:v>
                </c:pt>
                <c:pt idx="5">
                  <c:v>7.34987747</c:v>
                </c:pt>
                <c:pt idx="6">
                  <c:v>7.30411998</c:v>
                </c:pt>
                <c:pt idx="7">
                  <c:v>7.2627273</c:v>
                </c:pt>
                <c:pt idx="8">
                  <c:v>7.22493874</c:v>
                </c:pt>
                <c:pt idx="9">
                  <c:v>7.19017663</c:v>
                </c:pt>
                <c:pt idx="10">
                  <c:v>7.15799195</c:v>
                </c:pt>
                <c:pt idx="11">
                  <c:v>7.12802872</c:v>
                </c:pt>
                <c:pt idx="12">
                  <c:v>7.1</c:v>
                </c:pt>
              </c:numCache>
            </c:numRef>
          </c:yVal>
        </c:ser>
        <c:ser>
          <c:idx val="2"/>
          <c:order val="2"/>
          <c:tx>
            <c:v>HCO₃⁻ 36 mmol/L</c:v>
          </c:tx>
          <c:spPr>
            <a:solidFill xmlns:a="http://schemas.openxmlformats.org/drawingml/2006/main">
              <a:srgbClr val="174A35"/>
            </a:solidFill>
            <a:ln xmlns:a="http://schemas.openxmlformats.org/drawingml/2006/main" w="28575">
              <a:solidFill>
                <a:srgbClr val="174A35"/>
              </a:solidFill>
              <a:prstDash val="solid"/>
            </a:ln>
          </c:spPr>
          <c:marker>
            <c:symbol val="none"/>
          </c:marker>
          <c:xVal>
            <c:numRef>
              <c:f>'Chart Data'!$E$2:$E$14</c:f>
              <c:numCache>
                <c:formatCode>General</c:formatCod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numCache>
            </c:numRef>
          </c:xVal>
          <c:yVal>
            <c:numRef>
              <c:f>'Chart Data'!$F$2:$F$14</c:f>
              <c:numCache>
                <c:formatCode>0.0</c:formatCode>
                <c:ptCount val="13"/>
                <c:pt idx="0">
                  <c:v>7.87815125</c:v>
                </c:pt>
                <c:pt idx="1">
                  <c:v>7.78124124</c:v>
                </c:pt>
                <c:pt idx="2">
                  <c:v>7.70205999</c:v>
                </c:pt>
                <c:pt idx="3">
                  <c:v>7.6351132</c:v>
                </c:pt>
                <c:pt idx="4">
                  <c:v>7.57712125</c:v>
                </c:pt>
                <c:pt idx="5">
                  <c:v>7.52596873</c:v>
                </c:pt>
                <c:pt idx="6">
                  <c:v>7.48021124</c:v>
                </c:pt>
                <c:pt idx="7">
                  <c:v>7.43881856</c:v>
                </c:pt>
                <c:pt idx="8">
                  <c:v>7.40103</c:v>
                </c:pt>
                <c:pt idx="9">
                  <c:v>7.36626789</c:v>
                </c:pt>
                <c:pt idx="10">
                  <c:v>7.33408321</c:v>
                </c:pt>
                <c:pt idx="11">
                  <c:v>7.30411998</c:v>
                </c:pt>
                <c:pt idx="12">
                  <c:v>7.27609126</c:v>
                </c:pt>
              </c:numCache>
            </c:numRef>
          </c:yVal>
        </c:ser>
        <c:dLbls>
          <c:txPr>
            <a:bodyPr xmlns:a="http://schemas.openxmlformats.org/drawingml/2006/main" anchorCtr="1"/>
            <a:lstStyle xmlns:a="http://schemas.openxmlformats.org/drawingml/2006/main"/>
            <a:p xmlns:a="http://schemas.openxmlformats.org/drawingml/2006/main">
              <a:pPr>
                <a:defRPr>
                  <a:latin typeface="Times New Roman"/>
                  <a:ea typeface="Times New Roman"/>
                  <a:cs typeface="Times New Roman"/>
                </a:defRPr>
              </a:pPr>
            </a:p>
          </c:txPr>
          <c:showLegendKey val="0"/>
          <c:showVal val="0"/>
          <c:showCatName val="0"/>
          <c:showSerName val="0"/>
          <c:showPercent val="0"/>
          <c:showBubbleSize val="0"/>
          <c:showLeaderLines val="0"/>
        </c:dLbls>
        <c:axId val="48650112"/>
        <c:axId val="48672768"/>
      </c:scatterChart>
      <c:valAx>
        <c:axId val="48672768"/>
        <c:scaling>
          <c:orientation val="minMax"/>
          <c:max val="8"/>
          <c:min val="6.8"/>
        </c:scaling>
        <c:delete val="0"/>
        <c:axPos val="l"/>
        <c:majorGridlines>
          <c:spPr>
            <a:ln xmlns:a="http://schemas.openxmlformats.org/drawingml/2006/main" w="9525">
              <a:solidFill>
                <a:srgbClr val="DDE7DB"/>
              </a:solidFill>
              <a:prstDash val="solid"/>
            </a:ln>
          </c:spPr>
        </c:majorGridlines>
        <c:title>
          <c:tx>
            <c:rich>
              <a:bodyPr xmlns:a="http://schemas.openxmlformats.org/drawingml/2006/main"/>
              <a:lstStyle xmlns:a="http://schemas.openxmlformats.org/drawingml/2006/main"/>
              <a:p xmlns:a="http://schemas.openxmlformats.org/drawingml/2006/main">
                <a:r>
                  <a:rPr sz="1800">
                    <a:solidFill>
                      <a:srgbClr val="181818"/>
                    </a:solidFill>
                    <a:latin typeface="Times New Roman"/>
                    <a:ea typeface="Times New Roman"/>
                    <a:cs typeface="Times New Roman"/>
                  </a:rPr>
                  <a:t>pH calculado</a:t>
                </a:r>
              </a:p>
            </c:rich>
          </c:tx>
          <c:overlay val="0"/>
          <c:txPr>
            <a:bodyPr xmlns:a="http://schemas.openxmlformats.org/drawingml/2006/main" anchorCtr="1"/>
            <a:lstStyle xmlns:a="http://schemas.openxmlformats.org/drawingml/2006/main"/>
            <a:p xmlns:a="http://schemas.openxmlformats.org/drawingml/2006/main">
              <a:pPr>
                <a:defRPr sz="1800">
                  <a:solidFill>
                    <a:srgbClr val="181818"/>
                  </a:solidFill>
                  <a:latin typeface="Times New Roman"/>
                  <a:ea typeface="Times New Roman"/>
                  <a:cs typeface="Times New Roman"/>
                </a:defRPr>
              </a:pPr>
            </a:p>
          </c:txPr>
        </c:title>
        <c:numFmt formatCode="0.0"/>
        <c:majorTickMark val="none"/>
        <c:minorTickMark val="none"/>
        <c:spPr>
          <a:ln xmlns:a="http://schemas.openxmlformats.org/drawingml/2006/main" w="9525">
            <a:solidFill>
              <a:srgbClr val="515151"/>
            </a:solidFill>
            <a:prstDash val="solid"/>
          </a:ln>
        </c:spPr>
        <c:txPr>
          <a:bodyPr xmlns:a="http://schemas.openxmlformats.org/drawingml/2006/main" anchorCtr="1"/>
          <a:lstStyle xmlns:a="http://schemas.openxmlformats.org/drawingml/2006/main"/>
          <a:p xmlns:a="http://schemas.openxmlformats.org/drawingml/2006/main">
            <a:pPr>
              <a:defRPr sz="1650">
                <a:solidFill>
                  <a:srgbClr val="181818"/>
                </a:solidFill>
                <a:latin typeface="Times New Roman"/>
                <a:ea typeface="Times New Roman"/>
                <a:cs typeface="Times New Roman"/>
              </a:defRPr>
            </a:pPr>
          </a:p>
        </c:txPr>
        <c:crossAx val="48650112"/>
        <c:majorUnit val="0.2"/>
      </c:valAx>
      <c:valAx>
        <c:axId val="48650112"/>
        <c:scaling>
          <c:orientation val="minMax"/>
          <c:max val="80"/>
          <c:min val="20"/>
        </c:scaling>
        <c:delete val="0"/>
        <c:axPos val="b"/>
        <c:majorGridlines>
          <c:spPr>
            <a:ln xmlns:a="http://schemas.openxmlformats.org/drawingml/2006/main" w="9525">
              <a:solidFill>
                <a:srgbClr val="DDE7DB"/>
              </a:solidFill>
              <a:prstDash val="solid"/>
            </a:ln>
          </c:spPr>
        </c:majorGridlines>
        <c:title>
          <c:tx>
            <c:rich>
              <a:bodyPr xmlns:a="http://schemas.openxmlformats.org/drawingml/2006/main"/>
              <a:lstStyle xmlns:a="http://schemas.openxmlformats.org/drawingml/2006/main"/>
              <a:p xmlns:a="http://schemas.openxmlformats.org/drawingml/2006/main">
                <a:r>
                  <a:rPr sz="1800">
                    <a:solidFill>
                      <a:srgbClr val="181818"/>
                    </a:solidFill>
                    <a:latin typeface="Times New Roman"/>
                    <a:ea typeface="Times New Roman"/>
                    <a:cs typeface="Times New Roman"/>
                  </a:rPr>
                  <a:t>PCO₂ (mmHg)</a:t>
                </a:r>
              </a:p>
            </c:rich>
          </c:tx>
          <c:overlay val="0"/>
          <c:txPr>
            <a:bodyPr xmlns:a="http://schemas.openxmlformats.org/drawingml/2006/main" anchorCtr="1"/>
            <a:lstStyle xmlns:a="http://schemas.openxmlformats.org/drawingml/2006/main"/>
            <a:p xmlns:a="http://schemas.openxmlformats.org/drawingml/2006/main">
              <a:pPr>
                <a:defRPr sz="1800">
                  <a:solidFill>
                    <a:srgbClr val="181818"/>
                  </a:solidFill>
                  <a:latin typeface="Times New Roman"/>
                  <a:ea typeface="Times New Roman"/>
                  <a:cs typeface="Times New Roman"/>
                </a:defRPr>
              </a:pPr>
            </a:p>
          </c:txPr>
        </c:title>
        <c:numFmt formatCode="0"/>
        <c:majorTickMark val="none"/>
        <c:minorTickMark val="none"/>
        <c:spPr>
          <a:ln xmlns:a="http://schemas.openxmlformats.org/drawingml/2006/main" w="9525">
            <a:solidFill>
              <a:srgbClr val="515151"/>
            </a:solidFill>
            <a:prstDash val="solid"/>
          </a:ln>
        </c:spPr>
        <c:txPr>
          <a:bodyPr xmlns:a="http://schemas.openxmlformats.org/drawingml/2006/main" anchorCtr="1"/>
          <a:lstStyle xmlns:a="http://schemas.openxmlformats.org/drawingml/2006/main"/>
          <a:p xmlns:a="http://schemas.openxmlformats.org/drawingml/2006/main">
            <a:pPr>
              <a:defRPr sz="1650">
                <a:solidFill>
                  <a:srgbClr val="181818"/>
                </a:solidFill>
                <a:latin typeface="Times New Roman"/>
                <a:ea typeface="Times New Roman"/>
                <a:cs typeface="Times New Roman"/>
              </a:defRPr>
            </a:pPr>
          </a:p>
        </c:txPr>
        <c:crossAx val="48672768"/>
        <c:majorUnit val="20"/>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181818"/>
              </a:solidFill>
              <a:latin typeface="Times New Roman"/>
              <a:ea typeface="Times New Roman"/>
              <a:cs typeface="Times New Roman"/>
            </a:defRPr>
          </a:pPr>
        </a:p>
      </c:txPr>
    </c:legend>
    <c:plotVisOnly val="1"/>
  </c:chart>
  <c:spPr>
    <a:solidFill xmlns:a="http://schemas.openxmlformats.org/drawingml/2006/main">
      <a:srgbClr val="FFFFFF"/>
    </a:solidFill>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0A311B5B-565F-47FD-8A97-16534F2D974F}"/>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Fisiopatología del</a:t>
            </a:r>
          </a:p>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equilibrio ácido-base</a:t>
            </a:r>
          </a:p>
        </p:txBody>
      </p:sp>
      <p:sp>
        <p:nvSpPr>
          <p:cNvPr id="2" name="page-number">
            <a:extLst xmlns:a="http://schemas.openxmlformats.org/drawingml/2006/main">
              <a:ext uri="{FF2B5EF4-FFF2-40B4-BE49-F238E27FC236}">
                <a16:creationId xmlns:a16="http://schemas.microsoft.com/office/drawing/2014/main" id="{B9F29555-E9FB-49C1-8428-912CB2FDC992}"/>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01</a:t>
            </a:r>
          </a:p>
        </p:txBody>
      </p:sp>
      <p:sp>
        <p:nvSpPr>
          <p:cNvPr id="3" name="sources">
            <a:extLst xmlns:a="http://schemas.openxmlformats.org/drawingml/2006/main">
              <a:ext uri="{FF2B5EF4-FFF2-40B4-BE49-F238E27FC236}">
                <a16:creationId xmlns:a16="http://schemas.microsoft.com/office/drawing/2014/main" id="{114968BE-A821-44D9-92C8-5E7BE7CC7FCC}"/>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[1]</a:t>
            </a:r>
          </a:p>
        </p:txBody>
      </p:sp>
      <p:sp>
        <p:nvSpPr>
          <p:cNvPr id="4" name="text">
            <a:extLst xmlns:a="http://schemas.openxmlformats.org/drawingml/2006/main">
              <a:ext uri="{FF2B5EF4-FFF2-40B4-BE49-F238E27FC236}">
                <a16:creationId xmlns:a16="http://schemas.microsoft.com/office/drawing/2014/main" id="{560CF570-B0FA-4530-948A-5D806B97C9D2}"/>
              </a:ext>
            </a:extLst>
          </p:cNvPr>
          <p:cNvSpPr>
            <a:spLocks xmlns:a="http://schemas.openxmlformats.org/drawingml/2006/main" noGrp="1"/>
          </p:cNvSpPr>
          <p:nvPr/>
        </p:nvSpPr>
        <p:spPr>
          <a:xfrm xmlns:a="http://schemas.openxmlformats.org/drawingml/2006/main">
            <a:off x="609600" y="1743075"/>
            <a:ext cx="10477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00" b="1">
                <a:solidFill>
                  <a:srgbClr val="181818"/>
                </a:solidFill>
                <a:latin typeface="Times New Roman"/>
                <a:ea typeface="Times New Roman"/>
                <a:cs typeface="Times New Roman"/>
              </a:defRPr>
            </a:defPPr>
            <a:lvl1pPr algn="l">
              <a:defRPr sz="2600" b="1">
                <a:solidFill>
                  <a:srgbClr val="181818"/>
                </a:solidFill>
                <a:latin typeface="Times New Roman"/>
                <a:ea typeface="Times New Roman"/>
                <a:cs typeface="Times New Roman"/>
              </a:defRPr>
            </a:lvl1pPr>
            <a:lvl2pPr algn="l">
              <a:defRPr sz="2600" b="1">
                <a:solidFill>
                  <a:srgbClr val="181818"/>
                </a:solidFill>
                <a:latin typeface="Times New Roman"/>
                <a:ea typeface="Times New Roman"/>
                <a:cs typeface="Times New Roman"/>
              </a:defRPr>
            </a:lvl2pPr>
            <a:lvl3pPr algn="l">
              <a:defRPr sz="2600" b="1">
                <a:solidFill>
                  <a:srgbClr val="181818"/>
                </a:solidFill>
                <a:latin typeface="Times New Roman"/>
                <a:ea typeface="Times New Roman"/>
                <a:cs typeface="Times New Roman"/>
              </a:defRPr>
            </a:lvl3pPr>
            <a:lvl4pPr algn="l">
              <a:defRPr sz="2600" b="1">
                <a:solidFill>
                  <a:srgbClr val="181818"/>
                </a:solidFill>
                <a:latin typeface="Times New Roman"/>
                <a:ea typeface="Times New Roman"/>
                <a:cs typeface="Times New Roman"/>
              </a:defRPr>
            </a:lvl4pPr>
            <a:lvl5pPr algn="l">
              <a:defRPr sz="2600" b="1">
                <a:solidFill>
                  <a:srgbClr val="181818"/>
                </a:solidFill>
                <a:latin typeface="Times New Roman"/>
                <a:ea typeface="Times New Roman"/>
                <a:cs typeface="Times New Roman"/>
              </a:defRPr>
            </a:lvl5pPr>
            <a:lvl6pPr algn="l">
              <a:defRPr sz="2600" b="1">
                <a:solidFill>
                  <a:srgbClr val="181818"/>
                </a:solidFill>
                <a:latin typeface="Times New Roman"/>
                <a:ea typeface="Times New Roman"/>
                <a:cs typeface="Times New Roman"/>
              </a:defRPr>
            </a:lvl6pPr>
            <a:lvl7pPr algn="l">
              <a:defRPr sz="2600" b="1">
                <a:solidFill>
                  <a:srgbClr val="181818"/>
                </a:solidFill>
                <a:latin typeface="Times New Roman"/>
                <a:ea typeface="Times New Roman"/>
                <a:cs typeface="Times New Roman"/>
              </a:defRPr>
            </a:lvl7pPr>
            <a:lvl8pPr algn="l">
              <a:defRPr sz="2600" b="1">
                <a:solidFill>
                  <a:srgbClr val="181818"/>
                </a:solidFill>
                <a:latin typeface="Times New Roman"/>
                <a:ea typeface="Times New Roman"/>
                <a:cs typeface="Times New Roman"/>
              </a:defRPr>
            </a:lvl8pPr>
            <a:lvl9pPr algn="l">
              <a:defRPr sz="2600" b="1">
                <a:solidFill>
                  <a:srgbClr val="181818"/>
                </a:solidFill>
                <a:latin typeface="Times New Roman"/>
                <a:ea typeface="Times New Roman"/>
                <a:cs typeface="Times New Roman"/>
              </a:defRPr>
            </a:lvl9pPr>
          </a:lstStyle>
          <a:p xmlns:a="http://schemas.openxmlformats.org/drawingml/2006/main">
            <a:pPr algn="l">
              <a:defRPr sz="2600" b="1">
                <a:solidFill>
                  <a:srgbClr val="181818"/>
                </a:solidFill>
                <a:latin typeface="Times New Roman"/>
                <a:ea typeface="Times New Roman"/>
                <a:cs typeface="Times New Roman"/>
              </a:defRPr>
            </a:pPr>
            <a:r>
              <a:rPr sz="2600" b="1">
                <a:solidFill>
                  <a:srgbClr val="181818"/>
                </a:solidFill>
                <a:latin typeface="Times New Roman"/>
                <a:ea typeface="Times New Roman"/>
                <a:cs typeface="Times New Roman"/>
              </a:rPr>
              <a:t>Universidad Técnica de Machala</a:t>
            </a:r>
          </a:p>
        </p:txBody>
      </p:sp>
      <p:sp>
        <p:nvSpPr>
          <p:cNvPr id="5" name="text">
            <a:extLst xmlns:a="http://schemas.openxmlformats.org/drawingml/2006/main">
              <a:ext uri="{FF2B5EF4-FFF2-40B4-BE49-F238E27FC236}">
                <a16:creationId xmlns:a16="http://schemas.microsoft.com/office/drawing/2014/main" id="{D07BE4CD-3651-4DAF-A9DB-5CFC1A14924D}"/>
              </a:ext>
            </a:extLst>
          </p:cNvPr>
          <p:cNvSpPr>
            <a:spLocks xmlns:a="http://schemas.openxmlformats.org/drawingml/2006/main" noGrp="1"/>
          </p:cNvSpPr>
          <p:nvPr/>
        </p:nvSpPr>
        <p:spPr>
          <a:xfrm xmlns:a="http://schemas.openxmlformats.org/drawingml/2006/main">
            <a:off x="609600" y="2305050"/>
            <a:ext cx="1047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0">
                <a:solidFill>
                  <a:srgbClr val="181818"/>
                </a:solidFill>
                <a:latin typeface="Times New Roman"/>
                <a:ea typeface="Times New Roman"/>
                <a:cs typeface="Times New Roman"/>
              </a:defRPr>
            </a:defPPr>
            <a:lvl1pPr algn="l">
              <a:defRPr sz="2400" b="0">
                <a:solidFill>
                  <a:srgbClr val="181818"/>
                </a:solidFill>
                <a:latin typeface="Times New Roman"/>
                <a:ea typeface="Times New Roman"/>
                <a:cs typeface="Times New Roman"/>
              </a:defRPr>
            </a:lvl1pPr>
            <a:lvl2pPr algn="l">
              <a:defRPr sz="2400" b="0">
                <a:solidFill>
                  <a:srgbClr val="181818"/>
                </a:solidFill>
                <a:latin typeface="Times New Roman"/>
                <a:ea typeface="Times New Roman"/>
                <a:cs typeface="Times New Roman"/>
              </a:defRPr>
            </a:lvl2pPr>
            <a:lvl3pPr algn="l">
              <a:defRPr sz="2400" b="0">
                <a:solidFill>
                  <a:srgbClr val="181818"/>
                </a:solidFill>
                <a:latin typeface="Times New Roman"/>
                <a:ea typeface="Times New Roman"/>
                <a:cs typeface="Times New Roman"/>
              </a:defRPr>
            </a:lvl3pPr>
            <a:lvl4pPr algn="l">
              <a:defRPr sz="2400" b="0">
                <a:solidFill>
                  <a:srgbClr val="181818"/>
                </a:solidFill>
                <a:latin typeface="Times New Roman"/>
                <a:ea typeface="Times New Roman"/>
                <a:cs typeface="Times New Roman"/>
              </a:defRPr>
            </a:lvl4pPr>
            <a:lvl5pPr algn="l">
              <a:defRPr sz="2400" b="0">
                <a:solidFill>
                  <a:srgbClr val="181818"/>
                </a:solidFill>
                <a:latin typeface="Times New Roman"/>
                <a:ea typeface="Times New Roman"/>
                <a:cs typeface="Times New Roman"/>
              </a:defRPr>
            </a:lvl5pPr>
            <a:lvl6pPr algn="l">
              <a:defRPr sz="2400" b="0">
                <a:solidFill>
                  <a:srgbClr val="181818"/>
                </a:solidFill>
                <a:latin typeface="Times New Roman"/>
                <a:ea typeface="Times New Roman"/>
                <a:cs typeface="Times New Roman"/>
              </a:defRPr>
            </a:lvl6pPr>
            <a:lvl7pPr algn="l">
              <a:defRPr sz="2400" b="0">
                <a:solidFill>
                  <a:srgbClr val="181818"/>
                </a:solidFill>
                <a:latin typeface="Times New Roman"/>
                <a:ea typeface="Times New Roman"/>
                <a:cs typeface="Times New Roman"/>
              </a:defRPr>
            </a:lvl7pPr>
            <a:lvl8pPr algn="l">
              <a:defRPr sz="2400" b="0">
                <a:solidFill>
                  <a:srgbClr val="181818"/>
                </a:solidFill>
                <a:latin typeface="Times New Roman"/>
                <a:ea typeface="Times New Roman"/>
                <a:cs typeface="Times New Roman"/>
              </a:defRPr>
            </a:lvl8pPr>
            <a:lvl9pPr algn="l">
              <a:defRPr sz="2400" b="0">
                <a:solidFill>
                  <a:srgbClr val="181818"/>
                </a:solidFill>
                <a:latin typeface="Times New Roman"/>
                <a:ea typeface="Times New Roman"/>
                <a:cs typeface="Times New Roman"/>
              </a:defRPr>
            </a:lvl9pPr>
          </a:lstStyle>
          <a:p xmlns:a="http://schemas.openxmlformats.org/drawingml/2006/main">
            <a:pPr algn="l">
              <a:defRPr sz="2400" b="0">
                <a:solidFill>
                  <a:srgbClr val="181818"/>
                </a:solidFill>
                <a:latin typeface="Times New Roman"/>
                <a:ea typeface="Times New Roman"/>
                <a:cs typeface="Times New Roman"/>
              </a:defRPr>
            </a:pPr>
            <a:r>
              <a:rPr sz="2400" b="0">
                <a:solidFill>
                  <a:srgbClr val="181818"/>
                </a:solidFill>
                <a:latin typeface="Times New Roman"/>
                <a:ea typeface="Times New Roman"/>
                <a:cs typeface="Times New Roman"/>
              </a:rPr>
              <a:t>Medicina Veterinaria · Fisiopatología</a:t>
            </a:r>
          </a:p>
        </p:txBody>
      </p:sp>
      <p:sp>
        <p:nvSpPr>
          <p:cNvPr id="6" name="text">
            <a:extLst xmlns:a="http://schemas.openxmlformats.org/drawingml/2006/main">
              <a:ext uri="{FF2B5EF4-FFF2-40B4-BE49-F238E27FC236}">
                <a16:creationId xmlns:a16="http://schemas.microsoft.com/office/drawing/2014/main" id="{739395F4-AC1B-44E0-AD3F-D5FDF773EA8E}"/>
              </a:ext>
            </a:extLst>
          </p:cNvPr>
          <p:cNvSpPr>
            <a:spLocks xmlns:a="http://schemas.openxmlformats.org/drawingml/2006/main" noGrp="1"/>
          </p:cNvSpPr>
          <p:nvPr/>
        </p:nvSpPr>
        <p:spPr>
          <a:xfrm xmlns:a="http://schemas.openxmlformats.org/drawingml/2006/main">
            <a:off x="609600" y="3181350"/>
            <a:ext cx="10477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00" b="1">
                <a:solidFill>
                  <a:srgbClr val="181818"/>
                </a:solidFill>
                <a:latin typeface="Times New Roman"/>
                <a:ea typeface="Times New Roman"/>
                <a:cs typeface="Times New Roman"/>
              </a:defRPr>
            </a:defPPr>
            <a:lvl1pPr algn="l">
              <a:defRPr sz="2600" b="1">
                <a:solidFill>
                  <a:srgbClr val="181818"/>
                </a:solidFill>
                <a:latin typeface="Times New Roman"/>
                <a:ea typeface="Times New Roman"/>
                <a:cs typeface="Times New Roman"/>
              </a:defRPr>
            </a:lvl1pPr>
            <a:lvl2pPr algn="l">
              <a:defRPr sz="2600" b="1">
                <a:solidFill>
                  <a:srgbClr val="181818"/>
                </a:solidFill>
                <a:latin typeface="Times New Roman"/>
                <a:ea typeface="Times New Roman"/>
                <a:cs typeface="Times New Roman"/>
              </a:defRPr>
            </a:lvl2pPr>
            <a:lvl3pPr algn="l">
              <a:defRPr sz="2600" b="1">
                <a:solidFill>
                  <a:srgbClr val="181818"/>
                </a:solidFill>
                <a:latin typeface="Times New Roman"/>
                <a:ea typeface="Times New Roman"/>
                <a:cs typeface="Times New Roman"/>
              </a:defRPr>
            </a:lvl3pPr>
            <a:lvl4pPr algn="l">
              <a:defRPr sz="2600" b="1">
                <a:solidFill>
                  <a:srgbClr val="181818"/>
                </a:solidFill>
                <a:latin typeface="Times New Roman"/>
                <a:ea typeface="Times New Roman"/>
                <a:cs typeface="Times New Roman"/>
              </a:defRPr>
            </a:lvl4pPr>
            <a:lvl5pPr algn="l">
              <a:defRPr sz="2600" b="1">
                <a:solidFill>
                  <a:srgbClr val="181818"/>
                </a:solidFill>
                <a:latin typeface="Times New Roman"/>
                <a:ea typeface="Times New Roman"/>
                <a:cs typeface="Times New Roman"/>
              </a:defRPr>
            </a:lvl5pPr>
            <a:lvl6pPr algn="l">
              <a:defRPr sz="2600" b="1">
                <a:solidFill>
                  <a:srgbClr val="181818"/>
                </a:solidFill>
                <a:latin typeface="Times New Roman"/>
                <a:ea typeface="Times New Roman"/>
                <a:cs typeface="Times New Roman"/>
              </a:defRPr>
            </a:lvl6pPr>
            <a:lvl7pPr algn="l">
              <a:defRPr sz="2600" b="1">
                <a:solidFill>
                  <a:srgbClr val="181818"/>
                </a:solidFill>
                <a:latin typeface="Times New Roman"/>
                <a:ea typeface="Times New Roman"/>
                <a:cs typeface="Times New Roman"/>
              </a:defRPr>
            </a:lvl7pPr>
            <a:lvl8pPr algn="l">
              <a:defRPr sz="2600" b="1">
                <a:solidFill>
                  <a:srgbClr val="181818"/>
                </a:solidFill>
                <a:latin typeface="Times New Roman"/>
                <a:ea typeface="Times New Roman"/>
                <a:cs typeface="Times New Roman"/>
              </a:defRPr>
            </a:lvl8pPr>
            <a:lvl9pPr algn="l">
              <a:defRPr sz="2600" b="1">
                <a:solidFill>
                  <a:srgbClr val="181818"/>
                </a:solidFill>
                <a:latin typeface="Times New Roman"/>
                <a:ea typeface="Times New Roman"/>
                <a:cs typeface="Times New Roman"/>
              </a:defRPr>
            </a:lvl9pPr>
          </a:lstStyle>
          <a:p xmlns:a="http://schemas.openxmlformats.org/drawingml/2006/main">
            <a:pPr algn="l">
              <a:defRPr sz="2600" b="1">
                <a:solidFill>
                  <a:srgbClr val="181818"/>
                </a:solidFill>
                <a:latin typeface="Times New Roman"/>
                <a:ea typeface="Times New Roman"/>
                <a:cs typeface="Times New Roman"/>
              </a:defRPr>
            </a:pPr>
            <a:r>
              <a:rPr sz="2600" b="1">
                <a:solidFill>
                  <a:srgbClr val="181818"/>
                </a:solidFill>
                <a:latin typeface="Times New Roman"/>
                <a:ea typeface="Times New Roman"/>
                <a:cs typeface="Times New Roman"/>
              </a:rPr>
              <a:t>Juan José Bajaña Chuno</a:t>
            </a:r>
          </a:p>
        </p:txBody>
      </p:sp>
      <p:sp>
        <p:nvSpPr>
          <p:cNvPr id="7" name="text">
            <a:extLst xmlns:a="http://schemas.openxmlformats.org/drawingml/2006/main">
              <a:ext uri="{FF2B5EF4-FFF2-40B4-BE49-F238E27FC236}">
                <a16:creationId xmlns:a16="http://schemas.microsoft.com/office/drawing/2014/main" id="{AC64749C-E684-4D5E-A05E-20FCF8491C91}"/>
              </a:ext>
            </a:extLst>
          </p:cNvPr>
          <p:cNvSpPr>
            <a:spLocks xmlns:a="http://schemas.openxmlformats.org/drawingml/2006/main" noGrp="1"/>
          </p:cNvSpPr>
          <p:nvPr/>
        </p:nvSpPr>
        <p:spPr>
          <a:xfrm xmlns:a="http://schemas.openxmlformats.org/drawingml/2006/main">
            <a:off x="609600" y="3724275"/>
            <a:ext cx="1047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0">
                <a:solidFill>
                  <a:srgbClr val="181818"/>
                </a:solidFill>
                <a:latin typeface="Times New Roman"/>
                <a:ea typeface="Times New Roman"/>
                <a:cs typeface="Times New Roman"/>
              </a:defRPr>
            </a:defPPr>
            <a:lvl1pPr algn="l">
              <a:defRPr sz="2400" b="0">
                <a:solidFill>
                  <a:srgbClr val="181818"/>
                </a:solidFill>
                <a:latin typeface="Times New Roman"/>
                <a:ea typeface="Times New Roman"/>
                <a:cs typeface="Times New Roman"/>
              </a:defRPr>
            </a:lvl1pPr>
            <a:lvl2pPr algn="l">
              <a:defRPr sz="2400" b="0">
                <a:solidFill>
                  <a:srgbClr val="181818"/>
                </a:solidFill>
                <a:latin typeface="Times New Roman"/>
                <a:ea typeface="Times New Roman"/>
                <a:cs typeface="Times New Roman"/>
              </a:defRPr>
            </a:lvl2pPr>
            <a:lvl3pPr algn="l">
              <a:defRPr sz="2400" b="0">
                <a:solidFill>
                  <a:srgbClr val="181818"/>
                </a:solidFill>
                <a:latin typeface="Times New Roman"/>
                <a:ea typeface="Times New Roman"/>
                <a:cs typeface="Times New Roman"/>
              </a:defRPr>
            </a:lvl3pPr>
            <a:lvl4pPr algn="l">
              <a:defRPr sz="2400" b="0">
                <a:solidFill>
                  <a:srgbClr val="181818"/>
                </a:solidFill>
                <a:latin typeface="Times New Roman"/>
                <a:ea typeface="Times New Roman"/>
                <a:cs typeface="Times New Roman"/>
              </a:defRPr>
            </a:lvl4pPr>
            <a:lvl5pPr algn="l">
              <a:defRPr sz="2400" b="0">
                <a:solidFill>
                  <a:srgbClr val="181818"/>
                </a:solidFill>
                <a:latin typeface="Times New Roman"/>
                <a:ea typeface="Times New Roman"/>
                <a:cs typeface="Times New Roman"/>
              </a:defRPr>
            </a:lvl5pPr>
            <a:lvl6pPr algn="l">
              <a:defRPr sz="2400" b="0">
                <a:solidFill>
                  <a:srgbClr val="181818"/>
                </a:solidFill>
                <a:latin typeface="Times New Roman"/>
                <a:ea typeface="Times New Roman"/>
                <a:cs typeface="Times New Roman"/>
              </a:defRPr>
            </a:lvl6pPr>
            <a:lvl7pPr algn="l">
              <a:defRPr sz="2400" b="0">
                <a:solidFill>
                  <a:srgbClr val="181818"/>
                </a:solidFill>
                <a:latin typeface="Times New Roman"/>
                <a:ea typeface="Times New Roman"/>
                <a:cs typeface="Times New Roman"/>
              </a:defRPr>
            </a:lvl7pPr>
            <a:lvl8pPr algn="l">
              <a:defRPr sz="2400" b="0">
                <a:solidFill>
                  <a:srgbClr val="181818"/>
                </a:solidFill>
                <a:latin typeface="Times New Roman"/>
                <a:ea typeface="Times New Roman"/>
                <a:cs typeface="Times New Roman"/>
              </a:defRPr>
            </a:lvl8pPr>
            <a:lvl9pPr algn="l">
              <a:defRPr sz="2400" b="0">
                <a:solidFill>
                  <a:srgbClr val="181818"/>
                </a:solidFill>
                <a:latin typeface="Times New Roman"/>
                <a:ea typeface="Times New Roman"/>
                <a:cs typeface="Times New Roman"/>
              </a:defRPr>
            </a:lvl9pPr>
          </a:lstStyle>
          <a:p xmlns:a="http://schemas.openxmlformats.org/drawingml/2006/main">
            <a:pPr algn="l">
              <a:defRPr sz="2400" b="0">
                <a:solidFill>
                  <a:srgbClr val="181818"/>
                </a:solidFill>
                <a:latin typeface="Times New Roman"/>
                <a:ea typeface="Times New Roman"/>
                <a:cs typeface="Times New Roman"/>
              </a:defRPr>
            </a:pPr>
            <a:r>
              <a:rPr sz="2400" b="0">
                <a:solidFill>
                  <a:srgbClr val="181818"/>
                </a:solidFill>
                <a:latin typeface="Times New Roman"/>
                <a:ea typeface="Times New Roman"/>
                <a:cs typeface="Times New Roman"/>
              </a:rPr>
              <a:t>5.º A · 2026-2</a:t>
            </a:r>
          </a:p>
        </p:txBody>
      </p:sp>
      <p:sp>
        <p:nvSpPr>
          <p:cNvPr id="8" name="text">
            <a:extLst xmlns:a="http://schemas.openxmlformats.org/drawingml/2006/main">
              <a:ext uri="{FF2B5EF4-FFF2-40B4-BE49-F238E27FC236}">
                <a16:creationId xmlns:a16="http://schemas.microsoft.com/office/drawing/2014/main" id="{AD595CD9-7A86-4F06-88F0-39DC2E76F207}"/>
              </a:ext>
            </a:extLst>
          </p:cNvPr>
          <p:cNvSpPr>
            <a:spLocks xmlns:a="http://schemas.openxmlformats.org/drawingml/2006/main" noGrp="1"/>
          </p:cNvSpPr>
          <p:nvPr/>
        </p:nvSpPr>
        <p:spPr>
          <a:xfrm xmlns:a="http://schemas.openxmlformats.org/drawingml/2006/main">
            <a:off x="609600" y="5048250"/>
            <a:ext cx="1038225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800" b="0">
                <a:solidFill>
                  <a:srgbClr val="367653"/>
                </a:solidFill>
                <a:latin typeface="Times New Roman"/>
                <a:ea typeface="Times New Roman"/>
                <a:cs typeface="Times New Roman"/>
              </a:defRPr>
            </a:defPPr>
            <a:lvl1pPr algn="l">
              <a:defRPr sz="2800" b="0">
                <a:solidFill>
                  <a:srgbClr val="367653"/>
                </a:solidFill>
                <a:latin typeface="Times New Roman"/>
                <a:ea typeface="Times New Roman"/>
                <a:cs typeface="Times New Roman"/>
              </a:defRPr>
            </a:lvl1pPr>
            <a:lvl2pPr algn="l">
              <a:defRPr sz="2800" b="0">
                <a:solidFill>
                  <a:srgbClr val="367653"/>
                </a:solidFill>
                <a:latin typeface="Times New Roman"/>
                <a:ea typeface="Times New Roman"/>
                <a:cs typeface="Times New Roman"/>
              </a:defRPr>
            </a:lvl2pPr>
            <a:lvl3pPr algn="l">
              <a:defRPr sz="2800" b="0">
                <a:solidFill>
                  <a:srgbClr val="367653"/>
                </a:solidFill>
                <a:latin typeface="Times New Roman"/>
                <a:ea typeface="Times New Roman"/>
                <a:cs typeface="Times New Roman"/>
              </a:defRPr>
            </a:lvl3pPr>
            <a:lvl4pPr algn="l">
              <a:defRPr sz="2800" b="0">
                <a:solidFill>
                  <a:srgbClr val="367653"/>
                </a:solidFill>
                <a:latin typeface="Times New Roman"/>
                <a:ea typeface="Times New Roman"/>
                <a:cs typeface="Times New Roman"/>
              </a:defRPr>
            </a:lvl4pPr>
            <a:lvl5pPr algn="l">
              <a:defRPr sz="2800" b="0">
                <a:solidFill>
                  <a:srgbClr val="367653"/>
                </a:solidFill>
                <a:latin typeface="Times New Roman"/>
                <a:ea typeface="Times New Roman"/>
                <a:cs typeface="Times New Roman"/>
              </a:defRPr>
            </a:lvl5pPr>
            <a:lvl6pPr algn="l">
              <a:defRPr sz="2800" b="0">
                <a:solidFill>
                  <a:srgbClr val="367653"/>
                </a:solidFill>
                <a:latin typeface="Times New Roman"/>
                <a:ea typeface="Times New Roman"/>
                <a:cs typeface="Times New Roman"/>
              </a:defRPr>
            </a:lvl6pPr>
            <a:lvl7pPr algn="l">
              <a:defRPr sz="2800" b="0">
                <a:solidFill>
                  <a:srgbClr val="367653"/>
                </a:solidFill>
                <a:latin typeface="Times New Roman"/>
                <a:ea typeface="Times New Roman"/>
                <a:cs typeface="Times New Roman"/>
              </a:defRPr>
            </a:lvl7pPr>
            <a:lvl8pPr algn="l">
              <a:defRPr sz="2800" b="0">
                <a:solidFill>
                  <a:srgbClr val="367653"/>
                </a:solidFill>
                <a:latin typeface="Times New Roman"/>
                <a:ea typeface="Times New Roman"/>
                <a:cs typeface="Times New Roman"/>
              </a:defRPr>
            </a:lvl8pPr>
            <a:lvl9pPr algn="l">
              <a:defRPr sz="2800" b="0">
                <a:solidFill>
                  <a:srgbClr val="367653"/>
                </a:solidFill>
                <a:latin typeface="Times New Roman"/>
                <a:ea typeface="Times New Roman"/>
                <a:cs typeface="Times New Roman"/>
              </a:defRPr>
            </a:lvl9pPr>
          </a:lstStyle>
          <a:p xmlns:a="http://schemas.openxmlformats.org/drawingml/2006/main">
            <a:pPr algn="l">
              <a:defRPr sz="2800" b="0">
                <a:solidFill>
                  <a:srgbClr val="367653"/>
                </a:solidFill>
                <a:latin typeface="Times New Roman"/>
                <a:ea typeface="Times New Roman"/>
                <a:cs typeface="Times New Roman"/>
              </a:defRPr>
            </a:pPr>
            <a:r>
              <a:rPr sz="2800" b="0">
                <a:solidFill>
                  <a:srgbClr val="367653"/>
                </a:solidFill>
                <a:latin typeface="Times New Roman"/>
                <a:ea typeface="Times New Roman"/>
                <a:cs typeface="Times New Roman"/>
              </a:rPr>
              <a:t>¿Un pH dentro del intervalo descarta un trastorno?</a:t>
            </a:r>
          </a:p>
        </p:txBody>
      </p:sp>
    </p:spTree>
    <p:extLst>
      <p:ext uri="{BB962C8B-B14F-4D97-AF65-F5344CB8AC3E}">
        <p14:creationId xmlns:p14="http://schemas.microsoft.com/office/powerpoint/2010/main" val="40632686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0E6C3712-F674-43B9-A7A9-26B21E10CFDA}"/>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pH: resultado y proceso</a:t>
            </a:r>
          </a:p>
        </p:txBody>
      </p:sp>
      <p:sp>
        <p:nvSpPr>
          <p:cNvPr id="2" name="page-number">
            <a:extLst xmlns:a="http://schemas.openxmlformats.org/drawingml/2006/main">
              <a:ext uri="{FF2B5EF4-FFF2-40B4-BE49-F238E27FC236}">
                <a16:creationId xmlns:a16="http://schemas.microsoft.com/office/drawing/2014/main" id="{6ABEB107-16AF-49B3-BA72-935A4FB901F6}"/>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02</a:t>
            </a:r>
          </a:p>
        </p:txBody>
      </p:sp>
      <p:sp>
        <p:nvSpPr>
          <p:cNvPr id="3" name="sources">
            <a:extLst xmlns:a="http://schemas.openxmlformats.org/drawingml/2006/main">
              <a:ext uri="{FF2B5EF4-FFF2-40B4-BE49-F238E27FC236}">
                <a16:creationId xmlns:a16="http://schemas.microsoft.com/office/drawing/2014/main" id="{C098EB78-2E82-4B74-A7D1-41CF80D0C0BF}"/>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[1]</a:t>
            </a:r>
          </a:p>
        </p:txBody>
      </p:sp>
      <p:graphicFrame>
        <p:nvGraphicFramePr>
          <p:cNvPr id="4" name="">
            <a:extLst xmlns:a="http://schemas.openxmlformats.org/drawingml/2006/main">
              <a:ext uri="{FF2B5EF4-FFF2-40B4-BE49-F238E27FC236}">
                <a16:creationId xmlns:a16="http://schemas.microsoft.com/office/drawing/2014/main" id="{58925872-E26E-4702-9718-FA92DE38B477}"/>
              </a:ext>
            </a:extLst>
          </p:cNvPr>
          <p:cNvGraphicFramePr/>
          <p:nvPr/>
        </p:nvGraphicFramePr>
        <p:xfrm>
          <a:off xmlns:a="http://schemas.openxmlformats.org/drawingml/2006/main" x="609600" y="1666875"/>
          <a:ext xmlns:a="http://schemas.openxmlformats.org/drawingml/2006/main" cx="10972800" cy="2857500"/>
        </p:xfrm>
        <a:graphic xmlns:a="http://schemas.openxmlformats.org/drawingml/2006/main">
          <a:graphicData uri="http://schemas.openxmlformats.org/drawingml/2006/table">
            <a:tbl>
              <a:tblPr firstRow="1" bandRow="0"/>
              <a:tblGrid>
                <a:gridCol w="3476625"/>
                <a:gridCol w="7496175"/>
              </a:tblGrid>
              <a:tr h="666750">
                <a:tc>
                  <a:txBody>
                    <a:bodyPr wrap="square">
                      <a:noAutofit/>
                    </a:bodyPr>
                    <a:lstStyle/>
                    <a:p>
                      <a:pPr algn="l"/>
                      <a:r>
                        <a:rPr sz="2200" b="1">
                          <a:solidFill>
                            <a:srgbClr val="FFFFFF"/>
                          </a:solidFill>
                          <a:latin typeface="Times New Roman"/>
                          <a:ea typeface="Times New Roman"/>
                          <a:cs typeface="Times New Roman"/>
                        </a:rPr>
                        <a:t>Término</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Qué describe</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1095375">
                <a:tc>
                  <a:txBody>
                    <a:bodyPr wrap="square">
                      <a:noAutofit/>
                    </a:bodyPr>
                    <a:lstStyle/>
                    <a:p>
                      <a:pPr algn="l"/>
                      <a:r>
                        <a:rPr sz="2400" b="0">
                          <a:solidFill>
                            <a:srgbClr val="181818"/>
                          </a:solidFill>
                          <a:latin typeface="Times New Roman"/>
                          <a:ea typeface="Times New Roman"/>
                          <a:cs typeface="Times New Roman"/>
                        </a:rPr>
                        <a:t>Acidemia / alcalemia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400" b="0">
                          <a:solidFill>
                            <a:srgbClr val="181818"/>
                          </a:solidFill>
                          <a:latin typeface="Times New Roman"/>
                          <a:ea typeface="Times New Roman"/>
                          <a:cs typeface="Times New Roman"/>
                        </a:rPr>
                        <a:t>pH inferior / superior al intervalo aplicable.</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1095375">
                <a:tc>
                  <a:txBody>
                    <a:bodyPr wrap="square">
                      <a:noAutofit/>
                    </a:bodyPr>
                    <a:lstStyle/>
                    <a:p>
                      <a:pPr algn="l"/>
                      <a:r>
                        <a:rPr sz="2400" b="0">
                          <a:solidFill>
                            <a:srgbClr val="181818"/>
                          </a:solidFill>
                          <a:latin typeface="Times New Roman"/>
                          <a:ea typeface="Times New Roman"/>
                          <a:cs typeface="Times New Roman"/>
                        </a:rPr>
                        <a:t>Acidosis / alcalosis</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400" b="0">
                          <a:solidFill>
                            <a:srgbClr val="181818"/>
                          </a:solidFill>
                          <a:latin typeface="Times New Roman"/>
                          <a:ea typeface="Times New Roman"/>
                          <a:cs typeface="Times New Roman"/>
                        </a:rPr>
                        <a:t>Proceso que tiende a disminuir / aumentar el pH.</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6D574DDF-6E6C-43DA-9224-209993C7E6F8}"/>
              </a:ext>
            </a:extLst>
          </p:cNvPr>
          <p:cNvSpPr>
            <a:spLocks xmlns:a="http://schemas.openxmlformats.org/drawingml/2006/main" noGrp="1"/>
          </p:cNvSpPr>
          <p:nvPr/>
        </p:nvSpPr>
        <p:spPr>
          <a:xfrm xmlns:a="http://schemas.openxmlformats.org/drawingml/2006/main">
            <a:off x="609600" y="501015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00" b="1">
                <a:solidFill>
                  <a:srgbClr val="367653"/>
                </a:solidFill>
                <a:latin typeface="Times New Roman"/>
                <a:ea typeface="Times New Roman"/>
                <a:cs typeface="Times New Roman"/>
              </a:defRPr>
            </a:defPPr>
            <a:lvl1pPr algn="l">
              <a:defRPr sz="2600" b="1">
                <a:solidFill>
                  <a:srgbClr val="367653"/>
                </a:solidFill>
                <a:latin typeface="Times New Roman"/>
                <a:ea typeface="Times New Roman"/>
                <a:cs typeface="Times New Roman"/>
              </a:defRPr>
            </a:lvl1pPr>
            <a:lvl2pPr algn="l">
              <a:defRPr sz="2600" b="1">
                <a:solidFill>
                  <a:srgbClr val="367653"/>
                </a:solidFill>
                <a:latin typeface="Times New Roman"/>
                <a:ea typeface="Times New Roman"/>
                <a:cs typeface="Times New Roman"/>
              </a:defRPr>
            </a:lvl2pPr>
            <a:lvl3pPr algn="l">
              <a:defRPr sz="2600" b="1">
                <a:solidFill>
                  <a:srgbClr val="367653"/>
                </a:solidFill>
                <a:latin typeface="Times New Roman"/>
                <a:ea typeface="Times New Roman"/>
                <a:cs typeface="Times New Roman"/>
              </a:defRPr>
            </a:lvl3pPr>
            <a:lvl4pPr algn="l">
              <a:defRPr sz="2600" b="1">
                <a:solidFill>
                  <a:srgbClr val="367653"/>
                </a:solidFill>
                <a:latin typeface="Times New Roman"/>
                <a:ea typeface="Times New Roman"/>
                <a:cs typeface="Times New Roman"/>
              </a:defRPr>
            </a:lvl4pPr>
            <a:lvl5pPr algn="l">
              <a:defRPr sz="2600" b="1">
                <a:solidFill>
                  <a:srgbClr val="367653"/>
                </a:solidFill>
                <a:latin typeface="Times New Roman"/>
                <a:ea typeface="Times New Roman"/>
                <a:cs typeface="Times New Roman"/>
              </a:defRPr>
            </a:lvl5pPr>
            <a:lvl6pPr algn="l">
              <a:defRPr sz="2600" b="1">
                <a:solidFill>
                  <a:srgbClr val="367653"/>
                </a:solidFill>
                <a:latin typeface="Times New Roman"/>
                <a:ea typeface="Times New Roman"/>
                <a:cs typeface="Times New Roman"/>
              </a:defRPr>
            </a:lvl6pPr>
            <a:lvl7pPr algn="l">
              <a:defRPr sz="2600" b="1">
                <a:solidFill>
                  <a:srgbClr val="367653"/>
                </a:solidFill>
                <a:latin typeface="Times New Roman"/>
                <a:ea typeface="Times New Roman"/>
                <a:cs typeface="Times New Roman"/>
              </a:defRPr>
            </a:lvl7pPr>
            <a:lvl8pPr algn="l">
              <a:defRPr sz="2600" b="1">
                <a:solidFill>
                  <a:srgbClr val="367653"/>
                </a:solidFill>
                <a:latin typeface="Times New Roman"/>
                <a:ea typeface="Times New Roman"/>
                <a:cs typeface="Times New Roman"/>
              </a:defRPr>
            </a:lvl8pPr>
            <a:lvl9pPr algn="l">
              <a:defRPr sz="2600" b="1">
                <a:solidFill>
                  <a:srgbClr val="367653"/>
                </a:solidFill>
                <a:latin typeface="Times New Roman"/>
                <a:ea typeface="Times New Roman"/>
                <a:cs typeface="Times New Roman"/>
              </a:defRPr>
            </a:lvl9pPr>
          </a:lstStyle>
          <a:p xmlns:a="http://schemas.openxmlformats.org/drawingml/2006/main">
            <a:pPr algn="l">
              <a:defRPr sz="2600" b="1">
                <a:solidFill>
                  <a:srgbClr val="367653"/>
                </a:solidFill>
                <a:latin typeface="Times New Roman"/>
                <a:ea typeface="Times New Roman"/>
                <a:cs typeface="Times New Roman"/>
              </a:defRPr>
            </a:pPr>
            <a:r>
              <a:rPr sz="2600" b="1">
                <a:solidFill>
                  <a:srgbClr val="367653"/>
                </a:solidFill>
                <a:latin typeface="Times New Roman"/>
                <a:ea typeface="Times New Roman"/>
                <a:cs typeface="Times New Roman"/>
              </a:rPr>
              <a:t>Procesos opuestos pueden ocultarse en el resultado.</a:t>
            </a:r>
          </a:p>
        </p:txBody>
      </p:sp>
    </p:spTree>
    <p:extLst>
      <p:ext uri="{BB962C8B-B14F-4D97-AF65-F5344CB8AC3E}">
        <p14:creationId xmlns:p14="http://schemas.microsoft.com/office/powerpoint/2010/main" val="18532839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F2C7AB0E-78FE-4DF2-803C-25EE29656F2B}"/>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Bicarbonato y CO₂</a:t>
            </a:r>
          </a:p>
        </p:txBody>
      </p:sp>
      <p:sp>
        <p:nvSpPr>
          <p:cNvPr id="2" name="page-number">
            <a:extLst xmlns:a="http://schemas.openxmlformats.org/drawingml/2006/main">
              <a:ext uri="{FF2B5EF4-FFF2-40B4-BE49-F238E27FC236}">
                <a16:creationId xmlns:a16="http://schemas.microsoft.com/office/drawing/2014/main" id="{1867B7B4-68BD-42CF-A120-9AB3FF108D13}"/>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03</a:t>
            </a:r>
          </a:p>
        </p:txBody>
      </p:sp>
      <p:sp>
        <p:nvSpPr>
          <p:cNvPr id="3" name="sources">
            <a:extLst xmlns:a="http://schemas.openxmlformats.org/drawingml/2006/main">
              <a:ext uri="{FF2B5EF4-FFF2-40B4-BE49-F238E27FC236}">
                <a16:creationId xmlns:a16="http://schemas.microsoft.com/office/drawing/2014/main" id="{A08DB468-1BD1-4CAC-ACD2-F0022A1221F8}"/>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[2] [3]</a:t>
            </a:r>
          </a:p>
        </p:txBody>
      </p:sp>
      <p:pic>
        <p:nvPicPr>
          <p:cNvPr id="4" name="">
            <a:extLst xmlns:a="http://schemas.openxmlformats.org/drawingml/2006/main">
              <a:ext uri="{FF2B5EF4-FFF2-40B4-BE49-F238E27FC236}">
                <a16:creationId xmlns:a16="http://schemas.microsoft.com/office/drawing/2014/main" id="{EDFEBBA0-42F4-4826-91D0-4B40AA19238F}"/>
              </a:ext>
            </a:extLst>
          </p:cNvPr>
          <p:cNvPicPr>
            <a:picLocks xmlns:a="http://schemas.openxmlformats.org/drawingml/2006/main" noChangeAspect="1"/>
          </p:cNvPicPr>
          <p:nvPr/>
        </p:nvPicPr>
        <p:blipFill>
          <a:blip xmlns:r="http://schemas.openxmlformats.org/officeDocument/2006/relationships" xmlns:a="http://schemas.openxmlformats.org/drawingml/2006/main" r:embed="R55639b87e4bf4d40"/>
          <a:stretch xmlns:a="http://schemas.openxmlformats.org/drawingml/2006/main"/>
        </p:blipFill>
        <p:spPr>
          <a:xfrm xmlns:a="http://schemas.openxmlformats.org/drawingml/2006/main">
            <a:off x="609600" y="1582738"/>
            <a:ext cx="6953250" cy="4635500"/>
          </a:xfrm>
          <a:prstGeom xmlns:a="http://schemas.openxmlformats.org/drawingml/2006/main" prst="rect">
            <a:avLst/>
          </a:prstGeom>
        </p:spPr>
      </p:pic>
      <p:sp>
        <p:nvSpPr>
          <p:cNvPr id="5" name="text">
            <a:extLst xmlns:a="http://schemas.openxmlformats.org/drawingml/2006/main">
              <a:ext uri="{FF2B5EF4-FFF2-40B4-BE49-F238E27FC236}">
                <a16:creationId xmlns:a16="http://schemas.microsoft.com/office/drawing/2014/main" id="{136F9DCE-15E1-4A41-B58E-E8102C017A8E}"/>
              </a:ext>
            </a:extLst>
          </p:cNvPr>
          <p:cNvSpPr>
            <a:spLocks xmlns:a="http://schemas.openxmlformats.org/drawingml/2006/main" noGrp="1"/>
          </p:cNvSpPr>
          <p:nvPr/>
        </p:nvSpPr>
        <p:spPr>
          <a:xfrm xmlns:a="http://schemas.openxmlformats.org/drawingml/2006/main">
            <a:off x="7915275" y="1628775"/>
            <a:ext cx="366712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367653"/>
                </a:solidFill>
                <a:latin typeface="Times New Roman"/>
                <a:ea typeface="Times New Roman"/>
                <a:cs typeface="Times New Roman"/>
              </a:defRPr>
            </a:defPPr>
            <a:lvl1pPr algn="l">
              <a:defRPr sz="2400" b="1">
                <a:solidFill>
                  <a:srgbClr val="367653"/>
                </a:solidFill>
                <a:latin typeface="Times New Roman"/>
                <a:ea typeface="Times New Roman"/>
                <a:cs typeface="Times New Roman"/>
              </a:defRPr>
            </a:lvl1pPr>
            <a:lvl2pPr algn="l">
              <a:defRPr sz="2400" b="1">
                <a:solidFill>
                  <a:srgbClr val="367653"/>
                </a:solidFill>
                <a:latin typeface="Times New Roman"/>
                <a:ea typeface="Times New Roman"/>
                <a:cs typeface="Times New Roman"/>
              </a:defRPr>
            </a:lvl2pPr>
            <a:lvl3pPr algn="l">
              <a:defRPr sz="2400" b="1">
                <a:solidFill>
                  <a:srgbClr val="367653"/>
                </a:solidFill>
                <a:latin typeface="Times New Roman"/>
                <a:ea typeface="Times New Roman"/>
                <a:cs typeface="Times New Roman"/>
              </a:defRPr>
            </a:lvl3pPr>
            <a:lvl4pPr algn="l">
              <a:defRPr sz="2400" b="1">
                <a:solidFill>
                  <a:srgbClr val="367653"/>
                </a:solidFill>
                <a:latin typeface="Times New Roman"/>
                <a:ea typeface="Times New Roman"/>
                <a:cs typeface="Times New Roman"/>
              </a:defRPr>
            </a:lvl4pPr>
            <a:lvl5pPr algn="l">
              <a:defRPr sz="2400" b="1">
                <a:solidFill>
                  <a:srgbClr val="367653"/>
                </a:solidFill>
                <a:latin typeface="Times New Roman"/>
                <a:ea typeface="Times New Roman"/>
                <a:cs typeface="Times New Roman"/>
              </a:defRPr>
            </a:lvl5pPr>
            <a:lvl6pPr algn="l">
              <a:defRPr sz="2400" b="1">
                <a:solidFill>
                  <a:srgbClr val="367653"/>
                </a:solidFill>
                <a:latin typeface="Times New Roman"/>
                <a:ea typeface="Times New Roman"/>
                <a:cs typeface="Times New Roman"/>
              </a:defRPr>
            </a:lvl6pPr>
            <a:lvl7pPr algn="l">
              <a:defRPr sz="2400" b="1">
                <a:solidFill>
                  <a:srgbClr val="367653"/>
                </a:solidFill>
                <a:latin typeface="Times New Roman"/>
                <a:ea typeface="Times New Roman"/>
                <a:cs typeface="Times New Roman"/>
              </a:defRPr>
            </a:lvl7pPr>
            <a:lvl8pPr algn="l">
              <a:defRPr sz="2400" b="1">
                <a:solidFill>
                  <a:srgbClr val="367653"/>
                </a:solidFill>
                <a:latin typeface="Times New Roman"/>
                <a:ea typeface="Times New Roman"/>
                <a:cs typeface="Times New Roman"/>
              </a:defRPr>
            </a:lvl8pPr>
            <a:lvl9pPr algn="l">
              <a:defRPr sz="2400" b="1">
                <a:solidFill>
                  <a:srgbClr val="367653"/>
                </a:solidFill>
                <a:latin typeface="Times New Roman"/>
                <a:ea typeface="Times New Roman"/>
                <a:cs typeface="Times New Roman"/>
              </a:defRPr>
            </a:lvl9pPr>
          </a:lstStyle>
          <a:p xmlns:a="http://schemas.openxmlformats.org/drawingml/2006/main">
            <a:pPr algn="l">
              <a:defRPr sz="2400" b="1">
                <a:solidFill>
                  <a:srgbClr val="367653"/>
                </a:solidFill>
                <a:latin typeface="Times New Roman"/>
                <a:ea typeface="Times New Roman"/>
                <a:cs typeface="Times New Roman"/>
              </a:defRPr>
            </a:pPr>
            <a:r>
              <a:rPr sz="2400" b="1">
                <a:solidFill>
                  <a:srgbClr val="367653"/>
                </a:solidFill>
                <a:latin typeface="Times New Roman"/>
                <a:ea typeface="Times New Roman"/>
                <a:cs typeface="Times New Roman"/>
              </a:rPr>
              <a:t>Henderson–Hasselbalch</a:t>
            </a:r>
          </a:p>
        </p:txBody>
      </p:sp>
      <p:sp>
        <p:nvSpPr>
          <p:cNvPr id="6" name="text">
            <a:extLst xmlns:a="http://schemas.openxmlformats.org/drawingml/2006/main">
              <a:ext uri="{FF2B5EF4-FFF2-40B4-BE49-F238E27FC236}">
                <a16:creationId xmlns:a16="http://schemas.microsoft.com/office/drawing/2014/main" id="{07B2AF05-713D-40B4-BB6C-666952E5FD0A}"/>
              </a:ext>
            </a:extLst>
          </p:cNvPr>
          <p:cNvSpPr>
            <a:spLocks xmlns:a="http://schemas.openxmlformats.org/drawingml/2006/main" noGrp="1"/>
          </p:cNvSpPr>
          <p:nvPr/>
        </p:nvSpPr>
        <p:spPr>
          <a:xfrm xmlns:a="http://schemas.openxmlformats.org/drawingml/2006/main">
            <a:off x="7915275" y="2505075"/>
            <a:ext cx="366712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pH = 6,1 + log₁₀</a:t>
            </a:r>
          </a:p>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[HCO₃⁻ / (0,03 × PCO₂)]</a:t>
            </a:r>
          </a:p>
        </p:txBody>
      </p:sp>
      <p:sp>
        <p:nvSpPr>
          <p:cNvPr id="7" name="text">
            <a:extLst xmlns:a="http://schemas.openxmlformats.org/drawingml/2006/main">
              <a:ext uri="{FF2B5EF4-FFF2-40B4-BE49-F238E27FC236}">
                <a16:creationId xmlns:a16="http://schemas.microsoft.com/office/drawing/2014/main" id="{8DAEA24E-B5C9-49C0-BBFE-D1B81DF3A43A}"/>
              </a:ext>
            </a:extLst>
          </p:cNvPr>
          <p:cNvSpPr>
            <a:spLocks xmlns:a="http://schemas.openxmlformats.org/drawingml/2006/main" noGrp="1"/>
          </p:cNvSpPr>
          <p:nvPr/>
        </p:nvSpPr>
        <p:spPr>
          <a:xfrm xmlns:a="http://schemas.openxmlformats.org/drawingml/2006/main">
            <a:off x="7915275" y="3867150"/>
            <a:ext cx="3667125"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Aproximación a 37 °C.</a:t>
            </a:r>
          </a:p>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HCO₃⁻: mmol/L</a:t>
            </a:r>
          </a:p>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PCO₂: mmHg</a:t>
            </a:r>
          </a:p>
        </p:txBody>
      </p:sp>
      <p:sp>
        <p:nvSpPr>
          <p:cNvPr id="8" name="text">
            <a:extLst xmlns:a="http://schemas.openxmlformats.org/drawingml/2006/main">
              <a:ext uri="{FF2B5EF4-FFF2-40B4-BE49-F238E27FC236}">
                <a16:creationId xmlns:a16="http://schemas.microsoft.com/office/drawing/2014/main" id="{A35FC879-7849-47EC-9DB4-E2951B6B9674}"/>
              </a:ext>
            </a:extLst>
          </p:cNvPr>
          <p:cNvSpPr>
            <a:spLocks xmlns:a="http://schemas.openxmlformats.org/drawingml/2006/main" noGrp="1"/>
          </p:cNvSpPr>
          <p:nvPr/>
        </p:nvSpPr>
        <p:spPr>
          <a:xfrm xmlns:a="http://schemas.openxmlformats.org/drawingml/2006/main">
            <a:off x="7915275" y="5410200"/>
            <a:ext cx="366712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1">
                <a:solidFill>
                  <a:srgbClr val="181818"/>
                </a:solidFill>
                <a:latin typeface="Times New Roman"/>
                <a:ea typeface="Times New Roman"/>
                <a:cs typeface="Times New Roman"/>
              </a:defRPr>
            </a:defPPr>
            <a:lvl1pPr algn="l">
              <a:defRPr sz="2200" b="1">
                <a:solidFill>
                  <a:srgbClr val="181818"/>
                </a:solidFill>
                <a:latin typeface="Times New Roman"/>
                <a:ea typeface="Times New Roman"/>
                <a:cs typeface="Times New Roman"/>
              </a:defRPr>
            </a:lvl1pPr>
            <a:lvl2pPr algn="l">
              <a:defRPr sz="2200" b="1">
                <a:solidFill>
                  <a:srgbClr val="181818"/>
                </a:solidFill>
                <a:latin typeface="Times New Roman"/>
                <a:ea typeface="Times New Roman"/>
                <a:cs typeface="Times New Roman"/>
              </a:defRPr>
            </a:lvl2pPr>
            <a:lvl3pPr algn="l">
              <a:defRPr sz="2200" b="1">
                <a:solidFill>
                  <a:srgbClr val="181818"/>
                </a:solidFill>
                <a:latin typeface="Times New Roman"/>
                <a:ea typeface="Times New Roman"/>
                <a:cs typeface="Times New Roman"/>
              </a:defRPr>
            </a:lvl3pPr>
            <a:lvl4pPr algn="l">
              <a:defRPr sz="2200" b="1">
                <a:solidFill>
                  <a:srgbClr val="181818"/>
                </a:solidFill>
                <a:latin typeface="Times New Roman"/>
                <a:ea typeface="Times New Roman"/>
                <a:cs typeface="Times New Roman"/>
              </a:defRPr>
            </a:lvl4pPr>
            <a:lvl5pPr algn="l">
              <a:defRPr sz="2200" b="1">
                <a:solidFill>
                  <a:srgbClr val="181818"/>
                </a:solidFill>
                <a:latin typeface="Times New Roman"/>
                <a:ea typeface="Times New Roman"/>
                <a:cs typeface="Times New Roman"/>
              </a:defRPr>
            </a:lvl5pPr>
            <a:lvl6pPr algn="l">
              <a:defRPr sz="2200" b="1">
                <a:solidFill>
                  <a:srgbClr val="181818"/>
                </a:solidFill>
                <a:latin typeface="Times New Roman"/>
                <a:ea typeface="Times New Roman"/>
                <a:cs typeface="Times New Roman"/>
              </a:defRPr>
            </a:lvl6pPr>
            <a:lvl7pPr algn="l">
              <a:defRPr sz="2200" b="1">
                <a:solidFill>
                  <a:srgbClr val="181818"/>
                </a:solidFill>
                <a:latin typeface="Times New Roman"/>
                <a:ea typeface="Times New Roman"/>
                <a:cs typeface="Times New Roman"/>
              </a:defRPr>
            </a:lvl7pPr>
            <a:lvl8pPr algn="l">
              <a:defRPr sz="2200" b="1">
                <a:solidFill>
                  <a:srgbClr val="181818"/>
                </a:solidFill>
                <a:latin typeface="Times New Roman"/>
                <a:ea typeface="Times New Roman"/>
                <a:cs typeface="Times New Roman"/>
              </a:defRPr>
            </a:lvl8pPr>
            <a:lvl9pPr algn="l">
              <a:defRPr sz="2200" b="1">
                <a:solidFill>
                  <a:srgbClr val="181818"/>
                </a:solidFill>
                <a:latin typeface="Times New Roman"/>
                <a:ea typeface="Times New Roman"/>
                <a:cs typeface="Times New Roman"/>
              </a:defRPr>
            </a:lvl9pPr>
          </a:lstStyle>
          <a:p xmlns:a="http://schemas.openxmlformats.org/drawingml/2006/main">
            <a:pPr algn="l">
              <a:defRPr sz="2200" b="1">
                <a:solidFill>
                  <a:srgbClr val="181818"/>
                </a:solidFill>
                <a:latin typeface="Times New Roman"/>
                <a:ea typeface="Times New Roman"/>
                <a:cs typeface="Times New Roman"/>
              </a:defRPr>
            </a:pPr>
            <a:r>
              <a:rPr sz="2200" b="1">
                <a:solidFill>
                  <a:srgbClr val="181818"/>
                </a:solidFill>
                <a:latin typeface="Times New Roman"/>
                <a:ea typeface="Times New Roman"/>
                <a:cs typeface="Times New Roman"/>
              </a:rPr>
              <a:t>Amortiguar limita el cambio.</a:t>
            </a:r>
          </a:p>
        </p:txBody>
      </p:sp>
    </p:spTree>
    <p:extLst>
      <p:ext uri="{BB962C8B-B14F-4D97-AF65-F5344CB8AC3E}">
        <p14:creationId xmlns:p14="http://schemas.microsoft.com/office/powerpoint/2010/main" val="143151630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E901557F-8FB9-4FAE-A15F-A01981E0BB67}"/>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Regulación pulmonar</a:t>
            </a:r>
          </a:p>
        </p:txBody>
      </p:sp>
      <p:sp>
        <p:nvSpPr>
          <p:cNvPr id="2" name="page-number">
            <a:extLst xmlns:a="http://schemas.openxmlformats.org/drawingml/2006/main">
              <a:ext uri="{FF2B5EF4-FFF2-40B4-BE49-F238E27FC236}">
                <a16:creationId xmlns:a16="http://schemas.microsoft.com/office/drawing/2014/main" id="{54170098-D3AF-4D83-98CC-F1FBD70345C8}"/>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04</a:t>
            </a:r>
          </a:p>
        </p:txBody>
      </p:sp>
      <p:sp>
        <p:nvSpPr>
          <p:cNvPr id="3" name="sources">
            <a:extLst xmlns:a="http://schemas.openxmlformats.org/drawingml/2006/main">
              <a:ext uri="{FF2B5EF4-FFF2-40B4-BE49-F238E27FC236}">
                <a16:creationId xmlns:a16="http://schemas.microsoft.com/office/drawing/2014/main" id="{BF2F85A5-EB33-4D0D-B4D9-0421AC0B379F}"/>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[4] [5]</a:t>
            </a:r>
          </a:p>
        </p:txBody>
      </p:sp>
      <p:pic>
        <p:nvPicPr>
          <p:cNvPr id="4" name="">
            <a:extLst xmlns:a="http://schemas.openxmlformats.org/drawingml/2006/main">
              <a:ext uri="{FF2B5EF4-FFF2-40B4-BE49-F238E27FC236}">
                <a16:creationId xmlns:a16="http://schemas.microsoft.com/office/drawing/2014/main" id="{A1C12EDB-8CE5-4CEB-998F-4D9E7CF73763}"/>
              </a:ext>
            </a:extLst>
          </p:cNvPr>
          <p:cNvPicPr>
            <a:picLocks xmlns:a="http://schemas.openxmlformats.org/drawingml/2006/main" noChangeAspect="1"/>
          </p:cNvPicPr>
          <p:nvPr/>
        </p:nvPicPr>
        <p:blipFill>
          <a:blip xmlns:r="http://schemas.openxmlformats.org/officeDocument/2006/relationships" xmlns:a="http://schemas.openxmlformats.org/drawingml/2006/main" r:embed="Rc1106b406d274a60"/>
          <a:stretch xmlns:a="http://schemas.openxmlformats.org/drawingml/2006/main"/>
        </p:blipFill>
        <p:spPr>
          <a:xfrm xmlns:a="http://schemas.openxmlformats.org/drawingml/2006/main">
            <a:off x="609600" y="1582738"/>
            <a:ext cx="6953250" cy="4635500"/>
          </a:xfrm>
          <a:prstGeom xmlns:a="http://schemas.openxmlformats.org/drawingml/2006/main" prst="rect">
            <a:avLst/>
          </a:prstGeom>
        </p:spPr>
      </p:pic>
      <p:sp>
        <p:nvSpPr>
          <p:cNvPr id="5" name="text">
            <a:extLst xmlns:a="http://schemas.openxmlformats.org/drawingml/2006/main">
              <a:ext uri="{FF2B5EF4-FFF2-40B4-BE49-F238E27FC236}">
                <a16:creationId xmlns:a16="http://schemas.microsoft.com/office/drawing/2014/main" id="{FA16B24F-99CF-4876-ABB4-E39E3A383971}"/>
              </a:ext>
            </a:extLst>
          </p:cNvPr>
          <p:cNvSpPr>
            <a:spLocks xmlns:a="http://schemas.openxmlformats.org/drawingml/2006/main" noGrp="1"/>
          </p:cNvSpPr>
          <p:nvPr/>
        </p:nvSpPr>
        <p:spPr>
          <a:xfrm xmlns:a="http://schemas.openxmlformats.org/drawingml/2006/main">
            <a:off x="7915275" y="1600200"/>
            <a:ext cx="3667125"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367653"/>
                </a:solidFill>
                <a:latin typeface="Times New Roman"/>
                <a:ea typeface="Times New Roman"/>
                <a:cs typeface="Times New Roman"/>
              </a:defRPr>
            </a:defPPr>
            <a:lvl1pPr algn="l">
              <a:defRPr sz="2400" b="1">
                <a:solidFill>
                  <a:srgbClr val="367653"/>
                </a:solidFill>
                <a:latin typeface="Times New Roman"/>
                <a:ea typeface="Times New Roman"/>
                <a:cs typeface="Times New Roman"/>
              </a:defRPr>
            </a:lvl1pPr>
            <a:lvl2pPr algn="l">
              <a:defRPr sz="2400" b="1">
                <a:solidFill>
                  <a:srgbClr val="367653"/>
                </a:solidFill>
                <a:latin typeface="Times New Roman"/>
                <a:ea typeface="Times New Roman"/>
                <a:cs typeface="Times New Roman"/>
              </a:defRPr>
            </a:lvl2pPr>
            <a:lvl3pPr algn="l">
              <a:defRPr sz="2400" b="1">
                <a:solidFill>
                  <a:srgbClr val="367653"/>
                </a:solidFill>
                <a:latin typeface="Times New Roman"/>
                <a:ea typeface="Times New Roman"/>
                <a:cs typeface="Times New Roman"/>
              </a:defRPr>
            </a:lvl3pPr>
            <a:lvl4pPr algn="l">
              <a:defRPr sz="2400" b="1">
                <a:solidFill>
                  <a:srgbClr val="367653"/>
                </a:solidFill>
                <a:latin typeface="Times New Roman"/>
                <a:ea typeface="Times New Roman"/>
                <a:cs typeface="Times New Roman"/>
              </a:defRPr>
            </a:lvl4pPr>
            <a:lvl5pPr algn="l">
              <a:defRPr sz="2400" b="1">
                <a:solidFill>
                  <a:srgbClr val="367653"/>
                </a:solidFill>
                <a:latin typeface="Times New Roman"/>
                <a:ea typeface="Times New Roman"/>
                <a:cs typeface="Times New Roman"/>
              </a:defRPr>
            </a:lvl5pPr>
            <a:lvl6pPr algn="l">
              <a:defRPr sz="2400" b="1">
                <a:solidFill>
                  <a:srgbClr val="367653"/>
                </a:solidFill>
                <a:latin typeface="Times New Roman"/>
                <a:ea typeface="Times New Roman"/>
                <a:cs typeface="Times New Roman"/>
              </a:defRPr>
            </a:lvl6pPr>
            <a:lvl7pPr algn="l">
              <a:defRPr sz="2400" b="1">
                <a:solidFill>
                  <a:srgbClr val="367653"/>
                </a:solidFill>
                <a:latin typeface="Times New Roman"/>
                <a:ea typeface="Times New Roman"/>
                <a:cs typeface="Times New Roman"/>
              </a:defRPr>
            </a:lvl7pPr>
            <a:lvl8pPr algn="l">
              <a:defRPr sz="2400" b="1">
                <a:solidFill>
                  <a:srgbClr val="367653"/>
                </a:solidFill>
                <a:latin typeface="Times New Roman"/>
                <a:ea typeface="Times New Roman"/>
                <a:cs typeface="Times New Roman"/>
              </a:defRPr>
            </a:lvl8pPr>
            <a:lvl9pPr algn="l">
              <a:defRPr sz="2400" b="1">
                <a:solidFill>
                  <a:srgbClr val="367653"/>
                </a:solidFill>
                <a:latin typeface="Times New Roman"/>
                <a:ea typeface="Times New Roman"/>
                <a:cs typeface="Times New Roman"/>
              </a:defRPr>
            </a:lvl9pPr>
          </a:lstStyle>
          <a:p xmlns:a="http://schemas.openxmlformats.org/drawingml/2006/main">
            <a:pPr algn="l">
              <a:defRPr sz="2400" b="1">
                <a:solidFill>
                  <a:srgbClr val="367653"/>
                </a:solidFill>
                <a:latin typeface="Times New Roman"/>
                <a:ea typeface="Times New Roman"/>
                <a:cs typeface="Times New Roman"/>
              </a:defRPr>
            </a:pPr>
            <a:r>
              <a:rPr sz="2400" b="1">
                <a:solidFill>
                  <a:srgbClr val="367653"/>
                </a:solidFill>
                <a:latin typeface="Times New Roman"/>
                <a:ea typeface="Times New Roman"/>
                <a:cs typeface="Times New Roman"/>
              </a:rPr>
              <a:t>Producción de CO₂ constante</a:t>
            </a:r>
          </a:p>
        </p:txBody>
      </p:sp>
      <p:graphicFrame>
        <p:nvGraphicFramePr>
          <p:cNvPr id="6" name="">
            <a:extLst xmlns:a="http://schemas.openxmlformats.org/drawingml/2006/main">
              <a:ext uri="{FF2B5EF4-FFF2-40B4-BE49-F238E27FC236}">
                <a16:creationId xmlns:a16="http://schemas.microsoft.com/office/drawing/2014/main" id="{3598C300-51F3-4459-9617-BC7A7A8D2D8F}"/>
              </a:ext>
            </a:extLst>
          </p:cNvPr>
          <p:cNvGraphicFramePr/>
          <p:nvPr/>
        </p:nvGraphicFramePr>
        <p:xfrm>
          <a:off xmlns:a="http://schemas.openxmlformats.org/drawingml/2006/main" x="7915275" y="2609850"/>
          <a:ext xmlns:a="http://schemas.openxmlformats.org/drawingml/2006/main" cx="3667125" cy="2438400"/>
        </p:xfrm>
        <a:graphic xmlns:a="http://schemas.openxmlformats.org/drawingml/2006/main">
          <a:graphicData uri="http://schemas.openxmlformats.org/drawingml/2006/table">
            <a:tbl>
              <a:tblPr firstRow="1" bandRow="0"/>
              <a:tblGrid>
                <a:gridCol w="1809750"/>
                <a:gridCol w="1857375"/>
              </a:tblGrid>
              <a:tr h="609600">
                <a:tc>
                  <a:txBody>
                    <a:bodyPr wrap="square">
                      <a:noAutofit/>
                    </a:bodyPr>
                    <a:lstStyle/>
                    <a:p>
                      <a:pPr algn="l"/>
                      <a:r>
                        <a:rPr sz="2000" b="1">
                          <a:solidFill>
                            <a:srgbClr val="FFFFFF"/>
                          </a:solidFill>
                          <a:latin typeface="Times New Roman"/>
                          <a:ea typeface="Times New Roman"/>
                          <a:cs typeface="Times New Roman"/>
                        </a:rPr>
                        <a:t>V̇A relativa</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000" b="1">
                          <a:solidFill>
                            <a:srgbClr val="FFFFFF"/>
                          </a:solidFill>
                          <a:latin typeface="Times New Roman"/>
                          <a:ea typeface="Times New Roman"/>
                          <a:cs typeface="Times New Roman"/>
                        </a:rPr>
                        <a:t>PCO₂</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609600">
                <a:tc>
                  <a:txBody>
                    <a:bodyPr wrap="square">
                      <a:noAutofit/>
                    </a:bodyPr>
                    <a:lstStyle/>
                    <a:p>
                      <a:pPr algn="l"/>
                      <a:r>
                        <a:rPr sz="2000" b="0">
                          <a:solidFill>
                            <a:srgbClr val="181818"/>
                          </a:solidFill>
                          <a:latin typeface="Times New Roman"/>
                          <a:ea typeface="Times New Roman"/>
                          <a:cs typeface="Times New Roman"/>
                        </a:rPr>
                        <a:t>50 %</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000" b="0">
                          <a:solidFill>
                            <a:srgbClr val="181818"/>
                          </a:solidFill>
                          <a:latin typeface="Times New Roman"/>
                          <a:ea typeface="Times New Roman"/>
                          <a:cs typeface="Times New Roman"/>
                        </a:rPr>
                        <a:t>80 mmHg</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609600">
                <a:tc>
                  <a:txBody>
                    <a:bodyPr wrap="square">
                      <a:noAutofit/>
                    </a:bodyPr>
                    <a:lstStyle/>
                    <a:p>
                      <a:pPr algn="l"/>
                      <a:r>
                        <a:rPr sz="2000" b="0">
                          <a:solidFill>
                            <a:srgbClr val="181818"/>
                          </a:solidFill>
                          <a:latin typeface="Times New Roman"/>
                          <a:ea typeface="Times New Roman"/>
                          <a:cs typeface="Times New Roman"/>
                        </a:rPr>
                        <a:t>100 %</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000" b="0">
                          <a:solidFill>
                            <a:srgbClr val="181818"/>
                          </a:solidFill>
                          <a:latin typeface="Times New Roman"/>
                          <a:ea typeface="Times New Roman"/>
                          <a:cs typeface="Times New Roman"/>
                        </a:rPr>
                        <a:t>40 mmHg</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r h="609600">
                <a:tc>
                  <a:txBody>
                    <a:bodyPr wrap="square">
                      <a:noAutofit/>
                    </a:bodyPr>
                    <a:lstStyle/>
                    <a:p>
                      <a:pPr algn="l"/>
                      <a:r>
                        <a:rPr sz="2000" b="0">
                          <a:solidFill>
                            <a:srgbClr val="181818"/>
                          </a:solidFill>
                          <a:latin typeface="Times New Roman"/>
                          <a:ea typeface="Times New Roman"/>
                          <a:cs typeface="Times New Roman"/>
                        </a:rPr>
                        <a:t>150 %</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000" b="0">
                          <a:solidFill>
                            <a:srgbClr val="181818"/>
                          </a:solidFill>
                          <a:latin typeface="Times New Roman"/>
                          <a:ea typeface="Times New Roman"/>
                          <a:cs typeface="Times New Roman"/>
                        </a:rPr>
                        <a:t>26,7 mmHg</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bl>
          </a:graphicData>
        </a:graphic>
      </p:graphicFrame>
      <p:sp>
        <p:nvSpPr>
          <p:cNvPr id="7" name="text">
            <a:extLst xmlns:a="http://schemas.openxmlformats.org/drawingml/2006/main">
              <a:ext uri="{FF2B5EF4-FFF2-40B4-BE49-F238E27FC236}">
                <a16:creationId xmlns:a16="http://schemas.microsoft.com/office/drawing/2014/main" id="{C555492C-8E01-485A-8F0F-54CC751F1E91}"/>
              </a:ext>
            </a:extLst>
          </p:cNvPr>
          <p:cNvSpPr>
            <a:spLocks xmlns:a="http://schemas.openxmlformats.org/drawingml/2006/main" noGrp="1"/>
          </p:cNvSpPr>
          <p:nvPr/>
        </p:nvSpPr>
        <p:spPr>
          <a:xfrm xmlns:a="http://schemas.openxmlformats.org/drawingml/2006/main">
            <a:off x="7915275" y="5391150"/>
            <a:ext cx="366712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181818"/>
                </a:solidFill>
                <a:latin typeface="Times New Roman"/>
                <a:ea typeface="Times New Roman"/>
                <a:cs typeface="Times New Roman"/>
              </a:defRPr>
            </a:defPPr>
            <a:lvl1pPr algn="l">
              <a:defRPr sz="2100" b="0">
                <a:solidFill>
                  <a:srgbClr val="181818"/>
                </a:solidFill>
                <a:latin typeface="Times New Roman"/>
                <a:ea typeface="Times New Roman"/>
                <a:cs typeface="Times New Roman"/>
              </a:defRPr>
            </a:lvl1pPr>
            <a:lvl2pPr algn="l">
              <a:defRPr sz="2100" b="0">
                <a:solidFill>
                  <a:srgbClr val="181818"/>
                </a:solidFill>
                <a:latin typeface="Times New Roman"/>
                <a:ea typeface="Times New Roman"/>
                <a:cs typeface="Times New Roman"/>
              </a:defRPr>
            </a:lvl2pPr>
            <a:lvl3pPr algn="l">
              <a:defRPr sz="2100" b="0">
                <a:solidFill>
                  <a:srgbClr val="181818"/>
                </a:solidFill>
                <a:latin typeface="Times New Roman"/>
                <a:ea typeface="Times New Roman"/>
                <a:cs typeface="Times New Roman"/>
              </a:defRPr>
            </a:lvl3pPr>
            <a:lvl4pPr algn="l">
              <a:defRPr sz="2100" b="0">
                <a:solidFill>
                  <a:srgbClr val="181818"/>
                </a:solidFill>
                <a:latin typeface="Times New Roman"/>
                <a:ea typeface="Times New Roman"/>
                <a:cs typeface="Times New Roman"/>
              </a:defRPr>
            </a:lvl4pPr>
            <a:lvl5pPr algn="l">
              <a:defRPr sz="2100" b="0">
                <a:solidFill>
                  <a:srgbClr val="181818"/>
                </a:solidFill>
                <a:latin typeface="Times New Roman"/>
                <a:ea typeface="Times New Roman"/>
                <a:cs typeface="Times New Roman"/>
              </a:defRPr>
            </a:lvl5pPr>
            <a:lvl6pPr algn="l">
              <a:defRPr sz="2100" b="0">
                <a:solidFill>
                  <a:srgbClr val="181818"/>
                </a:solidFill>
                <a:latin typeface="Times New Roman"/>
                <a:ea typeface="Times New Roman"/>
                <a:cs typeface="Times New Roman"/>
              </a:defRPr>
            </a:lvl6pPr>
            <a:lvl7pPr algn="l">
              <a:defRPr sz="2100" b="0">
                <a:solidFill>
                  <a:srgbClr val="181818"/>
                </a:solidFill>
                <a:latin typeface="Times New Roman"/>
                <a:ea typeface="Times New Roman"/>
                <a:cs typeface="Times New Roman"/>
              </a:defRPr>
            </a:lvl7pPr>
            <a:lvl8pPr algn="l">
              <a:defRPr sz="2100" b="0">
                <a:solidFill>
                  <a:srgbClr val="181818"/>
                </a:solidFill>
                <a:latin typeface="Times New Roman"/>
                <a:ea typeface="Times New Roman"/>
                <a:cs typeface="Times New Roman"/>
              </a:defRPr>
            </a:lvl8pPr>
            <a:lvl9pPr algn="l">
              <a:defRPr sz="2100" b="0">
                <a:solidFill>
                  <a:srgbClr val="181818"/>
                </a:solidFill>
                <a:latin typeface="Times New Roman"/>
                <a:ea typeface="Times New Roman"/>
                <a:cs typeface="Times New Roman"/>
              </a:defRPr>
            </a:lvl9pPr>
          </a:lstStyle>
          <a:p xmlns:a="http://schemas.openxmlformats.org/drawingml/2006/main">
            <a:pPr algn="l">
              <a:defRPr sz="2100" b="0">
                <a:solidFill>
                  <a:srgbClr val="181818"/>
                </a:solidFill>
                <a:latin typeface="Times New Roman"/>
                <a:ea typeface="Times New Roman"/>
                <a:cs typeface="Times New Roman"/>
              </a:defRPr>
            </a:pPr>
            <a:r>
              <a:rPr sz="2100" b="0">
                <a:solidFill>
                  <a:srgbClr val="181818"/>
                </a:solidFill>
                <a:latin typeface="Times New Roman"/>
                <a:ea typeface="Times New Roman"/>
                <a:cs typeface="Times New Roman"/>
              </a:rPr>
              <a:t>Modelo estacionario.</a:t>
            </a:r>
          </a:p>
          <a:p xmlns:a="http://schemas.openxmlformats.org/drawingml/2006/main">
            <a:pPr algn="l">
              <a:defRPr sz="2100" b="0">
                <a:solidFill>
                  <a:srgbClr val="181818"/>
                </a:solidFill>
                <a:latin typeface="Times New Roman"/>
                <a:ea typeface="Times New Roman"/>
                <a:cs typeface="Times New Roman"/>
              </a:defRPr>
            </a:pPr>
            <a:r>
              <a:rPr sz="2100" b="0">
                <a:solidFill>
                  <a:srgbClr val="181818"/>
                </a:solidFill>
                <a:latin typeface="Times New Roman"/>
                <a:ea typeface="Times New Roman"/>
                <a:cs typeface="Times New Roman"/>
              </a:rPr>
              <a:t>Referencia didáctica.</a:t>
            </a:r>
          </a:p>
        </p:txBody>
      </p:sp>
    </p:spTree>
    <p:extLst>
      <p:ext uri="{BB962C8B-B14F-4D97-AF65-F5344CB8AC3E}">
        <p14:creationId xmlns:p14="http://schemas.microsoft.com/office/powerpoint/2010/main" val="103551687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013FA135-E338-4615-8F6E-DB28B083B721}"/>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Regulación renal</a:t>
            </a:r>
          </a:p>
        </p:txBody>
      </p:sp>
      <p:sp>
        <p:nvSpPr>
          <p:cNvPr id="2" name="page-number">
            <a:extLst xmlns:a="http://schemas.openxmlformats.org/drawingml/2006/main">
              <a:ext uri="{FF2B5EF4-FFF2-40B4-BE49-F238E27FC236}">
                <a16:creationId xmlns:a16="http://schemas.microsoft.com/office/drawing/2014/main" id="{0189B106-BA96-45A2-B0D6-FBCD54FC9916}"/>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05</a:t>
            </a:r>
          </a:p>
        </p:txBody>
      </p:sp>
      <p:sp>
        <p:nvSpPr>
          <p:cNvPr id="3" name="sources">
            <a:extLst xmlns:a="http://schemas.openxmlformats.org/drawingml/2006/main">
              <a:ext uri="{FF2B5EF4-FFF2-40B4-BE49-F238E27FC236}">
                <a16:creationId xmlns:a16="http://schemas.microsoft.com/office/drawing/2014/main" id="{FE95E0A1-9FD3-4382-BDA7-108F94FBE080}"/>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[6]</a:t>
            </a:r>
          </a:p>
        </p:txBody>
      </p:sp>
      <p:pic>
        <p:nvPicPr>
          <p:cNvPr id="4" name="">
            <a:extLst xmlns:a="http://schemas.openxmlformats.org/drawingml/2006/main">
              <a:ext uri="{FF2B5EF4-FFF2-40B4-BE49-F238E27FC236}">
                <a16:creationId xmlns:a16="http://schemas.microsoft.com/office/drawing/2014/main" id="{470A069D-CB6C-4EBB-AD3D-5451F732EA56}"/>
              </a:ext>
            </a:extLst>
          </p:cNvPr>
          <p:cNvPicPr>
            <a:picLocks xmlns:a="http://schemas.openxmlformats.org/drawingml/2006/main" noChangeAspect="1"/>
          </p:cNvPicPr>
          <p:nvPr/>
        </p:nvPicPr>
        <p:blipFill>
          <a:blip xmlns:r="http://schemas.openxmlformats.org/officeDocument/2006/relationships" xmlns:a="http://schemas.openxmlformats.org/drawingml/2006/main" r:embed="R82086e7251e4489e"/>
          <a:stretch xmlns:a="http://schemas.openxmlformats.org/drawingml/2006/main"/>
        </p:blipFill>
        <p:spPr>
          <a:xfrm xmlns:a="http://schemas.openxmlformats.org/drawingml/2006/main">
            <a:off x="609600" y="1582738"/>
            <a:ext cx="6953250" cy="4635500"/>
          </a:xfrm>
          <a:prstGeom xmlns:a="http://schemas.openxmlformats.org/drawingml/2006/main" prst="rect">
            <a:avLst/>
          </a:prstGeom>
        </p:spPr>
      </p:pic>
      <p:sp>
        <p:nvSpPr>
          <p:cNvPr id="5" name="text">
            <a:extLst xmlns:a="http://schemas.openxmlformats.org/drawingml/2006/main">
              <a:ext uri="{FF2B5EF4-FFF2-40B4-BE49-F238E27FC236}">
                <a16:creationId xmlns:a16="http://schemas.microsoft.com/office/drawing/2014/main" id="{E96BCA9B-524B-4017-B531-893FD3BBF9F2}"/>
              </a:ext>
            </a:extLst>
          </p:cNvPr>
          <p:cNvSpPr>
            <a:spLocks xmlns:a="http://schemas.openxmlformats.org/drawingml/2006/main" noGrp="1"/>
          </p:cNvSpPr>
          <p:nvPr/>
        </p:nvSpPr>
        <p:spPr>
          <a:xfrm xmlns:a="http://schemas.openxmlformats.org/drawingml/2006/main">
            <a:off x="7915275" y="1685925"/>
            <a:ext cx="3667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367653"/>
                </a:solidFill>
                <a:latin typeface="Times New Roman"/>
                <a:ea typeface="Times New Roman"/>
                <a:cs typeface="Times New Roman"/>
              </a:defRPr>
            </a:defPPr>
            <a:lvl1pPr algn="l">
              <a:defRPr sz="2400" b="1">
                <a:solidFill>
                  <a:srgbClr val="367653"/>
                </a:solidFill>
                <a:latin typeface="Times New Roman"/>
                <a:ea typeface="Times New Roman"/>
                <a:cs typeface="Times New Roman"/>
              </a:defRPr>
            </a:lvl1pPr>
            <a:lvl2pPr algn="l">
              <a:defRPr sz="2400" b="1">
                <a:solidFill>
                  <a:srgbClr val="367653"/>
                </a:solidFill>
                <a:latin typeface="Times New Roman"/>
                <a:ea typeface="Times New Roman"/>
                <a:cs typeface="Times New Roman"/>
              </a:defRPr>
            </a:lvl2pPr>
            <a:lvl3pPr algn="l">
              <a:defRPr sz="2400" b="1">
                <a:solidFill>
                  <a:srgbClr val="367653"/>
                </a:solidFill>
                <a:latin typeface="Times New Roman"/>
                <a:ea typeface="Times New Roman"/>
                <a:cs typeface="Times New Roman"/>
              </a:defRPr>
            </a:lvl3pPr>
            <a:lvl4pPr algn="l">
              <a:defRPr sz="2400" b="1">
                <a:solidFill>
                  <a:srgbClr val="367653"/>
                </a:solidFill>
                <a:latin typeface="Times New Roman"/>
                <a:ea typeface="Times New Roman"/>
                <a:cs typeface="Times New Roman"/>
              </a:defRPr>
            </a:lvl4pPr>
            <a:lvl5pPr algn="l">
              <a:defRPr sz="2400" b="1">
                <a:solidFill>
                  <a:srgbClr val="367653"/>
                </a:solidFill>
                <a:latin typeface="Times New Roman"/>
                <a:ea typeface="Times New Roman"/>
                <a:cs typeface="Times New Roman"/>
              </a:defRPr>
            </a:lvl5pPr>
            <a:lvl6pPr algn="l">
              <a:defRPr sz="2400" b="1">
                <a:solidFill>
                  <a:srgbClr val="367653"/>
                </a:solidFill>
                <a:latin typeface="Times New Roman"/>
                <a:ea typeface="Times New Roman"/>
                <a:cs typeface="Times New Roman"/>
              </a:defRPr>
            </a:lvl6pPr>
            <a:lvl7pPr algn="l">
              <a:defRPr sz="2400" b="1">
                <a:solidFill>
                  <a:srgbClr val="367653"/>
                </a:solidFill>
                <a:latin typeface="Times New Roman"/>
                <a:ea typeface="Times New Roman"/>
                <a:cs typeface="Times New Roman"/>
              </a:defRPr>
            </a:lvl7pPr>
            <a:lvl8pPr algn="l">
              <a:defRPr sz="2400" b="1">
                <a:solidFill>
                  <a:srgbClr val="367653"/>
                </a:solidFill>
                <a:latin typeface="Times New Roman"/>
                <a:ea typeface="Times New Roman"/>
                <a:cs typeface="Times New Roman"/>
              </a:defRPr>
            </a:lvl8pPr>
            <a:lvl9pPr algn="l">
              <a:defRPr sz="2400" b="1">
                <a:solidFill>
                  <a:srgbClr val="367653"/>
                </a:solidFill>
                <a:latin typeface="Times New Roman"/>
                <a:ea typeface="Times New Roman"/>
                <a:cs typeface="Times New Roman"/>
              </a:defRPr>
            </a:lvl9pPr>
          </a:lstStyle>
          <a:p xmlns:a="http://schemas.openxmlformats.org/drawingml/2006/main">
            <a:pPr algn="l">
              <a:defRPr sz="2400" b="1">
                <a:solidFill>
                  <a:srgbClr val="367653"/>
                </a:solidFill>
                <a:latin typeface="Times New Roman"/>
                <a:ea typeface="Times New Roman"/>
                <a:cs typeface="Times New Roman"/>
              </a:defRPr>
            </a:pPr>
            <a:r>
              <a:rPr sz="2400" b="1">
                <a:solidFill>
                  <a:srgbClr val="367653"/>
                </a:solidFill>
                <a:latin typeface="Times New Roman"/>
                <a:ea typeface="Times New Roman"/>
                <a:cs typeface="Times New Roman"/>
              </a:rPr>
              <a:t>Conservar base</a:t>
            </a:r>
          </a:p>
        </p:txBody>
      </p:sp>
      <p:sp>
        <p:nvSpPr>
          <p:cNvPr id="6" name="text">
            <a:extLst xmlns:a="http://schemas.openxmlformats.org/drawingml/2006/main">
              <a:ext uri="{FF2B5EF4-FFF2-40B4-BE49-F238E27FC236}">
                <a16:creationId xmlns:a16="http://schemas.microsoft.com/office/drawing/2014/main" id="{5D1BF9F4-D99C-420A-9737-58327D3804DD}"/>
              </a:ext>
            </a:extLst>
          </p:cNvPr>
          <p:cNvSpPr>
            <a:spLocks xmlns:a="http://schemas.openxmlformats.org/drawingml/2006/main" noGrp="1"/>
          </p:cNvSpPr>
          <p:nvPr/>
        </p:nvSpPr>
        <p:spPr>
          <a:xfrm xmlns:a="http://schemas.openxmlformats.org/drawingml/2006/main">
            <a:off x="7915275" y="2343150"/>
            <a:ext cx="3667125"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Recuperar el HCO₃⁻ filtrado evita su pérdida.</a:t>
            </a:r>
          </a:p>
        </p:txBody>
      </p:sp>
      <p:sp>
        <p:nvSpPr>
          <p:cNvPr id="7" name="text">
            <a:extLst xmlns:a="http://schemas.openxmlformats.org/drawingml/2006/main">
              <a:ext uri="{FF2B5EF4-FFF2-40B4-BE49-F238E27FC236}">
                <a16:creationId xmlns:a16="http://schemas.microsoft.com/office/drawing/2014/main" id="{0506735C-68BF-4FE3-B9A3-BEAEE26F8D17}"/>
              </a:ext>
            </a:extLst>
          </p:cNvPr>
          <p:cNvSpPr>
            <a:spLocks xmlns:a="http://schemas.openxmlformats.org/drawingml/2006/main" noGrp="1"/>
          </p:cNvSpPr>
          <p:nvPr/>
        </p:nvSpPr>
        <p:spPr>
          <a:xfrm xmlns:a="http://schemas.openxmlformats.org/drawingml/2006/main">
            <a:off x="7915275" y="3829050"/>
            <a:ext cx="3667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367653"/>
                </a:solidFill>
                <a:latin typeface="Times New Roman"/>
                <a:ea typeface="Times New Roman"/>
                <a:cs typeface="Times New Roman"/>
              </a:defRPr>
            </a:defPPr>
            <a:lvl1pPr algn="l">
              <a:defRPr sz="2400" b="1">
                <a:solidFill>
                  <a:srgbClr val="367653"/>
                </a:solidFill>
                <a:latin typeface="Times New Roman"/>
                <a:ea typeface="Times New Roman"/>
                <a:cs typeface="Times New Roman"/>
              </a:defRPr>
            </a:lvl1pPr>
            <a:lvl2pPr algn="l">
              <a:defRPr sz="2400" b="1">
                <a:solidFill>
                  <a:srgbClr val="367653"/>
                </a:solidFill>
                <a:latin typeface="Times New Roman"/>
                <a:ea typeface="Times New Roman"/>
                <a:cs typeface="Times New Roman"/>
              </a:defRPr>
            </a:lvl2pPr>
            <a:lvl3pPr algn="l">
              <a:defRPr sz="2400" b="1">
                <a:solidFill>
                  <a:srgbClr val="367653"/>
                </a:solidFill>
                <a:latin typeface="Times New Roman"/>
                <a:ea typeface="Times New Roman"/>
                <a:cs typeface="Times New Roman"/>
              </a:defRPr>
            </a:lvl3pPr>
            <a:lvl4pPr algn="l">
              <a:defRPr sz="2400" b="1">
                <a:solidFill>
                  <a:srgbClr val="367653"/>
                </a:solidFill>
                <a:latin typeface="Times New Roman"/>
                <a:ea typeface="Times New Roman"/>
                <a:cs typeface="Times New Roman"/>
              </a:defRPr>
            </a:lvl4pPr>
            <a:lvl5pPr algn="l">
              <a:defRPr sz="2400" b="1">
                <a:solidFill>
                  <a:srgbClr val="367653"/>
                </a:solidFill>
                <a:latin typeface="Times New Roman"/>
                <a:ea typeface="Times New Roman"/>
                <a:cs typeface="Times New Roman"/>
              </a:defRPr>
            </a:lvl5pPr>
            <a:lvl6pPr algn="l">
              <a:defRPr sz="2400" b="1">
                <a:solidFill>
                  <a:srgbClr val="367653"/>
                </a:solidFill>
                <a:latin typeface="Times New Roman"/>
                <a:ea typeface="Times New Roman"/>
                <a:cs typeface="Times New Roman"/>
              </a:defRPr>
            </a:lvl6pPr>
            <a:lvl7pPr algn="l">
              <a:defRPr sz="2400" b="1">
                <a:solidFill>
                  <a:srgbClr val="367653"/>
                </a:solidFill>
                <a:latin typeface="Times New Roman"/>
                <a:ea typeface="Times New Roman"/>
                <a:cs typeface="Times New Roman"/>
              </a:defRPr>
            </a:lvl7pPr>
            <a:lvl8pPr algn="l">
              <a:defRPr sz="2400" b="1">
                <a:solidFill>
                  <a:srgbClr val="367653"/>
                </a:solidFill>
                <a:latin typeface="Times New Roman"/>
                <a:ea typeface="Times New Roman"/>
                <a:cs typeface="Times New Roman"/>
              </a:defRPr>
            </a:lvl8pPr>
            <a:lvl9pPr algn="l">
              <a:defRPr sz="2400" b="1">
                <a:solidFill>
                  <a:srgbClr val="367653"/>
                </a:solidFill>
                <a:latin typeface="Times New Roman"/>
                <a:ea typeface="Times New Roman"/>
                <a:cs typeface="Times New Roman"/>
              </a:defRPr>
            </a:lvl9pPr>
          </a:lstStyle>
          <a:p xmlns:a="http://schemas.openxmlformats.org/drawingml/2006/main">
            <a:pPr algn="l">
              <a:defRPr sz="2400" b="1">
                <a:solidFill>
                  <a:srgbClr val="367653"/>
                </a:solidFill>
                <a:latin typeface="Times New Roman"/>
                <a:ea typeface="Times New Roman"/>
                <a:cs typeface="Times New Roman"/>
              </a:defRPr>
            </a:pPr>
            <a:r>
              <a:rPr sz="2400" b="1">
                <a:solidFill>
                  <a:srgbClr val="367653"/>
                </a:solidFill>
                <a:latin typeface="Times New Roman"/>
                <a:ea typeface="Times New Roman"/>
                <a:cs typeface="Times New Roman"/>
              </a:rPr>
              <a:t>Reponer base</a:t>
            </a:r>
          </a:p>
        </p:txBody>
      </p:sp>
      <p:sp>
        <p:nvSpPr>
          <p:cNvPr id="8" name="text">
            <a:extLst xmlns:a="http://schemas.openxmlformats.org/drawingml/2006/main">
              <a:ext uri="{FF2B5EF4-FFF2-40B4-BE49-F238E27FC236}">
                <a16:creationId xmlns:a16="http://schemas.microsoft.com/office/drawing/2014/main" id="{5593074A-95AD-491C-8DFF-FE6BB1372722}"/>
              </a:ext>
            </a:extLst>
          </p:cNvPr>
          <p:cNvSpPr>
            <a:spLocks xmlns:a="http://schemas.openxmlformats.org/drawingml/2006/main" noGrp="1"/>
          </p:cNvSpPr>
          <p:nvPr/>
        </p:nvSpPr>
        <p:spPr>
          <a:xfrm xmlns:a="http://schemas.openxmlformats.org/drawingml/2006/main">
            <a:off x="7915275" y="4495800"/>
            <a:ext cx="3667125"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Excretar ácido neto se asocia con HCO₃⁻ nuevo.</a:t>
            </a:r>
          </a:p>
        </p:txBody>
      </p:sp>
    </p:spTree>
    <p:extLst>
      <p:ext uri="{BB962C8B-B14F-4D97-AF65-F5344CB8AC3E}">
        <p14:creationId xmlns:p14="http://schemas.microsoft.com/office/powerpoint/2010/main" val="162514203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64FE1E23-586D-40E9-9CC2-01F0A65D194A}"/>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Trastornos metabólicos</a:t>
            </a:r>
          </a:p>
        </p:txBody>
      </p:sp>
      <p:sp>
        <p:nvSpPr>
          <p:cNvPr id="2" name="page-number">
            <a:extLst xmlns:a="http://schemas.openxmlformats.org/drawingml/2006/main">
              <a:ext uri="{FF2B5EF4-FFF2-40B4-BE49-F238E27FC236}">
                <a16:creationId xmlns:a16="http://schemas.microsoft.com/office/drawing/2014/main" id="{60FD6E5D-862F-402A-A309-9683504602A8}"/>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06</a:t>
            </a:r>
          </a:p>
        </p:txBody>
      </p:sp>
      <p:sp>
        <p:nvSpPr>
          <p:cNvPr id="3" name="sources">
            <a:extLst xmlns:a="http://schemas.openxmlformats.org/drawingml/2006/main">
              <a:ext uri="{FF2B5EF4-FFF2-40B4-BE49-F238E27FC236}">
                <a16:creationId xmlns:a16="http://schemas.microsoft.com/office/drawing/2014/main" id="{69A16C22-49BC-412B-B13B-BE33E9C2C2BC}"/>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[7] [8]</a:t>
            </a:r>
          </a:p>
        </p:txBody>
      </p:sp>
      <p:graphicFrame>
        <p:nvGraphicFramePr>
          <p:cNvPr id="4" name="">
            <a:extLst xmlns:a="http://schemas.openxmlformats.org/drawingml/2006/main">
              <a:ext uri="{FF2B5EF4-FFF2-40B4-BE49-F238E27FC236}">
                <a16:creationId xmlns:a16="http://schemas.microsoft.com/office/drawing/2014/main" id="{733697C9-9C7A-4E0E-A5F5-54FDC4E69E1C}"/>
              </a:ext>
            </a:extLst>
          </p:cNvPr>
          <p:cNvGraphicFramePr/>
          <p:nvPr/>
        </p:nvGraphicFramePr>
        <p:xfrm>
          <a:off xmlns:a="http://schemas.openxmlformats.org/drawingml/2006/main" x="609600" y="1638300"/>
          <a:ext xmlns:a="http://schemas.openxmlformats.org/drawingml/2006/main" cx="10972800" cy="3362325"/>
        </p:xfrm>
        <a:graphic xmlns:a="http://schemas.openxmlformats.org/drawingml/2006/main">
          <a:graphicData uri="http://schemas.openxmlformats.org/drawingml/2006/table">
            <a:tbl>
              <a:tblPr firstRow="1" bandRow="0"/>
              <a:tblGrid>
                <a:gridCol w="2733675"/>
                <a:gridCol w="6048375"/>
                <a:gridCol w="2190750"/>
              </a:tblGrid>
              <a:tr h="619125">
                <a:tc>
                  <a:txBody>
                    <a:bodyPr wrap="square">
                      <a:noAutofit/>
                    </a:bodyPr>
                    <a:lstStyle/>
                    <a:p>
                      <a:pPr algn="l"/>
                      <a:r>
                        <a:rPr sz="2200" b="1">
                          <a:solidFill>
                            <a:srgbClr val="FFFFFF"/>
                          </a:solidFill>
                          <a:latin typeface="Times New Roman"/>
                          <a:ea typeface="Times New Roman"/>
                          <a:cs typeface="Times New Roman"/>
                        </a:rPr>
                        <a:t>Proceso</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Mecanismos</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Tendencia</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1371600">
                <a:tc>
                  <a:txBody>
                    <a:bodyPr wrap="square">
                      <a:noAutofit/>
                    </a:bodyPr>
                    <a:lstStyle/>
                    <a:p>
                      <a:pPr algn="l"/>
                      <a:r>
                        <a:rPr sz="2200" b="0">
                          <a:solidFill>
                            <a:srgbClr val="181818"/>
                          </a:solidFill>
                          <a:latin typeface="Times New Roman"/>
                          <a:ea typeface="Times New Roman"/>
                          <a:cs typeface="Times New Roman"/>
                        </a:rPr>
                        <a:t>Acidosis</a:t>
                      </a:r>
                    </a:p>
                    <a:p>
                      <a:pPr algn="l"/>
                      <a:r>
                        <a:rPr sz="2200" b="0">
                          <a:solidFill>
                            <a:srgbClr val="181818"/>
                          </a:solidFill>
                          <a:latin typeface="Times New Roman"/>
                          <a:ea typeface="Times New Roman"/>
                          <a:cs typeface="Times New Roman"/>
                        </a:rPr>
                        <a:t>metabólica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200" b="0">
                          <a:solidFill>
                            <a:srgbClr val="181818"/>
                          </a:solidFill>
                          <a:latin typeface="Times New Roman"/>
                          <a:ea typeface="Times New Roman"/>
                          <a:cs typeface="Times New Roman"/>
                        </a:rPr>
                        <a:t>Ganancia de ácido; pérdida de base; menor excreción renal.</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200" b="0">
                          <a:solidFill>
                            <a:srgbClr val="181818"/>
                          </a:solidFill>
                          <a:latin typeface="Times New Roman"/>
                          <a:ea typeface="Times New Roman"/>
                          <a:cs typeface="Times New Roman"/>
                        </a:rPr>
                        <a:t>HCO₃⁻ ↓</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1371600">
                <a:tc>
                  <a:txBody>
                    <a:bodyPr wrap="square">
                      <a:noAutofit/>
                    </a:bodyPr>
                    <a:lstStyle/>
                    <a:p>
                      <a:pPr algn="l"/>
                      <a:r>
                        <a:rPr sz="2200" b="0">
                          <a:solidFill>
                            <a:srgbClr val="181818"/>
                          </a:solidFill>
                          <a:latin typeface="Times New Roman"/>
                          <a:ea typeface="Times New Roman"/>
                          <a:cs typeface="Times New Roman"/>
                        </a:rPr>
                        <a:t>Alcalosis</a:t>
                      </a:r>
                    </a:p>
                    <a:p>
                      <a:pPr algn="l"/>
                      <a:r>
                        <a:rPr sz="2200" b="0">
                          <a:solidFill>
                            <a:srgbClr val="181818"/>
                          </a:solidFill>
                          <a:latin typeface="Times New Roman"/>
                          <a:ea typeface="Times New Roman"/>
                          <a:cs typeface="Times New Roman"/>
                        </a:rPr>
                        <a:t>metabólica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200" b="0">
                          <a:solidFill>
                            <a:srgbClr val="181818"/>
                          </a:solidFill>
                          <a:latin typeface="Times New Roman"/>
                          <a:ea typeface="Times New Roman"/>
                          <a:cs typeface="Times New Roman"/>
                        </a:rPr>
                        <a:t>Pérdida o secuestro de HCl; ciertos aportes de base.</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200" b="0">
                          <a:solidFill>
                            <a:srgbClr val="181818"/>
                          </a:solidFill>
                          <a:latin typeface="Times New Roman"/>
                          <a:ea typeface="Times New Roman"/>
                          <a:cs typeface="Times New Roman"/>
                        </a:rPr>
                        <a:t>HCO₃⁻ ↑</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04F2B9ED-7342-4C7B-BAB5-F8333C2031BA}"/>
              </a:ext>
            </a:extLst>
          </p:cNvPr>
          <p:cNvSpPr>
            <a:spLocks xmlns:a="http://schemas.openxmlformats.org/drawingml/2006/main" noGrp="1"/>
          </p:cNvSpPr>
          <p:nvPr/>
        </p:nvSpPr>
        <p:spPr>
          <a:xfrm xmlns:a="http://schemas.openxmlformats.org/drawingml/2006/main">
            <a:off x="609600" y="5429250"/>
            <a:ext cx="1097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00" b="1">
                <a:solidFill>
                  <a:srgbClr val="367653"/>
                </a:solidFill>
                <a:latin typeface="Times New Roman"/>
                <a:ea typeface="Times New Roman"/>
                <a:cs typeface="Times New Roman"/>
              </a:defRPr>
            </a:defPPr>
            <a:lvl1pPr algn="l">
              <a:defRPr sz="2600" b="1">
                <a:solidFill>
                  <a:srgbClr val="367653"/>
                </a:solidFill>
                <a:latin typeface="Times New Roman"/>
                <a:ea typeface="Times New Roman"/>
                <a:cs typeface="Times New Roman"/>
              </a:defRPr>
            </a:lvl1pPr>
            <a:lvl2pPr algn="l">
              <a:defRPr sz="2600" b="1">
                <a:solidFill>
                  <a:srgbClr val="367653"/>
                </a:solidFill>
                <a:latin typeface="Times New Roman"/>
                <a:ea typeface="Times New Roman"/>
                <a:cs typeface="Times New Roman"/>
              </a:defRPr>
            </a:lvl2pPr>
            <a:lvl3pPr algn="l">
              <a:defRPr sz="2600" b="1">
                <a:solidFill>
                  <a:srgbClr val="367653"/>
                </a:solidFill>
                <a:latin typeface="Times New Roman"/>
                <a:ea typeface="Times New Roman"/>
                <a:cs typeface="Times New Roman"/>
              </a:defRPr>
            </a:lvl3pPr>
            <a:lvl4pPr algn="l">
              <a:defRPr sz="2600" b="1">
                <a:solidFill>
                  <a:srgbClr val="367653"/>
                </a:solidFill>
                <a:latin typeface="Times New Roman"/>
                <a:ea typeface="Times New Roman"/>
                <a:cs typeface="Times New Roman"/>
              </a:defRPr>
            </a:lvl4pPr>
            <a:lvl5pPr algn="l">
              <a:defRPr sz="2600" b="1">
                <a:solidFill>
                  <a:srgbClr val="367653"/>
                </a:solidFill>
                <a:latin typeface="Times New Roman"/>
                <a:ea typeface="Times New Roman"/>
                <a:cs typeface="Times New Roman"/>
              </a:defRPr>
            </a:lvl5pPr>
            <a:lvl6pPr algn="l">
              <a:defRPr sz="2600" b="1">
                <a:solidFill>
                  <a:srgbClr val="367653"/>
                </a:solidFill>
                <a:latin typeface="Times New Roman"/>
                <a:ea typeface="Times New Roman"/>
                <a:cs typeface="Times New Roman"/>
              </a:defRPr>
            </a:lvl6pPr>
            <a:lvl7pPr algn="l">
              <a:defRPr sz="2600" b="1">
                <a:solidFill>
                  <a:srgbClr val="367653"/>
                </a:solidFill>
                <a:latin typeface="Times New Roman"/>
                <a:ea typeface="Times New Roman"/>
                <a:cs typeface="Times New Roman"/>
              </a:defRPr>
            </a:lvl7pPr>
            <a:lvl8pPr algn="l">
              <a:defRPr sz="2600" b="1">
                <a:solidFill>
                  <a:srgbClr val="367653"/>
                </a:solidFill>
                <a:latin typeface="Times New Roman"/>
                <a:ea typeface="Times New Roman"/>
                <a:cs typeface="Times New Roman"/>
              </a:defRPr>
            </a:lvl8pPr>
            <a:lvl9pPr algn="l">
              <a:defRPr sz="2600" b="1">
                <a:solidFill>
                  <a:srgbClr val="367653"/>
                </a:solidFill>
                <a:latin typeface="Times New Roman"/>
                <a:ea typeface="Times New Roman"/>
                <a:cs typeface="Times New Roman"/>
              </a:defRPr>
            </a:lvl9pPr>
          </a:lstStyle>
          <a:p xmlns:a="http://schemas.openxmlformats.org/drawingml/2006/main">
            <a:pPr algn="l">
              <a:defRPr sz="2600" b="1">
                <a:solidFill>
                  <a:srgbClr val="367653"/>
                </a:solidFill>
                <a:latin typeface="Times New Roman"/>
                <a:ea typeface="Times New Roman"/>
                <a:cs typeface="Times New Roman"/>
              </a:defRPr>
            </a:pPr>
            <a:r>
              <a:rPr sz="2600" b="1">
                <a:solidFill>
                  <a:srgbClr val="367653"/>
                </a:solidFill>
                <a:latin typeface="Times New Roman"/>
                <a:ea typeface="Times New Roman"/>
                <a:cs typeface="Times New Roman"/>
              </a:rPr>
              <a:t>Interpretar HCO₃⁻ con pH, PCO₂ y contexto.</a:t>
            </a:r>
          </a:p>
        </p:txBody>
      </p:sp>
    </p:spTree>
    <p:extLst>
      <p:ext uri="{BB962C8B-B14F-4D97-AF65-F5344CB8AC3E}">
        <p14:creationId xmlns:p14="http://schemas.microsoft.com/office/powerpoint/2010/main" val="155847987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688A52A6-DFED-4878-A29A-A75A715DE11B}"/>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Trastornos respiratorios</a:t>
            </a:r>
          </a:p>
        </p:txBody>
      </p:sp>
      <p:sp>
        <p:nvSpPr>
          <p:cNvPr id="2" name="page-number">
            <a:extLst xmlns:a="http://schemas.openxmlformats.org/drawingml/2006/main">
              <a:ext uri="{FF2B5EF4-FFF2-40B4-BE49-F238E27FC236}">
                <a16:creationId xmlns:a16="http://schemas.microsoft.com/office/drawing/2014/main" id="{7BB57ECB-163C-4C93-B3D8-F21D6AAC2841}"/>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07</a:t>
            </a:r>
          </a:p>
        </p:txBody>
      </p:sp>
      <p:sp>
        <p:nvSpPr>
          <p:cNvPr id="3" name="sources">
            <a:extLst xmlns:a="http://schemas.openxmlformats.org/drawingml/2006/main">
              <a:ext uri="{FF2B5EF4-FFF2-40B4-BE49-F238E27FC236}">
                <a16:creationId xmlns:a16="http://schemas.microsoft.com/office/drawing/2014/main" id="{4C51EA43-DE21-40A4-8243-460ACA659608}"/>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[4]</a:t>
            </a:r>
          </a:p>
        </p:txBody>
      </p:sp>
      <p:graphicFrame>
        <p:nvGraphicFramePr>
          <p:cNvPr id="4" name="">
            <a:extLst xmlns:a="http://schemas.openxmlformats.org/drawingml/2006/main">
              <a:ext uri="{FF2B5EF4-FFF2-40B4-BE49-F238E27FC236}">
                <a16:creationId xmlns:a16="http://schemas.microsoft.com/office/drawing/2014/main" id="{A647CFC2-DFA5-4152-BC0C-17AE44989237}"/>
              </a:ext>
            </a:extLst>
          </p:cNvPr>
          <p:cNvGraphicFramePr/>
          <p:nvPr/>
        </p:nvGraphicFramePr>
        <p:xfrm>
          <a:off xmlns:a="http://schemas.openxmlformats.org/drawingml/2006/main" x="609600" y="1638300"/>
          <a:ext xmlns:a="http://schemas.openxmlformats.org/drawingml/2006/main" cx="10972800" cy="3362325"/>
        </p:xfrm>
        <a:graphic xmlns:a="http://schemas.openxmlformats.org/drawingml/2006/main">
          <a:graphicData uri="http://schemas.openxmlformats.org/drawingml/2006/table">
            <a:tbl>
              <a:tblPr firstRow="1" bandRow="0"/>
              <a:tblGrid>
                <a:gridCol w="3048000"/>
                <a:gridCol w="3000375"/>
                <a:gridCol w="4924425"/>
              </a:tblGrid>
              <a:tr h="619125">
                <a:tc>
                  <a:txBody>
                    <a:bodyPr wrap="square">
                      <a:noAutofit/>
                    </a:bodyPr>
                    <a:lstStyle/>
                    <a:p>
                      <a:pPr algn="l"/>
                      <a:r>
                        <a:rPr sz="2200" b="1">
                          <a:solidFill>
                            <a:srgbClr val="FFFFFF"/>
                          </a:solidFill>
                          <a:latin typeface="Times New Roman"/>
                          <a:ea typeface="Times New Roman"/>
                          <a:cs typeface="Times New Roman"/>
                        </a:rPr>
                        <a:t>Proceso</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Cambio primario</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Ejemplos posibles</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1371600">
                <a:tc>
                  <a:txBody>
                    <a:bodyPr wrap="square">
                      <a:noAutofit/>
                    </a:bodyPr>
                    <a:lstStyle/>
                    <a:p>
                      <a:pPr algn="l"/>
                      <a:r>
                        <a:rPr sz="2200" b="0">
                          <a:solidFill>
                            <a:srgbClr val="181818"/>
                          </a:solidFill>
                          <a:latin typeface="Times New Roman"/>
                          <a:ea typeface="Times New Roman"/>
                          <a:cs typeface="Times New Roman"/>
                        </a:rPr>
                        <a:t>Acidosis respiratoria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200" b="0">
                          <a:solidFill>
                            <a:srgbClr val="181818"/>
                          </a:solidFill>
                          <a:latin typeface="Times New Roman"/>
                          <a:ea typeface="Times New Roman"/>
                          <a:cs typeface="Times New Roman"/>
                        </a:rPr>
                        <a:t>PCO₂ ↑; tendencia pH ↓</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200" b="0">
                          <a:solidFill>
                            <a:srgbClr val="181818"/>
                          </a:solidFill>
                          <a:latin typeface="Times New Roman"/>
                          <a:ea typeface="Times New Roman"/>
                          <a:cs typeface="Times New Roman"/>
                        </a:rPr>
                        <a:t>Hipoventilación: depresión respiratoria u obstrucción.</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1371600">
                <a:tc>
                  <a:txBody>
                    <a:bodyPr wrap="square">
                      <a:noAutofit/>
                    </a:bodyPr>
                    <a:lstStyle/>
                    <a:p>
                      <a:pPr algn="l"/>
                      <a:r>
                        <a:rPr sz="2200" b="0">
                          <a:solidFill>
                            <a:srgbClr val="181818"/>
                          </a:solidFill>
                          <a:latin typeface="Times New Roman"/>
                          <a:ea typeface="Times New Roman"/>
                          <a:cs typeface="Times New Roman"/>
                        </a:rPr>
                        <a:t>Alcalosis respiratoria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200" b="0">
                          <a:solidFill>
                            <a:srgbClr val="181818"/>
                          </a:solidFill>
                          <a:latin typeface="Times New Roman"/>
                          <a:ea typeface="Times New Roman"/>
                          <a:cs typeface="Times New Roman"/>
                        </a:rPr>
                        <a:t>PCO₂ ↓; tendencia pH ↑</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200" b="0">
                          <a:solidFill>
                            <a:srgbClr val="181818"/>
                          </a:solidFill>
                          <a:latin typeface="Times New Roman"/>
                          <a:ea typeface="Times New Roman"/>
                          <a:cs typeface="Times New Roman"/>
                        </a:rPr>
                        <a:t>Hiperventilación: dolor, excitación o hipoxemia.</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DDDF9D36-AC2C-434D-BD18-623DD7A5D139}"/>
              </a:ext>
            </a:extLst>
          </p:cNvPr>
          <p:cNvSpPr>
            <a:spLocks xmlns:a="http://schemas.openxmlformats.org/drawingml/2006/main" noGrp="1"/>
          </p:cNvSpPr>
          <p:nvPr/>
        </p:nvSpPr>
        <p:spPr>
          <a:xfrm xmlns:a="http://schemas.openxmlformats.org/drawingml/2006/main">
            <a:off x="609600" y="5381625"/>
            <a:ext cx="10972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00" b="1">
                <a:solidFill>
                  <a:srgbClr val="367653"/>
                </a:solidFill>
                <a:latin typeface="Times New Roman"/>
                <a:ea typeface="Times New Roman"/>
                <a:cs typeface="Times New Roman"/>
              </a:defRPr>
            </a:defPPr>
            <a:lvl1pPr algn="l">
              <a:defRPr sz="2500" b="1">
                <a:solidFill>
                  <a:srgbClr val="367653"/>
                </a:solidFill>
                <a:latin typeface="Times New Roman"/>
                <a:ea typeface="Times New Roman"/>
                <a:cs typeface="Times New Roman"/>
              </a:defRPr>
            </a:lvl1pPr>
            <a:lvl2pPr algn="l">
              <a:defRPr sz="2500" b="1">
                <a:solidFill>
                  <a:srgbClr val="367653"/>
                </a:solidFill>
                <a:latin typeface="Times New Roman"/>
                <a:ea typeface="Times New Roman"/>
                <a:cs typeface="Times New Roman"/>
              </a:defRPr>
            </a:lvl2pPr>
            <a:lvl3pPr algn="l">
              <a:defRPr sz="2500" b="1">
                <a:solidFill>
                  <a:srgbClr val="367653"/>
                </a:solidFill>
                <a:latin typeface="Times New Roman"/>
                <a:ea typeface="Times New Roman"/>
                <a:cs typeface="Times New Roman"/>
              </a:defRPr>
            </a:lvl3pPr>
            <a:lvl4pPr algn="l">
              <a:defRPr sz="2500" b="1">
                <a:solidFill>
                  <a:srgbClr val="367653"/>
                </a:solidFill>
                <a:latin typeface="Times New Roman"/>
                <a:ea typeface="Times New Roman"/>
                <a:cs typeface="Times New Roman"/>
              </a:defRPr>
            </a:lvl4pPr>
            <a:lvl5pPr algn="l">
              <a:defRPr sz="2500" b="1">
                <a:solidFill>
                  <a:srgbClr val="367653"/>
                </a:solidFill>
                <a:latin typeface="Times New Roman"/>
                <a:ea typeface="Times New Roman"/>
                <a:cs typeface="Times New Roman"/>
              </a:defRPr>
            </a:lvl5pPr>
            <a:lvl6pPr algn="l">
              <a:defRPr sz="2500" b="1">
                <a:solidFill>
                  <a:srgbClr val="367653"/>
                </a:solidFill>
                <a:latin typeface="Times New Roman"/>
                <a:ea typeface="Times New Roman"/>
                <a:cs typeface="Times New Roman"/>
              </a:defRPr>
            </a:lvl6pPr>
            <a:lvl7pPr algn="l">
              <a:defRPr sz="2500" b="1">
                <a:solidFill>
                  <a:srgbClr val="367653"/>
                </a:solidFill>
                <a:latin typeface="Times New Roman"/>
                <a:ea typeface="Times New Roman"/>
                <a:cs typeface="Times New Roman"/>
              </a:defRPr>
            </a:lvl7pPr>
            <a:lvl8pPr algn="l">
              <a:defRPr sz="2500" b="1">
                <a:solidFill>
                  <a:srgbClr val="367653"/>
                </a:solidFill>
                <a:latin typeface="Times New Roman"/>
                <a:ea typeface="Times New Roman"/>
                <a:cs typeface="Times New Roman"/>
              </a:defRPr>
            </a:lvl8pPr>
            <a:lvl9pPr algn="l">
              <a:defRPr sz="2500" b="1">
                <a:solidFill>
                  <a:srgbClr val="367653"/>
                </a:solidFill>
                <a:latin typeface="Times New Roman"/>
                <a:ea typeface="Times New Roman"/>
                <a:cs typeface="Times New Roman"/>
              </a:defRPr>
            </a:lvl9pPr>
          </a:lstStyle>
          <a:p xmlns:a="http://schemas.openxmlformats.org/drawingml/2006/main">
            <a:pPr algn="l">
              <a:defRPr sz="2500" b="1">
                <a:solidFill>
                  <a:srgbClr val="367653"/>
                </a:solidFill>
                <a:latin typeface="Times New Roman"/>
                <a:ea typeface="Times New Roman"/>
                <a:cs typeface="Times New Roman"/>
              </a:defRPr>
            </a:pPr>
            <a:r>
              <a:rPr sz="2500" b="1">
                <a:solidFill>
                  <a:srgbClr val="367653"/>
                </a:solidFill>
                <a:latin typeface="Times New Roman"/>
                <a:ea typeface="Times New Roman"/>
                <a:cs typeface="Times New Roman"/>
              </a:rPr>
              <a:t>La PCO₂ aislada no demuestra que el proceso sea primario.</a:t>
            </a:r>
          </a:p>
        </p:txBody>
      </p:sp>
    </p:spTree>
    <p:extLst>
      <p:ext uri="{BB962C8B-B14F-4D97-AF65-F5344CB8AC3E}">
        <p14:creationId xmlns:p14="http://schemas.microsoft.com/office/powerpoint/2010/main" val="120572056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1AFC42F5-0781-45B6-803D-9FBCAF1C7079}"/>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Compensación y trastornos mixtos</a:t>
            </a:r>
          </a:p>
        </p:txBody>
      </p:sp>
      <p:sp>
        <p:nvSpPr>
          <p:cNvPr id="2" name="page-number">
            <a:extLst xmlns:a="http://schemas.openxmlformats.org/drawingml/2006/main">
              <a:ext uri="{FF2B5EF4-FFF2-40B4-BE49-F238E27FC236}">
                <a16:creationId xmlns:a16="http://schemas.microsoft.com/office/drawing/2014/main" id="{24E2D4E4-596C-4709-ABF4-E0B664406FEC}"/>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08</a:t>
            </a:r>
          </a:p>
        </p:txBody>
      </p:sp>
      <p:sp>
        <p:nvSpPr>
          <p:cNvPr id="3" name="sources">
            <a:extLst xmlns:a="http://schemas.openxmlformats.org/drawingml/2006/main">
              <a:ext uri="{FF2B5EF4-FFF2-40B4-BE49-F238E27FC236}">
                <a16:creationId xmlns:a16="http://schemas.microsoft.com/office/drawing/2014/main" id="{8BFC6BCE-4D78-475B-9938-5607B43EADE7}"/>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[3]</a:t>
            </a:r>
          </a:p>
        </p:txBody>
      </p:sp>
      <p:graphicFrame>
        <p:nvGraphicFramePr>
          <p:cNvPr id="4" name="">
            <a:extLst xmlns:a="http://schemas.openxmlformats.org/drawingml/2006/main">
              <a:ext uri="{FF2B5EF4-FFF2-40B4-BE49-F238E27FC236}">
                <a16:creationId xmlns:a16="http://schemas.microsoft.com/office/drawing/2014/main" id="{6896D6D2-40E6-4843-9320-485BCEC5F105}"/>
              </a:ext>
            </a:extLst>
          </p:cNvPr>
          <p:cNvGraphicFramePr/>
          <p:nvPr/>
        </p:nvGraphicFramePr>
        <p:xfrm>
          <a:off xmlns:a="http://schemas.openxmlformats.org/drawingml/2006/main" x="609600" y="1619250"/>
          <a:ext xmlns:a="http://schemas.openxmlformats.org/drawingml/2006/main" cx="10972800" cy="2800350"/>
        </p:xfrm>
        <a:graphic xmlns:a="http://schemas.openxmlformats.org/drawingml/2006/main">
          <a:graphicData uri="http://schemas.openxmlformats.org/drawingml/2006/table">
            <a:tbl>
              <a:tblPr firstRow="1" bandRow="0"/>
              <a:tblGrid>
                <a:gridCol w="3476625"/>
                <a:gridCol w="7496175"/>
              </a:tblGrid>
              <a:tr h="647700">
                <a:tc>
                  <a:txBody>
                    <a:bodyPr wrap="square">
                      <a:noAutofit/>
                    </a:bodyPr>
                    <a:lstStyle/>
                    <a:p>
                      <a:pPr algn="l"/>
                      <a:r>
                        <a:rPr sz="2200" b="1">
                          <a:solidFill>
                            <a:srgbClr val="FFFFFF"/>
                          </a:solidFill>
                          <a:latin typeface="Times New Roman"/>
                          <a:ea typeface="Times New Roman"/>
                          <a:cs typeface="Times New Roman"/>
                        </a:rPr>
                        <a:t>Alteración primaria</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Respuesta que se considera</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1009650">
                <a:tc>
                  <a:txBody>
                    <a:bodyPr wrap="square">
                      <a:noAutofit/>
                    </a:bodyPr>
                    <a:lstStyle/>
                    <a:p>
                      <a:pPr algn="l"/>
                      <a:r>
                        <a:rPr sz="2300" b="0">
                          <a:solidFill>
                            <a:srgbClr val="181818"/>
                          </a:solidFill>
                          <a:latin typeface="Times New Roman"/>
                          <a:ea typeface="Times New Roman"/>
                          <a:cs typeface="Times New Roman"/>
                        </a:rPr>
                        <a:t>Metabólica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300" b="0">
                          <a:solidFill>
                            <a:srgbClr val="181818"/>
                          </a:solidFill>
                          <a:latin typeface="Times New Roman"/>
                          <a:ea typeface="Times New Roman"/>
                          <a:cs typeface="Times New Roman"/>
                        </a:rPr>
                        <a:t>Ventilación alveolar.</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1143000">
                <a:tc>
                  <a:txBody>
                    <a:bodyPr wrap="square">
                      <a:noAutofit/>
                    </a:bodyPr>
                    <a:lstStyle/>
                    <a:p>
                      <a:pPr algn="l"/>
                      <a:r>
                        <a:rPr sz="2300" b="0">
                          <a:solidFill>
                            <a:srgbClr val="181818"/>
                          </a:solidFill>
                          <a:latin typeface="Times New Roman"/>
                          <a:ea typeface="Times New Roman"/>
                          <a:cs typeface="Times New Roman"/>
                        </a:rPr>
                        <a:t>Respiratoria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300" b="0">
                          <a:solidFill>
                            <a:srgbClr val="181818"/>
                          </a:solidFill>
                          <a:latin typeface="Times New Roman"/>
                          <a:ea typeface="Times New Roman"/>
                          <a:cs typeface="Times New Roman"/>
                        </a:rPr>
                        <a:t>Amortiguación inicial y adaptación renal posterior.</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40795922-49D4-4EA5-9BA1-9C2F7E76ACEE}"/>
              </a:ext>
            </a:extLst>
          </p:cNvPr>
          <p:cNvSpPr>
            <a:spLocks xmlns:a="http://schemas.openxmlformats.org/drawingml/2006/main" noGrp="1"/>
          </p:cNvSpPr>
          <p:nvPr/>
        </p:nvSpPr>
        <p:spPr>
          <a:xfrm xmlns:a="http://schemas.openxmlformats.org/drawingml/2006/main">
            <a:off x="609600" y="4810125"/>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00" b="1">
                <a:solidFill>
                  <a:srgbClr val="367653"/>
                </a:solidFill>
                <a:latin typeface="Times New Roman"/>
                <a:ea typeface="Times New Roman"/>
                <a:cs typeface="Times New Roman"/>
              </a:defRPr>
            </a:defPPr>
            <a:lvl1pPr algn="l">
              <a:defRPr sz="2500" b="1">
                <a:solidFill>
                  <a:srgbClr val="367653"/>
                </a:solidFill>
                <a:latin typeface="Times New Roman"/>
                <a:ea typeface="Times New Roman"/>
                <a:cs typeface="Times New Roman"/>
              </a:defRPr>
            </a:lvl1pPr>
            <a:lvl2pPr algn="l">
              <a:defRPr sz="2500" b="1">
                <a:solidFill>
                  <a:srgbClr val="367653"/>
                </a:solidFill>
                <a:latin typeface="Times New Roman"/>
                <a:ea typeface="Times New Roman"/>
                <a:cs typeface="Times New Roman"/>
              </a:defRPr>
            </a:lvl2pPr>
            <a:lvl3pPr algn="l">
              <a:defRPr sz="2500" b="1">
                <a:solidFill>
                  <a:srgbClr val="367653"/>
                </a:solidFill>
                <a:latin typeface="Times New Roman"/>
                <a:ea typeface="Times New Roman"/>
                <a:cs typeface="Times New Roman"/>
              </a:defRPr>
            </a:lvl3pPr>
            <a:lvl4pPr algn="l">
              <a:defRPr sz="2500" b="1">
                <a:solidFill>
                  <a:srgbClr val="367653"/>
                </a:solidFill>
                <a:latin typeface="Times New Roman"/>
                <a:ea typeface="Times New Roman"/>
                <a:cs typeface="Times New Roman"/>
              </a:defRPr>
            </a:lvl4pPr>
            <a:lvl5pPr algn="l">
              <a:defRPr sz="2500" b="1">
                <a:solidFill>
                  <a:srgbClr val="367653"/>
                </a:solidFill>
                <a:latin typeface="Times New Roman"/>
                <a:ea typeface="Times New Roman"/>
                <a:cs typeface="Times New Roman"/>
              </a:defRPr>
            </a:lvl5pPr>
            <a:lvl6pPr algn="l">
              <a:defRPr sz="2500" b="1">
                <a:solidFill>
                  <a:srgbClr val="367653"/>
                </a:solidFill>
                <a:latin typeface="Times New Roman"/>
                <a:ea typeface="Times New Roman"/>
                <a:cs typeface="Times New Roman"/>
              </a:defRPr>
            </a:lvl6pPr>
            <a:lvl7pPr algn="l">
              <a:defRPr sz="2500" b="1">
                <a:solidFill>
                  <a:srgbClr val="367653"/>
                </a:solidFill>
                <a:latin typeface="Times New Roman"/>
                <a:ea typeface="Times New Roman"/>
                <a:cs typeface="Times New Roman"/>
              </a:defRPr>
            </a:lvl7pPr>
            <a:lvl8pPr algn="l">
              <a:defRPr sz="2500" b="1">
                <a:solidFill>
                  <a:srgbClr val="367653"/>
                </a:solidFill>
                <a:latin typeface="Times New Roman"/>
                <a:ea typeface="Times New Roman"/>
                <a:cs typeface="Times New Roman"/>
              </a:defRPr>
            </a:lvl8pPr>
            <a:lvl9pPr algn="l">
              <a:defRPr sz="2500" b="1">
                <a:solidFill>
                  <a:srgbClr val="367653"/>
                </a:solidFill>
                <a:latin typeface="Times New Roman"/>
                <a:ea typeface="Times New Roman"/>
                <a:cs typeface="Times New Roman"/>
              </a:defRPr>
            </a:lvl9pPr>
          </a:lstStyle>
          <a:p xmlns:a="http://schemas.openxmlformats.org/drawingml/2006/main">
            <a:pPr algn="l">
              <a:defRPr sz="2500" b="1">
                <a:solidFill>
                  <a:srgbClr val="367653"/>
                </a:solidFill>
                <a:latin typeface="Times New Roman"/>
                <a:ea typeface="Times New Roman"/>
                <a:cs typeface="Times New Roman"/>
              </a:defRPr>
            </a:pPr>
            <a:r>
              <a:rPr sz="2500" b="1">
                <a:solidFill>
                  <a:srgbClr val="367653"/>
                </a:solidFill>
                <a:latin typeface="Times New Roman"/>
                <a:ea typeface="Times New Roman"/>
                <a:cs typeface="Times New Roman"/>
              </a:rPr>
              <a:t>Mixto: dos o más procesos primarios.</a:t>
            </a:r>
          </a:p>
        </p:txBody>
      </p:sp>
      <p:sp>
        <p:nvSpPr>
          <p:cNvPr id="6" name="text">
            <a:extLst xmlns:a="http://schemas.openxmlformats.org/drawingml/2006/main">
              <a:ext uri="{FF2B5EF4-FFF2-40B4-BE49-F238E27FC236}">
                <a16:creationId xmlns:a16="http://schemas.microsoft.com/office/drawing/2014/main" id="{EEBE3569-4AE8-46CD-A109-991B7C8203E3}"/>
              </a:ext>
            </a:extLst>
          </p:cNvPr>
          <p:cNvSpPr>
            <a:spLocks xmlns:a="http://schemas.openxmlformats.org/drawingml/2006/main" noGrp="1"/>
          </p:cNvSpPr>
          <p:nvPr/>
        </p:nvSpPr>
        <p:spPr>
          <a:xfrm xmlns:a="http://schemas.openxmlformats.org/drawingml/2006/main">
            <a:off x="609600" y="5514975"/>
            <a:ext cx="109728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0">
                <a:solidFill>
                  <a:srgbClr val="181818"/>
                </a:solidFill>
                <a:latin typeface="Times New Roman"/>
                <a:ea typeface="Times New Roman"/>
                <a:cs typeface="Times New Roman"/>
              </a:defRPr>
            </a:defPPr>
            <a:lvl1pPr algn="l">
              <a:defRPr sz="2400" b="0">
                <a:solidFill>
                  <a:srgbClr val="181818"/>
                </a:solidFill>
                <a:latin typeface="Times New Roman"/>
                <a:ea typeface="Times New Roman"/>
                <a:cs typeface="Times New Roman"/>
              </a:defRPr>
            </a:lvl1pPr>
            <a:lvl2pPr algn="l">
              <a:defRPr sz="2400" b="0">
                <a:solidFill>
                  <a:srgbClr val="181818"/>
                </a:solidFill>
                <a:latin typeface="Times New Roman"/>
                <a:ea typeface="Times New Roman"/>
                <a:cs typeface="Times New Roman"/>
              </a:defRPr>
            </a:lvl2pPr>
            <a:lvl3pPr algn="l">
              <a:defRPr sz="2400" b="0">
                <a:solidFill>
                  <a:srgbClr val="181818"/>
                </a:solidFill>
                <a:latin typeface="Times New Roman"/>
                <a:ea typeface="Times New Roman"/>
                <a:cs typeface="Times New Roman"/>
              </a:defRPr>
            </a:lvl3pPr>
            <a:lvl4pPr algn="l">
              <a:defRPr sz="2400" b="0">
                <a:solidFill>
                  <a:srgbClr val="181818"/>
                </a:solidFill>
                <a:latin typeface="Times New Roman"/>
                <a:ea typeface="Times New Roman"/>
                <a:cs typeface="Times New Roman"/>
              </a:defRPr>
            </a:lvl4pPr>
            <a:lvl5pPr algn="l">
              <a:defRPr sz="2400" b="0">
                <a:solidFill>
                  <a:srgbClr val="181818"/>
                </a:solidFill>
                <a:latin typeface="Times New Roman"/>
                <a:ea typeface="Times New Roman"/>
                <a:cs typeface="Times New Roman"/>
              </a:defRPr>
            </a:lvl5pPr>
            <a:lvl6pPr algn="l">
              <a:defRPr sz="2400" b="0">
                <a:solidFill>
                  <a:srgbClr val="181818"/>
                </a:solidFill>
                <a:latin typeface="Times New Roman"/>
                <a:ea typeface="Times New Roman"/>
                <a:cs typeface="Times New Roman"/>
              </a:defRPr>
            </a:lvl6pPr>
            <a:lvl7pPr algn="l">
              <a:defRPr sz="2400" b="0">
                <a:solidFill>
                  <a:srgbClr val="181818"/>
                </a:solidFill>
                <a:latin typeface="Times New Roman"/>
                <a:ea typeface="Times New Roman"/>
                <a:cs typeface="Times New Roman"/>
              </a:defRPr>
            </a:lvl7pPr>
            <a:lvl8pPr algn="l">
              <a:defRPr sz="2400" b="0">
                <a:solidFill>
                  <a:srgbClr val="181818"/>
                </a:solidFill>
                <a:latin typeface="Times New Roman"/>
                <a:ea typeface="Times New Roman"/>
                <a:cs typeface="Times New Roman"/>
              </a:defRPr>
            </a:lvl8pPr>
            <a:lvl9pPr algn="l">
              <a:defRPr sz="2400" b="0">
                <a:solidFill>
                  <a:srgbClr val="181818"/>
                </a:solidFill>
                <a:latin typeface="Times New Roman"/>
                <a:ea typeface="Times New Roman"/>
                <a:cs typeface="Times New Roman"/>
              </a:defRPr>
            </a:lvl9pPr>
          </a:lstStyle>
          <a:p xmlns:a="http://schemas.openxmlformats.org/drawingml/2006/main">
            <a:pPr algn="l">
              <a:defRPr sz="2400" b="0">
                <a:solidFill>
                  <a:srgbClr val="181818"/>
                </a:solidFill>
                <a:latin typeface="Times New Roman"/>
                <a:ea typeface="Times New Roman"/>
                <a:cs typeface="Times New Roman"/>
              </a:defRPr>
            </a:pPr>
            <a:r>
              <a:rPr sz="2400" b="0">
                <a:solidFill>
                  <a:srgbClr val="181818"/>
                </a:solidFill>
                <a:latin typeface="Times New Roman"/>
                <a:ea typeface="Times New Roman"/>
                <a:cs typeface="Times New Roman"/>
              </a:rPr>
              <a:t>Valorar especie, duración y respuesta esperada.</a:t>
            </a:r>
          </a:p>
        </p:txBody>
      </p:sp>
    </p:spTree>
    <p:extLst>
      <p:ext uri="{BB962C8B-B14F-4D97-AF65-F5344CB8AC3E}">
        <p14:creationId xmlns:p14="http://schemas.microsoft.com/office/powerpoint/2010/main" val="4108446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B7523EFE-7657-4132-9582-4C228299A492}"/>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Gasometría: cuatro pasos</a:t>
            </a:r>
          </a:p>
        </p:txBody>
      </p:sp>
      <p:sp>
        <p:nvSpPr>
          <p:cNvPr id="2" name="page-number">
            <a:extLst xmlns:a="http://schemas.openxmlformats.org/drawingml/2006/main">
              <a:ext uri="{FF2B5EF4-FFF2-40B4-BE49-F238E27FC236}">
                <a16:creationId xmlns:a16="http://schemas.microsoft.com/office/drawing/2014/main" id="{B9450384-FFFF-4926-87B1-E5B3C7B0ACFF}"/>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09</a:t>
            </a:r>
          </a:p>
        </p:txBody>
      </p:sp>
      <p:sp>
        <p:nvSpPr>
          <p:cNvPr id="3" name="sources">
            <a:extLst xmlns:a="http://schemas.openxmlformats.org/drawingml/2006/main">
              <a:ext uri="{FF2B5EF4-FFF2-40B4-BE49-F238E27FC236}">
                <a16:creationId xmlns:a16="http://schemas.microsoft.com/office/drawing/2014/main" id="{810229B2-9203-4C4A-ACC9-6FD4FFC43052}"/>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[9] [10]</a:t>
            </a:r>
          </a:p>
        </p:txBody>
      </p:sp>
      <p:graphicFrame>
        <p:nvGraphicFramePr>
          <p:cNvPr id="4" name="">
            <a:extLst xmlns:a="http://schemas.openxmlformats.org/drawingml/2006/main">
              <a:ext uri="{FF2B5EF4-FFF2-40B4-BE49-F238E27FC236}">
                <a16:creationId xmlns:a16="http://schemas.microsoft.com/office/drawing/2014/main" id="{74693489-9A1B-4D1F-BEF2-9D6A76DEF5C0}"/>
              </a:ext>
            </a:extLst>
          </p:cNvPr>
          <p:cNvGraphicFramePr/>
          <p:nvPr/>
        </p:nvGraphicFramePr>
        <p:xfrm>
          <a:off xmlns:a="http://schemas.openxmlformats.org/drawingml/2006/main" x="609600" y="1504950"/>
          <a:ext xmlns:a="http://schemas.openxmlformats.org/drawingml/2006/main" cx="10972800" cy="3514725"/>
        </p:xfrm>
        <a:graphic xmlns:a="http://schemas.openxmlformats.org/drawingml/2006/main">
          <a:graphicData uri="http://schemas.openxmlformats.org/drawingml/2006/table">
            <a:tbl>
              <a:tblPr firstRow="1" bandRow="0"/>
              <a:tblGrid>
                <a:gridCol w="2667000"/>
                <a:gridCol w="8305800"/>
              </a:tblGrid>
              <a:tr h="581025">
                <a:tc>
                  <a:txBody>
                    <a:bodyPr wrap="square">
                      <a:noAutofit/>
                    </a:bodyPr>
                    <a:lstStyle/>
                    <a:p>
                      <a:pPr algn="l"/>
                      <a:r>
                        <a:rPr sz="2200" b="1">
                          <a:solidFill>
                            <a:srgbClr val="FFFFFF"/>
                          </a:solidFill>
                          <a:latin typeface="Times New Roman"/>
                          <a:ea typeface="Times New Roman"/>
                          <a:cs typeface="Times New Roman"/>
                        </a:rPr>
                        <a:t>Paso</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Pregunta</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733425">
                <a:tc>
                  <a:txBody>
                    <a:bodyPr wrap="square">
                      <a:noAutofit/>
                    </a:bodyPr>
                    <a:lstStyle/>
                    <a:p>
                      <a:pPr algn="l"/>
                      <a:r>
                        <a:rPr sz="2200" b="0">
                          <a:solidFill>
                            <a:srgbClr val="181818"/>
                          </a:solidFill>
                          <a:latin typeface="Times New Roman"/>
                          <a:ea typeface="Times New Roman"/>
                          <a:cs typeface="Times New Roman"/>
                        </a:rPr>
                        <a:t>1. Muestra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200" b="0">
                          <a:solidFill>
                            <a:srgbClr val="181818"/>
                          </a:solidFill>
                          <a:latin typeface="Times New Roman"/>
                          <a:ea typeface="Times New Roman"/>
                          <a:cs typeface="Times New Roman"/>
                        </a:rPr>
                        <a:t>¿Especie, arterial o venosa, obtención y demora?</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733425">
                <a:tc>
                  <a:txBody>
                    <a:bodyPr wrap="square">
                      <a:noAutofit/>
                    </a:bodyPr>
                    <a:lstStyle/>
                    <a:p>
                      <a:pPr algn="l"/>
                      <a:r>
                        <a:rPr sz="2200" b="0">
                          <a:solidFill>
                            <a:srgbClr val="181818"/>
                          </a:solidFill>
                          <a:latin typeface="Times New Roman"/>
                          <a:ea typeface="Times New Roman"/>
                          <a:cs typeface="Times New Roman"/>
                        </a:rPr>
                        <a:t>2. pH</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200" b="0">
                          <a:solidFill>
                            <a:srgbClr val="181818"/>
                          </a:solidFill>
                          <a:latin typeface="Times New Roman"/>
                          <a:ea typeface="Times New Roman"/>
                          <a:cs typeface="Times New Roman"/>
                        </a:rPr>
                        <a:t>¿Cuál es el criterio o intervalo aplicable?</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r h="733425">
                <a:tc>
                  <a:txBody>
                    <a:bodyPr wrap="square">
                      <a:noAutofit/>
                    </a:bodyPr>
                    <a:lstStyle/>
                    <a:p>
                      <a:pPr algn="l"/>
                      <a:r>
                        <a:rPr sz="2200" b="0">
                          <a:solidFill>
                            <a:srgbClr val="181818"/>
                          </a:solidFill>
                          <a:latin typeface="Times New Roman"/>
                          <a:ea typeface="Times New Roman"/>
                          <a:cs typeface="Times New Roman"/>
                        </a:rPr>
                        <a:t>3. Componentes</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200" b="0">
                          <a:solidFill>
                            <a:srgbClr val="181818"/>
                          </a:solidFill>
                          <a:latin typeface="Times New Roman"/>
                          <a:ea typeface="Times New Roman"/>
                          <a:cs typeface="Times New Roman"/>
                        </a:rPr>
                        <a:t>¿Cómo se relacionan PCO₂ y HCO₃⁻ con el pH?</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733425">
                <a:tc>
                  <a:txBody>
                    <a:bodyPr wrap="square">
                      <a:noAutofit/>
                    </a:bodyPr>
                    <a:lstStyle/>
                    <a:p>
                      <a:pPr algn="l"/>
                      <a:r>
                        <a:rPr sz="2200" b="0">
                          <a:solidFill>
                            <a:srgbClr val="181818"/>
                          </a:solidFill>
                          <a:latin typeface="Times New Roman"/>
                          <a:ea typeface="Times New Roman"/>
                          <a:cs typeface="Times New Roman"/>
                        </a:rPr>
                        <a:t>4. Integración</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200" b="0">
                          <a:solidFill>
                            <a:srgbClr val="181818"/>
                          </a:solidFill>
                          <a:latin typeface="Times New Roman"/>
                          <a:ea typeface="Times New Roman"/>
                          <a:cs typeface="Times New Roman"/>
                        </a:rPr>
                        <a:t>¿Respuesta, electrolitos e historia son coherentes?</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965AFDF9-144B-47D3-A87D-F916E1D4E988}"/>
              </a:ext>
            </a:extLst>
          </p:cNvPr>
          <p:cNvSpPr>
            <a:spLocks xmlns:a="http://schemas.openxmlformats.org/drawingml/2006/main" noGrp="1"/>
          </p:cNvSpPr>
          <p:nvPr/>
        </p:nvSpPr>
        <p:spPr>
          <a:xfrm xmlns:a="http://schemas.openxmlformats.org/drawingml/2006/main">
            <a:off x="609600" y="5381625"/>
            <a:ext cx="10972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00" b="1">
                <a:solidFill>
                  <a:srgbClr val="367653"/>
                </a:solidFill>
                <a:latin typeface="Times New Roman"/>
                <a:ea typeface="Times New Roman"/>
                <a:cs typeface="Times New Roman"/>
              </a:defRPr>
            </a:defPPr>
            <a:lvl1pPr algn="l">
              <a:defRPr sz="2600" b="1">
                <a:solidFill>
                  <a:srgbClr val="367653"/>
                </a:solidFill>
                <a:latin typeface="Times New Roman"/>
                <a:ea typeface="Times New Roman"/>
                <a:cs typeface="Times New Roman"/>
              </a:defRPr>
            </a:lvl1pPr>
            <a:lvl2pPr algn="l">
              <a:defRPr sz="2600" b="1">
                <a:solidFill>
                  <a:srgbClr val="367653"/>
                </a:solidFill>
                <a:latin typeface="Times New Roman"/>
                <a:ea typeface="Times New Roman"/>
                <a:cs typeface="Times New Roman"/>
              </a:defRPr>
            </a:lvl2pPr>
            <a:lvl3pPr algn="l">
              <a:defRPr sz="2600" b="1">
                <a:solidFill>
                  <a:srgbClr val="367653"/>
                </a:solidFill>
                <a:latin typeface="Times New Roman"/>
                <a:ea typeface="Times New Roman"/>
                <a:cs typeface="Times New Roman"/>
              </a:defRPr>
            </a:lvl3pPr>
            <a:lvl4pPr algn="l">
              <a:defRPr sz="2600" b="1">
                <a:solidFill>
                  <a:srgbClr val="367653"/>
                </a:solidFill>
                <a:latin typeface="Times New Roman"/>
                <a:ea typeface="Times New Roman"/>
                <a:cs typeface="Times New Roman"/>
              </a:defRPr>
            </a:lvl4pPr>
            <a:lvl5pPr algn="l">
              <a:defRPr sz="2600" b="1">
                <a:solidFill>
                  <a:srgbClr val="367653"/>
                </a:solidFill>
                <a:latin typeface="Times New Roman"/>
                <a:ea typeface="Times New Roman"/>
                <a:cs typeface="Times New Roman"/>
              </a:defRPr>
            </a:lvl5pPr>
            <a:lvl6pPr algn="l">
              <a:defRPr sz="2600" b="1">
                <a:solidFill>
                  <a:srgbClr val="367653"/>
                </a:solidFill>
                <a:latin typeface="Times New Roman"/>
                <a:ea typeface="Times New Roman"/>
                <a:cs typeface="Times New Roman"/>
              </a:defRPr>
            </a:lvl6pPr>
            <a:lvl7pPr algn="l">
              <a:defRPr sz="2600" b="1">
                <a:solidFill>
                  <a:srgbClr val="367653"/>
                </a:solidFill>
                <a:latin typeface="Times New Roman"/>
                <a:ea typeface="Times New Roman"/>
                <a:cs typeface="Times New Roman"/>
              </a:defRPr>
            </a:lvl7pPr>
            <a:lvl8pPr algn="l">
              <a:defRPr sz="2600" b="1">
                <a:solidFill>
                  <a:srgbClr val="367653"/>
                </a:solidFill>
                <a:latin typeface="Times New Roman"/>
                <a:ea typeface="Times New Roman"/>
                <a:cs typeface="Times New Roman"/>
              </a:defRPr>
            </a:lvl8pPr>
            <a:lvl9pPr algn="l">
              <a:defRPr sz="2600" b="1">
                <a:solidFill>
                  <a:srgbClr val="367653"/>
                </a:solidFill>
                <a:latin typeface="Times New Roman"/>
                <a:ea typeface="Times New Roman"/>
                <a:cs typeface="Times New Roman"/>
              </a:defRPr>
            </a:lvl9pPr>
          </a:lstStyle>
          <a:p xmlns:a="http://schemas.openxmlformats.org/drawingml/2006/main">
            <a:pPr algn="l">
              <a:defRPr sz="2600" b="1">
                <a:solidFill>
                  <a:srgbClr val="367653"/>
                </a:solidFill>
                <a:latin typeface="Times New Roman"/>
                <a:ea typeface="Times New Roman"/>
                <a:cs typeface="Times New Roman"/>
              </a:defRPr>
            </a:pPr>
            <a:r>
              <a:rPr sz="2600" b="1">
                <a:solidFill>
                  <a:srgbClr val="367653"/>
                </a:solidFill>
                <a:latin typeface="Times New Roman"/>
                <a:ea typeface="Times New Roman"/>
                <a:cs typeface="Times New Roman"/>
              </a:rPr>
              <a:t>AG = (Na⁺ + K⁺) − (Cl⁻ + HCO₃⁻)</a:t>
            </a:r>
          </a:p>
        </p:txBody>
      </p:sp>
    </p:spTree>
    <p:extLst>
      <p:ext uri="{BB962C8B-B14F-4D97-AF65-F5344CB8AC3E}">
        <p14:creationId xmlns:p14="http://schemas.microsoft.com/office/powerpoint/2010/main" val="88836093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8DB8750D-B41F-4B64-B373-151F01631584}"/>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Henderson–Hasselbalch: dos entradas</a:t>
            </a:r>
          </a:p>
        </p:txBody>
      </p:sp>
      <p:sp>
        <p:nvSpPr>
          <p:cNvPr id="2" name="page-number">
            <a:extLst xmlns:a="http://schemas.openxmlformats.org/drawingml/2006/main">
              <a:ext uri="{FF2B5EF4-FFF2-40B4-BE49-F238E27FC236}">
                <a16:creationId xmlns:a16="http://schemas.microsoft.com/office/drawing/2014/main" id="{718A694F-02AC-4D9D-8A9A-7656DB8FA9F6}"/>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10</a:t>
            </a:r>
          </a:p>
        </p:txBody>
      </p:sp>
      <p:sp>
        <p:nvSpPr>
          <p:cNvPr id="3" name="sources">
            <a:extLst xmlns:a="http://schemas.openxmlformats.org/drawingml/2006/main">
              <a:ext uri="{FF2B5EF4-FFF2-40B4-BE49-F238E27FC236}">
                <a16:creationId xmlns:a16="http://schemas.microsoft.com/office/drawing/2014/main" id="{0E66B110-B299-4CEB-BBCE-31B92D5BF471}"/>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[2] [9]</a:t>
            </a:r>
          </a:p>
        </p:txBody>
      </p:sp>
      <p:graphicFrame>
        <p:nvGraphicFramePr>
          <p:cNvPr id="4" name="Chart">
            <a:extLst xmlns:a="http://schemas.openxmlformats.org/drawingml/2006/main">
              <a:ext uri="{FF2B5EF4-FFF2-40B4-BE49-F238E27FC236}">
                <a16:creationId xmlns:a16="http://schemas.microsoft.com/office/drawing/2014/main" id="{791931C5-0AFB-4895-B1CA-971606289EF9}"/>
              </a:ext>
            </a:extLst>
          </p:cNvPr>
          <p:cNvGraphicFramePr/>
          <p:nvPr/>
        </p:nvGraphicFramePr>
        <p:xfrm>
          <a:off xmlns:a="http://schemas.openxmlformats.org/drawingml/2006/main" x="514350" y="1533525"/>
          <a:ext xmlns:a="http://schemas.openxmlformats.org/drawingml/2006/main" cx="7762875" cy="4543425"/>
        </p:xfrm>
        <a:graphic xmlns:a="http://schemas.openxmlformats.org/drawingml/2006/main">
          <a:graphicData uri="http://schemas.openxmlformats.org/drawingml/2006/chart">
            <c:chart xmlns:r="http://schemas.openxmlformats.org/officeDocument/2006/relationships" xmlns:c="http://schemas.openxmlformats.org/drawingml/2006/chart" r:id="R569df2b4bfb34287"/>
          </a:graphicData>
        </a:graphic>
      </p:graphicFrame>
      <p:sp>
        <p:nvSpPr>
          <p:cNvPr id="5" name="text">
            <a:extLst xmlns:a="http://schemas.openxmlformats.org/drawingml/2006/main">
              <a:ext uri="{FF2B5EF4-FFF2-40B4-BE49-F238E27FC236}">
                <a16:creationId xmlns:a16="http://schemas.microsoft.com/office/drawing/2014/main" id="{5B04AED1-B1DD-4D92-BCC4-AD189E29A371}"/>
              </a:ext>
            </a:extLst>
          </p:cNvPr>
          <p:cNvSpPr>
            <a:spLocks xmlns:a="http://schemas.openxmlformats.org/drawingml/2006/main" noGrp="1"/>
          </p:cNvSpPr>
          <p:nvPr/>
        </p:nvSpPr>
        <p:spPr>
          <a:xfrm xmlns:a="http://schemas.openxmlformats.org/drawingml/2006/main">
            <a:off x="8601075" y="1657350"/>
            <a:ext cx="2981325"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00" b="1">
                <a:solidFill>
                  <a:srgbClr val="367653"/>
                </a:solidFill>
                <a:latin typeface="Times New Roman"/>
                <a:ea typeface="Times New Roman"/>
                <a:cs typeface="Times New Roman"/>
              </a:defRPr>
            </a:defPPr>
            <a:lvl1pPr algn="l">
              <a:defRPr sz="2300" b="1">
                <a:solidFill>
                  <a:srgbClr val="367653"/>
                </a:solidFill>
                <a:latin typeface="Times New Roman"/>
                <a:ea typeface="Times New Roman"/>
                <a:cs typeface="Times New Roman"/>
              </a:defRPr>
            </a:lvl1pPr>
            <a:lvl2pPr algn="l">
              <a:defRPr sz="2300" b="1">
                <a:solidFill>
                  <a:srgbClr val="367653"/>
                </a:solidFill>
                <a:latin typeface="Times New Roman"/>
                <a:ea typeface="Times New Roman"/>
                <a:cs typeface="Times New Roman"/>
              </a:defRPr>
            </a:lvl2pPr>
            <a:lvl3pPr algn="l">
              <a:defRPr sz="2300" b="1">
                <a:solidFill>
                  <a:srgbClr val="367653"/>
                </a:solidFill>
                <a:latin typeface="Times New Roman"/>
                <a:ea typeface="Times New Roman"/>
                <a:cs typeface="Times New Roman"/>
              </a:defRPr>
            </a:lvl3pPr>
            <a:lvl4pPr algn="l">
              <a:defRPr sz="2300" b="1">
                <a:solidFill>
                  <a:srgbClr val="367653"/>
                </a:solidFill>
                <a:latin typeface="Times New Roman"/>
                <a:ea typeface="Times New Roman"/>
                <a:cs typeface="Times New Roman"/>
              </a:defRPr>
            </a:lvl4pPr>
            <a:lvl5pPr algn="l">
              <a:defRPr sz="2300" b="1">
                <a:solidFill>
                  <a:srgbClr val="367653"/>
                </a:solidFill>
                <a:latin typeface="Times New Roman"/>
                <a:ea typeface="Times New Roman"/>
                <a:cs typeface="Times New Roman"/>
              </a:defRPr>
            </a:lvl5pPr>
            <a:lvl6pPr algn="l">
              <a:defRPr sz="2300" b="1">
                <a:solidFill>
                  <a:srgbClr val="367653"/>
                </a:solidFill>
                <a:latin typeface="Times New Roman"/>
                <a:ea typeface="Times New Roman"/>
                <a:cs typeface="Times New Roman"/>
              </a:defRPr>
            </a:lvl6pPr>
            <a:lvl7pPr algn="l">
              <a:defRPr sz="2300" b="1">
                <a:solidFill>
                  <a:srgbClr val="367653"/>
                </a:solidFill>
                <a:latin typeface="Times New Roman"/>
                <a:ea typeface="Times New Roman"/>
                <a:cs typeface="Times New Roman"/>
              </a:defRPr>
            </a:lvl7pPr>
            <a:lvl8pPr algn="l">
              <a:defRPr sz="2300" b="1">
                <a:solidFill>
                  <a:srgbClr val="367653"/>
                </a:solidFill>
                <a:latin typeface="Times New Roman"/>
                <a:ea typeface="Times New Roman"/>
                <a:cs typeface="Times New Roman"/>
              </a:defRPr>
            </a:lvl8pPr>
            <a:lvl9pPr algn="l">
              <a:defRPr sz="2300" b="1">
                <a:solidFill>
                  <a:srgbClr val="367653"/>
                </a:solidFill>
                <a:latin typeface="Times New Roman"/>
                <a:ea typeface="Times New Roman"/>
                <a:cs typeface="Times New Roman"/>
              </a:defRPr>
            </a:lvl9pPr>
          </a:lstStyle>
          <a:p xmlns:a="http://schemas.openxmlformats.org/drawingml/2006/main">
            <a:pPr algn="l">
              <a:defRPr sz="2300" b="1">
                <a:solidFill>
                  <a:srgbClr val="367653"/>
                </a:solidFill>
                <a:latin typeface="Times New Roman"/>
                <a:ea typeface="Times New Roman"/>
                <a:cs typeface="Times New Roman"/>
              </a:defRPr>
            </a:pPr>
            <a:r>
              <a:rPr sz="2300" b="1">
                <a:solidFill>
                  <a:srgbClr val="367653"/>
                </a:solidFill>
                <a:latin typeface="Times New Roman"/>
                <a:ea typeface="Times New Roman"/>
                <a:cs typeface="Times New Roman"/>
              </a:rPr>
              <a:t>Una relación conservada</a:t>
            </a:r>
          </a:p>
        </p:txBody>
      </p:sp>
      <p:sp>
        <p:nvSpPr>
          <p:cNvPr id="6" name="text">
            <a:extLst xmlns:a="http://schemas.openxmlformats.org/drawingml/2006/main">
              <a:ext uri="{FF2B5EF4-FFF2-40B4-BE49-F238E27FC236}">
                <a16:creationId xmlns:a16="http://schemas.microsoft.com/office/drawing/2014/main" id="{FBE1145D-2067-4E55-B188-82ADB5C53377}"/>
              </a:ext>
            </a:extLst>
          </p:cNvPr>
          <p:cNvSpPr>
            <a:spLocks xmlns:a="http://schemas.openxmlformats.org/drawingml/2006/main" noGrp="1"/>
          </p:cNvSpPr>
          <p:nvPr/>
        </p:nvSpPr>
        <p:spPr>
          <a:xfrm xmlns:a="http://schemas.openxmlformats.org/drawingml/2006/main">
            <a:off x="8601075" y="2724150"/>
            <a:ext cx="29813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24 / 40 → pH 7,40</a:t>
            </a:r>
          </a:p>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36 / 60 → pH 7,40</a:t>
            </a:r>
          </a:p>
        </p:txBody>
      </p:sp>
      <p:sp>
        <p:nvSpPr>
          <p:cNvPr id="7" name="text">
            <a:extLst xmlns:a="http://schemas.openxmlformats.org/drawingml/2006/main">
              <a:ext uri="{FF2B5EF4-FFF2-40B4-BE49-F238E27FC236}">
                <a16:creationId xmlns:a16="http://schemas.microsoft.com/office/drawing/2014/main" id="{15B15073-4698-4149-907B-AD0C1738B74B}"/>
              </a:ext>
            </a:extLst>
          </p:cNvPr>
          <p:cNvSpPr>
            <a:spLocks xmlns:a="http://schemas.openxmlformats.org/drawingml/2006/main" noGrp="1"/>
          </p:cNvSpPr>
          <p:nvPr/>
        </p:nvSpPr>
        <p:spPr>
          <a:xfrm xmlns:a="http://schemas.openxmlformats.org/drawingml/2006/main">
            <a:off x="8601075" y="4057650"/>
            <a:ext cx="2981325"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00" b="0">
                <a:solidFill>
                  <a:srgbClr val="181818"/>
                </a:solidFill>
                <a:latin typeface="Times New Roman"/>
                <a:ea typeface="Times New Roman"/>
                <a:cs typeface="Times New Roman"/>
              </a:defRPr>
            </a:defPPr>
            <a:lvl1pPr algn="l">
              <a:defRPr sz="2000" b="0">
                <a:solidFill>
                  <a:srgbClr val="181818"/>
                </a:solidFill>
                <a:latin typeface="Times New Roman"/>
                <a:ea typeface="Times New Roman"/>
                <a:cs typeface="Times New Roman"/>
              </a:defRPr>
            </a:lvl1pPr>
            <a:lvl2pPr algn="l">
              <a:defRPr sz="2000" b="0">
                <a:solidFill>
                  <a:srgbClr val="181818"/>
                </a:solidFill>
                <a:latin typeface="Times New Roman"/>
                <a:ea typeface="Times New Roman"/>
                <a:cs typeface="Times New Roman"/>
              </a:defRPr>
            </a:lvl2pPr>
            <a:lvl3pPr algn="l">
              <a:defRPr sz="2000" b="0">
                <a:solidFill>
                  <a:srgbClr val="181818"/>
                </a:solidFill>
                <a:latin typeface="Times New Roman"/>
                <a:ea typeface="Times New Roman"/>
                <a:cs typeface="Times New Roman"/>
              </a:defRPr>
            </a:lvl3pPr>
            <a:lvl4pPr algn="l">
              <a:defRPr sz="2000" b="0">
                <a:solidFill>
                  <a:srgbClr val="181818"/>
                </a:solidFill>
                <a:latin typeface="Times New Roman"/>
                <a:ea typeface="Times New Roman"/>
                <a:cs typeface="Times New Roman"/>
              </a:defRPr>
            </a:lvl4pPr>
            <a:lvl5pPr algn="l">
              <a:defRPr sz="2000" b="0">
                <a:solidFill>
                  <a:srgbClr val="181818"/>
                </a:solidFill>
                <a:latin typeface="Times New Roman"/>
                <a:ea typeface="Times New Roman"/>
                <a:cs typeface="Times New Roman"/>
              </a:defRPr>
            </a:lvl5pPr>
            <a:lvl6pPr algn="l">
              <a:defRPr sz="2000" b="0">
                <a:solidFill>
                  <a:srgbClr val="181818"/>
                </a:solidFill>
                <a:latin typeface="Times New Roman"/>
                <a:ea typeface="Times New Roman"/>
                <a:cs typeface="Times New Roman"/>
              </a:defRPr>
            </a:lvl6pPr>
            <a:lvl7pPr algn="l">
              <a:defRPr sz="2000" b="0">
                <a:solidFill>
                  <a:srgbClr val="181818"/>
                </a:solidFill>
                <a:latin typeface="Times New Roman"/>
                <a:ea typeface="Times New Roman"/>
                <a:cs typeface="Times New Roman"/>
              </a:defRPr>
            </a:lvl7pPr>
            <a:lvl8pPr algn="l">
              <a:defRPr sz="2000" b="0">
                <a:solidFill>
                  <a:srgbClr val="181818"/>
                </a:solidFill>
                <a:latin typeface="Times New Roman"/>
                <a:ea typeface="Times New Roman"/>
                <a:cs typeface="Times New Roman"/>
              </a:defRPr>
            </a:lvl8pPr>
            <a:lvl9pPr algn="l">
              <a:defRPr sz="2000" b="0">
                <a:solidFill>
                  <a:srgbClr val="181818"/>
                </a:solidFill>
                <a:latin typeface="Times New Roman"/>
                <a:ea typeface="Times New Roman"/>
                <a:cs typeface="Times New Roman"/>
              </a:defRPr>
            </a:lvl9pPr>
          </a:lstStyle>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HCO₃⁻ en mmol/L;</a:t>
            </a:r>
          </a:p>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PCO₂ en mmHg.</a:t>
            </a:r>
          </a:p>
        </p:txBody>
      </p:sp>
      <p:sp>
        <p:nvSpPr>
          <p:cNvPr id="8" name="text">
            <a:extLst xmlns:a="http://schemas.openxmlformats.org/drawingml/2006/main">
              <a:ext uri="{FF2B5EF4-FFF2-40B4-BE49-F238E27FC236}">
                <a16:creationId xmlns:a16="http://schemas.microsoft.com/office/drawing/2014/main" id="{9EA8ED57-9EA3-4EB5-81BF-6E4A19ED1892}"/>
              </a:ext>
            </a:extLst>
          </p:cNvPr>
          <p:cNvSpPr>
            <a:spLocks xmlns:a="http://schemas.openxmlformats.org/drawingml/2006/main" noGrp="1"/>
          </p:cNvSpPr>
          <p:nvPr/>
        </p:nvSpPr>
        <p:spPr>
          <a:xfrm xmlns:a="http://schemas.openxmlformats.org/drawingml/2006/main">
            <a:off x="8601075" y="5238750"/>
            <a:ext cx="2981325"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81818"/>
                </a:solidFill>
                <a:latin typeface="Times New Roman"/>
                <a:ea typeface="Times New Roman"/>
                <a:cs typeface="Times New Roman"/>
              </a:defRPr>
            </a:defPPr>
            <a:lvl1pPr algn="l">
              <a:defRPr sz="2100" b="1">
                <a:solidFill>
                  <a:srgbClr val="181818"/>
                </a:solidFill>
                <a:latin typeface="Times New Roman"/>
                <a:ea typeface="Times New Roman"/>
                <a:cs typeface="Times New Roman"/>
              </a:defRPr>
            </a:lvl1pPr>
            <a:lvl2pPr algn="l">
              <a:defRPr sz="2100" b="1">
                <a:solidFill>
                  <a:srgbClr val="181818"/>
                </a:solidFill>
                <a:latin typeface="Times New Roman"/>
                <a:ea typeface="Times New Roman"/>
                <a:cs typeface="Times New Roman"/>
              </a:defRPr>
            </a:lvl2pPr>
            <a:lvl3pPr algn="l">
              <a:defRPr sz="2100" b="1">
                <a:solidFill>
                  <a:srgbClr val="181818"/>
                </a:solidFill>
                <a:latin typeface="Times New Roman"/>
                <a:ea typeface="Times New Roman"/>
                <a:cs typeface="Times New Roman"/>
              </a:defRPr>
            </a:lvl3pPr>
            <a:lvl4pPr algn="l">
              <a:defRPr sz="2100" b="1">
                <a:solidFill>
                  <a:srgbClr val="181818"/>
                </a:solidFill>
                <a:latin typeface="Times New Roman"/>
                <a:ea typeface="Times New Roman"/>
                <a:cs typeface="Times New Roman"/>
              </a:defRPr>
            </a:lvl4pPr>
            <a:lvl5pPr algn="l">
              <a:defRPr sz="2100" b="1">
                <a:solidFill>
                  <a:srgbClr val="181818"/>
                </a:solidFill>
                <a:latin typeface="Times New Roman"/>
                <a:ea typeface="Times New Roman"/>
                <a:cs typeface="Times New Roman"/>
              </a:defRPr>
            </a:lvl5pPr>
            <a:lvl6pPr algn="l">
              <a:defRPr sz="2100" b="1">
                <a:solidFill>
                  <a:srgbClr val="181818"/>
                </a:solidFill>
                <a:latin typeface="Times New Roman"/>
                <a:ea typeface="Times New Roman"/>
                <a:cs typeface="Times New Roman"/>
              </a:defRPr>
            </a:lvl6pPr>
            <a:lvl7pPr algn="l">
              <a:defRPr sz="2100" b="1">
                <a:solidFill>
                  <a:srgbClr val="181818"/>
                </a:solidFill>
                <a:latin typeface="Times New Roman"/>
                <a:ea typeface="Times New Roman"/>
                <a:cs typeface="Times New Roman"/>
              </a:defRPr>
            </a:lvl7pPr>
            <a:lvl8pPr algn="l">
              <a:defRPr sz="2100" b="1">
                <a:solidFill>
                  <a:srgbClr val="181818"/>
                </a:solidFill>
                <a:latin typeface="Times New Roman"/>
                <a:ea typeface="Times New Roman"/>
                <a:cs typeface="Times New Roman"/>
              </a:defRPr>
            </a:lvl8pPr>
            <a:lvl9pPr algn="l">
              <a:defRPr sz="2100" b="1">
                <a:solidFill>
                  <a:srgbClr val="181818"/>
                </a:solidFill>
                <a:latin typeface="Times New Roman"/>
                <a:ea typeface="Times New Roman"/>
                <a:cs typeface="Times New Roman"/>
              </a:defRPr>
            </a:lvl9pPr>
          </a:lstStyle>
          <a:p xmlns:a="http://schemas.openxmlformats.org/drawingml/2006/main">
            <a:pPr algn="l">
              <a:defRPr sz="2100" b="1">
                <a:solidFill>
                  <a:srgbClr val="181818"/>
                </a:solidFill>
                <a:latin typeface="Times New Roman"/>
                <a:ea typeface="Times New Roman"/>
                <a:cs typeface="Times New Roman"/>
              </a:defRPr>
            </a:pPr>
            <a:r>
              <a:rPr sz="2100" b="1">
                <a:solidFill>
                  <a:srgbClr val="181818"/>
                </a:solidFill>
                <a:latin typeface="Times New Roman"/>
                <a:ea typeface="Times New Roman"/>
                <a:cs typeface="Times New Roman"/>
              </a:rPr>
              <a:t>Curvas matemáticas.</a:t>
            </a:r>
          </a:p>
          <a:p xmlns:a="http://schemas.openxmlformats.org/drawingml/2006/main">
            <a:pPr algn="l">
              <a:defRPr sz="2100" b="1">
                <a:solidFill>
                  <a:srgbClr val="181818"/>
                </a:solidFill>
                <a:latin typeface="Times New Roman"/>
                <a:ea typeface="Times New Roman"/>
                <a:cs typeface="Times New Roman"/>
              </a:defRPr>
            </a:pPr>
            <a:r>
              <a:rPr sz="2100" b="1">
                <a:solidFill>
                  <a:srgbClr val="181818"/>
                </a:solidFill>
                <a:latin typeface="Times New Roman"/>
                <a:ea typeface="Times New Roman"/>
                <a:cs typeface="Times New Roman"/>
              </a:rPr>
              <a:t>No simulan el tiempo.</a:t>
            </a:r>
          </a:p>
        </p:txBody>
      </p:sp>
    </p:spTree>
    <p:extLst>
      <p:ext uri="{BB962C8B-B14F-4D97-AF65-F5344CB8AC3E}">
        <p14:creationId xmlns:p14="http://schemas.microsoft.com/office/powerpoint/2010/main" val="166086877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1691DD22-EB72-4970-A43D-ABF505B363C2}"/>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Caso 1. Ternero con diarrea</a:t>
            </a:r>
          </a:p>
        </p:txBody>
      </p:sp>
      <p:sp>
        <p:nvSpPr>
          <p:cNvPr id="2" name="page-number">
            <a:extLst xmlns:a="http://schemas.openxmlformats.org/drawingml/2006/main">
              <a:ext uri="{FF2B5EF4-FFF2-40B4-BE49-F238E27FC236}">
                <a16:creationId xmlns:a16="http://schemas.microsoft.com/office/drawing/2014/main" id="{CB323B57-3B4E-41BA-8182-343FFC4D2810}"/>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11</a:t>
            </a:r>
          </a:p>
        </p:txBody>
      </p:sp>
      <p:sp>
        <p:nvSpPr>
          <p:cNvPr id="3" name="sources">
            <a:extLst xmlns:a="http://schemas.openxmlformats.org/drawingml/2006/main">
              <a:ext uri="{FF2B5EF4-FFF2-40B4-BE49-F238E27FC236}">
                <a16:creationId xmlns:a16="http://schemas.microsoft.com/office/drawing/2014/main" id="{D785652D-3E89-4694-987D-F8242B2EEF65}"/>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[3] [7] [10] [11] [12]</a:t>
            </a:r>
          </a:p>
        </p:txBody>
      </p:sp>
      <p:sp>
        <p:nvSpPr>
          <p:cNvPr id="4" name="text">
            <a:extLst xmlns:a="http://schemas.openxmlformats.org/drawingml/2006/main">
              <a:ext uri="{FF2B5EF4-FFF2-40B4-BE49-F238E27FC236}">
                <a16:creationId xmlns:a16="http://schemas.microsoft.com/office/drawing/2014/main" id="{66F8D361-A262-47D4-9C5C-20A9483F9267}"/>
              </a:ext>
            </a:extLst>
          </p:cNvPr>
          <p:cNvSpPr>
            <a:spLocks xmlns:a="http://schemas.openxmlformats.org/drawingml/2006/main" noGrp="1"/>
          </p:cNvSpPr>
          <p:nvPr/>
        </p:nvSpPr>
        <p:spPr>
          <a:xfrm xmlns:a="http://schemas.openxmlformats.org/drawingml/2006/main">
            <a:off x="609600" y="1381125"/>
            <a:ext cx="1097280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12 días · diarrea de 24 h · muestra venosa yugular a 37 °C</a:t>
            </a:r>
          </a:p>
        </p:txBody>
      </p:sp>
      <p:graphicFrame>
        <p:nvGraphicFramePr>
          <p:cNvPr id="5" name="">
            <a:extLst xmlns:a="http://schemas.openxmlformats.org/drawingml/2006/main">
              <a:ext uri="{FF2B5EF4-FFF2-40B4-BE49-F238E27FC236}">
                <a16:creationId xmlns:a16="http://schemas.microsoft.com/office/drawing/2014/main" id="{BD9182A3-D10F-4002-A63C-7EA58C19B369}"/>
              </a:ext>
            </a:extLst>
          </p:cNvPr>
          <p:cNvGraphicFramePr/>
          <p:nvPr/>
        </p:nvGraphicFramePr>
        <p:xfrm>
          <a:off xmlns:a="http://schemas.openxmlformats.org/drawingml/2006/main" x="609600" y="2105025"/>
          <a:ext xmlns:a="http://schemas.openxmlformats.org/drawingml/2006/main" cx="5514975" cy="3190875"/>
        </p:xfrm>
        <a:graphic xmlns:a="http://schemas.openxmlformats.org/drawingml/2006/main">
          <a:graphicData uri="http://schemas.openxmlformats.org/drawingml/2006/table">
            <a:tbl>
              <a:tblPr firstRow="1" bandRow="0"/>
              <a:tblGrid>
                <a:gridCol w="2676525"/>
                <a:gridCol w="2838450"/>
              </a:tblGrid>
              <a:tr h="581025">
                <a:tc>
                  <a:txBody>
                    <a:bodyPr wrap="square">
                      <a:noAutofit/>
                    </a:bodyPr>
                    <a:lstStyle/>
                    <a:p>
                      <a:pPr algn="l"/>
                      <a:r>
                        <a:rPr sz="2200" b="1">
                          <a:solidFill>
                            <a:srgbClr val="FFFFFF"/>
                          </a:solidFill>
                          <a:latin typeface="Times New Roman"/>
                          <a:ea typeface="Times New Roman"/>
                          <a:cs typeface="Times New Roman"/>
                        </a:rPr>
                        <a:t>Variable</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Resultado</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619125">
                <a:tc>
                  <a:txBody>
                    <a:bodyPr wrap="square">
                      <a:noAutofit/>
                    </a:bodyPr>
                    <a:lstStyle/>
                    <a:p>
                      <a:pPr algn="l"/>
                      <a:r>
                        <a:rPr sz="2200" b="0">
                          <a:solidFill>
                            <a:srgbClr val="181818"/>
                          </a:solidFill>
                          <a:latin typeface="Times New Roman"/>
                          <a:ea typeface="Times New Roman"/>
                          <a:cs typeface="Times New Roman"/>
                        </a:rPr>
                        <a:t>pH</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200" b="0">
                          <a:solidFill>
                            <a:srgbClr val="181818"/>
                          </a:solidFill>
                          <a:latin typeface="Times New Roman"/>
                          <a:ea typeface="Times New Roman"/>
                          <a:cs typeface="Times New Roman"/>
                        </a:rPr>
                        <a:t>7,15</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619125">
                <a:tc>
                  <a:txBody>
                    <a:bodyPr wrap="square">
                      <a:noAutofit/>
                    </a:bodyPr>
                    <a:lstStyle/>
                    <a:p>
                      <a:pPr algn="l"/>
                      <a:r>
                        <a:rPr sz="2200" b="0">
                          <a:solidFill>
                            <a:srgbClr val="181818"/>
                          </a:solidFill>
                          <a:latin typeface="Times New Roman"/>
                          <a:ea typeface="Times New Roman"/>
                          <a:cs typeface="Times New Roman"/>
                        </a:rPr>
                        <a:t>PCO₂</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200" b="0">
                          <a:solidFill>
                            <a:srgbClr val="181818"/>
                          </a:solidFill>
                          <a:latin typeface="Times New Roman"/>
                          <a:ea typeface="Times New Roman"/>
                          <a:cs typeface="Times New Roman"/>
                        </a:rPr>
                        <a:t>30 mmHg</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r h="619125">
                <a:tc>
                  <a:txBody>
                    <a:bodyPr wrap="square">
                      <a:noAutofit/>
                    </a:bodyPr>
                    <a:lstStyle/>
                    <a:p>
                      <a:pPr algn="l"/>
                      <a:r>
                        <a:rPr sz="2200" b="0">
                          <a:solidFill>
                            <a:srgbClr val="181818"/>
                          </a:solidFill>
                          <a:latin typeface="Times New Roman"/>
                          <a:ea typeface="Times New Roman"/>
                          <a:cs typeface="Times New Roman"/>
                        </a:rPr>
                        <a:t>HCO₃⁻</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200" b="0">
                          <a:solidFill>
                            <a:srgbClr val="181818"/>
                          </a:solidFill>
                          <a:latin typeface="Times New Roman"/>
                          <a:ea typeface="Times New Roman"/>
                          <a:cs typeface="Times New Roman"/>
                        </a:rPr>
                        <a:t>10 mmol/L</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752475">
                <a:tc>
                  <a:txBody>
                    <a:bodyPr wrap="square">
                      <a:noAutofit/>
                    </a:bodyPr>
                    <a:lstStyle/>
                    <a:p>
                      <a:pPr algn="l"/>
                      <a:r>
                        <a:rPr sz="2200" b="0">
                          <a:solidFill>
                            <a:srgbClr val="181818"/>
                          </a:solidFill>
                          <a:latin typeface="Times New Roman"/>
                          <a:ea typeface="Times New Roman"/>
                          <a:cs typeface="Times New Roman"/>
                        </a:rPr>
                        <a:t>Na⁺ / K⁺ / Cl⁻</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200" b="0">
                          <a:solidFill>
                            <a:srgbClr val="181818"/>
                          </a:solidFill>
                          <a:latin typeface="Times New Roman"/>
                          <a:ea typeface="Times New Roman"/>
                          <a:cs typeface="Times New Roman"/>
                        </a:rPr>
                        <a:t>135 / 4,8 / 102 mmol/L</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bl>
          </a:graphicData>
        </a:graphic>
      </p:graphicFrame>
      <p:sp>
        <p:nvSpPr>
          <p:cNvPr id="6" name="text">
            <a:extLst xmlns:a="http://schemas.openxmlformats.org/drawingml/2006/main">
              <a:ext uri="{FF2B5EF4-FFF2-40B4-BE49-F238E27FC236}">
                <a16:creationId xmlns:a16="http://schemas.microsoft.com/office/drawing/2014/main" id="{44A1C6C4-FB21-471B-A442-2EEF9EFA7AC7}"/>
              </a:ext>
            </a:extLst>
          </p:cNvPr>
          <p:cNvSpPr>
            <a:spLocks xmlns:a="http://schemas.openxmlformats.org/drawingml/2006/main" noGrp="1"/>
          </p:cNvSpPr>
          <p:nvPr/>
        </p:nvSpPr>
        <p:spPr>
          <a:xfrm xmlns:a="http://schemas.openxmlformats.org/drawingml/2006/main">
            <a:off x="6667500" y="2171700"/>
            <a:ext cx="49149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00" b="1">
                <a:solidFill>
                  <a:srgbClr val="367653"/>
                </a:solidFill>
                <a:latin typeface="Times New Roman"/>
                <a:ea typeface="Times New Roman"/>
                <a:cs typeface="Times New Roman"/>
              </a:defRPr>
            </a:defPPr>
            <a:lvl1pPr algn="l">
              <a:defRPr sz="2500" b="1">
                <a:solidFill>
                  <a:srgbClr val="367653"/>
                </a:solidFill>
                <a:latin typeface="Times New Roman"/>
                <a:ea typeface="Times New Roman"/>
                <a:cs typeface="Times New Roman"/>
              </a:defRPr>
            </a:lvl1pPr>
            <a:lvl2pPr algn="l">
              <a:defRPr sz="2500" b="1">
                <a:solidFill>
                  <a:srgbClr val="367653"/>
                </a:solidFill>
                <a:latin typeface="Times New Roman"/>
                <a:ea typeface="Times New Roman"/>
                <a:cs typeface="Times New Roman"/>
              </a:defRPr>
            </a:lvl2pPr>
            <a:lvl3pPr algn="l">
              <a:defRPr sz="2500" b="1">
                <a:solidFill>
                  <a:srgbClr val="367653"/>
                </a:solidFill>
                <a:latin typeface="Times New Roman"/>
                <a:ea typeface="Times New Roman"/>
                <a:cs typeface="Times New Roman"/>
              </a:defRPr>
            </a:lvl3pPr>
            <a:lvl4pPr algn="l">
              <a:defRPr sz="2500" b="1">
                <a:solidFill>
                  <a:srgbClr val="367653"/>
                </a:solidFill>
                <a:latin typeface="Times New Roman"/>
                <a:ea typeface="Times New Roman"/>
                <a:cs typeface="Times New Roman"/>
              </a:defRPr>
            </a:lvl4pPr>
            <a:lvl5pPr algn="l">
              <a:defRPr sz="2500" b="1">
                <a:solidFill>
                  <a:srgbClr val="367653"/>
                </a:solidFill>
                <a:latin typeface="Times New Roman"/>
                <a:ea typeface="Times New Roman"/>
                <a:cs typeface="Times New Roman"/>
              </a:defRPr>
            </a:lvl5pPr>
            <a:lvl6pPr algn="l">
              <a:defRPr sz="2500" b="1">
                <a:solidFill>
                  <a:srgbClr val="367653"/>
                </a:solidFill>
                <a:latin typeface="Times New Roman"/>
                <a:ea typeface="Times New Roman"/>
                <a:cs typeface="Times New Roman"/>
              </a:defRPr>
            </a:lvl6pPr>
            <a:lvl7pPr algn="l">
              <a:defRPr sz="2500" b="1">
                <a:solidFill>
                  <a:srgbClr val="367653"/>
                </a:solidFill>
                <a:latin typeface="Times New Roman"/>
                <a:ea typeface="Times New Roman"/>
                <a:cs typeface="Times New Roman"/>
              </a:defRPr>
            </a:lvl7pPr>
            <a:lvl8pPr algn="l">
              <a:defRPr sz="2500" b="1">
                <a:solidFill>
                  <a:srgbClr val="367653"/>
                </a:solidFill>
                <a:latin typeface="Times New Roman"/>
                <a:ea typeface="Times New Roman"/>
                <a:cs typeface="Times New Roman"/>
              </a:defRPr>
            </a:lvl8pPr>
            <a:lvl9pPr algn="l">
              <a:defRPr sz="2500" b="1">
                <a:solidFill>
                  <a:srgbClr val="367653"/>
                </a:solidFill>
                <a:latin typeface="Times New Roman"/>
                <a:ea typeface="Times New Roman"/>
                <a:cs typeface="Times New Roman"/>
              </a:defRPr>
            </a:lvl9pPr>
          </a:lstStyle>
          <a:p xmlns:a="http://schemas.openxmlformats.org/drawingml/2006/main">
            <a:pPr algn="l">
              <a:defRPr sz="2500" b="1">
                <a:solidFill>
                  <a:srgbClr val="367653"/>
                </a:solidFill>
                <a:latin typeface="Times New Roman"/>
                <a:ea typeface="Times New Roman"/>
                <a:cs typeface="Times New Roman"/>
              </a:defRPr>
            </a:pPr>
            <a:r>
              <a:rPr sz="2500" b="1">
                <a:solidFill>
                  <a:srgbClr val="367653"/>
                </a:solidFill>
                <a:latin typeface="Times New Roman"/>
                <a:ea typeface="Times New Roman"/>
                <a:cs typeface="Times New Roman"/>
              </a:rPr>
              <a:t>Acidosis metabólica</a:t>
            </a:r>
          </a:p>
        </p:txBody>
      </p:sp>
      <p:sp>
        <p:nvSpPr>
          <p:cNvPr id="7" name="text">
            <a:extLst xmlns:a="http://schemas.openxmlformats.org/drawingml/2006/main">
              <a:ext uri="{FF2B5EF4-FFF2-40B4-BE49-F238E27FC236}">
                <a16:creationId xmlns:a16="http://schemas.microsoft.com/office/drawing/2014/main" id="{F3860E43-DBAD-4E76-9CE9-0B0CAC7E04D4}"/>
              </a:ext>
            </a:extLst>
          </p:cNvPr>
          <p:cNvSpPr>
            <a:spLocks xmlns:a="http://schemas.openxmlformats.org/drawingml/2006/main" noGrp="1"/>
          </p:cNvSpPr>
          <p:nvPr/>
        </p:nvSpPr>
        <p:spPr>
          <a:xfrm xmlns:a="http://schemas.openxmlformats.org/drawingml/2006/main">
            <a:off x="6667500" y="3048000"/>
            <a:ext cx="49149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81818"/>
                </a:solidFill>
                <a:latin typeface="Times New Roman"/>
                <a:ea typeface="Times New Roman"/>
                <a:cs typeface="Times New Roman"/>
              </a:defRPr>
            </a:defPPr>
            <a:lvl1pPr algn="l">
              <a:defRPr sz="2400" b="1">
                <a:solidFill>
                  <a:srgbClr val="181818"/>
                </a:solidFill>
                <a:latin typeface="Times New Roman"/>
                <a:ea typeface="Times New Roman"/>
                <a:cs typeface="Times New Roman"/>
              </a:defRPr>
            </a:lvl1pPr>
            <a:lvl2pPr algn="l">
              <a:defRPr sz="2400" b="1">
                <a:solidFill>
                  <a:srgbClr val="181818"/>
                </a:solidFill>
                <a:latin typeface="Times New Roman"/>
                <a:ea typeface="Times New Roman"/>
                <a:cs typeface="Times New Roman"/>
              </a:defRPr>
            </a:lvl2pPr>
            <a:lvl3pPr algn="l">
              <a:defRPr sz="2400" b="1">
                <a:solidFill>
                  <a:srgbClr val="181818"/>
                </a:solidFill>
                <a:latin typeface="Times New Roman"/>
                <a:ea typeface="Times New Roman"/>
                <a:cs typeface="Times New Roman"/>
              </a:defRPr>
            </a:lvl3pPr>
            <a:lvl4pPr algn="l">
              <a:defRPr sz="2400" b="1">
                <a:solidFill>
                  <a:srgbClr val="181818"/>
                </a:solidFill>
                <a:latin typeface="Times New Roman"/>
                <a:ea typeface="Times New Roman"/>
                <a:cs typeface="Times New Roman"/>
              </a:defRPr>
            </a:lvl4pPr>
            <a:lvl5pPr algn="l">
              <a:defRPr sz="2400" b="1">
                <a:solidFill>
                  <a:srgbClr val="181818"/>
                </a:solidFill>
                <a:latin typeface="Times New Roman"/>
                <a:ea typeface="Times New Roman"/>
                <a:cs typeface="Times New Roman"/>
              </a:defRPr>
            </a:lvl5pPr>
            <a:lvl6pPr algn="l">
              <a:defRPr sz="2400" b="1">
                <a:solidFill>
                  <a:srgbClr val="181818"/>
                </a:solidFill>
                <a:latin typeface="Times New Roman"/>
                <a:ea typeface="Times New Roman"/>
                <a:cs typeface="Times New Roman"/>
              </a:defRPr>
            </a:lvl6pPr>
            <a:lvl7pPr algn="l">
              <a:defRPr sz="2400" b="1">
                <a:solidFill>
                  <a:srgbClr val="181818"/>
                </a:solidFill>
                <a:latin typeface="Times New Roman"/>
                <a:ea typeface="Times New Roman"/>
                <a:cs typeface="Times New Roman"/>
              </a:defRPr>
            </a:lvl7pPr>
            <a:lvl8pPr algn="l">
              <a:defRPr sz="2400" b="1">
                <a:solidFill>
                  <a:srgbClr val="181818"/>
                </a:solidFill>
                <a:latin typeface="Times New Roman"/>
                <a:ea typeface="Times New Roman"/>
                <a:cs typeface="Times New Roman"/>
              </a:defRPr>
            </a:lvl8pPr>
            <a:lvl9pPr algn="l">
              <a:defRPr sz="2400" b="1">
                <a:solidFill>
                  <a:srgbClr val="181818"/>
                </a:solidFill>
                <a:latin typeface="Times New Roman"/>
                <a:ea typeface="Times New Roman"/>
                <a:cs typeface="Times New Roman"/>
              </a:defRPr>
            </a:lvl9pPr>
          </a:lstStyle>
          <a:p xmlns:a="http://schemas.openxmlformats.org/drawingml/2006/main">
            <a:pPr algn="l">
              <a:defRPr sz="2400" b="1">
                <a:solidFill>
                  <a:srgbClr val="181818"/>
                </a:solidFill>
                <a:latin typeface="Times New Roman"/>
                <a:ea typeface="Times New Roman"/>
                <a:cs typeface="Times New Roman"/>
              </a:defRPr>
            </a:pPr>
            <a:r>
              <a:rPr sz="2400" b="1">
                <a:solidFill>
                  <a:srgbClr val="181818"/>
                </a:solidFill>
                <a:latin typeface="Times New Roman"/>
                <a:ea typeface="Times New Roman"/>
                <a:cs typeface="Times New Roman"/>
              </a:rPr>
              <a:t>AG = 27,8 mmol/L</a:t>
            </a:r>
          </a:p>
        </p:txBody>
      </p:sp>
      <p:sp>
        <p:nvSpPr>
          <p:cNvPr id="8" name="text">
            <a:extLst xmlns:a="http://schemas.openxmlformats.org/drawingml/2006/main">
              <a:ext uri="{FF2B5EF4-FFF2-40B4-BE49-F238E27FC236}">
                <a16:creationId xmlns:a16="http://schemas.microsoft.com/office/drawing/2014/main" id="{D4C0A46C-7438-4CCC-BFB8-441DCD8DF635}"/>
              </a:ext>
            </a:extLst>
          </p:cNvPr>
          <p:cNvSpPr>
            <a:spLocks xmlns:a="http://schemas.openxmlformats.org/drawingml/2006/main" noGrp="1"/>
          </p:cNvSpPr>
          <p:nvPr/>
        </p:nvSpPr>
        <p:spPr>
          <a:xfrm xmlns:a="http://schemas.openxmlformats.org/drawingml/2006/main">
            <a:off x="6667500" y="3905250"/>
            <a:ext cx="49149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Falta intervalo del laboratorio.</a:t>
            </a:r>
          </a:p>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No demuestra D-lactato.</a:t>
            </a:r>
          </a:p>
        </p:txBody>
      </p:sp>
      <p:sp>
        <p:nvSpPr>
          <p:cNvPr id="9" name="text">
            <a:extLst xmlns:a="http://schemas.openxmlformats.org/drawingml/2006/main">
              <a:ext uri="{FF2B5EF4-FFF2-40B4-BE49-F238E27FC236}">
                <a16:creationId xmlns:a16="http://schemas.microsoft.com/office/drawing/2014/main" id="{6C67477D-0D77-46AD-916D-0D9E4387D6A1}"/>
              </a:ext>
            </a:extLst>
          </p:cNvPr>
          <p:cNvSpPr>
            <a:spLocks xmlns:a="http://schemas.openxmlformats.org/drawingml/2006/main" noGrp="1"/>
          </p:cNvSpPr>
          <p:nvPr/>
        </p:nvSpPr>
        <p:spPr>
          <a:xfrm xmlns:a="http://schemas.openxmlformats.org/drawingml/2006/main">
            <a:off x="609600" y="559117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00" b="0">
                <a:solidFill>
                  <a:srgbClr val="181818"/>
                </a:solidFill>
                <a:latin typeface="Times New Roman"/>
                <a:ea typeface="Times New Roman"/>
                <a:cs typeface="Times New Roman"/>
              </a:defRPr>
            </a:defPPr>
            <a:lvl1pPr algn="l">
              <a:defRPr sz="2000" b="0">
                <a:solidFill>
                  <a:srgbClr val="181818"/>
                </a:solidFill>
                <a:latin typeface="Times New Roman"/>
                <a:ea typeface="Times New Roman"/>
                <a:cs typeface="Times New Roman"/>
              </a:defRPr>
            </a:lvl1pPr>
            <a:lvl2pPr algn="l">
              <a:defRPr sz="2000" b="0">
                <a:solidFill>
                  <a:srgbClr val="181818"/>
                </a:solidFill>
                <a:latin typeface="Times New Roman"/>
                <a:ea typeface="Times New Roman"/>
                <a:cs typeface="Times New Roman"/>
              </a:defRPr>
            </a:lvl2pPr>
            <a:lvl3pPr algn="l">
              <a:defRPr sz="2000" b="0">
                <a:solidFill>
                  <a:srgbClr val="181818"/>
                </a:solidFill>
                <a:latin typeface="Times New Roman"/>
                <a:ea typeface="Times New Roman"/>
                <a:cs typeface="Times New Roman"/>
              </a:defRPr>
            </a:lvl3pPr>
            <a:lvl4pPr algn="l">
              <a:defRPr sz="2000" b="0">
                <a:solidFill>
                  <a:srgbClr val="181818"/>
                </a:solidFill>
                <a:latin typeface="Times New Roman"/>
                <a:ea typeface="Times New Roman"/>
                <a:cs typeface="Times New Roman"/>
              </a:defRPr>
            </a:lvl4pPr>
            <a:lvl5pPr algn="l">
              <a:defRPr sz="2000" b="0">
                <a:solidFill>
                  <a:srgbClr val="181818"/>
                </a:solidFill>
                <a:latin typeface="Times New Roman"/>
                <a:ea typeface="Times New Roman"/>
                <a:cs typeface="Times New Roman"/>
              </a:defRPr>
            </a:lvl5pPr>
            <a:lvl6pPr algn="l">
              <a:defRPr sz="2000" b="0">
                <a:solidFill>
                  <a:srgbClr val="181818"/>
                </a:solidFill>
                <a:latin typeface="Times New Roman"/>
                <a:ea typeface="Times New Roman"/>
                <a:cs typeface="Times New Roman"/>
              </a:defRPr>
            </a:lvl6pPr>
            <a:lvl7pPr algn="l">
              <a:defRPr sz="2000" b="0">
                <a:solidFill>
                  <a:srgbClr val="181818"/>
                </a:solidFill>
                <a:latin typeface="Times New Roman"/>
                <a:ea typeface="Times New Roman"/>
                <a:cs typeface="Times New Roman"/>
              </a:defRPr>
            </a:lvl7pPr>
            <a:lvl8pPr algn="l">
              <a:defRPr sz="2000" b="0">
                <a:solidFill>
                  <a:srgbClr val="181818"/>
                </a:solidFill>
                <a:latin typeface="Times New Roman"/>
                <a:ea typeface="Times New Roman"/>
                <a:cs typeface="Times New Roman"/>
              </a:defRPr>
            </a:lvl8pPr>
            <a:lvl9pPr algn="l">
              <a:defRPr sz="2000" b="0">
                <a:solidFill>
                  <a:srgbClr val="181818"/>
                </a:solidFill>
                <a:latin typeface="Times New Roman"/>
                <a:ea typeface="Times New Roman"/>
                <a:cs typeface="Times New Roman"/>
              </a:defRPr>
            </a:lvl9pPr>
          </a:lstStyle>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Caso simulado. Criterio de acidemia del estudio de Jung et al.; no intervalo universal.</a:t>
            </a:r>
          </a:p>
        </p:txBody>
      </p:sp>
    </p:spTree>
    <p:extLst>
      <p:ext uri="{BB962C8B-B14F-4D97-AF65-F5344CB8AC3E}">
        <p14:creationId xmlns:p14="http://schemas.microsoft.com/office/powerpoint/2010/main" val="27762855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623DDE8C-9C62-4843-8BAE-BA69F5C23F24}"/>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Caso 2. Hipoventilación aguda</a:t>
            </a:r>
          </a:p>
        </p:txBody>
      </p:sp>
      <p:sp>
        <p:nvSpPr>
          <p:cNvPr id="2" name="page-number">
            <a:extLst xmlns:a="http://schemas.openxmlformats.org/drawingml/2006/main">
              <a:ext uri="{FF2B5EF4-FFF2-40B4-BE49-F238E27FC236}">
                <a16:creationId xmlns:a16="http://schemas.microsoft.com/office/drawing/2014/main" id="{3D17FCDB-1E36-4FE4-B549-84EEAA8987D2}"/>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12</a:t>
            </a:r>
          </a:p>
        </p:txBody>
      </p:sp>
      <p:sp>
        <p:nvSpPr>
          <p:cNvPr id="3" name="sources">
            <a:extLst xmlns:a="http://schemas.openxmlformats.org/drawingml/2006/main">
              <a:ext uri="{FF2B5EF4-FFF2-40B4-BE49-F238E27FC236}">
                <a16:creationId xmlns:a16="http://schemas.microsoft.com/office/drawing/2014/main" id="{1FE6131F-C069-436E-81F7-484098377703}"/>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[1] [3] [4] [9]</a:t>
            </a:r>
          </a:p>
        </p:txBody>
      </p:sp>
      <p:sp>
        <p:nvSpPr>
          <p:cNvPr id="4" name="text">
            <a:extLst xmlns:a="http://schemas.openxmlformats.org/drawingml/2006/main">
              <a:ext uri="{FF2B5EF4-FFF2-40B4-BE49-F238E27FC236}">
                <a16:creationId xmlns:a16="http://schemas.microsoft.com/office/drawing/2014/main" id="{FA127711-74C2-4A04-9762-2D631448DB39}"/>
              </a:ext>
            </a:extLst>
          </p:cNvPr>
          <p:cNvSpPr>
            <a:spLocks xmlns:a="http://schemas.openxmlformats.org/drawingml/2006/main" noGrp="1"/>
          </p:cNvSpPr>
          <p:nvPr/>
        </p:nvSpPr>
        <p:spPr>
          <a:xfrm xmlns:a="http://schemas.openxmlformats.org/drawingml/2006/main">
            <a:off x="609600" y="1381125"/>
            <a:ext cx="1097280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Perro adulto · anestesia · sangre arterial a 37 °C</a:t>
            </a:r>
          </a:p>
        </p:txBody>
      </p:sp>
      <p:graphicFrame>
        <p:nvGraphicFramePr>
          <p:cNvPr id="5" name="">
            <a:extLst xmlns:a="http://schemas.openxmlformats.org/drawingml/2006/main">
              <a:ext uri="{FF2B5EF4-FFF2-40B4-BE49-F238E27FC236}">
                <a16:creationId xmlns:a16="http://schemas.microsoft.com/office/drawing/2014/main" id="{59E6065B-815A-4CB3-BD18-F6BE22DC13FA}"/>
              </a:ext>
            </a:extLst>
          </p:cNvPr>
          <p:cNvGraphicFramePr/>
          <p:nvPr/>
        </p:nvGraphicFramePr>
        <p:xfrm>
          <a:off xmlns:a="http://schemas.openxmlformats.org/drawingml/2006/main" x="609600" y="2143125"/>
          <a:ext xmlns:a="http://schemas.openxmlformats.org/drawingml/2006/main" cx="6315075" cy="2857500"/>
        </p:xfrm>
        <a:graphic xmlns:a="http://schemas.openxmlformats.org/drawingml/2006/main">
          <a:graphicData uri="http://schemas.openxmlformats.org/drawingml/2006/table">
            <a:tbl>
              <a:tblPr firstRow="1" bandRow="0"/>
              <a:tblGrid>
                <a:gridCol w="2143125"/>
                <a:gridCol w="2085975"/>
                <a:gridCol w="2085975"/>
              </a:tblGrid>
              <a:tr h="628650">
                <a:tc>
                  <a:txBody>
                    <a:bodyPr wrap="square">
                      <a:noAutofit/>
                    </a:bodyPr>
                    <a:lstStyle/>
                    <a:p>
                      <a:pPr algn="l"/>
                      <a:r>
                        <a:rPr sz="2200" b="1">
                          <a:solidFill>
                            <a:srgbClr val="FFFFFF"/>
                          </a:solidFill>
                          <a:latin typeface="Times New Roman"/>
                          <a:ea typeface="Times New Roman"/>
                          <a:cs typeface="Times New Roman"/>
                        </a:rPr>
                        <a:t>Variable</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Previo</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20 min</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742950">
                <a:tc>
                  <a:txBody>
                    <a:bodyPr wrap="square">
                      <a:noAutofit/>
                    </a:bodyPr>
                    <a:lstStyle/>
                    <a:p>
                      <a:pPr algn="l"/>
                      <a:r>
                        <a:rPr sz="2300" b="0">
                          <a:solidFill>
                            <a:srgbClr val="181818"/>
                          </a:solidFill>
                          <a:latin typeface="Times New Roman"/>
                          <a:ea typeface="Times New Roman"/>
                          <a:cs typeface="Times New Roman"/>
                        </a:rPr>
                        <a:t>pH</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300" b="0">
                          <a:solidFill>
                            <a:srgbClr val="181818"/>
                          </a:solidFill>
                          <a:latin typeface="Times New Roman"/>
                          <a:ea typeface="Times New Roman"/>
                          <a:cs typeface="Times New Roman"/>
                        </a:rPr>
                        <a:t>7,40</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300" b="0">
                          <a:solidFill>
                            <a:srgbClr val="181818"/>
                          </a:solidFill>
                          <a:latin typeface="Times New Roman"/>
                          <a:ea typeface="Times New Roman"/>
                          <a:cs typeface="Times New Roman"/>
                        </a:rPr>
                        <a:t>7,28</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742950">
                <a:tc>
                  <a:txBody>
                    <a:bodyPr wrap="square">
                      <a:noAutofit/>
                    </a:bodyPr>
                    <a:lstStyle/>
                    <a:p>
                      <a:pPr algn="l"/>
                      <a:r>
                        <a:rPr sz="2300" b="0">
                          <a:solidFill>
                            <a:srgbClr val="181818"/>
                          </a:solidFill>
                          <a:latin typeface="Times New Roman"/>
                          <a:ea typeface="Times New Roman"/>
                          <a:cs typeface="Times New Roman"/>
                        </a:rPr>
                        <a:t>PCO₂</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300" b="0">
                          <a:solidFill>
                            <a:srgbClr val="181818"/>
                          </a:solidFill>
                          <a:latin typeface="Times New Roman"/>
                          <a:ea typeface="Times New Roman"/>
                          <a:cs typeface="Times New Roman"/>
                        </a:rPr>
                        <a:t>40 mmHg</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300" b="0">
                          <a:solidFill>
                            <a:srgbClr val="181818"/>
                          </a:solidFill>
                          <a:latin typeface="Times New Roman"/>
                          <a:ea typeface="Times New Roman"/>
                          <a:cs typeface="Times New Roman"/>
                        </a:rPr>
                        <a:t>60 mmHg</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r h="742950">
                <a:tc>
                  <a:txBody>
                    <a:bodyPr wrap="square">
                      <a:noAutofit/>
                    </a:bodyPr>
                    <a:lstStyle/>
                    <a:p>
                      <a:pPr algn="l"/>
                      <a:r>
                        <a:rPr sz="2300" b="0">
                          <a:solidFill>
                            <a:srgbClr val="181818"/>
                          </a:solidFill>
                          <a:latin typeface="Times New Roman"/>
                          <a:ea typeface="Times New Roman"/>
                          <a:cs typeface="Times New Roman"/>
                        </a:rPr>
                        <a:t>HCO₃⁻</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300" b="0">
                          <a:solidFill>
                            <a:srgbClr val="181818"/>
                          </a:solidFill>
                          <a:latin typeface="Times New Roman"/>
                          <a:ea typeface="Times New Roman"/>
                          <a:cs typeface="Times New Roman"/>
                        </a:rPr>
                        <a:t>24 mmol/L</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300" b="0">
                          <a:solidFill>
                            <a:srgbClr val="181818"/>
                          </a:solidFill>
                          <a:latin typeface="Times New Roman"/>
                          <a:ea typeface="Times New Roman"/>
                          <a:cs typeface="Times New Roman"/>
                        </a:rPr>
                        <a:t>27 mmol/L</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bl>
          </a:graphicData>
        </a:graphic>
      </p:graphicFrame>
      <p:sp>
        <p:nvSpPr>
          <p:cNvPr id="6" name="text">
            <a:extLst xmlns:a="http://schemas.openxmlformats.org/drawingml/2006/main">
              <a:ext uri="{FF2B5EF4-FFF2-40B4-BE49-F238E27FC236}">
                <a16:creationId xmlns:a16="http://schemas.microsoft.com/office/drawing/2014/main" id="{F47E6C0C-E80E-4A2C-9C5B-5888182D0446}"/>
              </a:ext>
            </a:extLst>
          </p:cNvPr>
          <p:cNvSpPr>
            <a:spLocks xmlns:a="http://schemas.openxmlformats.org/drawingml/2006/main" noGrp="1"/>
          </p:cNvSpPr>
          <p:nvPr/>
        </p:nvSpPr>
        <p:spPr>
          <a:xfrm xmlns:a="http://schemas.openxmlformats.org/drawingml/2006/main">
            <a:off x="7439025" y="2190750"/>
            <a:ext cx="41433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00" b="1">
                <a:solidFill>
                  <a:srgbClr val="367653"/>
                </a:solidFill>
                <a:latin typeface="Times New Roman"/>
                <a:ea typeface="Times New Roman"/>
                <a:cs typeface="Times New Roman"/>
              </a:defRPr>
            </a:defPPr>
            <a:lvl1pPr algn="l">
              <a:defRPr sz="2700" b="1">
                <a:solidFill>
                  <a:srgbClr val="367653"/>
                </a:solidFill>
                <a:latin typeface="Times New Roman"/>
                <a:ea typeface="Times New Roman"/>
                <a:cs typeface="Times New Roman"/>
              </a:defRPr>
            </a:lvl1pPr>
            <a:lvl2pPr algn="l">
              <a:defRPr sz="2700" b="1">
                <a:solidFill>
                  <a:srgbClr val="367653"/>
                </a:solidFill>
                <a:latin typeface="Times New Roman"/>
                <a:ea typeface="Times New Roman"/>
                <a:cs typeface="Times New Roman"/>
              </a:defRPr>
            </a:lvl2pPr>
            <a:lvl3pPr algn="l">
              <a:defRPr sz="2700" b="1">
                <a:solidFill>
                  <a:srgbClr val="367653"/>
                </a:solidFill>
                <a:latin typeface="Times New Roman"/>
                <a:ea typeface="Times New Roman"/>
                <a:cs typeface="Times New Roman"/>
              </a:defRPr>
            </a:lvl3pPr>
            <a:lvl4pPr algn="l">
              <a:defRPr sz="2700" b="1">
                <a:solidFill>
                  <a:srgbClr val="367653"/>
                </a:solidFill>
                <a:latin typeface="Times New Roman"/>
                <a:ea typeface="Times New Roman"/>
                <a:cs typeface="Times New Roman"/>
              </a:defRPr>
            </a:lvl4pPr>
            <a:lvl5pPr algn="l">
              <a:defRPr sz="2700" b="1">
                <a:solidFill>
                  <a:srgbClr val="367653"/>
                </a:solidFill>
                <a:latin typeface="Times New Roman"/>
                <a:ea typeface="Times New Roman"/>
                <a:cs typeface="Times New Roman"/>
              </a:defRPr>
            </a:lvl5pPr>
            <a:lvl6pPr algn="l">
              <a:defRPr sz="2700" b="1">
                <a:solidFill>
                  <a:srgbClr val="367653"/>
                </a:solidFill>
                <a:latin typeface="Times New Roman"/>
                <a:ea typeface="Times New Roman"/>
                <a:cs typeface="Times New Roman"/>
              </a:defRPr>
            </a:lvl6pPr>
            <a:lvl7pPr algn="l">
              <a:defRPr sz="2700" b="1">
                <a:solidFill>
                  <a:srgbClr val="367653"/>
                </a:solidFill>
                <a:latin typeface="Times New Roman"/>
                <a:ea typeface="Times New Roman"/>
                <a:cs typeface="Times New Roman"/>
              </a:defRPr>
            </a:lvl7pPr>
            <a:lvl8pPr algn="l">
              <a:defRPr sz="2700" b="1">
                <a:solidFill>
                  <a:srgbClr val="367653"/>
                </a:solidFill>
                <a:latin typeface="Times New Roman"/>
                <a:ea typeface="Times New Roman"/>
                <a:cs typeface="Times New Roman"/>
              </a:defRPr>
            </a:lvl8pPr>
            <a:lvl9pPr algn="l">
              <a:defRPr sz="2700" b="1">
                <a:solidFill>
                  <a:srgbClr val="367653"/>
                </a:solidFill>
                <a:latin typeface="Times New Roman"/>
                <a:ea typeface="Times New Roman"/>
                <a:cs typeface="Times New Roman"/>
              </a:defRPr>
            </a:lvl9pPr>
          </a:lstStyle>
          <a:p xmlns:a="http://schemas.openxmlformats.org/drawingml/2006/main">
            <a:pPr algn="l">
              <a:defRPr sz="2700" b="1">
                <a:solidFill>
                  <a:srgbClr val="367653"/>
                </a:solidFill>
                <a:latin typeface="Times New Roman"/>
                <a:ea typeface="Times New Roman"/>
                <a:cs typeface="Times New Roman"/>
              </a:defRPr>
            </a:pPr>
            <a:r>
              <a:rPr sz="2700" b="1">
                <a:solidFill>
                  <a:srgbClr val="367653"/>
                </a:solidFill>
                <a:latin typeface="Times New Roman"/>
                <a:ea typeface="Times New Roman"/>
                <a:cs typeface="Times New Roman"/>
              </a:rPr>
              <a:t>PCO₂ ↑ y pH ↓</a:t>
            </a:r>
          </a:p>
        </p:txBody>
      </p:sp>
      <p:sp>
        <p:nvSpPr>
          <p:cNvPr id="7" name="text">
            <a:extLst xmlns:a="http://schemas.openxmlformats.org/drawingml/2006/main">
              <a:ext uri="{FF2B5EF4-FFF2-40B4-BE49-F238E27FC236}">
                <a16:creationId xmlns:a16="http://schemas.microsoft.com/office/drawing/2014/main" id="{6F38A800-B000-4197-8DDE-98D55B2A4182}"/>
              </a:ext>
            </a:extLst>
          </p:cNvPr>
          <p:cNvSpPr>
            <a:spLocks xmlns:a="http://schemas.openxmlformats.org/drawingml/2006/main" noGrp="1"/>
          </p:cNvSpPr>
          <p:nvPr/>
        </p:nvSpPr>
        <p:spPr>
          <a:xfrm xmlns:a="http://schemas.openxmlformats.org/drawingml/2006/main">
            <a:off x="7439025" y="3143250"/>
            <a:ext cx="4143375" cy="923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0">
                <a:solidFill>
                  <a:srgbClr val="181818"/>
                </a:solidFill>
                <a:latin typeface="Times New Roman"/>
                <a:ea typeface="Times New Roman"/>
                <a:cs typeface="Times New Roman"/>
              </a:defRPr>
            </a:defPPr>
            <a:lvl1pPr algn="l">
              <a:defRPr sz="2400" b="0">
                <a:solidFill>
                  <a:srgbClr val="181818"/>
                </a:solidFill>
                <a:latin typeface="Times New Roman"/>
                <a:ea typeface="Times New Roman"/>
                <a:cs typeface="Times New Roman"/>
              </a:defRPr>
            </a:lvl1pPr>
            <a:lvl2pPr algn="l">
              <a:defRPr sz="2400" b="0">
                <a:solidFill>
                  <a:srgbClr val="181818"/>
                </a:solidFill>
                <a:latin typeface="Times New Roman"/>
                <a:ea typeface="Times New Roman"/>
                <a:cs typeface="Times New Roman"/>
              </a:defRPr>
            </a:lvl2pPr>
            <a:lvl3pPr algn="l">
              <a:defRPr sz="2400" b="0">
                <a:solidFill>
                  <a:srgbClr val="181818"/>
                </a:solidFill>
                <a:latin typeface="Times New Roman"/>
                <a:ea typeface="Times New Roman"/>
                <a:cs typeface="Times New Roman"/>
              </a:defRPr>
            </a:lvl3pPr>
            <a:lvl4pPr algn="l">
              <a:defRPr sz="2400" b="0">
                <a:solidFill>
                  <a:srgbClr val="181818"/>
                </a:solidFill>
                <a:latin typeface="Times New Roman"/>
                <a:ea typeface="Times New Roman"/>
                <a:cs typeface="Times New Roman"/>
              </a:defRPr>
            </a:lvl4pPr>
            <a:lvl5pPr algn="l">
              <a:defRPr sz="2400" b="0">
                <a:solidFill>
                  <a:srgbClr val="181818"/>
                </a:solidFill>
                <a:latin typeface="Times New Roman"/>
                <a:ea typeface="Times New Roman"/>
                <a:cs typeface="Times New Roman"/>
              </a:defRPr>
            </a:lvl5pPr>
            <a:lvl6pPr algn="l">
              <a:defRPr sz="2400" b="0">
                <a:solidFill>
                  <a:srgbClr val="181818"/>
                </a:solidFill>
                <a:latin typeface="Times New Roman"/>
                <a:ea typeface="Times New Roman"/>
                <a:cs typeface="Times New Roman"/>
              </a:defRPr>
            </a:lvl6pPr>
            <a:lvl7pPr algn="l">
              <a:defRPr sz="2400" b="0">
                <a:solidFill>
                  <a:srgbClr val="181818"/>
                </a:solidFill>
                <a:latin typeface="Times New Roman"/>
                <a:ea typeface="Times New Roman"/>
                <a:cs typeface="Times New Roman"/>
              </a:defRPr>
            </a:lvl7pPr>
            <a:lvl8pPr algn="l">
              <a:defRPr sz="2400" b="0">
                <a:solidFill>
                  <a:srgbClr val="181818"/>
                </a:solidFill>
                <a:latin typeface="Times New Roman"/>
                <a:ea typeface="Times New Roman"/>
                <a:cs typeface="Times New Roman"/>
              </a:defRPr>
            </a:lvl8pPr>
            <a:lvl9pPr algn="l">
              <a:defRPr sz="2400" b="0">
                <a:solidFill>
                  <a:srgbClr val="181818"/>
                </a:solidFill>
                <a:latin typeface="Times New Roman"/>
                <a:ea typeface="Times New Roman"/>
                <a:cs typeface="Times New Roman"/>
              </a:defRPr>
            </a:lvl9pPr>
          </a:lstStyle>
          <a:p xmlns:a="http://schemas.openxmlformats.org/drawingml/2006/main">
            <a:pPr algn="l">
              <a:defRPr sz="2400" b="0">
                <a:solidFill>
                  <a:srgbClr val="181818"/>
                </a:solidFill>
                <a:latin typeface="Times New Roman"/>
                <a:ea typeface="Times New Roman"/>
                <a:cs typeface="Times New Roman"/>
              </a:defRPr>
            </a:pPr>
            <a:r>
              <a:rPr sz="2400" b="0">
                <a:solidFill>
                  <a:srgbClr val="181818"/>
                </a:solidFill>
                <a:latin typeface="Times New Roman"/>
                <a:ea typeface="Times New Roman"/>
                <a:cs typeface="Times New Roman"/>
              </a:rPr>
              <a:t>Acidosis respiratoria aguda.</a:t>
            </a:r>
          </a:p>
        </p:txBody>
      </p:sp>
      <p:sp>
        <p:nvSpPr>
          <p:cNvPr id="8" name="text">
            <a:extLst xmlns:a="http://schemas.openxmlformats.org/drawingml/2006/main">
              <a:ext uri="{FF2B5EF4-FFF2-40B4-BE49-F238E27FC236}">
                <a16:creationId xmlns:a16="http://schemas.microsoft.com/office/drawing/2014/main" id="{2D8F5024-94FE-48F6-9367-EC79CCB79A8D}"/>
              </a:ext>
            </a:extLst>
          </p:cNvPr>
          <p:cNvSpPr>
            <a:spLocks xmlns:a="http://schemas.openxmlformats.org/drawingml/2006/main" noGrp="1"/>
          </p:cNvSpPr>
          <p:nvPr/>
        </p:nvSpPr>
        <p:spPr>
          <a:xfrm xmlns:a="http://schemas.openxmlformats.org/drawingml/2006/main">
            <a:off x="7439025" y="4400550"/>
            <a:ext cx="4143375"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HCO₃⁻ mayor no demuestra adaptación renal crónica.</a:t>
            </a:r>
          </a:p>
        </p:txBody>
      </p:sp>
      <p:sp>
        <p:nvSpPr>
          <p:cNvPr id="9" name="text">
            <a:extLst xmlns:a="http://schemas.openxmlformats.org/drawingml/2006/main">
              <a:ext uri="{FF2B5EF4-FFF2-40B4-BE49-F238E27FC236}">
                <a16:creationId xmlns:a16="http://schemas.microsoft.com/office/drawing/2014/main" id="{9860651B-7E2F-4B46-8644-8A2E39115DAC}"/>
              </a:ext>
            </a:extLst>
          </p:cNvPr>
          <p:cNvSpPr>
            <a:spLocks xmlns:a="http://schemas.openxmlformats.org/drawingml/2006/main" noGrp="1"/>
          </p:cNvSpPr>
          <p:nvPr/>
        </p:nvSpPr>
        <p:spPr>
          <a:xfrm xmlns:a="http://schemas.openxmlformats.org/drawingml/2006/main">
            <a:off x="609600" y="5610225"/>
            <a:ext cx="63150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181818"/>
                </a:solidFill>
                <a:latin typeface="Times New Roman"/>
                <a:ea typeface="Times New Roman"/>
                <a:cs typeface="Times New Roman"/>
              </a:defRPr>
            </a:defPPr>
            <a:lvl1pPr algn="l">
              <a:defRPr sz="2100" b="0">
                <a:solidFill>
                  <a:srgbClr val="181818"/>
                </a:solidFill>
                <a:latin typeface="Times New Roman"/>
                <a:ea typeface="Times New Roman"/>
                <a:cs typeface="Times New Roman"/>
              </a:defRPr>
            </a:lvl1pPr>
            <a:lvl2pPr algn="l">
              <a:defRPr sz="2100" b="0">
                <a:solidFill>
                  <a:srgbClr val="181818"/>
                </a:solidFill>
                <a:latin typeface="Times New Roman"/>
                <a:ea typeface="Times New Roman"/>
                <a:cs typeface="Times New Roman"/>
              </a:defRPr>
            </a:lvl2pPr>
            <a:lvl3pPr algn="l">
              <a:defRPr sz="2100" b="0">
                <a:solidFill>
                  <a:srgbClr val="181818"/>
                </a:solidFill>
                <a:latin typeface="Times New Roman"/>
                <a:ea typeface="Times New Roman"/>
                <a:cs typeface="Times New Roman"/>
              </a:defRPr>
            </a:lvl3pPr>
            <a:lvl4pPr algn="l">
              <a:defRPr sz="2100" b="0">
                <a:solidFill>
                  <a:srgbClr val="181818"/>
                </a:solidFill>
                <a:latin typeface="Times New Roman"/>
                <a:ea typeface="Times New Roman"/>
                <a:cs typeface="Times New Roman"/>
              </a:defRPr>
            </a:lvl4pPr>
            <a:lvl5pPr algn="l">
              <a:defRPr sz="2100" b="0">
                <a:solidFill>
                  <a:srgbClr val="181818"/>
                </a:solidFill>
                <a:latin typeface="Times New Roman"/>
                <a:ea typeface="Times New Roman"/>
                <a:cs typeface="Times New Roman"/>
              </a:defRPr>
            </a:lvl5pPr>
            <a:lvl6pPr algn="l">
              <a:defRPr sz="2100" b="0">
                <a:solidFill>
                  <a:srgbClr val="181818"/>
                </a:solidFill>
                <a:latin typeface="Times New Roman"/>
                <a:ea typeface="Times New Roman"/>
                <a:cs typeface="Times New Roman"/>
              </a:defRPr>
            </a:lvl6pPr>
            <a:lvl7pPr algn="l">
              <a:defRPr sz="2100" b="0">
                <a:solidFill>
                  <a:srgbClr val="181818"/>
                </a:solidFill>
                <a:latin typeface="Times New Roman"/>
                <a:ea typeface="Times New Roman"/>
                <a:cs typeface="Times New Roman"/>
              </a:defRPr>
            </a:lvl7pPr>
            <a:lvl8pPr algn="l">
              <a:defRPr sz="2100" b="0">
                <a:solidFill>
                  <a:srgbClr val="181818"/>
                </a:solidFill>
                <a:latin typeface="Times New Roman"/>
                <a:ea typeface="Times New Roman"/>
                <a:cs typeface="Times New Roman"/>
              </a:defRPr>
            </a:lvl8pPr>
            <a:lvl9pPr algn="l">
              <a:defRPr sz="2100" b="0">
                <a:solidFill>
                  <a:srgbClr val="181818"/>
                </a:solidFill>
                <a:latin typeface="Times New Roman"/>
                <a:ea typeface="Times New Roman"/>
                <a:cs typeface="Times New Roman"/>
              </a:defRPr>
            </a:lvl9pPr>
          </a:lstStyle>
          <a:p xmlns:a="http://schemas.openxmlformats.org/drawingml/2006/main">
            <a:pPr algn="l">
              <a:defRPr sz="2100" b="0">
                <a:solidFill>
                  <a:srgbClr val="181818"/>
                </a:solidFill>
                <a:latin typeface="Times New Roman"/>
                <a:ea typeface="Times New Roman"/>
                <a:cs typeface="Times New Roman"/>
              </a:defRPr>
            </a:pPr>
            <a:r>
              <a:rPr sz="2100" b="0">
                <a:solidFill>
                  <a:srgbClr val="181818"/>
                </a:solidFill>
                <a:latin typeface="Times New Roman"/>
                <a:ea typeface="Times New Roman"/>
                <a:cs typeface="Times New Roman"/>
              </a:rPr>
              <a:t>Caso simulado. No se proporcionó PaO₂.</a:t>
            </a:r>
          </a:p>
        </p:txBody>
      </p:sp>
    </p:spTree>
    <p:extLst>
      <p:ext uri="{BB962C8B-B14F-4D97-AF65-F5344CB8AC3E}">
        <p14:creationId xmlns:p14="http://schemas.microsoft.com/office/powerpoint/2010/main" val="190182835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09820A22-5CEC-4610-B2CA-8CA0771D8DD7}"/>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Autoevaluación razonada</a:t>
            </a:r>
          </a:p>
        </p:txBody>
      </p:sp>
      <p:sp>
        <p:nvSpPr>
          <p:cNvPr id="2" name="page-number">
            <a:extLst xmlns:a="http://schemas.openxmlformats.org/drawingml/2006/main">
              <a:ext uri="{FF2B5EF4-FFF2-40B4-BE49-F238E27FC236}">
                <a16:creationId xmlns:a16="http://schemas.microsoft.com/office/drawing/2014/main" id="{6CF15AF6-5C7E-4649-8A47-1AFBA309B212}"/>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13</a:t>
            </a:r>
          </a:p>
        </p:txBody>
      </p:sp>
      <p:sp>
        <p:nvSpPr>
          <p:cNvPr id="3" name="sources">
            <a:extLst xmlns:a="http://schemas.openxmlformats.org/drawingml/2006/main">
              <a:ext uri="{FF2B5EF4-FFF2-40B4-BE49-F238E27FC236}">
                <a16:creationId xmlns:a16="http://schemas.microsoft.com/office/drawing/2014/main" id="{7116ED8F-CC14-4F42-8116-9FC86A9DDB75}"/>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[1] [2] [3] [4] [6] [10]</a:t>
            </a:r>
          </a:p>
        </p:txBody>
      </p:sp>
      <p:sp>
        <p:nvSpPr>
          <p:cNvPr id="4" name="text">
            <a:extLst xmlns:a="http://schemas.openxmlformats.org/drawingml/2006/main">
              <a:ext uri="{FF2B5EF4-FFF2-40B4-BE49-F238E27FC236}">
                <a16:creationId xmlns:a16="http://schemas.microsoft.com/office/drawing/2014/main" id="{88C8D0C8-39BE-4FC9-BBDD-E5D5045D2638}"/>
              </a:ext>
            </a:extLst>
          </p:cNvPr>
          <p:cNvSpPr>
            <a:spLocks xmlns:a="http://schemas.openxmlformats.org/drawingml/2006/main" noGrp="1"/>
          </p:cNvSpPr>
          <p:nvPr/>
        </p:nvSpPr>
        <p:spPr>
          <a:xfrm xmlns:a="http://schemas.openxmlformats.org/drawingml/2006/main">
            <a:off x="609600" y="16287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00" b="0">
                <a:solidFill>
                  <a:srgbClr val="181818"/>
                </a:solidFill>
                <a:latin typeface="Times New Roman"/>
                <a:ea typeface="Times New Roman"/>
                <a:cs typeface="Times New Roman"/>
              </a:defRPr>
            </a:defPPr>
            <a:lvl1pPr algn="l">
              <a:defRPr sz="2300" b="0">
                <a:solidFill>
                  <a:srgbClr val="181818"/>
                </a:solidFill>
                <a:latin typeface="Times New Roman"/>
                <a:ea typeface="Times New Roman"/>
                <a:cs typeface="Times New Roman"/>
              </a:defRPr>
            </a:lvl1pPr>
            <a:lvl2pPr algn="l">
              <a:defRPr sz="2300" b="0">
                <a:solidFill>
                  <a:srgbClr val="181818"/>
                </a:solidFill>
                <a:latin typeface="Times New Roman"/>
                <a:ea typeface="Times New Roman"/>
                <a:cs typeface="Times New Roman"/>
              </a:defRPr>
            </a:lvl2pPr>
            <a:lvl3pPr algn="l">
              <a:defRPr sz="2300" b="0">
                <a:solidFill>
                  <a:srgbClr val="181818"/>
                </a:solidFill>
                <a:latin typeface="Times New Roman"/>
                <a:ea typeface="Times New Roman"/>
                <a:cs typeface="Times New Roman"/>
              </a:defRPr>
            </a:lvl3pPr>
            <a:lvl4pPr algn="l">
              <a:defRPr sz="2300" b="0">
                <a:solidFill>
                  <a:srgbClr val="181818"/>
                </a:solidFill>
                <a:latin typeface="Times New Roman"/>
                <a:ea typeface="Times New Roman"/>
                <a:cs typeface="Times New Roman"/>
              </a:defRPr>
            </a:lvl4pPr>
            <a:lvl5pPr algn="l">
              <a:defRPr sz="2300" b="0">
                <a:solidFill>
                  <a:srgbClr val="181818"/>
                </a:solidFill>
                <a:latin typeface="Times New Roman"/>
                <a:ea typeface="Times New Roman"/>
                <a:cs typeface="Times New Roman"/>
              </a:defRPr>
            </a:lvl5pPr>
            <a:lvl6pPr algn="l">
              <a:defRPr sz="2300" b="0">
                <a:solidFill>
                  <a:srgbClr val="181818"/>
                </a:solidFill>
                <a:latin typeface="Times New Roman"/>
                <a:ea typeface="Times New Roman"/>
                <a:cs typeface="Times New Roman"/>
              </a:defRPr>
            </a:lvl6pPr>
            <a:lvl7pPr algn="l">
              <a:defRPr sz="2300" b="0">
                <a:solidFill>
                  <a:srgbClr val="181818"/>
                </a:solidFill>
                <a:latin typeface="Times New Roman"/>
                <a:ea typeface="Times New Roman"/>
                <a:cs typeface="Times New Roman"/>
              </a:defRPr>
            </a:lvl7pPr>
            <a:lvl8pPr algn="l">
              <a:defRPr sz="2300" b="0">
                <a:solidFill>
                  <a:srgbClr val="181818"/>
                </a:solidFill>
                <a:latin typeface="Times New Roman"/>
                <a:ea typeface="Times New Roman"/>
                <a:cs typeface="Times New Roman"/>
              </a:defRPr>
            </a:lvl8pPr>
            <a:lvl9pPr algn="l">
              <a:defRPr sz="2300" b="0">
                <a:solidFill>
                  <a:srgbClr val="181818"/>
                </a:solidFill>
                <a:latin typeface="Times New Roman"/>
                <a:ea typeface="Times New Roman"/>
                <a:cs typeface="Times New Roman"/>
              </a:defRPr>
            </a:lvl9pPr>
          </a:lstStyle>
          <a:p xmlns:a="http://schemas.openxmlformats.org/drawingml/2006/main">
            <a:pPr algn="l">
              <a:defRPr sz="2300" b="0">
                <a:solidFill>
                  <a:srgbClr val="181818"/>
                </a:solidFill>
                <a:latin typeface="Times New Roman"/>
                <a:ea typeface="Times New Roman"/>
                <a:cs typeface="Times New Roman"/>
              </a:defRPr>
            </a:pPr>
            <a:r>
              <a:rPr sz="2300" b="0">
                <a:solidFill>
                  <a:srgbClr val="181818"/>
                </a:solidFill>
                <a:latin typeface="Times New Roman"/>
                <a:ea typeface="Times New Roman"/>
                <a:cs typeface="Times New Roman"/>
              </a:rPr>
              <a:t>1. ¿Un pH dentro del intervalo excluye un trastorno?</a:t>
            </a:r>
          </a:p>
        </p:txBody>
      </p:sp>
      <p:sp>
        <p:nvSpPr>
          <p:cNvPr id="5" name="text">
            <a:extLst xmlns:a="http://schemas.openxmlformats.org/drawingml/2006/main">
              <a:ext uri="{FF2B5EF4-FFF2-40B4-BE49-F238E27FC236}">
                <a16:creationId xmlns:a16="http://schemas.microsoft.com/office/drawing/2014/main" id="{07327E08-5805-4301-97B3-BACB7E807122}"/>
              </a:ext>
            </a:extLst>
          </p:cNvPr>
          <p:cNvSpPr>
            <a:spLocks xmlns:a="http://schemas.openxmlformats.org/drawingml/2006/main" noGrp="1"/>
          </p:cNvSpPr>
          <p:nvPr/>
        </p:nvSpPr>
        <p:spPr>
          <a:xfrm xmlns:a="http://schemas.openxmlformats.org/drawingml/2006/main">
            <a:off x="609600" y="25241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00" b="0">
                <a:solidFill>
                  <a:srgbClr val="181818"/>
                </a:solidFill>
                <a:latin typeface="Times New Roman"/>
                <a:ea typeface="Times New Roman"/>
                <a:cs typeface="Times New Roman"/>
              </a:defRPr>
            </a:defPPr>
            <a:lvl1pPr algn="l">
              <a:defRPr sz="2300" b="0">
                <a:solidFill>
                  <a:srgbClr val="181818"/>
                </a:solidFill>
                <a:latin typeface="Times New Roman"/>
                <a:ea typeface="Times New Roman"/>
                <a:cs typeface="Times New Roman"/>
              </a:defRPr>
            </a:lvl1pPr>
            <a:lvl2pPr algn="l">
              <a:defRPr sz="2300" b="0">
                <a:solidFill>
                  <a:srgbClr val="181818"/>
                </a:solidFill>
                <a:latin typeface="Times New Roman"/>
                <a:ea typeface="Times New Roman"/>
                <a:cs typeface="Times New Roman"/>
              </a:defRPr>
            </a:lvl2pPr>
            <a:lvl3pPr algn="l">
              <a:defRPr sz="2300" b="0">
                <a:solidFill>
                  <a:srgbClr val="181818"/>
                </a:solidFill>
                <a:latin typeface="Times New Roman"/>
                <a:ea typeface="Times New Roman"/>
                <a:cs typeface="Times New Roman"/>
              </a:defRPr>
            </a:lvl3pPr>
            <a:lvl4pPr algn="l">
              <a:defRPr sz="2300" b="0">
                <a:solidFill>
                  <a:srgbClr val="181818"/>
                </a:solidFill>
                <a:latin typeface="Times New Roman"/>
                <a:ea typeface="Times New Roman"/>
                <a:cs typeface="Times New Roman"/>
              </a:defRPr>
            </a:lvl4pPr>
            <a:lvl5pPr algn="l">
              <a:defRPr sz="2300" b="0">
                <a:solidFill>
                  <a:srgbClr val="181818"/>
                </a:solidFill>
                <a:latin typeface="Times New Roman"/>
                <a:ea typeface="Times New Roman"/>
                <a:cs typeface="Times New Roman"/>
              </a:defRPr>
            </a:lvl5pPr>
            <a:lvl6pPr algn="l">
              <a:defRPr sz="2300" b="0">
                <a:solidFill>
                  <a:srgbClr val="181818"/>
                </a:solidFill>
                <a:latin typeface="Times New Roman"/>
                <a:ea typeface="Times New Roman"/>
                <a:cs typeface="Times New Roman"/>
              </a:defRPr>
            </a:lvl6pPr>
            <a:lvl7pPr algn="l">
              <a:defRPr sz="2300" b="0">
                <a:solidFill>
                  <a:srgbClr val="181818"/>
                </a:solidFill>
                <a:latin typeface="Times New Roman"/>
                <a:ea typeface="Times New Roman"/>
                <a:cs typeface="Times New Roman"/>
              </a:defRPr>
            </a:lvl7pPr>
            <a:lvl8pPr algn="l">
              <a:defRPr sz="2300" b="0">
                <a:solidFill>
                  <a:srgbClr val="181818"/>
                </a:solidFill>
                <a:latin typeface="Times New Roman"/>
                <a:ea typeface="Times New Roman"/>
                <a:cs typeface="Times New Roman"/>
              </a:defRPr>
            </a:lvl8pPr>
            <a:lvl9pPr algn="l">
              <a:defRPr sz="2300" b="0">
                <a:solidFill>
                  <a:srgbClr val="181818"/>
                </a:solidFill>
                <a:latin typeface="Times New Roman"/>
                <a:ea typeface="Times New Roman"/>
                <a:cs typeface="Times New Roman"/>
              </a:defRPr>
            </a:lvl9pPr>
          </a:lstStyle>
          <a:p xmlns:a="http://schemas.openxmlformats.org/drawingml/2006/main">
            <a:pPr algn="l">
              <a:defRPr sz="2300" b="0">
                <a:solidFill>
                  <a:srgbClr val="181818"/>
                </a:solidFill>
                <a:latin typeface="Times New Roman"/>
                <a:ea typeface="Times New Roman"/>
                <a:cs typeface="Times New Roman"/>
              </a:defRPr>
            </a:pPr>
            <a:r>
              <a:rPr sz="2300" b="0">
                <a:solidFill>
                  <a:srgbClr val="181818"/>
                </a:solidFill>
                <a:latin typeface="Times New Roman"/>
                <a:ea typeface="Times New Roman"/>
                <a:cs typeface="Times New Roman"/>
              </a:rPr>
              <a:t>2. Con HCO₃⁻ fijo, ¿qué ocurre al aumentar PCO₂?</a:t>
            </a:r>
          </a:p>
        </p:txBody>
      </p:sp>
      <p:sp>
        <p:nvSpPr>
          <p:cNvPr id="6" name="text">
            <a:extLst xmlns:a="http://schemas.openxmlformats.org/drawingml/2006/main">
              <a:ext uri="{FF2B5EF4-FFF2-40B4-BE49-F238E27FC236}">
                <a16:creationId xmlns:a16="http://schemas.microsoft.com/office/drawing/2014/main" id="{746545FB-3115-483E-8728-24174C7AE182}"/>
              </a:ext>
            </a:extLst>
          </p:cNvPr>
          <p:cNvSpPr>
            <a:spLocks xmlns:a="http://schemas.openxmlformats.org/drawingml/2006/main" noGrp="1"/>
          </p:cNvSpPr>
          <p:nvPr/>
        </p:nvSpPr>
        <p:spPr>
          <a:xfrm xmlns:a="http://schemas.openxmlformats.org/drawingml/2006/main">
            <a:off x="609600" y="34194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00" b="0">
                <a:solidFill>
                  <a:srgbClr val="181818"/>
                </a:solidFill>
                <a:latin typeface="Times New Roman"/>
                <a:ea typeface="Times New Roman"/>
                <a:cs typeface="Times New Roman"/>
              </a:defRPr>
            </a:defPPr>
            <a:lvl1pPr algn="l">
              <a:defRPr sz="2300" b="0">
                <a:solidFill>
                  <a:srgbClr val="181818"/>
                </a:solidFill>
                <a:latin typeface="Times New Roman"/>
                <a:ea typeface="Times New Roman"/>
                <a:cs typeface="Times New Roman"/>
              </a:defRPr>
            </a:lvl1pPr>
            <a:lvl2pPr algn="l">
              <a:defRPr sz="2300" b="0">
                <a:solidFill>
                  <a:srgbClr val="181818"/>
                </a:solidFill>
                <a:latin typeface="Times New Roman"/>
                <a:ea typeface="Times New Roman"/>
                <a:cs typeface="Times New Roman"/>
              </a:defRPr>
            </a:lvl2pPr>
            <a:lvl3pPr algn="l">
              <a:defRPr sz="2300" b="0">
                <a:solidFill>
                  <a:srgbClr val="181818"/>
                </a:solidFill>
                <a:latin typeface="Times New Roman"/>
                <a:ea typeface="Times New Roman"/>
                <a:cs typeface="Times New Roman"/>
              </a:defRPr>
            </a:lvl3pPr>
            <a:lvl4pPr algn="l">
              <a:defRPr sz="2300" b="0">
                <a:solidFill>
                  <a:srgbClr val="181818"/>
                </a:solidFill>
                <a:latin typeface="Times New Roman"/>
                <a:ea typeface="Times New Roman"/>
                <a:cs typeface="Times New Roman"/>
              </a:defRPr>
            </a:lvl4pPr>
            <a:lvl5pPr algn="l">
              <a:defRPr sz="2300" b="0">
                <a:solidFill>
                  <a:srgbClr val="181818"/>
                </a:solidFill>
                <a:latin typeface="Times New Roman"/>
                <a:ea typeface="Times New Roman"/>
                <a:cs typeface="Times New Roman"/>
              </a:defRPr>
            </a:lvl5pPr>
            <a:lvl6pPr algn="l">
              <a:defRPr sz="2300" b="0">
                <a:solidFill>
                  <a:srgbClr val="181818"/>
                </a:solidFill>
                <a:latin typeface="Times New Roman"/>
                <a:ea typeface="Times New Roman"/>
                <a:cs typeface="Times New Roman"/>
              </a:defRPr>
            </a:lvl6pPr>
            <a:lvl7pPr algn="l">
              <a:defRPr sz="2300" b="0">
                <a:solidFill>
                  <a:srgbClr val="181818"/>
                </a:solidFill>
                <a:latin typeface="Times New Roman"/>
                <a:ea typeface="Times New Roman"/>
                <a:cs typeface="Times New Roman"/>
              </a:defRPr>
            </a:lvl7pPr>
            <a:lvl8pPr algn="l">
              <a:defRPr sz="2300" b="0">
                <a:solidFill>
                  <a:srgbClr val="181818"/>
                </a:solidFill>
                <a:latin typeface="Times New Roman"/>
                <a:ea typeface="Times New Roman"/>
                <a:cs typeface="Times New Roman"/>
              </a:defRPr>
            </a:lvl8pPr>
            <a:lvl9pPr algn="l">
              <a:defRPr sz="2300" b="0">
                <a:solidFill>
                  <a:srgbClr val="181818"/>
                </a:solidFill>
                <a:latin typeface="Times New Roman"/>
                <a:ea typeface="Times New Roman"/>
                <a:cs typeface="Times New Roman"/>
              </a:defRPr>
            </a:lvl9pPr>
          </a:lstStyle>
          <a:p xmlns:a="http://schemas.openxmlformats.org/drawingml/2006/main">
            <a:pPr algn="l">
              <a:defRPr sz="2300" b="0">
                <a:solidFill>
                  <a:srgbClr val="181818"/>
                </a:solidFill>
                <a:latin typeface="Times New Roman"/>
                <a:ea typeface="Times New Roman"/>
                <a:cs typeface="Times New Roman"/>
              </a:defRPr>
            </a:pPr>
            <a:r>
              <a:rPr sz="2300" b="0">
                <a:solidFill>
                  <a:srgbClr val="181818"/>
                </a:solidFill>
                <a:latin typeface="Times New Roman"/>
                <a:ea typeface="Times New Roman"/>
                <a:cs typeface="Times New Roman"/>
              </a:rPr>
              <a:t>3. ¿Recuperar HCO₃⁻ equivale a generar base nueva?</a:t>
            </a:r>
          </a:p>
        </p:txBody>
      </p:sp>
      <p:sp>
        <p:nvSpPr>
          <p:cNvPr id="7" name="text">
            <a:extLst xmlns:a="http://schemas.openxmlformats.org/drawingml/2006/main">
              <a:ext uri="{FF2B5EF4-FFF2-40B4-BE49-F238E27FC236}">
                <a16:creationId xmlns:a16="http://schemas.microsoft.com/office/drawing/2014/main" id="{E0101237-5D21-48E4-9B7B-6D7D41BA7F5B}"/>
              </a:ext>
            </a:extLst>
          </p:cNvPr>
          <p:cNvSpPr>
            <a:spLocks xmlns:a="http://schemas.openxmlformats.org/drawingml/2006/main" noGrp="1"/>
          </p:cNvSpPr>
          <p:nvPr/>
        </p:nvSpPr>
        <p:spPr>
          <a:xfrm xmlns:a="http://schemas.openxmlformats.org/drawingml/2006/main">
            <a:off x="609600" y="43148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00" b="0">
                <a:solidFill>
                  <a:srgbClr val="181818"/>
                </a:solidFill>
                <a:latin typeface="Times New Roman"/>
                <a:ea typeface="Times New Roman"/>
                <a:cs typeface="Times New Roman"/>
              </a:defRPr>
            </a:defPPr>
            <a:lvl1pPr algn="l">
              <a:defRPr sz="2300" b="0">
                <a:solidFill>
                  <a:srgbClr val="181818"/>
                </a:solidFill>
                <a:latin typeface="Times New Roman"/>
                <a:ea typeface="Times New Roman"/>
                <a:cs typeface="Times New Roman"/>
              </a:defRPr>
            </a:lvl1pPr>
            <a:lvl2pPr algn="l">
              <a:defRPr sz="2300" b="0">
                <a:solidFill>
                  <a:srgbClr val="181818"/>
                </a:solidFill>
                <a:latin typeface="Times New Roman"/>
                <a:ea typeface="Times New Roman"/>
                <a:cs typeface="Times New Roman"/>
              </a:defRPr>
            </a:lvl2pPr>
            <a:lvl3pPr algn="l">
              <a:defRPr sz="2300" b="0">
                <a:solidFill>
                  <a:srgbClr val="181818"/>
                </a:solidFill>
                <a:latin typeface="Times New Roman"/>
                <a:ea typeface="Times New Roman"/>
                <a:cs typeface="Times New Roman"/>
              </a:defRPr>
            </a:lvl3pPr>
            <a:lvl4pPr algn="l">
              <a:defRPr sz="2300" b="0">
                <a:solidFill>
                  <a:srgbClr val="181818"/>
                </a:solidFill>
                <a:latin typeface="Times New Roman"/>
                <a:ea typeface="Times New Roman"/>
                <a:cs typeface="Times New Roman"/>
              </a:defRPr>
            </a:lvl4pPr>
            <a:lvl5pPr algn="l">
              <a:defRPr sz="2300" b="0">
                <a:solidFill>
                  <a:srgbClr val="181818"/>
                </a:solidFill>
                <a:latin typeface="Times New Roman"/>
                <a:ea typeface="Times New Roman"/>
                <a:cs typeface="Times New Roman"/>
              </a:defRPr>
            </a:lvl5pPr>
            <a:lvl6pPr algn="l">
              <a:defRPr sz="2300" b="0">
                <a:solidFill>
                  <a:srgbClr val="181818"/>
                </a:solidFill>
                <a:latin typeface="Times New Roman"/>
                <a:ea typeface="Times New Roman"/>
                <a:cs typeface="Times New Roman"/>
              </a:defRPr>
            </a:lvl6pPr>
            <a:lvl7pPr algn="l">
              <a:defRPr sz="2300" b="0">
                <a:solidFill>
                  <a:srgbClr val="181818"/>
                </a:solidFill>
                <a:latin typeface="Times New Roman"/>
                <a:ea typeface="Times New Roman"/>
                <a:cs typeface="Times New Roman"/>
              </a:defRPr>
            </a:lvl7pPr>
            <a:lvl8pPr algn="l">
              <a:defRPr sz="2300" b="0">
                <a:solidFill>
                  <a:srgbClr val="181818"/>
                </a:solidFill>
                <a:latin typeface="Times New Roman"/>
                <a:ea typeface="Times New Roman"/>
                <a:cs typeface="Times New Roman"/>
              </a:defRPr>
            </a:lvl8pPr>
            <a:lvl9pPr algn="l">
              <a:defRPr sz="2300" b="0">
                <a:solidFill>
                  <a:srgbClr val="181818"/>
                </a:solidFill>
                <a:latin typeface="Times New Roman"/>
                <a:ea typeface="Times New Roman"/>
                <a:cs typeface="Times New Roman"/>
              </a:defRPr>
            </a:lvl9pPr>
          </a:lstStyle>
          <a:p xmlns:a="http://schemas.openxmlformats.org/drawingml/2006/main">
            <a:pPr algn="l">
              <a:defRPr sz="2300" b="0">
                <a:solidFill>
                  <a:srgbClr val="181818"/>
                </a:solidFill>
                <a:latin typeface="Times New Roman"/>
                <a:ea typeface="Times New Roman"/>
                <a:cs typeface="Times New Roman"/>
              </a:defRPr>
            </a:pPr>
            <a:r>
              <a:rPr sz="2300" b="0">
                <a:solidFill>
                  <a:srgbClr val="181818"/>
                </a:solidFill>
                <a:latin typeface="Times New Roman"/>
                <a:ea typeface="Times New Roman"/>
                <a:cs typeface="Times New Roman"/>
              </a:rPr>
              <a:t>4. ¿La brecha aniónica identifica el ácido acumulado?</a:t>
            </a:r>
          </a:p>
        </p:txBody>
      </p:sp>
      <p:sp>
        <p:nvSpPr>
          <p:cNvPr id="8" name="text">
            <a:extLst xmlns:a="http://schemas.openxmlformats.org/drawingml/2006/main">
              <a:ext uri="{FF2B5EF4-FFF2-40B4-BE49-F238E27FC236}">
                <a16:creationId xmlns:a16="http://schemas.microsoft.com/office/drawing/2014/main" id="{B1940463-DB54-4DC4-B570-5524B0B2B34D}"/>
              </a:ext>
            </a:extLst>
          </p:cNvPr>
          <p:cNvSpPr>
            <a:spLocks xmlns:a="http://schemas.openxmlformats.org/drawingml/2006/main" noGrp="1"/>
          </p:cNvSpPr>
          <p:nvPr/>
        </p:nvSpPr>
        <p:spPr>
          <a:xfrm xmlns:a="http://schemas.openxmlformats.org/drawingml/2006/main">
            <a:off x="609600" y="52101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00" b="0">
                <a:solidFill>
                  <a:srgbClr val="181818"/>
                </a:solidFill>
                <a:latin typeface="Times New Roman"/>
                <a:ea typeface="Times New Roman"/>
                <a:cs typeface="Times New Roman"/>
              </a:defRPr>
            </a:defPPr>
            <a:lvl1pPr algn="l">
              <a:defRPr sz="2300" b="0">
                <a:solidFill>
                  <a:srgbClr val="181818"/>
                </a:solidFill>
                <a:latin typeface="Times New Roman"/>
                <a:ea typeface="Times New Roman"/>
                <a:cs typeface="Times New Roman"/>
              </a:defRPr>
            </a:lvl1pPr>
            <a:lvl2pPr algn="l">
              <a:defRPr sz="2300" b="0">
                <a:solidFill>
                  <a:srgbClr val="181818"/>
                </a:solidFill>
                <a:latin typeface="Times New Roman"/>
                <a:ea typeface="Times New Roman"/>
                <a:cs typeface="Times New Roman"/>
              </a:defRPr>
            </a:lvl2pPr>
            <a:lvl3pPr algn="l">
              <a:defRPr sz="2300" b="0">
                <a:solidFill>
                  <a:srgbClr val="181818"/>
                </a:solidFill>
                <a:latin typeface="Times New Roman"/>
                <a:ea typeface="Times New Roman"/>
                <a:cs typeface="Times New Roman"/>
              </a:defRPr>
            </a:lvl3pPr>
            <a:lvl4pPr algn="l">
              <a:defRPr sz="2300" b="0">
                <a:solidFill>
                  <a:srgbClr val="181818"/>
                </a:solidFill>
                <a:latin typeface="Times New Roman"/>
                <a:ea typeface="Times New Roman"/>
                <a:cs typeface="Times New Roman"/>
              </a:defRPr>
            </a:lvl4pPr>
            <a:lvl5pPr algn="l">
              <a:defRPr sz="2300" b="0">
                <a:solidFill>
                  <a:srgbClr val="181818"/>
                </a:solidFill>
                <a:latin typeface="Times New Roman"/>
                <a:ea typeface="Times New Roman"/>
                <a:cs typeface="Times New Roman"/>
              </a:defRPr>
            </a:lvl5pPr>
            <a:lvl6pPr algn="l">
              <a:defRPr sz="2300" b="0">
                <a:solidFill>
                  <a:srgbClr val="181818"/>
                </a:solidFill>
                <a:latin typeface="Times New Roman"/>
                <a:ea typeface="Times New Roman"/>
                <a:cs typeface="Times New Roman"/>
              </a:defRPr>
            </a:lvl6pPr>
            <a:lvl7pPr algn="l">
              <a:defRPr sz="2300" b="0">
                <a:solidFill>
                  <a:srgbClr val="181818"/>
                </a:solidFill>
                <a:latin typeface="Times New Roman"/>
                <a:ea typeface="Times New Roman"/>
                <a:cs typeface="Times New Roman"/>
              </a:defRPr>
            </a:lvl7pPr>
            <a:lvl8pPr algn="l">
              <a:defRPr sz="2300" b="0">
                <a:solidFill>
                  <a:srgbClr val="181818"/>
                </a:solidFill>
                <a:latin typeface="Times New Roman"/>
                <a:ea typeface="Times New Roman"/>
                <a:cs typeface="Times New Roman"/>
              </a:defRPr>
            </a:lvl8pPr>
            <a:lvl9pPr algn="l">
              <a:defRPr sz="2300" b="0">
                <a:solidFill>
                  <a:srgbClr val="181818"/>
                </a:solidFill>
                <a:latin typeface="Times New Roman"/>
                <a:ea typeface="Times New Roman"/>
                <a:cs typeface="Times New Roman"/>
              </a:defRPr>
            </a:lvl9pPr>
          </a:lstStyle>
          <a:p xmlns:a="http://schemas.openxmlformats.org/drawingml/2006/main">
            <a:pPr algn="l">
              <a:defRPr sz="2300" b="0">
                <a:solidFill>
                  <a:srgbClr val="181818"/>
                </a:solidFill>
                <a:latin typeface="Times New Roman"/>
                <a:ea typeface="Times New Roman"/>
                <a:cs typeface="Times New Roman"/>
              </a:defRPr>
            </a:pPr>
            <a:r>
              <a:rPr sz="2300" b="0">
                <a:solidFill>
                  <a:srgbClr val="181818"/>
                </a:solidFill>
                <a:latin typeface="Times New Roman"/>
                <a:ea typeface="Times New Roman"/>
                <a:cs typeface="Times New Roman"/>
              </a:rPr>
              <a:t>5. ¿Una regla canina permite valorar un ternero?</a:t>
            </a:r>
          </a:p>
        </p:txBody>
      </p:sp>
    </p:spTree>
    <p:extLst>
      <p:ext uri="{BB962C8B-B14F-4D97-AF65-F5344CB8AC3E}">
        <p14:creationId xmlns:p14="http://schemas.microsoft.com/office/powerpoint/2010/main" val="84183645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311DF64A-D9AB-4C67-9C99-AE0B303EBE98}"/>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Conclusiones</a:t>
            </a:r>
          </a:p>
        </p:txBody>
      </p:sp>
      <p:sp>
        <p:nvSpPr>
          <p:cNvPr id="2" name="page-number">
            <a:extLst xmlns:a="http://schemas.openxmlformats.org/drawingml/2006/main">
              <a:ext uri="{FF2B5EF4-FFF2-40B4-BE49-F238E27FC236}">
                <a16:creationId xmlns:a16="http://schemas.microsoft.com/office/drawing/2014/main" id="{8D995086-B6B8-44D6-8BA5-F6E905ACEFE1}"/>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14</a:t>
            </a:r>
          </a:p>
        </p:txBody>
      </p:sp>
      <p:sp>
        <p:nvSpPr>
          <p:cNvPr id="3" name="sources">
            <a:extLst xmlns:a="http://schemas.openxmlformats.org/drawingml/2006/main">
              <a:ext uri="{FF2B5EF4-FFF2-40B4-BE49-F238E27FC236}">
                <a16:creationId xmlns:a16="http://schemas.microsoft.com/office/drawing/2014/main" id="{45A58C9B-AD87-4A4B-9F1B-BAA7CE0AE789}"/>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[1] [3] [9]</a:t>
            </a:r>
          </a:p>
        </p:txBody>
      </p:sp>
      <p:sp>
        <p:nvSpPr>
          <p:cNvPr id="4" name="text">
            <a:extLst xmlns:a="http://schemas.openxmlformats.org/drawingml/2006/main">
              <a:ext uri="{FF2B5EF4-FFF2-40B4-BE49-F238E27FC236}">
                <a16:creationId xmlns:a16="http://schemas.microsoft.com/office/drawing/2014/main" id="{D893AAD3-D73D-44D6-A17E-97DBD7CA6228}"/>
              </a:ext>
            </a:extLst>
          </p:cNvPr>
          <p:cNvSpPr>
            <a:spLocks xmlns:a="http://schemas.openxmlformats.org/drawingml/2006/main" noGrp="1"/>
          </p:cNvSpPr>
          <p:nvPr/>
        </p:nvSpPr>
        <p:spPr>
          <a:xfrm xmlns:a="http://schemas.openxmlformats.org/drawingml/2006/main">
            <a:off x="609600" y="1714500"/>
            <a:ext cx="109728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00" b="0">
                <a:solidFill>
                  <a:srgbClr val="181818"/>
                </a:solidFill>
                <a:latin typeface="Times New Roman"/>
                <a:ea typeface="Times New Roman"/>
                <a:cs typeface="Times New Roman"/>
              </a:defRPr>
            </a:defPPr>
            <a:lvl1pPr algn="l">
              <a:defRPr sz="2700" b="0">
                <a:solidFill>
                  <a:srgbClr val="181818"/>
                </a:solidFill>
                <a:latin typeface="Times New Roman"/>
                <a:ea typeface="Times New Roman"/>
                <a:cs typeface="Times New Roman"/>
              </a:defRPr>
            </a:lvl1pPr>
            <a:lvl2pPr algn="l">
              <a:defRPr sz="2700" b="0">
                <a:solidFill>
                  <a:srgbClr val="181818"/>
                </a:solidFill>
                <a:latin typeface="Times New Roman"/>
                <a:ea typeface="Times New Roman"/>
                <a:cs typeface="Times New Roman"/>
              </a:defRPr>
            </a:lvl2pPr>
            <a:lvl3pPr algn="l">
              <a:defRPr sz="2700" b="0">
                <a:solidFill>
                  <a:srgbClr val="181818"/>
                </a:solidFill>
                <a:latin typeface="Times New Roman"/>
                <a:ea typeface="Times New Roman"/>
                <a:cs typeface="Times New Roman"/>
              </a:defRPr>
            </a:lvl3pPr>
            <a:lvl4pPr algn="l">
              <a:defRPr sz="2700" b="0">
                <a:solidFill>
                  <a:srgbClr val="181818"/>
                </a:solidFill>
                <a:latin typeface="Times New Roman"/>
                <a:ea typeface="Times New Roman"/>
                <a:cs typeface="Times New Roman"/>
              </a:defRPr>
            </a:lvl4pPr>
            <a:lvl5pPr algn="l">
              <a:defRPr sz="2700" b="0">
                <a:solidFill>
                  <a:srgbClr val="181818"/>
                </a:solidFill>
                <a:latin typeface="Times New Roman"/>
                <a:ea typeface="Times New Roman"/>
                <a:cs typeface="Times New Roman"/>
              </a:defRPr>
            </a:lvl5pPr>
            <a:lvl6pPr algn="l">
              <a:defRPr sz="2700" b="0">
                <a:solidFill>
                  <a:srgbClr val="181818"/>
                </a:solidFill>
                <a:latin typeface="Times New Roman"/>
                <a:ea typeface="Times New Roman"/>
                <a:cs typeface="Times New Roman"/>
              </a:defRPr>
            </a:lvl6pPr>
            <a:lvl7pPr algn="l">
              <a:defRPr sz="2700" b="0">
                <a:solidFill>
                  <a:srgbClr val="181818"/>
                </a:solidFill>
                <a:latin typeface="Times New Roman"/>
                <a:ea typeface="Times New Roman"/>
                <a:cs typeface="Times New Roman"/>
              </a:defRPr>
            </a:lvl7pPr>
            <a:lvl8pPr algn="l">
              <a:defRPr sz="2700" b="0">
                <a:solidFill>
                  <a:srgbClr val="181818"/>
                </a:solidFill>
                <a:latin typeface="Times New Roman"/>
                <a:ea typeface="Times New Roman"/>
                <a:cs typeface="Times New Roman"/>
              </a:defRPr>
            </a:lvl8pPr>
            <a:lvl9pPr algn="l">
              <a:defRPr sz="2700" b="0">
                <a:solidFill>
                  <a:srgbClr val="181818"/>
                </a:solidFill>
                <a:latin typeface="Times New Roman"/>
                <a:ea typeface="Times New Roman"/>
                <a:cs typeface="Times New Roman"/>
              </a:defRPr>
            </a:lvl9pPr>
          </a:lstStyle>
          <a:p xmlns:a="http://schemas.openxmlformats.org/drawingml/2006/main">
            <a:pPr algn="l">
              <a:defRPr sz="2700" b="0">
                <a:solidFill>
                  <a:srgbClr val="181818"/>
                </a:solidFill>
                <a:latin typeface="Times New Roman"/>
                <a:ea typeface="Times New Roman"/>
                <a:cs typeface="Times New Roman"/>
              </a:defRPr>
            </a:pPr>
            <a:r>
              <a:rPr sz="2700" b="0">
                <a:solidFill>
                  <a:srgbClr val="181818"/>
                </a:solidFill>
                <a:latin typeface="Times New Roman"/>
                <a:ea typeface="Times New Roman"/>
                <a:cs typeface="Times New Roman"/>
              </a:rPr>
              <a:t>Integrar pH, PCO₂, HCO₃⁻, electrolitos e historia.</a:t>
            </a:r>
          </a:p>
        </p:txBody>
      </p:sp>
      <p:sp>
        <p:nvSpPr>
          <p:cNvPr id="5" name="text">
            <a:extLst xmlns:a="http://schemas.openxmlformats.org/drawingml/2006/main">
              <a:ext uri="{FF2B5EF4-FFF2-40B4-BE49-F238E27FC236}">
                <a16:creationId xmlns:a16="http://schemas.microsoft.com/office/drawing/2014/main" id="{09432332-6C32-463E-A54C-CDCCFC6C1CFD}"/>
              </a:ext>
            </a:extLst>
          </p:cNvPr>
          <p:cNvSpPr>
            <a:spLocks xmlns:a="http://schemas.openxmlformats.org/drawingml/2006/main" noGrp="1"/>
          </p:cNvSpPr>
          <p:nvPr/>
        </p:nvSpPr>
        <p:spPr>
          <a:xfrm xmlns:a="http://schemas.openxmlformats.org/drawingml/2006/main">
            <a:off x="609600" y="2990850"/>
            <a:ext cx="109728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00" b="0">
                <a:solidFill>
                  <a:srgbClr val="181818"/>
                </a:solidFill>
                <a:latin typeface="Times New Roman"/>
                <a:ea typeface="Times New Roman"/>
                <a:cs typeface="Times New Roman"/>
              </a:defRPr>
            </a:defPPr>
            <a:lvl1pPr algn="l">
              <a:defRPr sz="2700" b="0">
                <a:solidFill>
                  <a:srgbClr val="181818"/>
                </a:solidFill>
                <a:latin typeface="Times New Roman"/>
                <a:ea typeface="Times New Roman"/>
                <a:cs typeface="Times New Roman"/>
              </a:defRPr>
            </a:lvl1pPr>
            <a:lvl2pPr algn="l">
              <a:defRPr sz="2700" b="0">
                <a:solidFill>
                  <a:srgbClr val="181818"/>
                </a:solidFill>
                <a:latin typeface="Times New Roman"/>
                <a:ea typeface="Times New Roman"/>
                <a:cs typeface="Times New Roman"/>
              </a:defRPr>
            </a:lvl2pPr>
            <a:lvl3pPr algn="l">
              <a:defRPr sz="2700" b="0">
                <a:solidFill>
                  <a:srgbClr val="181818"/>
                </a:solidFill>
                <a:latin typeface="Times New Roman"/>
                <a:ea typeface="Times New Roman"/>
                <a:cs typeface="Times New Roman"/>
              </a:defRPr>
            </a:lvl3pPr>
            <a:lvl4pPr algn="l">
              <a:defRPr sz="2700" b="0">
                <a:solidFill>
                  <a:srgbClr val="181818"/>
                </a:solidFill>
                <a:latin typeface="Times New Roman"/>
                <a:ea typeface="Times New Roman"/>
                <a:cs typeface="Times New Roman"/>
              </a:defRPr>
            </a:lvl4pPr>
            <a:lvl5pPr algn="l">
              <a:defRPr sz="2700" b="0">
                <a:solidFill>
                  <a:srgbClr val="181818"/>
                </a:solidFill>
                <a:latin typeface="Times New Roman"/>
                <a:ea typeface="Times New Roman"/>
                <a:cs typeface="Times New Roman"/>
              </a:defRPr>
            </a:lvl5pPr>
            <a:lvl6pPr algn="l">
              <a:defRPr sz="2700" b="0">
                <a:solidFill>
                  <a:srgbClr val="181818"/>
                </a:solidFill>
                <a:latin typeface="Times New Roman"/>
                <a:ea typeface="Times New Roman"/>
                <a:cs typeface="Times New Roman"/>
              </a:defRPr>
            </a:lvl6pPr>
            <a:lvl7pPr algn="l">
              <a:defRPr sz="2700" b="0">
                <a:solidFill>
                  <a:srgbClr val="181818"/>
                </a:solidFill>
                <a:latin typeface="Times New Roman"/>
                <a:ea typeface="Times New Roman"/>
                <a:cs typeface="Times New Roman"/>
              </a:defRPr>
            </a:lvl7pPr>
            <a:lvl8pPr algn="l">
              <a:defRPr sz="2700" b="0">
                <a:solidFill>
                  <a:srgbClr val="181818"/>
                </a:solidFill>
                <a:latin typeface="Times New Roman"/>
                <a:ea typeface="Times New Roman"/>
                <a:cs typeface="Times New Roman"/>
              </a:defRPr>
            </a:lvl8pPr>
            <a:lvl9pPr algn="l">
              <a:defRPr sz="2700" b="0">
                <a:solidFill>
                  <a:srgbClr val="181818"/>
                </a:solidFill>
                <a:latin typeface="Times New Roman"/>
                <a:ea typeface="Times New Roman"/>
                <a:cs typeface="Times New Roman"/>
              </a:defRPr>
            </a:lvl9pPr>
          </a:lstStyle>
          <a:p xmlns:a="http://schemas.openxmlformats.org/drawingml/2006/main">
            <a:pPr algn="l">
              <a:defRPr sz="2700" b="0">
                <a:solidFill>
                  <a:srgbClr val="181818"/>
                </a:solidFill>
                <a:latin typeface="Times New Roman"/>
                <a:ea typeface="Times New Roman"/>
                <a:cs typeface="Times New Roman"/>
              </a:defRPr>
            </a:pPr>
            <a:r>
              <a:rPr sz="2700" b="0">
                <a:solidFill>
                  <a:srgbClr val="181818"/>
                </a:solidFill>
                <a:latin typeface="Times New Roman"/>
                <a:ea typeface="Times New Roman"/>
                <a:cs typeface="Times New Roman"/>
              </a:rPr>
              <a:t>Valorar compensación, especie y duración.</a:t>
            </a:r>
          </a:p>
        </p:txBody>
      </p:sp>
      <p:sp>
        <p:nvSpPr>
          <p:cNvPr id="6" name="text">
            <a:extLst xmlns:a="http://schemas.openxmlformats.org/drawingml/2006/main">
              <a:ext uri="{FF2B5EF4-FFF2-40B4-BE49-F238E27FC236}">
                <a16:creationId xmlns:a16="http://schemas.microsoft.com/office/drawing/2014/main" id="{E59F862D-8B55-4DB2-834F-A8A811A4E7D4}"/>
              </a:ext>
            </a:extLst>
          </p:cNvPr>
          <p:cNvSpPr>
            <a:spLocks xmlns:a="http://schemas.openxmlformats.org/drawingml/2006/main" noGrp="1"/>
          </p:cNvSpPr>
          <p:nvPr/>
        </p:nvSpPr>
        <p:spPr>
          <a:xfrm xmlns:a="http://schemas.openxmlformats.org/drawingml/2006/main">
            <a:off x="609600" y="4267200"/>
            <a:ext cx="109728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00" b="0">
                <a:solidFill>
                  <a:srgbClr val="181818"/>
                </a:solidFill>
                <a:latin typeface="Times New Roman"/>
                <a:ea typeface="Times New Roman"/>
                <a:cs typeface="Times New Roman"/>
              </a:defRPr>
            </a:defPPr>
            <a:lvl1pPr algn="l">
              <a:defRPr sz="2700" b="0">
                <a:solidFill>
                  <a:srgbClr val="181818"/>
                </a:solidFill>
                <a:latin typeface="Times New Roman"/>
                <a:ea typeface="Times New Roman"/>
                <a:cs typeface="Times New Roman"/>
              </a:defRPr>
            </a:lvl1pPr>
            <a:lvl2pPr algn="l">
              <a:defRPr sz="2700" b="0">
                <a:solidFill>
                  <a:srgbClr val="181818"/>
                </a:solidFill>
                <a:latin typeface="Times New Roman"/>
                <a:ea typeface="Times New Roman"/>
                <a:cs typeface="Times New Roman"/>
              </a:defRPr>
            </a:lvl2pPr>
            <a:lvl3pPr algn="l">
              <a:defRPr sz="2700" b="0">
                <a:solidFill>
                  <a:srgbClr val="181818"/>
                </a:solidFill>
                <a:latin typeface="Times New Roman"/>
                <a:ea typeface="Times New Roman"/>
                <a:cs typeface="Times New Roman"/>
              </a:defRPr>
            </a:lvl3pPr>
            <a:lvl4pPr algn="l">
              <a:defRPr sz="2700" b="0">
                <a:solidFill>
                  <a:srgbClr val="181818"/>
                </a:solidFill>
                <a:latin typeface="Times New Roman"/>
                <a:ea typeface="Times New Roman"/>
                <a:cs typeface="Times New Roman"/>
              </a:defRPr>
            </a:lvl4pPr>
            <a:lvl5pPr algn="l">
              <a:defRPr sz="2700" b="0">
                <a:solidFill>
                  <a:srgbClr val="181818"/>
                </a:solidFill>
                <a:latin typeface="Times New Roman"/>
                <a:ea typeface="Times New Roman"/>
                <a:cs typeface="Times New Roman"/>
              </a:defRPr>
            </a:lvl5pPr>
            <a:lvl6pPr algn="l">
              <a:defRPr sz="2700" b="0">
                <a:solidFill>
                  <a:srgbClr val="181818"/>
                </a:solidFill>
                <a:latin typeface="Times New Roman"/>
                <a:ea typeface="Times New Roman"/>
                <a:cs typeface="Times New Roman"/>
              </a:defRPr>
            </a:lvl6pPr>
            <a:lvl7pPr algn="l">
              <a:defRPr sz="2700" b="0">
                <a:solidFill>
                  <a:srgbClr val="181818"/>
                </a:solidFill>
                <a:latin typeface="Times New Roman"/>
                <a:ea typeface="Times New Roman"/>
                <a:cs typeface="Times New Roman"/>
              </a:defRPr>
            </a:lvl7pPr>
            <a:lvl8pPr algn="l">
              <a:defRPr sz="2700" b="0">
                <a:solidFill>
                  <a:srgbClr val="181818"/>
                </a:solidFill>
                <a:latin typeface="Times New Roman"/>
                <a:ea typeface="Times New Roman"/>
                <a:cs typeface="Times New Roman"/>
              </a:defRPr>
            </a:lvl8pPr>
            <a:lvl9pPr algn="l">
              <a:defRPr sz="2700" b="0">
                <a:solidFill>
                  <a:srgbClr val="181818"/>
                </a:solidFill>
                <a:latin typeface="Times New Roman"/>
                <a:ea typeface="Times New Roman"/>
                <a:cs typeface="Times New Roman"/>
              </a:defRPr>
            </a:lvl9pPr>
          </a:lstStyle>
          <a:p xmlns:a="http://schemas.openxmlformats.org/drawingml/2006/main">
            <a:pPr algn="l">
              <a:defRPr sz="2700" b="0">
                <a:solidFill>
                  <a:srgbClr val="181818"/>
                </a:solidFill>
                <a:latin typeface="Times New Roman"/>
                <a:ea typeface="Times New Roman"/>
                <a:cs typeface="Times New Roman"/>
              </a:defRPr>
            </a:pPr>
            <a:r>
              <a:rPr sz="2700" b="0">
                <a:solidFill>
                  <a:srgbClr val="181818"/>
                </a:solidFill>
                <a:latin typeface="Times New Roman"/>
                <a:ea typeface="Times New Roman"/>
                <a:cs typeface="Times New Roman"/>
              </a:rPr>
              <a:t>Un pH dentro del intervalo no descarta procesos opuestos.</a:t>
            </a:r>
          </a:p>
        </p:txBody>
      </p:sp>
    </p:spTree>
    <p:extLst>
      <p:ext uri="{BB962C8B-B14F-4D97-AF65-F5344CB8AC3E}">
        <p14:creationId xmlns:p14="http://schemas.microsoft.com/office/powerpoint/2010/main" val="41435973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27303B60-B254-4558-AA95-7C941EC7B781}"/>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Referencias Vancouver</a:t>
            </a:r>
          </a:p>
        </p:txBody>
      </p:sp>
      <p:sp>
        <p:nvSpPr>
          <p:cNvPr id="2" name="page-number">
            <a:extLst xmlns:a="http://schemas.openxmlformats.org/drawingml/2006/main">
              <a:ext uri="{FF2B5EF4-FFF2-40B4-BE49-F238E27FC236}">
                <a16:creationId xmlns:a16="http://schemas.microsoft.com/office/drawing/2014/main" id="{0BF58876-EE33-4C85-A1B3-1348A21A3A51}"/>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15</a:t>
            </a:r>
          </a:p>
        </p:txBody>
      </p:sp>
      <p:sp>
        <p:nvSpPr>
          <p:cNvPr id="3" name="text">
            <a:extLst xmlns:a="http://schemas.openxmlformats.org/drawingml/2006/main">
              <a:ext uri="{FF2B5EF4-FFF2-40B4-BE49-F238E27FC236}">
                <a16:creationId xmlns:a16="http://schemas.microsoft.com/office/drawing/2014/main" id="{FADD707B-B675-486E-A9BC-A25DFBB08B2D}"/>
              </a:ext>
            </a:extLst>
          </p:cNvPr>
          <p:cNvSpPr>
            <a:spLocks xmlns:a="http://schemas.openxmlformats.org/drawingml/2006/main" noGrp="1"/>
          </p:cNvSpPr>
          <p:nvPr/>
        </p:nvSpPr>
        <p:spPr>
          <a:xfrm xmlns:a="http://schemas.openxmlformats.org/drawingml/2006/main">
            <a:off x="609600" y="1571625"/>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1. Cornell University. Overview. eClinPath.</a:t>
            </a:r>
          </a:p>
        </p:txBody>
      </p:sp>
      <p:sp>
        <p:nvSpPr>
          <p:cNvPr id="4" name="text">
            <a:extLst xmlns:a="http://schemas.openxmlformats.org/drawingml/2006/main">
              <a:ext uri="{FF2B5EF4-FFF2-40B4-BE49-F238E27FC236}">
                <a16:creationId xmlns:a16="http://schemas.microsoft.com/office/drawing/2014/main" id="{6116F423-CE77-4E87-9768-41B51B985B6C}"/>
              </a:ext>
            </a:extLst>
          </p:cNvPr>
          <p:cNvSpPr>
            <a:spLocks xmlns:a="http://schemas.openxmlformats.org/drawingml/2006/main" noGrp="1"/>
          </p:cNvSpPr>
          <p:nvPr/>
        </p:nvSpPr>
        <p:spPr>
          <a:xfrm xmlns:a="http://schemas.openxmlformats.org/drawingml/2006/main">
            <a:off x="609600" y="2324100"/>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2. Baquero-Parrado JR. Equilibrio ácido-base en ganado bovino. Rev UDCA. 2008;11(2):85–100.</a:t>
            </a:r>
          </a:p>
        </p:txBody>
      </p:sp>
      <p:sp>
        <p:nvSpPr>
          <p:cNvPr id="5" name="text">
            <a:extLst xmlns:a="http://schemas.openxmlformats.org/drawingml/2006/main">
              <a:ext uri="{FF2B5EF4-FFF2-40B4-BE49-F238E27FC236}">
                <a16:creationId xmlns:a16="http://schemas.microsoft.com/office/drawing/2014/main" id="{7E1F08DE-3274-4334-9086-64275FF01025}"/>
              </a:ext>
            </a:extLst>
          </p:cNvPr>
          <p:cNvSpPr>
            <a:spLocks xmlns:a="http://schemas.openxmlformats.org/drawingml/2006/main" noGrp="1"/>
          </p:cNvSpPr>
          <p:nvPr/>
        </p:nvSpPr>
        <p:spPr>
          <a:xfrm xmlns:a="http://schemas.openxmlformats.org/drawingml/2006/main">
            <a:off x="609600" y="3076575"/>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3. Cornell University. Response to disturbances. eClinPath.</a:t>
            </a:r>
          </a:p>
        </p:txBody>
      </p:sp>
      <p:sp>
        <p:nvSpPr>
          <p:cNvPr id="6" name="text">
            <a:extLst xmlns:a="http://schemas.openxmlformats.org/drawingml/2006/main">
              <a:ext uri="{FF2B5EF4-FFF2-40B4-BE49-F238E27FC236}">
                <a16:creationId xmlns:a16="http://schemas.microsoft.com/office/drawing/2014/main" id="{33199D03-0CE4-441E-8807-405FEFC45120}"/>
              </a:ext>
            </a:extLst>
          </p:cNvPr>
          <p:cNvSpPr>
            <a:spLocks xmlns:a="http://schemas.openxmlformats.org/drawingml/2006/main" noGrp="1"/>
          </p:cNvSpPr>
          <p:nvPr/>
        </p:nvSpPr>
        <p:spPr>
          <a:xfrm xmlns:a="http://schemas.openxmlformats.org/drawingml/2006/main">
            <a:off x="609600" y="3829050"/>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4. Cornell University. Types of disturbances. eClinPath.</a:t>
            </a:r>
          </a:p>
        </p:txBody>
      </p:sp>
      <p:sp>
        <p:nvSpPr>
          <p:cNvPr id="7" name="text">
            <a:extLst xmlns:a="http://schemas.openxmlformats.org/drawingml/2006/main">
              <a:ext uri="{FF2B5EF4-FFF2-40B4-BE49-F238E27FC236}">
                <a16:creationId xmlns:a16="http://schemas.microsoft.com/office/drawing/2014/main" id="{EF53BC91-077D-41D7-A493-4A071D5B4218}"/>
              </a:ext>
            </a:extLst>
          </p:cNvPr>
          <p:cNvSpPr>
            <a:spLocks xmlns:a="http://schemas.openxmlformats.org/drawingml/2006/main" noGrp="1"/>
          </p:cNvSpPr>
          <p:nvPr/>
        </p:nvSpPr>
        <p:spPr>
          <a:xfrm xmlns:a="http://schemas.openxmlformats.org/drawingml/2006/main">
            <a:off x="609600" y="4581525"/>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5. Columbia University. Abnormal ventilation, abnormal gas exchange. Material docente. p. 6.</a:t>
            </a:r>
          </a:p>
        </p:txBody>
      </p:sp>
      <p:sp>
        <p:nvSpPr>
          <p:cNvPr id="8" name="text">
            <a:extLst xmlns:a="http://schemas.openxmlformats.org/drawingml/2006/main">
              <a:ext uri="{FF2B5EF4-FFF2-40B4-BE49-F238E27FC236}">
                <a16:creationId xmlns:a16="http://schemas.microsoft.com/office/drawing/2014/main" id="{720C0E80-5BB6-4138-9D70-4C93E93343F8}"/>
              </a:ext>
            </a:extLst>
          </p:cNvPr>
          <p:cNvSpPr>
            <a:spLocks xmlns:a="http://schemas.openxmlformats.org/drawingml/2006/main" noGrp="1"/>
          </p:cNvSpPr>
          <p:nvPr/>
        </p:nvSpPr>
        <p:spPr>
          <a:xfrm xmlns:a="http://schemas.openxmlformats.org/drawingml/2006/main">
            <a:off x="609600" y="5334000"/>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6. Cornell University. Physiology. eClinPath.</a:t>
            </a:r>
          </a:p>
        </p:txBody>
      </p:sp>
      <p:sp>
        <p:nvSpPr>
          <p:cNvPr id="9" name="text">
            <a:extLst xmlns:a="http://schemas.openxmlformats.org/drawingml/2006/main">
              <a:ext uri="{FF2B5EF4-FFF2-40B4-BE49-F238E27FC236}">
                <a16:creationId xmlns:a16="http://schemas.microsoft.com/office/drawing/2014/main" id="{91B10A73-3E56-44AB-948A-5E91AAC891C2}"/>
              </a:ext>
            </a:extLst>
          </p:cNvPr>
          <p:cNvSpPr>
            <a:spLocks xmlns:a="http://schemas.openxmlformats.org/drawingml/2006/main" noGrp="1"/>
          </p:cNvSpPr>
          <p:nvPr/>
        </p:nvSpPr>
        <p:spPr>
          <a:xfrm xmlns:a="http://schemas.openxmlformats.org/drawingml/2006/main">
            <a:off x="6419850" y="1571625"/>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7. Cornell University. Bicarbonate. eClinPath.</a:t>
            </a:r>
          </a:p>
        </p:txBody>
      </p:sp>
      <p:sp>
        <p:nvSpPr>
          <p:cNvPr id="10" name="text">
            <a:extLst xmlns:a="http://schemas.openxmlformats.org/drawingml/2006/main">
              <a:ext uri="{FF2B5EF4-FFF2-40B4-BE49-F238E27FC236}">
                <a16:creationId xmlns:a16="http://schemas.microsoft.com/office/drawing/2014/main" id="{1EC36A87-C23D-41B9-8C1A-7DA1B064423F}"/>
              </a:ext>
            </a:extLst>
          </p:cNvPr>
          <p:cNvSpPr>
            <a:spLocks xmlns:a="http://schemas.openxmlformats.org/drawingml/2006/main" noGrp="1"/>
          </p:cNvSpPr>
          <p:nvPr/>
        </p:nvSpPr>
        <p:spPr>
          <a:xfrm xmlns:a="http://schemas.openxmlformats.org/drawingml/2006/main">
            <a:off x="6419850" y="2324100"/>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8. Braun U, et al. Displaced abomasum and volvulus. Acta Vet Scand. 2022;64:40.</a:t>
            </a:r>
          </a:p>
        </p:txBody>
      </p:sp>
      <p:sp>
        <p:nvSpPr>
          <p:cNvPr id="11" name="text">
            <a:extLst xmlns:a="http://schemas.openxmlformats.org/drawingml/2006/main">
              <a:ext uri="{FF2B5EF4-FFF2-40B4-BE49-F238E27FC236}">
                <a16:creationId xmlns:a16="http://schemas.microsoft.com/office/drawing/2014/main" id="{DFA9F6A7-D9C1-42AB-9272-361CE3248A1D}"/>
              </a:ext>
            </a:extLst>
          </p:cNvPr>
          <p:cNvSpPr>
            <a:spLocks xmlns:a="http://schemas.openxmlformats.org/drawingml/2006/main" noGrp="1"/>
          </p:cNvSpPr>
          <p:nvPr/>
        </p:nvSpPr>
        <p:spPr>
          <a:xfrm xmlns:a="http://schemas.openxmlformats.org/drawingml/2006/main">
            <a:off x="6419850" y="3076575"/>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9. Cornell University. Laboratory detection. eClinPath.</a:t>
            </a:r>
          </a:p>
        </p:txBody>
      </p:sp>
      <p:sp>
        <p:nvSpPr>
          <p:cNvPr id="12" name="text">
            <a:extLst xmlns:a="http://schemas.openxmlformats.org/drawingml/2006/main">
              <a:ext uri="{FF2B5EF4-FFF2-40B4-BE49-F238E27FC236}">
                <a16:creationId xmlns:a16="http://schemas.microsoft.com/office/drawing/2014/main" id="{EFE44AA0-BC9B-4D52-B164-592F44775995}"/>
              </a:ext>
            </a:extLst>
          </p:cNvPr>
          <p:cNvSpPr>
            <a:spLocks xmlns:a="http://schemas.openxmlformats.org/drawingml/2006/main" noGrp="1"/>
          </p:cNvSpPr>
          <p:nvPr/>
        </p:nvSpPr>
        <p:spPr>
          <a:xfrm xmlns:a="http://schemas.openxmlformats.org/drawingml/2006/main">
            <a:off x="6419850" y="3829050"/>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10. Cornell University. Anion gap. eClinPath.</a:t>
            </a:r>
          </a:p>
        </p:txBody>
      </p:sp>
      <p:sp>
        <p:nvSpPr>
          <p:cNvPr id="13" name="text">
            <a:extLst xmlns:a="http://schemas.openxmlformats.org/drawingml/2006/main">
              <a:ext uri="{FF2B5EF4-FFF2-40B4-BE49-F238E27FC236}">
                <a16:creationId xmlns:a16="http://schemas.microsoft.com/office/drawing/2014/main" id="{C3EEBFDD-7FC1-4A78-9AB0-AFBA84708198}"/>
              </a:ext>
            </a:extLst>
          </p:cNvPr>
          <p:cNvSpPr>
            <a:spLocks xmlns:a="http://schemas.openxmlformats.org/drawingml/2006/main" noGrp="1"/>
          </p:cNvSpPr>
          <p:nvPr/>
        </p:nvSpPr>
        <p:spPr>
          <a:xfrm xmlns:a="http://schemas.openxmlformats.org/drawingml/2006/main">
            <a:off x="6419850" y="4581525"/>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11. Jung Y, et al. Lactate concentrations and acidemia in calf diarrhea. BMC Vet Res. 2024;20:373.</a:t>
            </a:r>
          </a:p>
        </p:txBody>
      </p:sp>
      <p:sp>
        <p:nvSpPr>
          <p:cNvPr id="14" name="text">
            <a:extLst xmlns:a="http://schemas.openxmlformats.org/drawingml/2006/main">
              <a:ext uri="{FF2B5EF4-FFF2-40B4-BE49-F238E27FC236}">
                <a16:creationId xmlns:a16="http://schemas.microsoft.com/office/drawing/2014/main" id="{59B56718-89BC-4B32-95AB-ADA1284CF3F5}"/>
              </a:ext>
            </a:extLst>
          </p:cNvPr>
          <p:cNvSpPr>
            <a:spLocks xmlns:a="http://schemas.openxmlformats.org/drawingml/2006/main" noGrp="1"/>
          </p:cNvSpPr>
          <p:nvPr/>
        </p:nvSpPr>
        <p:spPr>
          <a:xfrm xmlns:a="http://schemas.openxmlformats.org/drawingml/2006/main">
            <a:off x="6419850" y="5334000"/>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12. Burgos RA, et al. The D-lactate enigma. Front Vet Sci. 2024;11:1509399.</a:t>
            </a:r>
          </a:p>
        </p:txBody>
      </p:sp>
    </p:spTree>
    <p:extLst>
      <p:ext uri="{BB962C8B-B14F-4D97-AF65-F5344CB8AC3E}">
        <p14:creationId xmlns:p14="http://schemas.microsoft.com/office/powerpoint/2010/main" val="1227753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2026-10-18T03:50:37.5830000Z</dcterms:created>
  <dcterms:modified xsi:type="dcterms:W3CDTF">2026-10-18T03:50:37.5830000Z</dcterms:modified>
</coreProperties>
</file>