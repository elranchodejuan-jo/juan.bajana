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e202043a275466e" /><Relationship Type="http://schemas.openxmlformats.org/officeDocument/2006/relationships/extended-properties" Target="/docProps/app.xml" Id="R820d355331644d8f" /><Relationship Type="http://schemas.openxmlformats.org/officeDocument/2006/relationships/officeDocument" Target="/ppt/presentation.xml" Id="R2127b91387d249a9" /></Relationships>
</file>

<file path=ppt/presentation.xml><?xml version="1.0" encoding="utf-8"?>
<p:presentation xmlns:p="http://schemas.openxmlformats.org/presentationml/2006/main">
  <p:sldMasterIdLst>
    <p:sldMasterId xmlns:r="http://schemas.openxmlformats.org/officeDocument/2006/relationships" id="2147483648" r:id="R068c9fe70a594335"/>
  </p:sldMasterIdLst>
  <p:notesMasterIdLst>
    <p:notesMasterId xmlns:r="http://schemas.openxmlformats.org/officeDocument/2006/relationships" r:id="Ra6e61e0b077841c4"/>
  </p:notesMasterIdLst>
  <p:sldIdLst>
    <p:sldId xmlns:r="http://schemas.openxmlformats.org/officeDocument/2006/relationships" id="256" r:id="Rd4e6e00dc64841a2"/>
    <p:sldId xmlns:r="http://schemas.openxmlformats.org/officeDocument/2006/relationships" id="257" r:id="Rba6bcd44e8574786"/>
    <p:sldId xmlns:r="http://schemas.openxmlformats.org/officeDocument/2006/relationships" id="258" r:id="R4e171c09c29d42fd"/>
    <p:sldId xmlns:r="http://schemas.openxmlformats.org/officeDocument/2006/relationships" id="259" r:id="R53bccd146163473c"/>
    <p:sldId xmlns:r="http://schemas.openxmlformats.org/officeDocument/2006/relationships" id="260" r:id="R519ada465c584391"/>
    <p:sldId xmlns:r="http://schemas.openxmlformats.org/officeDocument/2006/relationships" id="261" r:id="Rddedf07904314443"/>
    <p:sldId xmlns:r="http://schemas.openxmlformats.org/officeDocument/2006/relationships" id="262" r:id="R4bfa91e2918a45e3"/>
    <p:sldId xmlns:r="http://schemas.openxmlformats.org/officeDocument/2006/relationships" id="263" r:id="R5cabf076875c4700"/>
    <p:sldId xmlns:r="http://schemas.openxmlformats.org/officeDocument/2006/relationships" id="264" r:id="R4536cbbd80804eb9"/>
    <p:sldId xmlns:r="http://schemas.openxmlformats.org/officeDocument/2006/relationships" id="265" r:id="R7cb274a79909498d"/>
    <p:sldId xmlns:r="http://schemas.openxmlformats.org/officeDocument/2006/relationships" id="266" r:id="Rfe99618e812b43a2"/>
    <p:sldId xmlns:r="http://schemas.openxmlformats.org/officeDocument/2006/relationships" id="267" r:id="R35addc65f74a4053"/>
    <p:sldId xmlns:r="http://schemas.openxmlformats.org/officeDocument/2006/relationships" id="268" r:id="Rc0d074ae852d469c"/>
    <p:sldId xmlns:r="http://schemas.openxmlformats.org/officeDocument/2006/relationships" id="269" r:id="Rc7c05db104294e7c"/>
    <p:sldId xmlns:r="http://schemas.openxmlformats.org/officeDocument/2006/relationships" id="270" r:id="R4caf6c29cc394861"/>
    <p:sldId xmlns:r="http://schemas.openxmlformats.org/officeDocument/2006/relationships" id="271" r:id="R42d2650bc61a4ea4"/>
    <p:sldId xmlns:r="http://schemas.openxmlformats.org/officeDocument/2006/relationships" id="272" r:id="Rab37e00d6c854dd7"/>
    <p:sldId xmlns:r="http://schemas.openxmlformats.org/officeDocument/2006/relationships" id="273" r:id="R79fe892235794299"/>
    <p:sldId xmlns:r="http://schemas.openxmlformats.org/officeDocument/2006/relationships" id="274" r:id="R1aec66f6b5924111"/>
    <p:sldId xmlns:r="http://schemas.openxmlformats.org/officeDocument/2006/relationships" id="275" r:id="R129f49a00639466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0cc2bda66554865" /><Relationship Type="http://schemas.openxmlformats.org/officeDocument/2006/relationships/slideMaster" Target="/ppt/slideMasters/slideMaster1.xml" Id="R068c9fe70a594335" /><Relationship Type="http://schemas.openxmlformats.org/officeDocument/2006/relationships/notesMaster" Target="/ppt/notesMasters/notesMaster1.xml" Id="Ra6e61e0b077841c4" /><Relationship Type="http://schemas.openxmlformats.org/officeDocument/2006/relationships/presProps" Target="/ppt/presProps.xml" Id="R28ff8fe7e90f4e26" /><Relationship Type="http://schemas.openxmlformats.org/officeDocument/2006/relationships/tableStyles" Target="/ppt/tableStyles.xml" Id="Ra7b3f07c48384f4c" /><Relationship Type="http://schemas.openxmlformats.org/officeDocument/2006/relationships/slide" Target="/ppt/slides/slide1.xml" Id="Rd4e6e00dc64841a2" /><Relationship Type="http://schemas.openxmlformats.org/officeDocument/2006/relationships/slide" Target="/ppt/slides/slide2.xml" Id="Rba6bcd44e8574786" /><Relationship Type="http://schemas.openxmlformats.org/officeDocument/2006/relationships/slide" Target="/ppt/slides/slide3.xml" Id="R4e171c09c29d42fd" /><Relationship Type="http://schemas.openxmlformats.org/officeDocument/2006/relationships/slide" Target="/ppt/slides/slide4.xml" Id="R53bccd146163473c" /><Relationship Type="http://schemas.openxmlformats.org/officeDocument/2006/relationships/slide" Target="/ppt/slides/slide5.xml" Id="R519ada465c584391" /><Relationship Type="http://schemas.openxmlformats.org/officeDocument/2006/relationships/slide" Target="/ppt/slides/slide6.xml" Id="Rddedf07904314443" /><Relationship Type="http://schemas.openxmlformats.org/officeDocument/2006/relationships/slide" Target="/ppt/slides/slide7.xml" Id="R4bfa91e2918a45e3" /><Relationship Type="http://schemas.openxmlformats.org/officeDocument/2006/relationships/slide" Target="/ppt/slides/slide8.xml" Id="R5cabf076875c4700" /><Relationship Type="http://schemas.openxmlformats.org/officeDocument/2006/relationships/slide" Target="/ppt/slides/slide9.xml" Id="R4536cbbd80804eb9" /><Relationship Type="http://schemas.openxmlformats.org/officeDocument/2006/relationships/slide" Target="/ppt/slides/slide10.xml" Id="R7cb274a79909498d" /><Relationship Type="http://schemas.openxmlformats.org/officeDocument/2006/relationships/slide" Target="/ppt/slides/slide11.xml" Id="Rfe99618e812b43a2" /><Relationship Type="http://schemas.openxmlformats.org/officeDocument/2006/relationships/slide" Target="/ppt/slides/slide12.xml" Id="R35addc65f74a4053" /><Relationship Type="http://schemas.openxmlformats.org/officeDocument/2006/relationships/slide" Target="/ppt/slides/slide13.xml" Id="Rc0d074ae852d469c" /><Relationship Type="http://schemas.openxmlformats.org/officeDocument/2006/relationships/slide" Target="/ppt/slides/slide14.xml" Id="Rc7c05db104294e7c" /><Relationship Type="http://schemas.openxmlformats.org/officeDocument/2006/relationships/slide" Target="/ppt/slides/slide15.xml" Id="R4caf6c29cc394861" /><Relationship Type="http://schemas.openxmlformats.org/officeDocument/2006/relationships/slide" Target="/ppt/slides/slide16.xml" Id="R42d2650bc61a4ea4" /><Relationship Type="http://schemas.openxmlformats.org/officeDocument/2006/relationships/slide" Target="/ppt/slides/slide17.xml" Id="Rab37e00d6c854dd7" /><Relationship Type="http://schemas.openxmlformats.org/officeDocument/2006/relationships/slide" Target="/ppt/slides/slide18.xml" Id="R79fe892235794299" /><Relationship Type="http://schemas.openxmlformats.org/officeDocument/2006/relationships/slide" Target="/ppt/slides/slide19.xml" Id="R1aec66f6b5924111" /><Relationship Type="http://schemas.openxmlformats.org/officeDocument/2006/relationships/slide" Target="/ppt/slides/slide20.xml" Id="R129f49a00639466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b8b4eca0e5542d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1e0bdc4764e47de" /><Relationship Type="http://schemas.openxmlformats.org/officeDocument/2006/relationships/notesMaster" Target="/ppt/notesMasters/notesMaster1.xml" Id="R2b3221052d984e0b" /></Relationships>
</file>

<file path=ppt/notesSlides/_rels/notesSlide2.xml.rels>&#65279;<?xml version="1.0" encoding="utf-8"?><Relationships xmlns="http://schemas.openxmlformats.org/package/2006/relationships"><Relationship Type="http://schemas.openxmlformats.org/officeDocument/2006/relationships/slide" Target="/ppt/slides/slide2.xml" Id="Raf46e7a7a97d49aa" /><Relationship Type="http://schemas.openxmlformats.org/officeDocument/2006/relationships/notesMaster" Target="/ppt/notesMasters/notesMaster1.xml" Id="R40c5e7a4289b49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ccbd1c3ce74a31" /><Relationship Type="http://schemas.openxmlformats.org/officeDocument/2006/relationships/notesMaster" Target="/ppt/notesMasters/notesMaster1.xml" Id="Rc14972bdcd534e5a" /></Relationships>
</file>

<file path=ppt/notesSlides/_rels/notesSlide4.xml.rels>&#65279;<?xml version="1.0" encoding="utf-8"?><Relationships xmlns="http://schemas.openxmlformats.org/package/2006/relationships"><Relationship Type="http://schemas.openxmlformats.org/officeDocument/2006/relationships/slide" Target="/ppt/slides/slide4.xml" Id="R0ed2cc8330a14851" /><Relationship Type="http://schemas.openxmlformats.org/officeDocument/2006/relationships/notesMaster" Target="/ppt/notesMasters/notesMaster1.xml" Id="R8182358f499443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c3bfe18583fc4cee" /><Relationship Type="http://schemas.openxmlformats.org/officeDocument/2006/relationships/notesMaster" Target="/ppt/notesMasters/notesMaster1.xml" Id="Ra4f6292678084cc7" /></Relationships>
</file>

<file path=ppt/notesSlides/_rels/notesSlide6.xml.rels>&#65279;<?xml version="1.0" encoding="utf-8"?><Relationships xmlns="http://schemas.openxmlformats.org/package/2006/relationships"><Relationship Type="http://schemas.openxmlformats.org/officeDocument/2006/relationships/slide" Target="/ppt/slides/slide6.xml" Id="R9acffe14d00b4d07" /><Relationship Type="http://schemas.openxmlformats.org/officeDocument/2006/relationships/notesMaster" Target="/ppt/notesMasters/notesMaster1.xml" Id="Rc06de27cbc8f4f8c" /></Relationships>
</file>

<file path=ppt/notesSlides/_rels/notesSlide7.xml.rels>&#65279;<?xml version="1.0" encoding="utf-8"?><Relationships xmlns="http://schemas.openxmlformats.org/package/2006/relationships"><Relationship Type="http://schemas.openxmlformats.org/officeDocument/2006/relationships/slide" Target="/ppt/slides/slide7.xml" Id="R3a81e763e4c34873" /><Relationship Type="http://schemas.openxmlformats.org/officeDocument/2006/relationships/notesMaster" Target="/ppt/notesMasters/notesMaster1.xml" Id="R32779d964945423f" /></Relationships>
</file>

<file path=ppt/notesSlides/_rels/notesSlide8.xml.rels>&#65279;<?xml version="1.0" encoding="utf-8"?><Relationships xmlns="http://schemas.openxmlformats.org/package/2006/relationships"><Relationship Type="http://schemas.openxmlformats.org/officeDocument/2006/relationships/slide" Target="/ppt/slides/slide8.xml" Id="R3a25d3af051e4f0f" /><Relationship Type="http://schemas.openxmlformats.org/officeDocument/2006/relationships/notesMaster" Target="/ppt/notesMasters/notesMaster1.xml" Id="R2b2f318152044133" /></Relationships>
</file>

<file path=ppt/notesSlides/_rels/notesSlide9.xml.rels>&#65279;<?xml version="1.0" encoding="utf-8"?><Relationships xmlns="http://schemas.openxmlformats.org/package/2006/relationships"><Relationship Type="http://schemas.openxmlformats.org/officeDocument/2006/relationships/slide" Target="/ppt/slides/slide9.xml" Id="R070be7e1bb9e4fd6" /><Relationship Type="http://schemas.openxmlformats.org/officeDocument/2006/relationships/notesMaster" Target="/ppt/notesMasters/notesMaster1.xml" Id="R3fffd0de3a9a42e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35e592314684b05" /><Relationship Type="http://schemas.openxmlformats.org/officeDocument/2006/relationships/notesMaster" Target="/ppt/notesMasters/notesMaster1.xml" Id="R79f079394f884b6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0e6e623507a48d8" /><Relationship Type="http://schemas.openxmlformats.org/officeDocument/2006/relationships/notesMaster" Target="/ppt/notesMasters/notesMaster1.xml" Id="R60da3b7dfc204e9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499991c834a4973" /><Relationship Type="http://schemas.openxmlformats.org/officeDocument/2006/relationships/notesMaster" Target="/ppt/notesMasters/notesMaster1.xml" Id="Rc2503c600c5643e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b19886f8dc24fd3" /><Relationship Type="http://schemas.openxmlformats.org/officeDocument/2006/relationships/notesMaster" Target="/ppt/notesMasters/notesMaster1.xml" Id="R51d57908357b453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b709e78ef724007" /><Relationship Type="http://schemas.openxmlformats.org/officeDocument/2006/relationships/notesMaster" Target="/ppt/notesMasters/notesMaster1.xml" Id="Ra7c3d65eb28b4cb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107d98f97174c14" /><Relationship Type="http://schemas.openxmlformats.org/officeDocument/2006/relationships/notesMaster" Target="/ppt/notesMasters/notesMaster1.xml" Id="R98ba243ae493459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c10cc02a12b4557" /><Relationship Type="http://schemas.openxmlformats.org/officeDocument/2006/relationships/notesMaster" Target="/ppt/notesMasters/notesMaster1.xml" Id="R873c1ee697ac466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4d95575f7284c7b" /><Relationship Type="http://schemas.openxmlformats.org/officeDocument/2006/relationships/notesMaster" Target="/ppt/notesMasters/notesMaster1.xml" Id="R0e9fd8647dbd420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d4ca295574f4908" /><Relationship Type="http://schemas.openxmlformats.org/officeDocument/2006/relationships/notesMaster" Target="/ppt/notesMasters/notesMaster1.xml" Id="R290bd9c12e87469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02ff3711d134aae" /><Relationship Type="http://schemas.openxmlformats.org/officeDocument/2006/relationships/notesMaster" Target="/ppt/notesMasters/notesMaster1.xml" Id="R5f65a8246cc0484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f9d42e5c9124ae1" /><Relationship Type="http://schemas.openxmlformats.org/officeDocument/2006/relationships/notesMaster" Target="/ppt/notesMasters/notesMaster1.xml" Id="Rd32e3dceb126442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Presentación para aproximadamente 15 a 18 minutos. El propósito es distinguir el mecanismo que determina el sexo de los procesos embrionarios que forman las gónadas, los conductos y los genitales. Se utiliza el mamífero doméstico como modelo y luego se contrasta con aves, insectos, reptiles y peces. Las redes descritas son modelos generales. Existen variaciones entre especies y diferencias del desarrollo sexual.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determinación sexual comprende la señal inicial que orienta el desarrollo de la gónada. En mamíferos terios, el sexo cromosómico normalmente se establece en la fecundación. La diferenciación sexual comprende los cambios celulares, anatómicos y hormonales que forman testículos u ovarios y posteriormente los conductos y genitales. Conviene distinguir el nivel cromosómico, el gonadal y el fenotípico. Estos niveles suelen concordar, pero las diferencias del desarrollo sexual muestran que no son conceptos intercambiables. En otros grupos, la señal inicial puede depender del ambiente o de la ploidía.</a:t>
            </a:r>
          </a:p>
          <a:p xmlns:a="http://schemas.openxmlformats.org/drawingml/2006/main">
            <a:r>
              <a:t/>
            </a:r>
          </a:p>
          <a:p xmlns:a="http://schemas.openxmlformats.org/drawingml/2006/main">
            <a:r>
              <a:t>Fuentes consultadas:</a:t>
            </a:r>
          </a:p>
          <a:p xmlns:a="http://schemas.openxmlformats.org/drawingml/2006/main">
            <a:r>
              <a:t>[1] Díaz-Hernández V, Marquez Y, Merchant-Larios H. Desarrollo embrionario y diferenciación sexual. En: Reproducción de los animales domésticos [Internet]. México: Universidad Nacional Autónoma de México; 2021 [citado 17 oct 2026].</a:t>
            </a:r>
          </a:p>
          <a:p xmlns:a="http://schemas.openxmlformats.org/drawingml/2006/main">
            <a:r>
              <a:t>https://reproduccionanimalesdomesticos.fmvz.unam.mx/libro/capitulo1/determinacion-sexo-morfologico.html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Los autosomas constituyen los cromosomas que no se clasifican como sexuales. Los cromosomas sexuales participan en sistemas de determinación y pueden presentar distinta morfología y contenido génico. Homogamético significa que un individuo produce un solo tipo de gameto respecto al cromosoma sexual. Heterogamético significa que produce dos tipos. En el patrón XX/XY de mamíferos, el macho es heterogamético. En el patrón ZZ/ZW de aves, la hembra es heterogamética. Las letras indican sistemas diferentes y no permiten asumir que los genes o mecanismos sean equivalentes.</a:t>
            </a:r>
          </a:p>
          <a:p xmlns:a="http://schemas.openxmlformats.org/drawingml/2006/main">
            <a:r>
              <a:t/>
            </a:r>
          </a:p>
          <a:p xmlns:a="http://schemas.openxmlformats.org/drawingml/2006/main">
            <a:r>
              <a:t>Fuentes consultadas:</a:t>
            </a:r>
          </a:p>
          <a:p xmlns:a="http://schemas.openxmlformats.org/drawingml/2006/main">
            <a:r>
              <a:t>[1] Díaz-Hernández V, Marquez Y, Merchant-Larios H. Desarrollo embrionario y diferenciación sexual. En: Reproducción de los animales domésticos [Internet]. México: Universidad Nacional Autónoma de México; 2021 [citado 17 oct 2026].</a:t>
            </a:r>
          </a:p>
          <a:p xmlns:a="http://schemas.openxmlformats.org/drawingml/2006/main">
            <a:r>
              <a:t>https://reproduccionanimalesdomesticos.fmvz.unam.mx/libro/capitulo1/determinacion-sexo-morfologico.html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cuadro de Punnett representa un cruce simplificado entre una hembra XX y un macho XY. Todos los óvulos aportan X y los espermatozoides aportan X o Y. La combinación origina una expectativa de la mitad XX y la mitad XY. Es una probabilidad teórica de cada fecundación, no una garantía de que toda camada tenga exactamente igual número de machos y hembras. En los mamíferos terios, el cromosoma Y suele contener SRY, importante para iniciar la vía testicular. Debe evitarse extender esta explicación a todos los vertebrados.</a:t>
            </a:r>
          </a:p>
          <a:p xmlns:a="http://schemas.openxmlformats.org/drawingml/2006/main">
            <a:r>
              <a:t/>
            </a:r>
          </a:p>
          <a:p xmlns:a="http://schemas.openxmlformats.org/drawingml/2006/main">
            <a:r>
              <a:t>Fuentes consultadas:</a:t>
            </a:r>
          </a:p>
          <a:p xmlns:a="http://schemas.openxmlformats.org/drawingml/2006/main">
            <a:r>
              <a:t>[1] Díaz-Hernández V, Marquez Y, Merchant-Larios H. Desarrollo embrionario y diferenciación sexual. En: Reproducción de los animales domésticos [Internet]. México: Universidad Nacional Autónoma de México; 2021 [citado 17 oct 2026].</a:t>
            </a:r>
          </a:p>
          <a:p xmlns:a="http://schemas.openxmlformats.org/drawingml/2006/main">
            <a:r>
              <a:t>https://reproduccionanimalesdomesticos.fmvz.unam.mx/libro/capitulo1/determinacion-sexo-morfologico.html</a:t>
            </a:r>
          </a:p>
          <a:p xmlns:a="http://schemas.openxmlformats.org/drawingml/2006/main">
            <a:r>
              <a:t/>
            </a:r>
          </a:p>
          <a:p xmlns:a="http://schemas.openxmlformats.org/drawingml/2006/main">
            <a:r>
              <a:t>[2] Ridnik M, Schoenfelder S, Gonen N. Cis-Regulatory Control of Mammalian Sex Determination. Sex Dev. 2021;15(5-6):317-334.</a:t>
            </a:r>
          </a:p>
          <a:p xmlns:a="http://schemas.openxmlformats.org/drawingml/2006/main">
            <a:r>
              <a:t>https://doi.org/10.1159/000519244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las aves, el macho generalmente es ZZ y la hembra ZW. El macho produce espermatozoides Z, mientras que la hembra produce óvulos Z o W. El cuadro muestra una expectativa teórica de mitad ZZ y mitad ZW. Aquí la hembra es el sexo heterogamético. El cromosoma Z contiene DMRT1 y la dosis de este gen es un componente clave de la determinación testicular en el pollo. Este sistema demuestra por qué no debe trasladarse la explicación del cromosoma Y y SRY de los mamíferos a las aves.</a:t>
            </a:r>
          </a:p>
          <a:p xmlns:a="http://schemas.openxmlformats.org/drawingml/2006/main">
            <a:r>
              <a:t/>
            </a:r>
          </a:p>
          <a:p xmlns:a="http://schemas.openxmlformats.org/drawingml/2006/main">
            <a:r>
              <a:t>Fuentes consultadas:</a:t>
            </a:r>
          </a:p>
          <a:p xmlns:a="http://schemas.openxmlformats.org/drawingml/2006/main">
            <a:r>
              <a:t>[3] Ioannidis J, Taylor G, Zhao D, Liu L, Idoko-Akoh A, Gong D, et al. Primary sex determination in birds depends on DMRT1 dosage, but gonadal sex does not determine adult secondary sex characteristics. Proc Natl Acad Sci U S A. 2021;118(10):e2020909118.</a:t>
            </a:r>
          </a:p>
          <a:p xmlns:a="http://schemas.openxmlformats.org/drawingml/2006/main">
            <a:r>
              <a:t>https://doi.org/10.1073/pnas.2020909118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tabla organiza mecanismos representativos y no debe interpretarse como una clasificación exclusiva para todos los integrantes de cada grupo. Los mamíferos terios y las aves tienen sistemas cromosómicos conocidos. Algunos insectos utilizan X0 o la ploidía. En varias especies de reptiles, la temperatura del huevo durante una ventana sensible influye en la diferenciación gonadal. Los peces muestran gran diversidad de sistemas genéticos y ambientales, y algunas especies cambian de sexo después de la primera madurez. El número y la identidad de los genes participantes varían según la especie.</a:t>
            </a:r>
          </a:p>
          <a:p xmlns:a="http://schemas.openxmlformats.org/drawingml/2006/main">
            <a:r>
              <a:t/>
            </a:r>
          </a:p>
          <a:p xmlns:a="http://schemas.openxmlformats.org/drawingml/2006/main">
            <a:r>
              <a:t>Fuentes consultadas:</a:t>
            </a:r>
          </a:p>
          <a:p xmlns:a="http://schemas.openxmlformats.org/drawingml/2006/main">
            <a:r>
              <a:t>[4] Kitano J, Ansai S, Takehana Y, Yamamoto Y. Diversity and Convergence of Sex-Determination Mechanisms in Teleost Fish. Annu Rev Anim Biosci. 2024;12:233-259.</a:t>
            </a:r>
          </a:p>
          <a:p xmlns:a="http://schemas.openxmlformats.org/drawingml/2006/main">
            <a:r>
              <a:t>https://doi.org/10.1146/annurev-animal-021122-113935</a:t>
            </a:r>
          </a:p>
          <a:p xmlns:a="http://schemas.openxmlformats.org/drawingml/2006/main">
            <a:r>
              <a:t/>
            </a:r>
          </a:p>
          <a:p xmlns:a="http://schemas.openxmlformats.org/drawingml/2006/main">
            <a:r>
              <a:t>[3] Ioannidis J, Taylor G, Zhao D, Liu L, Idoko-Akoh A, Gong D, et al. Primary sex determination in birds depends on DMRT1 dosage, but gonadal sex does not determine adult secondary sex characteristics. Proc Natl Acad Sci U S A. 2021;118(10):e2020909118.</a:t>
            </a:r>
          </a:p>
          <a:p xmlns:a="http://schemas.openxmlformats.org/drawingml/2006/main">
            <a:r>
              <a:t>https://doi.org/10.1073/pnas.2020909118</a:t>
            </a:r>
          </a:p>
          <a:p xmlns:a="http://schemas.openxmlformats.org/drawingml/2006/main">
            <a:r>
              <a:t/>
            </a:r>
          </a:p>
          <a:p xmlns:a="http://schemas.openxmlformats.org/drawingml/2006/main">
            <a:r>
              <a:t>[5] Xie X, Zhang Y, Peng H, Deng Z. Sex Chromosome Dosage Compensation in Insects. Insects. 2025;16(2):160.</a:t>
            </a:r>
          </a:p>
          <a:p xmlns:a="http://schemas.openxmlformats.org/drawingml/2006/main">
            <a:r>
              <a:t>https://doi.org/10.3390/insects16020160</a:t>
            </a:r>
          </a:p>
          <a:p xmlns:a="http://schemas.openxmlformats.org/drawingml/2006/main">
            <a:r>
              <a:t/>
            </a:r>
          </a:p>
          <a:p xmlns:a="http://schemas.openxmlformats.org/drawingml/2006/main">
            <a:r>
              <a:t>[6] Seiler J, Beye M. Honeybees’ novel complementary sex-determining system: function and origin. Trends Genet. 2024;40(11):969-981.</a:t>
            </a:r>
          </a:p>
          <a:p xmlns:a="http://schemas.openxmlformats.org/drawingml/2006/main">
            <a:r>
              <a:t>https://doi.org/10.1016/j.tig.2024.08.001</a:t>
            </a:r>
          </a:p>
          <a:p xmlns:a="http://schemas.openxmlformats.org/drawingml/2006/main">
            <a:r>
              <a:t/>
            </a:r>
          </a:p>
          <a:p xmlns:a="http://schemas.openxmlformats.org/drawingml/2006/main">
            <a:r>
              <a:t>[7] Akashi H, Hasui D, Ueda K, Ishikawa M, Takeda M, Miyagawa S. Understanding the role of environmental temperature on sex determination through comparative studies in reptiles and amphibians. J Exp Zool A Ecol Integr Physiol. 2024;341(1):48-59.</a:t>
            </a:r>
          </a:p>
          <a:p xmlns:a="http://schemas.openxmlformats.org/drawingml/2006/main">
            <a:r>
              <a:t>https://doi.org/10.1002/jez.2760</a:t>
            </a:r>
          </a:p>
          <a:p xmlns:a="http://schemas.openxmlformats.org/drawingml/2006/main">
            <a:r>
              <a:t/>
            </a:r>
          </a:p>
          <a:p xmlns:a="http://schemas.openxmlformats.org/drawingml/2006/main">
            <a:r>
              <a:t>[4] Kitano J, Ansai S, Takehana Y, Yamamoto Y. Diversity and Convergence of Sex-Determination Mechanisms in Teleost Fish. Annu Rev Anim Biosci. 2024;12:233-259.</a:t>
            </a:r>
          </a:p>
          <a:p xmlns:a="http://schemas.openxmlformats.org/drawingml/2006/main">
            <a:r>
              <a:t>https://doi.org/10.1146/annurev-animal-021122-113935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Antes de diferenciarse, la gónada embrionaria tiene el potencial de organizarse como testículo u ovario. Las células germinales primordiales llegan a la región gonadal e interactúan con las células somáticas. La decisión testicular u ovárica depende de redes reguladoras y de una expresión génica correcta en el tiempo y el lugar adecuados. Bipotencial no significa que el embrión posea dos gónadas funcionales de distinto sexo. Es un estado inicial con capacidad de seguir una u otra vía. Las alteraciones de estas redes pueden producir discordancia entre el cariotipo y la gónada.</a:t>
            </a:r>
          </a:p>
          <a:p xmlns:a="http://schemas.openxmlformats.org/drawingml/2006/main">
            <a:r>
              <a:t/>
            </a:r>
          </a:p>
          <a:p xmlns:a="http://schemas.openxmlformats.org/drawingml/2006/main">
            <a:r>
              <a:t>Fuentes consultadas:</a:t>
            </a:r>
          </a:p>
          <a:p xmlns:a="http://schemas.openxmlformats.org/drawingml/2006/main">
            <a:r>
              <a:t>[1] Díaz-Hernández V, Marquez Y, Merchant-Larios H. Desarrollo embrionario y diferenciación sexual. En: Reproducción de los animales domésticos [Internet]. México: Universidad Nacional Autónoma de México; 2021 [citado 17 oct 2026].</a:t>
            </a:r>
          </a:p>
          <a:p xmlns:a="http://schemas.openxmlformats.org/drawingml/2006/main">
            <a:r>
              <a:t>https://reproduccionanimalesdomesticos.fmvz.unam.mx/libro/capitulo1/gonada-indiferenciada.html</a:t>
            </a:r>
          </a:p>
          <a:p xmlns:a="http://schemas.openxmlformats.org/drawingml/2006/main">
            <a:r>
              <a:t/>
            </a:r>
          </a:p>
          <a:p xmlns:a="http://schemas.openxmlformats.org/drawingml/2006/main">
            <a:r>
              <a:t>[2] Ridnik M, Schoenfelder S, Gonen N. Cis-Regulatory Control of Mammalian Sex Determination. Sex Dev. 2021;15(5-6):317-334.</a:t>
            </a:r>
          </a:p>
          <a:p xmlns:a="http://schemas.openxmlformats.org/drawingml/2006/main">
            <a:r>
              <a:t>https://doi.org/10.1159/000519244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la vía testicular típica, SRY favorece la activación de SOX9 en las células somáticas precursoras. SOX9 sostiene la diferenciación de las células de Sertoli y contribuye a organizar el testículo. En la vía ovárica, WNT4, RSPO1 y beta-catenina favorecen el desarrollo ovárico, mientras FOXL2 participa en la identidad de las células de la granulosa y en su mantenimiento. Ambas vías incluyen regulación positiva y antagonismo entre redes. La formación del ovario es un proceso activo. El esquema simplifica una red más amplia y no representa todos los genes ni todos los tiempos de expresión.</a:t>
            </a:r>
          </a:p>
          <a:p xmlns:a="http://schemas.openxmlformats.org/drawingml/2006/main">
            <a:r>
              <a:t/>
            </a:r>
          </a:p>
          <a:p xmlns:a="http://schemas.openxmlformats.org/drawingml/2006/main">
            <a:r>
              <a:t>Fuentes consultadas:</a:t>
            </a:r>
          </a:p>
          <a:p xmlns:a="http://schemas.openxmlformats.org/drawingml/2006/main">
            <a:r>
              <a:t>[2] Ridnik M, Schoenfelder S, Gonen N. Cis-Regulatory Control of Mammalian Sex Determination. Sex Dev. 2021;15(5-6):317-334.</a:t>
            </a:r>
          </a:p>
          <a:p xmlns:a="http://schemas.openxmlformats.org/drawingml/2006/main">
            <a:r>
              <a:t>https://doi.org/10.1159/000519244</a:t>
            </a:r>
          </a:p>
          <a:p xmlns:a="http://schemas.openxmlformats.org/drawingml/2006/main">
            <a:r>
              <a:t/>
            </a:r>
          </a:p>
          <a:p xmlns:a="http://schemas.openxmlformats.org/drawingml/2006/main">
            <a:r>
              <a:t>[8] Nicol B, Estermann MA, Yao HHC, Mellouk N. Becoming female: Ovarian differentiation from an evolutionary perspective. Front Cell Dev Biol. 2022;10:944776.</a:t>
            </a:r>
          </a:p>
          <a:p xmlns:a="http://schemas.openxmlformats.org/drawingml/2006/main">
            <a:r>
              <a:t>https://doi.org/10.3389/fcell.2022.944776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diferenciación testicular inicia señales diferentes. Las células de Sertoli producen hormona antimülleriana, AMH, que induce la regresión de los conductos de Müller. Las células de Leydig producen testosterona, que favorece el desarrollo de los conductos de Wolff hacia estructuras reproductivas masculinas internas. En los tejidos diana, la enzima 5 alfa reductasa transforma parte de la testosterona en dihidrotestosterona o DHT, relevante para la masculinización de genitales externos y próstata. Son funciones diferentes. La hormona debe producirse y el tejido debe disponer de la enzima y del receptor adecuados.</a:t>
            </a:r>
          </a:p>
          <a:p xmlns:a="http://schemas.openxmlformats.org/drawingml/2006/main">
            <a:r>
              <a:t/>
            </a:r>
          </a:p>
          <a:p xmlns:a="http://schemas.openxmlformats.org/drawingml/2006/main">
            <a:r>
              <a:t>Fuentes consultadas:</a:t>
            </a:r>
          </a:p>
          <a:p xmlns:a="http://schemas.openxmlformats.org/drawingml/2006/main">
            <a:r>
              <a:t>[1] Díaz-Hernández V, Marquez Y, Merchant-Larios H. Desarrollo embrionario y diferenciación sexual. En: Reproducción de los animales domésticos [Internet]. México: Universidad Nacional Autónoma de México; 2021 [citado 17 oct 2026].</a:t>
            </a:r>
          </a:p>
          <a:p xmlns:a="http://schemas.openxmlformats.org/drawingml/2006/main">
            <a:r>
              <a:t>https://reproduccionanimalesdomesticos.fmvz.unam.mx/libro/capitulo1/diferenciacion-conductos-sexuales.html</a:t>
            </a:r>
          </a:p>
          <a:p xmlns:a="http://schemas.openxmlformats.org/drawingml/2006/main">
            <a:r>
              <a:t/>
            </a:r>
          </a:p>
          <a:p xmlns:a="http://schemas.openxmlformats.org/drawingml/2006/main">
            <a:r>
              <a:t>[1] Díaz-Hernández V, Marquez Y, Merchant-Larios H. Desarrollo embrionario y diferenciación sexual. En: Reproducción de los animales domésticos [Internet]. México: Universidad Nacional Autónoma de México; 2021 [citado 17 oct 2026].</a:t>
            </a:r>
          </a:p>
          <a:p xmlns:a="http://schemas.openxmlformats.org/drawingml/2006/main">
            <a:r>
              <a:t>https://reproduccionanimalesdomesticos.fmvz.unam.mx/libro/capitulo1/diferenciacion-genitales-externos.html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el embrión temprano existen conductos mesonéfricos o de Wolff y paramesonéfricos o de Müller. Con señal androgénica adecuada, los de Wolff forman epidídimo, conducto deferente y glándulas vesiculares donde estas existen en la especie. Con AMH, los de Müller regresan. En ausencia de AMH, los conductos de Müller persisten y contribuyen a oviductos, útero y porción craneal de la vagina. Sin suficiente estímulo androgénico, los de Wolff regresan. La anatomía y los derivados concretos presentan variaciones entre especies. La vía ovárica sigue requiriendo regulación activa para la gónada.</a:t>
            </a:r>
          </a:p>
          <a:p xmlns:a="http://schemas.openxmlformats.org/drawingml/2006/main">
            <a:r>
              <a:t/>
            </a:r>
          </a:p>
          <a:p xmlns:a="http://schemas.openxmlformats.org/drawingml/2006/main">
            <a:r>
              <a:t>Fuentes consultadas:</a:t>
            </a:r>
          </a:p>
          <a:p xmlns:a="http://schemas.openxmlformats.org/drawingml/2006/main">
            <a:r>
              <a:t>[1] Díaz-Hernández V, Marquez Y, Merchant-Larios H. Desarrollo embrionario y diferenciación sexual. En: Reproducción de los animales domésticos [Internet]. México: Universidad Nacional Autónoma de México; 2021 [citado 17 oct 2026].</a:t>
            </a:r>
          </a:p>
          <a:p xmlns:a="http://schemas.openxmlformats.org/drawingml/2006/main">
            <a:r>
              <a:t>https://reproduccionanimalesdomesticos.fmvz.unam.mx/libro/capitulo1/diferenciacion-conductos-sexuales.html</a:t>
            </a:r>
          </a:p>
          <a:p xmlns:a="http://schemas.openxmlformats.org/drawingml/2006/main">
            <a:r>
              <a:t/>
            </a:r>
          </a:p>
          <a:p xmlns:a="http://schemas.openxmlformats.org/drawingml/2006/main">
            <a:r>
              <a:t>[1] Díaz-Hernández V, Marquez Y, Merchant-Larios H. Desarrollo embrionario y diferenciación sexual. En: Reproducción de los animales domésticos [Internet]. México: Universidad Nacional Autónoma de México; 2021 [citado 17 oct 2026].</a:t>
            </a:r>
          </a:p>
          <a:p xmlns:a="http://schemas.openxmlformats.org/drawingml/2006/main">
            <a:r>
              <a:t>https://reproduccionanimalesdomesticos.fmvz.unam.mx/libro/capitulo1/diferenciacion-genitales-externos.html</a:t>
            </a:r>
          </a:p>
          <a:p xmlns:a="http://schemas.openxmlformats.org/drawingml/2006/main">
            <a:br/>
            <a:br/>
            <a:r>
              <a:t>Imagen: Díaz-Hernández V, Marquez Y, Merchant-Larios H. UNAM, 2021. Figura 4. Licencia CC BY-NC-SA. Reproducida sin modificaciones, únicamente escalada de forma proporcional. https://reproduccionanimalesdomesticos.fmvz.unam.mx/libro/capitulo1/diferenciacion-conductos-sexuales.html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Los experimentos de reducción y edición de DMRT1 en pollo apoyan que su dosis es esencial para iniciar el desarrollo testicular. Los individuos ZZ poseen dos copias del gen localizado en el Z. La reducción de DMRT1 en embriones ZZ puede orientar el desarrollo hacia ovarios. Este resultado no permite afirmar que DMRT1 actúe solo. La aromatasa y los estrógenos tienen funciones relevantes en la diferenciación ovárica aviar. La evidencia debe atribuirse al modelo estudiado, especialmente el pollo, evitando extrapolar cada detalle molecular a todas las aves.</a:t>
            </a:r>
          </a:p>
          <a:p xmlns:a="http://schemas.openxmlformats.org/drawingml/2006/main">
            <a:r>
              <a:t/>
            </a:r>
          </a:p>
          <a:p xmlns:a="http://schemas.openxmlformats.org/drawingml/2006/main">
            <a:r>
              <a:t>Fuentes consultadas:</a:t>
            </a:r>
          </a:p>
          <a:p xmlns:a="http://schemas.openxmlformats.org/drawingml/2006/main">
            <a:r>
              <a:t>[3] Ioannidis J, Taylor G, Zhao D, Liu L, Idoko-Akoh A, Gong D, et al. Primary sex determination in birds depends on DMRT1 dosage, but gonadal sex does not determine adult secondary sex characteristics. Proc Natl Acad Sci U S A. 2021;118(10):e2020909118.</a:t>
            </a:r>
          </a:p>
          <a:p xmlns:a="http://schemas.openxmlformats.org/drawingml/2006/main">
            <a:r>
              <a:t>https://doi.org/10.1073/pnas.2020909118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el sistema X0, el símbolo cero indica ausencia de un segundo cromosoma sexual. En varios insectos, las hembras XX producen gametos con X y los machos X0 producen gametos con X o sin cromosoma sexual. La haplodiploidía es otro mecanismo. En muchos himenópteros, los machos se desarrollan de huevos no fecundados y son haploides, mientras las hembras suelen ser diploides. En abejas con determinación sexual complementaria, el genotipo del locus csd importa: la homocigosis puede producir machos diploides. Por eso la frase todos los diploides son hembras sería incorrecta.</a:t>
            </a:r>
          </a:p>
          <a:p xmlns:a="http://schemas.openxmlformats.org/drawingml/2006/main">
            <a:r>
              <a:t/>
            </a:r>
          </a:p>
          <a:p xmlns:a="http://schemas.openxmlformats.org/drawingml/2006/main">
            <a:r>
              <a:t>Fuentes consultadas:</a:t>
            </a:r>
          </a:p>
          <a:p xmlns:a="http://schemas.openxmlformats.org/drawingml/2006/main">
            <a:r>
              <a:t>[5] Xie X, Zhang Y, Peng H, Deng Z. Sex Chromosome Dosage Compensation in Insects. Insects. 2025;16(2):160.</a:t>
            </a:r>
          </a:p>
          <a:p xmlns:a="http://schemas.openxmlformats.org/drawingml/2006/main">
            <a:r>
              <a:t>https://doi.org/10.3390/insects16020160</a:t>
            </a:r>
          </a:p>
          <a:p xmlns:a="http://schemas.openxmlformats.org/drawingml/2006/main">
            <a:r>
              <a:t/>
            </a:r>
          </a:p>
          <a:p xmlns:a="http://schemas.openxmlformats.org/drawingml/2006/main">
            <a:r>
              <a:t>[6] Seiler J, Beye M. Honeybees’ novel complementary sex-determining system: function and origin. Trends Genet. 2024;40(11):969-981.</a:t>
            </a:r>
          </a:p>
          <a:p xmlns:a="http://schemas.openxmlformats.org/drawingml/2006/main">
            <a:r>
              <a:t>https://doi.org/10.1016/j.tig.2024.08.001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especies con determinación sexual dependiente de la temperatura, la temperatura de incubación durante el período termosensible influye en la vía gonadal. No existe una temperatura universal para reptiles ni un patrón único de machos y hembras. Algunas especies de tortugas producen más hembras a temperaturas altas, mientras otros patrones generan hembras en los extremos y machos en temperaturas intermedias. Tampoco todos los reptiles tienen este sistema: muchas especies poseen determinación genética. En conservación y manejo de incubadoras, la especie y el régimen térmico completo son determinantes.</a:t>
            </a:r>
          </a:p>
          <a:p xmlns:a="http://schemas.openxmlformats.org/drawingml/2006/main">
            <a:r>
              <a:t/>
            </a:r>
          </a:p>
          <a:p xmlns:a="http://schemas.openxmlformats.org/drawingml/2006/main">
            <a:r>
              <a:t>Fuentes consultadas:</a:t>
            </a:r>
          </a:p>
          <a:p xmlns:a="http://schemas.openxmlformats.org/drawingml/2006/main">
            <a:r>
              <a:t>[7] Akashi H, Hasui D, Ueda K, Ishikawa M, Takeda M, Miyagawa S. Understanding the role of environmental temperature on sex determination through comparative studies in reptiles and amphibians. J Exp Zool A Ecol Integr Physiol. 2024;341(1):48-59.</a:t>
            </a:r>
          </a:p>
          <a:p xmlns:a="http://schemas.openxmlformats.org/drawingml/2006/main">
            <a:r>
              <a:t>https://doi.org/10.1002/jez.2760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Los peces muestran sistemas XX/XY, ZZ/ZW y mecanismos poligénicos, además de influencias ambientales cuya importancia depende de la especie. En algunas especies, la temperatura modifica la diferenciación sexual durante etapas tempranas. En especies con hermafroditismo secuencial, el cambio de sexo ocurre después de la madurez y puede responder al contexto social. Protoginia significa que el individuo funciona primero como hembra y después como macho. Protandria corresponde al orden inverso. Estos procesos no deben confundirse con el mecanismo inicial de determinación gonadal ni extrapolarse a todas las especies de peces.</a:t>
            </a:r>
          </a:p>
          <a:p xmlns:a="http://schemas.openxmlformats.org/drawingml/2006/main">
            <a:r>
              <a:t/>
            </a:r>
          </a:p>
          <a:p xmlns:a="http://schemas.openxmlformats.org/drawingml/2006/main">
            <a:r>
              <a:t>Fuentes consultadas:</a:t>
            </a:r>
          </a:p>
          <a:p xmlns:a="http://schemas.openxmlformats.org/drawingml/2006/main">
            <a:r>
              <a:t>[4] Kitano J, Ansai S, Takehana Y, Yamamoto Y. Diversity and Convergence of Sex-Determination Mechanisms in Teleost Fish. Annu Rev Anim Biosci. 2024;12:233-259.</a:t>
            </a:r>
          </a:p>
          <a:p xmlns:a="http://schemas.openxmlformats.org/drawingml/2006/main">
            <a:r>
              <a:t>https://doi.org/10.1146/annurev-animal-021122-113935</a:t>
            </a:r>
          </a:p>
          <a:p xmlns:a="http://schemas.openxmlformats.org/drawingml/2006/main">
            <a:r>
              <a:t/>
            </a:r>
          </a:p>
          <a:p xmlns:a="http://schemas.openxmlformats.org/drawingml/2006/main">
            <a:r>
              <a:t>[9] Casas L, Saborido-Rey F. Environmental Cues and Mechanisms Underpinning Sex Change in Fish. Sex Dev. 2021;15(1-3):108-121.</a:t>
            </a:r>
          </a:p>
          <a:p xmlns:a="http://schemas.openxmlformats.org/drawingml/2006/main">
            <a:r>
              <a:t>https://doi.org/10.1159/000515274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freemartinismo ocurre habitualmente en una hembra bovina que comparte gestación con un macho y desarrolla comunicaciones vasculares placentarias. Estas conexiones permiten el intercambio de células y señales entre los fetos durante el desarrollo. La hembra puede presentar quimerismo hematopoyético XX/XY y alteraciones del aparato reproductor que suelen acompañarse de infertilidad. No toda hembra nacida con un macho debe diagnosticarse solamente por el antecedente. La evaluación integra anatomía, exploración reproductiva y pruebas de quimerismo o marcadores del cromosoma Y. El ejemplo relaciona determinación cromosómica, exposición fetal y diferenciación.</a:t>
            </a:r>
          </a:p>
          <a:p xmlns:a="http://schemas.openxmlformats.org/drawingml/2006/main">
            <a:r>
              <a:t/>
            </a:r>
          </a:p>
          <a:p xmlns:a="http://schemas.openxmlformats.org/drawingml/2006/main">
            <a:r>
              <a:t>Fuentes consultadas:</a:t>
            </a:r>
          </a:p>
          <a:p xmlns:a="http://schemas.openxmlformats.org/drawingml/2006/main">
            <a:r>
              <a:t>[10] Padula AM. The freemartin syndrome: an update. Anim Reprod Sci. 2005;87(1-2):93-109.</a:t>
            </a:r>
          </a:p>
          <a:p xmlns:a="http://schemas.openxmlformats.org/drawingml/2006/main">
            <a:r>
              <a:t>https://doi.org/10.1016/j.anireprosci.2004.09.008</a:t>
            </a:r>
          </a:p>
          <a:p xmlns:a="http://schemas.openxmlformats.org/drawingml/2006/main">
            <a:br/>
            <a:br/>
            <a:r>
              <a:t>Imagen: Díaz-Hernández V, Marquez Y, Merchant-Larios H. UNAM, 2021. Figura 5. Licencia CC BY-NC-SA. Reproducida sin modificaciones, únicamente escalada de forma proporcional. https://reproduccionanimalesdomesticos.fmvz.unam.mx/libro/capitulo1/diferenciacion-conductos-sexuales.html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 diferencias del desarrollo sexual abarcan alteraciones cromosómicas, gonadales o anatómicas. Por ejemplo, una alteración en la síntesis de andrógenos o en su receptor puede modificar la masculinización aunque exista tejido testicular. También pueden ocurrir variaciones en genes reguladores de la gónada. La evaluación comienza con historia clínica y examen físico. Según el caso, se complementa con ecografía, cariotipo, pruebas moleculares, determinaciones hormonales e histología. La apariencia externa aislada no permite establecer el mecanismo. La clasificación y la terminología se deben adaptar a la especie y al diagnóstico documentado.</a:t>
            </a:r>
          </a:p>
          <a:p xmlns:a="http://schemas.openxmlformats.org/drawingml/2006/main">
            <a:r>
              <a:t/>
            </a:r>
          </a:p>
          <a:p xmlns:a="http://schemas.openxmlformats.org/drawingml/2006/main">
            <a:r>
              <a:t>Fuentes consultadas:</a:t>
            </a:r>
          </a:p>
          <a:p xmlns:a="http://schemas.openxmlformats.org/drawingml/2006/main">
            <a:r>
              <a:t>[2] Ridnik M, Schoenfelder S, Gonen N. Cis-Regulatory Control of Mammalian Sex Determination. Sex Dev. 2021;15(5-6):317-334.</a:t>
            </a:r>
          </a:p>
          <a:p xmlns:a="http://schemas.openxmlformats.org/drawingml/2006/main">
            <a:r>
              <a:t>https://doi.org/10.1159/000519244</a:t>
            </a:r>
          </a:p>
          <a:p xmlns:a="http://schemas.openxmlformats.org/drawingml/2006/main">
            <a:r>
              <a:t/>
            </a:r>
          </a:p>
          <a:p xmlns:a="http://schemas.openxmlformats.org/drawingml/2006/main">
            <a:r>
              <a:t>[11] Nowacka-Woszuk J, Szczerbal I, Stachowiak M, Szydlowski M, Nizanski W, Dzimira S, et al. Association between polymorphisms in the SOX9 region and canine disorder of sex development (78,XX; SRY-negative) revisited in a multibreed case-control study. PLoS One. 2019;14(6):e0218565.</a:t>
            </a:r>
          </a:p>
          <a:p xmlns:a="http://schemas.openxmlformats.org/drawingml/2006/main">
            <a:r>
              <a:t>https://doi.org/10.1371/journal.pone.0218565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conocimiento de la determinación sexual ayuda a interpretar la reproducción y la infertilidad. En bovinos, el antecedente de gemelos de distinto sexo orienta la evaluación de freemartinismo y la selección de hembras de reemplazo. En acuicultura y conservación, el manejo de temperatura o grupos reproductivos exige conocer el sistema específico. Una misma intervención puede tener resultados diferentes según la especie y la etapa del desarrollo. El diagnóstico de diferencias del desarrollo sexual integra antecedentes, anatomía, hormonas y genética. Estas aplicaciones requieren valorar la fertilidad, el bienestar y la diversidad genética.</a:t>
            </a:r>
          </a:p>
          <a:p xmlns:a="http://schemas.openxmlformats.org/drawingml/2006/main">
            <a:r>
              <a:t/>
            </a:r>
          </a:p>
          <a:p xmlns:a="http://schemas.openxmlformats.org/drawingml/2006/main">
            <a:r>
              <a:t>Fuentes consultadas:</a:t>
            </a:r>
          </a:p>
          <a:p xmlns:a="http://schemas.openxmlformats.org/drawingml/2006/main">
            <a:r>
              <a:t>[10] Padula AM. The freemartin syndrome: an update. Anim Reprod Sci. 2005;87(1-2):93-109.</a:t>
            </a:r>
          </a:p>
          <a:p xmlns:a="http://schemas.openxmlformats.org/drawingml/2006/main">
            <a:r>
              <a:t>https://doi.org/10.1016/j.anireprosci.2004.09.008</a:t>
            </a:r>
          </a:p>
          <a:p xmlns:a="http://schemas.openxmlformats.org/drawingml/2006/main">
            <a:r>
              <a:t/>
            </a:r>
          </a:p>
          <a:p xmlns:a="http://schemas.openxmlformats.org/drawingml/2006/main">
            <a:r>
              <a:t>[4] Kitano J, Ansai S, Takehana Y, Yamamoto Y. Diversity and Convergence of Sex-Determination Mechanisms in Teleost Fish. Annu Rev Anim Biosci. 2024;12:233-259.</a:t>
            </a:r>
          </a:p>
          <a:p xmlns:a="http://schemas.openxmlformats.org/drawingml/2006/main">
            <a:r>
              <a:t>https://doi.org/10.1146/annurev-animal-021122-113935</a:t>
            </a:r>
          </a:p>
          <a:p xmlns:a="http://schemas.openxmlformats.org/drawingml/2006/main">
            <a:r>
              <a:t/>
            </a:r>
          </a:p>
          <a:p xmlns:a="http://schemas.openxmlformats.org/drawingml/2006/main">
            <a:r>
              <a:t>[7] Akashi H, Hasui D, Ueda K, Ishikawa M, Takeda M, Miyagawa S. Understanding the role of environmental temperature on sex determination through comparative studies in reptiles and amphibians. J Exp Zool A Ecol Integr Physiol. 2024;341(1):48-59.</a:t>
            </a:r>
          </a:p>
          <a:p xmlns:a="http://schemas.openxmlformats.org/drawingml/2006/main">
            <a:r>
              <a:t>https://doi.org/10.1002/jez.2760</a:t>
            </a:r>
          </a:p>
          <a:p xmlns:a="http://schemas.openxmlformats.org/drawingml/2006/main">
            <a:r>
              <a:t/>
            </a:r>
          </a:p>
          <a:p xmlns:a="http://schemas.openxmlformats.org/drawingml/2006/main">
            <a:r>
              <a:t>[11] Nowacka-Woszuk J, Szczerbal I, Stachowiak M, Szydlowski M, Nizanski W, Dzimira S, et al. Association between polymorphisms in the SOX9 region and canine disorder of sex development (78,XX; SRY-negative) revisited in a multibreed case-control study. PLoS One. 2019;14(6):e0218565.</a:t>
            </a:r>
          </a:p>
          <a:p xmlns:a="http://schemas.openxmlformats.org/drawingml/2006/main">
            <a:r>
              <a:t>https://doi.org/10.1371/journal.pone.0218565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primera conclusión es que determinación y diferenciación describen etapas relacionadas pero diferentes. La segunda es que los animales presentan sistemas diversos, por lo que el modelo XX/XY no explica todos los casos. En los mamíferos, el desarrollo de la gónada depende de redes génicas activas y la diferenciación de conductos y genitales depende de señales y de la respuesta tisular. En aves, insectos, reptiles y peces operan otros mecanismos. Finalmente, estos conceptos tienen aplicaciones directas en reproducción, diagnóstico, manejo productivo y conservación. Para interpretar un caso siempre se debe comenzar por la especie.</a:t>
            </a:r>
          </a:p>
          <a:p xmlns:a="http://schemas.openxmlformats.org/drawingml/2006/main">
            <a:r>
              <a:t/>
            </a:r>
          </a:p>
          <a:p xmlns:a="http://schemas.openxmlformats.org/drawingml/2006/main">
            <a:r>
              <a:t>Fuentes consultadas:</a:t>
            </a:r>
          </a:p>
          <a:p xmlns:a="http://schemas.openxmlformats.org/drawingml/2006/main">
            <a:r>
              <a:t>[1] Díaz-Hernández V, Marquez Y, Merchant-Larios H. Desarrollo embrionario y diferenciación sexual. En: Reproducción de los animales domésticos [Internet]. México: Universidad Nacional Autónoma de México; 2021 [citado 17 oct 2026].</a:t>
            </a:r>
          </a:p>
          <a:p xmlns:a="http://schemas.openxmlformats.org/drawingml/2006/main">
            <a:r>
              <a:t>https://reproduccionanimalesdomesticos.fmvz.unam.mx/libro/capitulo1/determinacion-sexo-morfologico.html</a:t>
            </a:r>
          </a:p>
          <a:p xmlns:a="http://schemas.openxmlformats.org/drawingml/2006/main">
            <a:r>
              <a:t/>
            </a:r>
          </a:p>
          <a:p xmlns:a="http://schemas.openxmlformats.org/drawingml/2006/main">
            <a:r>
              <a:t>[4] Kitano J, Ansai S, Takehana Y, Yamamoto Y. Diversity and Convergence of Sex-Determination Mechanisms in Teleost Fish. Annu Rev Anim Biosci. 2024;12:233-259.</a:t>
            </a:r>
          </a:p>
          <a:p xmlns:a="http://schemas.openxmlformats.org/drawingml/2006/main">
            <a:r>
              <a:t>https://doi.org/10.1146/annurev-animal-021122-113935</a:t>
            </a:r>
          </a:p>
          <a:p xmlns:a="http://schemas.openxmlformats.org/drawingml/2006/main">
            <a:r>
              <a:t/>
            </a:r>
          </a:p>
          <a:p xmlns:a="http://schemas.openxmlformats.org/drawingml/2006/main">
            <a:r>
              <a:t>[3] Ioannidis J, Taylor G, Zhao D, Liu L, Idoko-Akoh A, Gong D, et al. Primary sex determination in birds depends on DMRT1 dosage, but gonadal sex does not determine adult secondary sex characteristics. Proc Natl Acad Sci U S A. 2021;118(10):e2020909118.</a:t>
            </a:r>
          </a:p>
          <a:p xmlns:a="http://schemas.openxmlformats.org/drawingml/2006/main">
            <a:r>
              <a:t>https://doi.org/10.1073/pnas.2020909118</a:t>
            </a:r>
          </a:p>
          <a:p xmlns:a="http://schemas.openxmlformats.org/drawingml/2006/main">
            <a:r>
              <a:t/>
            </a:r>
          </a:p>
          <a:p xmlns:a="http://schemas.openxmlformats.org/drawingml/2006/main">
            <a:r>
              <a:t>[7] Akashi H, Hasui D, Ueda K, Ishikawa M, Takeda M, Miyagawa S. Understanding the role of environmental temperature on sex determination through comparative studies in reptiles and amphibians. J Exp Zool A Ecol Integr Physiol. 2024;341(1):48-59.</a:t>
            </a:r>
          </a:p>
          <a:p xmlns:a="http://schemas.openxmlformats.org/drawingml/2006/main">
            <a:r>
              <a:t>https://doi.org/10.1002/jez.2760</a:t>
            </a:r>
          </a:p>
          <a:p xmlns:a="http://schemas.openxmlformats.org/drawingml/2006/main">
            <a:r>
              <a:t/>
            </a:r>
          </a:p>
          <a:p xmlns:a="http://schemas.openxmlformats.org/drawingml/2006/main">
            <a:r>
              <a:t>[4] Kitano J, Ansai S, Takehana Y, Yamamoto Y. Diversity and Convergence of Sex-Determination Mechanisms in Teleost Fish. Annu Rev Anim Biosci. 2024;12:233-259.</a:t>
            </a:r>
          </a:p>
          <a:p xmlns:a="http://schemas.openxmlformats.org/drawingml/2006/main">
            <a:r>
              <a:t>https://doi.org/10.1146/annurev-animal-021122-113935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Díaz-Hernández V, Marquez Y, Merchant-Larios H. Desarrollo embrionario y diferenciación sexual. En: Reproducción de los animales domésticos [Internet]. México: Universidad Nacional Autónoma de México; 2021 [citado 17 oct 2026].</a:t>
            </a:r>
          </a:p>
          <a:p xmlns:a="http://schemas.openxmlformats.org/drawingml/2006/main">
            <a:r>
              <a:t>https://reproduccionanimalesdomesticos.fmvz.unam.mx/libro/capitulo1/determinacion-sexo-morfologico.html</a:t>
            </a:r>
          </a:p>
          <a:p xmlns:a="http://schemas.openxmlformats.org/drawingml/2006/main">
            <a:r>
              <a:t/>
            </a:r>
          </a:p>
          <a:p xmlns:a="http://schemas.openxmlformats.org/drawingml/2006/main">
            <a:r>
              <a:t>[2] Ridnik M, Schoenfelder S, Gonen N. Cis-Regulatory Control of Mammalian Sex Determination. Sex Dev. 2021;15(5-6):317-334.</a:t>
            </a:r>
          </a:p>
          <a:p xmlns:a="http://schemas.openxmlformats.org/drawingml/2006/main">
            <a:r>
              <a:t>https://doi.org/10.1159/000519244</a:t>
            </a:r>
          </a:p>
          <a:p xmlns:a="http://schemas.openxmlformats.org/drawingml/2006/main">
            <a:r>
              <a:t/>
            </a:r>
          </a:p>
          <a:p xmlns:a="http://schemas.openxmlformats.org/drawingml/2006/main">
            <a:r>
              <a:t>[3] Ioannidis J, Taylor G, Zhao D, Liu L, Idoko-Akoh A, Gong D, et al. Primary sex determination in birds depends on DMRT1 dosage, but gonadal sex does not determine adult secondary sex characteristics. Proc Natl Acad Sci U S A. 2021;118(10):e2020909118.</a:t>
            </a:r>
          </a:p>
          <a:p xmlns:a="http://schemas.openxmlformats.org/drawingml/2006/main">
            <a:r>
              <a:t>https://doi.org/10.1073/pnas.2020909118</a:t>
            </a:r>
          </a:p>
          <a:p xmlns:a="http://schemas.openxmlformats.org/drawingml/2006/main">
            <a:r>
              <a:t/>
            </a:r>
          </a:p>
          <a:p xmlns:a="http://schemas.openxmlformats.org/drawingml/2006/main">
            <a:r>
              <a:t>[4] Kitano J, Ansai S, Takehana Y, Yamamoto Y. Diversity and Convergence of Sex-Determination Mechanisms in Teleost Fish. Annu Rev Anim Biosci. 2024;12:233-259.</a:t>
            </a:r>
          </a:p>
          <a:p xmlns:a="http://schemas.openxmlformats.org/drawingml/2006/main">
            <a:r>
              <a:t>https://doi.org/10.1146/annurev-animal-021122-113935</a:t>
            </a:r>
          </a:p>
          <a:p xmlns:a="http://schemas.openxmlformats.org/drawingml/2006/main">
            <a:r>
              <a:t/>
            </a:r>
          </a:p>
          <a:p xmlns:a="http://schemas.openxmlformats.org/drawingml/2006/main">
            <a:r>
              <a:t>[5] Xie X, Zhang Y, Peng H, Deng Z. Sex Chromosome Dosage Compensation in Insects. Insects. 2025;16(2):160.</a:t>
            </a:r>
          </a:p>
          <a:p xmlns:a="http://schemas.openxmlformats.org/drawingml/2006/main">
            <a:r>
              <a:t>https://doi.org/10.3390/insects16020160</a:t>
            </a:r>
          </a:p>
          <a:p xmlns:a="http://schemas.openxmlformats.org/drawingml/2006/main">
            <a:r>
              <a:t/>
            </a:r>
          </a:p>
          <a:p xmlns:a="http://schemas.openxmlformats.org/drawingml/2006/main">
            <a:r>
              <a:t>[6] Seiler J, Beye M. Honeybees’ novel complementary sex-determining system: function and origin. Trends Genet. 2024;40(11):969-981.</a:t>
            </a:r>
          </a:p>
          <a:p xmlns:a="http://schemas.openxmlformats.org/drawingml/2006/main">
            <a:r>
              <a:t>https://doi.org/10.1016/j.tig.2024.08.001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 Akashi H, Hasui D, Ueda K, Ishikawa M, Takeda M, Miyagawa S. Understanding the role of environmental temperature on sex determination through comparative studies in reptiles and amphibians. J Exp Zool A Ecol Integr Physiol. 2024;341(1):48-59.</a:t>
            </a:r>
          </a:p>
          <a:p xmlns:a="http://schemas.openxmlformats.org/drawingml/2006/main">
            <a:r>
              <a:t>https://doi.org/10.1002/jez.2760</a:t>
            </a:r>
          </a:p>
          <a:p xmlns:a="http://schemas.openxmlformats.org/drawingml/2006/main">
            <a:r>
              <a:t/>
            </a:r>
          </a:p>
          <a:p xmlns:a="http://schemas.openxmlformats.org/drawingml/2006/main">
            <a:r>
              <a:t>[8] Nicol B, Estermann MA, Yao HHC, Mellouk N. Becoming female: Ovarian differentiation from an evolutionary perspective. Front Cell Dev Biol. 2022;10:944776.</a:t>
            </a:r>
          </a:p>
          <a:p xmlns:a="http://schemas.openxmlformats.org/drawingml/2006/main">
            <a:r>
              <a:t>https://doi.org/10.3389/fcell.2022.944776</a:t>
            </a:r>
          </a:p>
          <a:p xmlns:a="http://schemas.openxmlformats.org/drawingml/2006/main">
            <a:r>
              <a:t/>
            </a:r>
          </a:p>
          <a:p xmlns:a="http://schemas.openxmlformats.org/drawingml/2006/main">
            <a:r>
              <a:t>[9] Casas L, Saborido-Rey F. Environmental Cues and Mechanisms Underpinning Sex Change in Fish. Sex Dev. 2021;15(1-3):108-121.</a:t>
            </a:r>
          </a:p>
          <a:p xmlns:a="http://schemas.openxmlformats.org/drawingml/2006/main">
            <a:r>
              <a:t>https://doi.org/10.1159/000515274</a:t>
            </a:r>
          </a:p>
          <a:p xmlns:a="http://schemas.openxmlformats.org/drawingml/2006/main">
            <a:r>
              <a:t/>
            </a:r>
          </a:p>
          <a:p xmlns:a="http://schemas.openxmlformats.org/drawingml/2006/main">
            <a:r>
              <a:t>[10] Padula AM. The freemartin syndrome: an update. Anim Reprod Sci. 2005;87(1-2):93-109.</a:t>
            </a:r>
          </a:p>
          <a:p xmlns:a="http://schemas.openxmlformats.org/drawingml/2006/main">
            <a:r>
              <a:t>https://doi.org/10.1016/j.anireprosci.2004.09.008</a:t>
            </a:r>
          </a:p>
          <a:p xmlns:a="http://schemas.openxmlformats.org/drawingml/2006/main">
            <a:r>
              <a:t/>
            </a:r>
          </a:p>
          <a:p xmlns:a="http://schemas.openxmlformats.org/drawingml/2006/main">
            <a:r>
              <a:t>[11] Nowacka-Woszuk J, Szczerbal I, Stachowiak M, Szydlowski M, Nizanski W, Dzimira S, et al. Association between polymorphisms in the SOX9 region and canine disorder of sex development (78,XX; SRY-negative) revisited in a multibreed case-control study. PLoS One. 2019;14(6):e0218565.</a:t>
            </a:r>
          </a:p>
          <a:p xmlns:a="http://schemas.openxmlformats.org/drawingml/2006/main">
            <a:r>
              <a:t>https://doi.org/10.1371/journal.pone.0218565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09e10ffb3f14ff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d29a9c7040d406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2910f4a16ab487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d45d6b6d22240f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90f524aed57491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36ad050b964489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F006589-DD9A-4642-B729-49A55F6FFFD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34CDB2F-C93C-49C1-A29C-BAA28D272BE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DFED447-8450-4D3D-ABC8-D43390873C0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7EA511F-BA6C-43CB-A333-C8129E32BF2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8B4F5A6-35F0-4DBC-9CBF-93F8F94EFC6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862E774-CECE-425B-9E4D-7881F9536E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3A0434-ED59-4111-B88B-235C9900C56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148EAAA-3775-4ED6-A942-CDA88331662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EBB7993-EB06-4CFA-B567-3052FC96744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CBEEF87-3293-44BC-B574-5E03C9D889F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09b275418fe43ce" /><Relationship Type="http://schemas.openxmlformats.org/officeDocument/2006/relationships/slideLayout" Target="/ppt/slideLayouts/slideLayout1.xml" Id="R564275c1b4354686" /><Relationship Type="http://schemas.openxmlformats.org/officeDocument/2006/relationships/slideLayout" Target="/ppt/slideLayouts/slideLayout2.xml" Id="R46bc1f2fee7d4a76" /><Relationship Type="http://schemas.openxmlformats.org/officeDocument/2006/relationships/slideLayout" Target="/ppt/slideLayouts/slideLayout3.xml" Id="Rbd9a6a7628524039" /><Relationship Type="http://schemas.openxmlformats.org/officeDocument/2006/relationships/slideLayout" Target="/ppt/slideLayouts/slideLayout4.xml" Id="R6c42947e39434d5f" /><Relationship Type="http://schemas.openxmlformats.org/officeDocument/2006/relationships/slideLayout" Target="/ppt/slideLayouts/slideLayout5.xml" Id="Ra4a3362a30b8475a" /><Relationship Type="http://schemas.openxmlformats.org/officeDocument/2006/relationships/slideLayout" Target="/ppt/slideLayouts/slideLayout6.xml" Id="Rfa1c0c96f6d54ad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4275c1b4354686"/>
    <p:sldLayoutId xmlns:r="http://schemas.openxmlformats.org/officeDocument/2006/relationships" id="2147483650" r:id="R46bc1f2fee7d4a76"/>
    <p:sldLayoutId xmlns:r="http://schemas.openxmlformats.org/officeDocument/2006/relationships" id="2147483651" r:id="Rbd9a6a7628524039"/>
    <p:sldLayoutId xmlns:r="http://schemas.openxmlformats.org/officeDocument/2006/relationships" id="2147483652" r:id="R6c42947e39434d5f"/>
    <p:sldLayoutId xmlns:r="http://schemas.openxmlformats.org/officeDocument/2006/relationships" id="2147483653" r:id="Ra4a3362a30b8475a"/>
    <p:sldLayoutId xmlns:r="http://schemas.openxmlformats.org/officeDocument/2006/relationships" id="2147483654" r:id="Rfa1c0c96f6d54ad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7b48c4f6a2d4ea5" /><Relationship Type="http://schemas.openxmlformats.org/officeDocument/2006/relationships/notesSlide" Target="/ppt/notesSlides/notesSlide1.xml" Id="Reea8b7bfe30e441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3b2f0998560475c" /><Relationship Type="http://schemas.openxmlformats.org/officeDocument/2006/relationships/notesSlide" Target="/ppt/notesSlides/notesSlide2.xml" Id="R3a6c9956ddb5430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d521863a2cb4d0b" /><Relationship Type="http://schemas.openxmlformats.org/officeDocument/2006/relationships/notesSlide" Target="/ppt/notesSlides/notesSlide3.xml" Id="Rdbaf18b7b78e4ec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d68d9f756f24e95" /><Relationship Type="http://schemas.openxmlformats.org/officeDocument/2006/relationships/notesSlide" Target="/ppt/notesSlides/notesSlide4.xml" Id="Red192d2fa821492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8b20c3d76af4b0f" /><Relationship Type="http://schemas.openxmlformats.org/officeDocument/2006/relationships/notesSlide" Target="/ppt/notesSlides/notesSlide5.xml" Id="R06bb385bf06c4e2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761a0e4722043dc" /><Relationship Type="http://schemas.openxmlformats.org/officeDocument/2006/relationships/notesSlide" Target="/ppt/notesSlides/notesSlide6.xml" Id="R7aa4dee41c6a4ec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b390885bd2b4fe8" /><Relationship Type="http://schemas.openxmlformats.org/officeDocument/2006/relationships/notesSlide" Target="/ppt/notesSlides/notesSlide7.xml" Id="R66077bd60c17478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a006595c2ff4661" /><Relationship Type="http://schemas.openxmlformats.org/officeDocument/2006/relationships/notesSlide" Target="/ppt/notesSlides/notesSlide8.xml" Id="R1e48a628b84d4b2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afe538d1b02417b" /><Relationship Type="http://schemas.openxmlformats.org/officeDocument/2006/relationships/notesSlide" Target="/ppt/notesSlides/notesSlide9.xml" Id="R447b79b245d64a8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50dfe03ce2041bf" /><Relationship Type="http://schemas.openxmlformats.org/officeDocument/2006/relationships/image" Target="/ppt/media/image.jpeg" Id="Rbed9124a8ceb4d40" /><Relationship Type="http://schemas.openxmlformats.org/officeDocument/2006/relationships/notesSlide" Target="/ppt/notesSlides/notesSlide10.xml" Id="R0c7b679c209c423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ce45043793d48b6" /><Relationship Type="http://schemas.openxmlformats.org/officeDocument/2006/relationships/notesSlide" Target="/ppt/notesSlides/notesSlide11.xml" Id="R2260e54280744b7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3fd79af318e421b" /><Relationship Type="http://schemas.openxmlformats.org/officeDocument/2006/relationships/notesSlide" Target="/ppt/notesSlides/notesSlide12.xml" Id="Rfec54e6e78214c7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7f130b839294e0a" /><Relationship Type="http://schemas.openxmlformats.org/officeDocument/2006/relationships/notesSlide" Target="/ppt/notesSlides/notesSlide13.xml" Id="R26522d3c015b450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f89c815cf9c4bdd" /><Relationship Type="http://schemas.openxmlformats.org/officeDocument/2006/relationships/notesSlide" Target="/ppt/notesSlides/notesSlide14.xml" Id="R6fcb0c724b4043a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8e0b2b676c944a7" /><Relationship Type="http://schemas.openxmlformats.org/officeDocument/2006/relationships/image" Target="/ppt/media/image2.jpeg" Id="R65ba7f52f15c4777" /><Relationship Type="http://schemas.openxmlformats.org/officeDocument/2006/relationships/notesSlide" Target="/ppt/notesSlides/notesSlide15.xml" Id="Rac8dee2e32e8482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d8ef74052bf40ba" /><Relationship Type="http://schemas.openxmlformats.org/officeDocument/2006/relationships/notesSlide" Target="/ppt/notesSlides/notesSlide16.xml" Id="R6e2d335517fa41d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a1afd27f86f4117" /><Relationship Type="http://schemas.openxmlformats.org/officeDocument/2006/relationships/notesSlide" Target="/ppt/notesSlides/notesSlide17.xml" Id="Rc256fa99aa2d43b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c909139e6a94ab2" /><Relationship Type="http://schemas.openxmlformats.org/officeDocument/2006/relationships/notesSlide" Target="/ppt/notesSlides/notesSlide18.xml" Id="Redd21297e37542b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497e9dbed1f438a" /><Relationship Type="http://schemas.openxmlformats.org/officeDocument/2006/relationships/notesSlide" Target="/ppt/notesSlides/notesSlide19.xml" Id="R16234d8fee94433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df05315547e4049" /><Relationship Type="http://schemas.openxmlformats.org/officeDocument/2006/relationships/notesSlide" Target="/ppt/notesSlides/notesSlide20.xml" Id="Ra6390dd5caa74ea7" /></Relationships>
</file>

<file path=ppt/slides/slide1.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FC46B9A3-EA94-42CC-B232-BEEE0670E71E}"/>
              </a:ext>
            </a:extLst>
          </p:cNvPr>
          <p:cNvSpPr>
            <a:spLocks xmlns:a="http://schemas.openxmlformats.org/drawingml/2006/main" noGrp="1"/>
          </p:cNvSpPr>
          <p:nvPr/>
        </p:nvSpPr>
        <p:spPr>
          <a:xfrm xmlns:a="http://schemas.openxmlformats.org/drawingml/2006/main">
            <a:off x="609600" y="876300"/>
            <a:ext cx="1076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350" b="1">
                <a:solidFill>
                  <a:srgbClr val="183F31"/>
                </a:solidFill>
                <a:latin typeface="Times New Roman"/>
                <a:ea typeface="Times New Roman"/>
                <a:cs typeface="Times New Roman"/>
              </a:defRPr>
            </a:defPPr>
            <a:lvl1pPr algn="l">
              <a:defRPr sz="4350" b="1">
                <a:solidFill>
                  <a:srgbClr val="183F31"/>
                </a:solidFill>
                <a:latin typeface="Times New Roman"/>
                <a:ea typeface="Times New Roman"/>
                <a:cs typeface="Times New Roman"/>
              </a:defRPr>
            </a:lvl1pPr>
            <a:lvl2pPr algn="l">
              <a:defRPr sz="4350" b="1">
                <a:solidFill>
                  <a:srgbClr val="183F31"/>
                </a:solidFill>
                <a:latin typeface="Times New Roman"/>
                <a:ea typeface="Times New Roman"/>
                <a:cs typeface="Times New Roman"/>
              </a:defRPr>
            </a:lvl2pPr>
            <a:lvl3pPr algn="l">
              <a:defRPr sz="4350" b="1">
                <a:solidFill>
                  <a:srgbClr val="183F31"/>
                </a:solidFill>
                <a:latin typeface="Times New Roman"/>
                <a:ea typeface="Times New Roman"/>
                <a:cs typeface="Times New Roman"/>
              </a:defRPr>
            </a:lvl3pPr>
            <a:lvl4pPr algn="l">
              <a:defRPr sz="4350" b="1">
                <a:solidFill>
                  <a:srgbClr val="183F31"/>
                </a:solidFill>
                <a:latin typeface="Times New Roman"/>
                <a:ea typeface="Times New Roman"/>
                <a:cs typeface="Times New Roman"/>
              </a:defRPr>
            </a:lvl4pPr>
            <a:lvl5pPr algn="l">
              <a:defRPr sz="4350" b="1">
                <a:solidFill>
                  <a:srgbClr val="183F31"/>
                </a:solidFill>
                <a:latin typeface="Times New Roman"/>
                <a:ea typeface="Times New Roman"/>
                <a:cs typeface="Times New Roman"/>
              </a:defRPr>
            </a:lvl5pPr>
            <a:lvl6pPr algn="l">
              <a:defRPr sz="4350" b="1">
                <a:solidFill>
                  <a:srgbClr val="183F31"/>
                </a:solidFill>
                <a:latin typeface="Times New Roman"/>
                <a:ea typeface="Times New Roman"/>
                <a:cs typeface="Times New Roman"/>
              </a:defRPr>
            </a:lvl6pPr>
            <a:lvl7pPr algn="l">
              <a:defRPr sz="4350" b="1">
                <a:solidFill>
                  <a:srgbClr val="183F31"/>
                </a:solidFill>
                <a:latin typeface="Times New Roman"/>
                <a:ea typeface="Times New Roman"/>
                <a:cs typeface="Times New Roman"/>
              </a:defRPr>
            </a:lvl7pPr>
            <a:lvl8pPr algn="l">
              <a:defRPr sz="4350" b="1">
                <a:solidFill>
                  <a:srgbClr val="183F31"/>
                </a:solidFill>
                <a:latin typeface="Times New Roman"/>
                <a:ea typeface="Times New Roman"/>
                <a:cs typeface="Times New Roman"/>
              </a:defRPr>
            </a:lvl8pPr>
            <a:lvl9pPr algn="l">
              <a:defRPr sz="4350" b="1">
                <a:solidFill>
                  <a:srgbClr val="183F31"/>
                </a:solidFill>
                <a:latin typeface="Times New Roman"/>
                <a:ea typeface="Times New Roman"/>
                <a:cs typeface="Times New Roman"/>
              </a:defRPr>
            </a:lvl9pPr>
          </a:lstStyle>
          <a:p xmlns:a="http://schemas.openxmlformats.org/drawingml/2006/main">
            <a:pPr algn="l">
              <a:defRPr sz="4350" b="1">
                <a:solidFill>
                  <a:srgbClr val="183F31"/>
                </a:solidFill>
                <a:latin typeface="Times New Roman"/>
                <a:ea typeface="Times New Roman"/>
                <a:cs typeface="Times New Roman"/>
              </a:defRPr>
            </a:pPr>
            <a:r>
              <a:rPr sz="4350" b="1">
                <a:solidFill>
                  <a:srgbClr val="183F31"/>
                </a:solidFill>
                <a:latin typeface="Times New Roman"/>
                <a:ea typeface="Times New Roman"/>
                <a:cs typeface="Times New Roman"/>
              </a:rPr>
              <a:t>Cromosomas sexuales y</a:t>
            </a:r>
          </a:p>
          <a:p xmlns:a="http://schemas.openxmlformats.org/drawingml/2006/main">
            <a:pPr algn="l">
              <a:defRPr sz="4350" b="1">
                <a:solidFill>
                  <a:srgbClr val="183F31"/>
                </a:solidFill>
                <a:latin typeface="Times New Roman"/>
                <a:ea typeface="Times New Roman"/>
                <a:cs typeface="Times New Roman"/>
              </a:defRPr>
            </a:pPr>
            <a:r>
              <a:rPr sz="4350" b="1">
                <a:solidFill>
                  <a:srgbClr val="183F31"/>
                </a:solidFill>
                <a:latin typeface="Times New Roman"/>
                <a:ea typeface="Times New Roman"/>
                <a:cs typeface="Times New Roman"/>
              </a:rPr>
              <a:t>diferenciación sexual</a:t>
            </a:r>
          </a:p>
        </p:txBody>
      </p:sp>
      <p:sp>
        <p:nvSpPr>
          <p:cNvPr id="2" name="text-1">
            <a:extLst xmlns:a="http://schemas.openxmlformats.org/drawingml/2006/main">
              <a:ext uri="{FF2B5EF4-FFF2-40B4-BE49-F238E27FC236}">
                <a16:creationId xmlns:a16="http://schemas.microsoft.com/office/drawing/2014/main" id="{78CA12C0-A509-4E46-98F8-F704F5266D89}"/>
              </a:ext>
            </a:extLst>
          </p:cNvPr>
          <p:cNvSpPr>
            <a:spLocks xmlns:a="http://schemas.openxmlformats.org/drawingml/2006/main" noGrp="1"/>
          </p:cNvSpPr>
          <p:nvPr/>
        </p:nvSpPr>
        <p:spPr>
          <a:xfrm xmlns:a="http://schemas.openxmlformats.org/drawingml/2006/main">
            <a:off x="638175" y="2667000"/>
            <a:ext cx="10572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a:solidFill>
                  <a:srgbClr val="41745A"/>
                </a:solidFill>
                <a:latin typeface="Times New Roman"/>
                <a:ea typeface="Times New Roman"/>
                <a:cs typeface="Times New Roman"/>
              </a:defRPr>
            </a:defPPr>
            <a:lvl1pPr algn="l">
              <a:defRPr sz="2550">
                <a:solidFill>
                  <a:srgbClr val="41745A"/>
                </a:solidFill>
                <a:latin typeface="Times New Roman"/>
                <a:ea typeface="Times New Roman"/>
                <a:cs typeface="Times New Roman"/>
              </a:defRPr>
            </a:lvl1pPr>
            <a:lvl2pPr algn="l">
              <a:defRPr sz="2550">
                <a:solidFill>
                  <a:srgbClr val="41745A"/>
                </a:solidFill>
                <a:latin typeface="Times New Roman"/>
                <a:ea typeface="Times New Roman"/>
                <a:cs typeface="Times New Roman"/>
              </a:defRPr>
            </a:lvl2pPr>
            <a:lvl3pPr algn="l">
              <a:defRPr sz="2550">
                <a:solidFill>
                  <a:srgbClr val="41745A"/>
                </a:solidFill>
                <a:latin typeface="Times New Roman"/>
                <a:ea typeface="Times New Roman"/>
                <a:cs typeface="Times New Roman"/>
              </a:defRPr>
            </a:lvl3pPr>
            <a:lvl4pPr algn="l">
              <a:defRPr sz="2550">
                <a:solidFill>
                  <a:srgbClr val="41745A"/>
                </a:solidFill>
                <a:latin typeface="Times New Roman"/>
                <a:ea typeface="Times New Roman"/>
                <a:cs typeface="Times New Roman"/>
              </a:defRPr>
            </a:lvl4pPr>
            <a:lvl5pPr algn="l">
              <a:defRPr sz="2550">
                <a:solidFill>
                  <a:srgbClr val="41745A"/>
                </a:solidFill>
                <a:latin typeface="Times New Roman"/>
                <a:ea typeface="Times New Roman"/>
                <a:cs typeface="Times New Roman"/>
              </a:defRPr>
            </a:lvl5pPr>
            <a:lvl6pPr algn="l">
              <a:defRPr sz="2550">
                <a:solidFill>
                  <a:srgbClr val="41745A"/>
                </a:solidFill>
                <a:latin typeface="Times New Roman"/>
                <a:ea typeface="Times New Roman"/>
                <a:cs typeface="Times New Roman"/>
              </a:defRPr>
            </a:lvl6pPr>
            <a:lvl7pPr algn="l">
              <a:defRPr sz="2550">
                <a:solidFill>
                  <a:srgbClr val="41745A"/>
                </a:solidFill>
                <a:latin typeface="Times New Roman"/>
                <a:ea typeface="Times New Roman"/>
                <a:cs typeface="Times New Roman"/>
              </a:defRPr>
            </a:lvl7pPr>
            <a:lvl8pPr algn="l">
              <a:defRPr sz="2550">
                <a:solidFill>
                  <a:srgbClr val="41745A"/>
                </a:solidFill>
                <a:latin typeface="Times New Roman"/>
                <a:ea typeface="Times New Roman"/>
                <a:cs typeface="Times New Roman"/>
              </a:defRPr>
            </a:lvl8pPr>
            <a:lvl9pPr algn="l">
              <a:defRPr sz="2550">
                <a:solidFill>
                  <a:srgbClr val="41745A"/>
                </a:solidFill>
                <a:latin typeface="Times New Roman"/>
                <a:ea typeface="Times New Roman"/>
                <a:cs typeface="Times New Roman"/>
              </a:defRPr>
            </a:lvl9pPr>
          </a:lstStyle>
          <a:p xmlns:a="http://schemas.openxmlformats.org/drawingml/2006/main">
            <a:pPr algn="l">
              <a:defRPr sz="2550">
                <a:solidFill>
                  <a:srgbClr val="41745A"/>
                </a:solidFill>
                <a:latin typeface="Times New Roman"/>
                <a:ea typeface="Times New Roman"/>
                <a:cs typeface="Times New Roman"/>
              </a:defRPr>
            </a:pPr>
            <a:r>
              <a:rPr sz="2550">
                <a:solidFill>
                  <a:srgbClr val="41745A"/>
                </a:solidFill>
                <a:latin typeface="Times New Roman"/>
                <a:ea typeface="Times New Roman"/>
                <a:cs typeface="Times New Roman"/>
              </a:rPr>
              <a:t>Sistemas básicos de determinación sexual en animales</a:t>
            </a:r>
          </a:p>
        </p:txBody>
      </p:sp>
      <p:sp>
        <p:nvSpPr>
          <p:cNvPr id="3" name="">
            <a:extLst xmlns:a="http://schemas.openxmlformats.org/drawingml/2006/main">
              <a:ext uri="{FF2B5EF4-FFF2-40B4-BE49-F238E27FC236}">
                <a16:creationId xmlns:a16="http://schemas.microsoft.com/office/drawing/2014/main" id="{759F2E7A-90D2-4152-BE34-09E8832FF7F8}"/>
              </a:ext>
            </a:extLst>
          </p:cNvPr>
          <p:cNvSpPr>
            <a:spLocks xmlns:a="http://schemas.openxmlformats.org/drawingml/2006/main" noGrp="1"/>
          </p:cNvSpPr>
          <p:nvPr/>
        </p:nvSpPr>
        <p:spPr>
          <a:xfrm xmlns:a="http://schemas.openxmlformats.org/drawingml/2006/main">
            <a:off x="638175" y="3781425"/>
            <a:ext cx="40005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4" name="text-3">
            <a:extLst xmlns:a="http://schemas.openxmlformats.org/drawingml/2006/main">
              <a:ext uri="{FF2B5EF4-FFF2-40B4-BE49-F238E27FC236}">
                <a16:creationId xmlns:a16="http://schemas.microsoft.com/office/drawing/2014/main" id="{223E81B6-96F2-4B84-97E6-D7BCBAA868D6}"/>
              </a:ext>
            </a:extLst>
          </p:cNvPr>
          <p:cNvSpPr>
            <a:spLocks xmlns:a="http://schemas.openxmlformats.org/drawingml/2006/main" noGrp="1"/>
          </p:cNvSpPr>
          <p:nvPr/>
        </p:nvSpPr>
        <p:spPr>
          <a:xfrm xmlns:a="http://schemas.openxmlformats.org/drawingml/2006/main">
            <a:off x="638175" y="40957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202520"/>
                </a:solidFill>
                <a:latin typeface="Times New Roman"/>
                <a:ea typeface="Times New Roman"/>
                <a:cs typeface="Times New Roman"/>
              </a:defRPr>
            </a:defPPr>
            <a:lvl1pPr algn="l">
              <a:defRPr sz="2250" b="1">
                <a:solidFill>
                  <a:srgbClr val="202520"/>
                </a:solidFill>
                <a:latin typeface="Times New Roman"/>
                <a:ea typeface="Times New Roman"/>
                <a:cs typeface="Times New Roman"/>
              </a:defRPr>
            </a:lvl1pPr>
            <a:lvl2pPr algn="l">
              <a:defRPr sz="2250" b="1">
                <a:solidFill>
                  <a:srgbClr val="202520"/>
                </a:solidFill>
                <a:latin typeface="Times New Roman"/>
                <a:ea typeface="Times New Roman"/>
                <a:cs typeface="Times New Roman"/>
              </a:defRPr>
            </a:lvl2pPr>
            <a:lvl3pPr algn="l">
              <a:defRPr sz="2250" b="1">
                <a:solidFill>
                  <a:srgbClr val="202520"/>
                </a:solidFill>
                <a:latin typeface="Times New Roman"/>
                <a:ea typeface="Times New Roman"/>
                <a:cs typeface="Times New Roman"/>
              </a:defRPr>
            </a:lvl3pPr>
            <a:lvl4pPr algn="l">
              <a:defRPr sz="2250" b="1">
                <a:solidFill>
                  <a:srgbClr val="202520"/>
                </a:solidFill>
                <a:latin typeface="Times New Roman"/>
                <a:ea typeface="Times New Roman"/>
                <a:cs typeface="Times New Roman"/>
              </a:defRPr>
            </a:lvl4pPr>
            <a:lvl5pPr algn="l">
              <a:defRPr sz="2250" b="1">
                <a:solidFill>
                  <a:srgbClr val="202520"/>
                </a:solidFill>
                <a:latin typeface="Times New Roman"/>
                <a:ea typeface="Times New Roman"/>
                <a:cs typeface="Times New Roman"/>
              </a:defRPr>
            </a:lvl5pPr>
            <a:lvl6pPr algn="l">
              <a:defRPr sz="2250" b="1">
                <a:solidFill>
                  <a:srgbClr val="202520"/>
                </a:solidFill>
                <a:latin typeface="Times New Roman"/>
                <a:ea typeface="Times New Roman"/>
                <a:cs typeface="Times New Roman"/>
              </a:defRPr>
            </a:lvl6pPr>
            <a:lvl7pPr algn="l">
              <a:defRPr sz="2250" b="1">
                <a:solidFill>
                  <a:srgbClr val="202520"/>
                </a:solidFill>
                <a:latin typeface="Times New Roman"/>
                <a:ea typeface="Times New Roman"/>
                <a:cs typeface="Times New Roman"/>
              </a:defRPr>
            </a:lvl7pPr>
            <a:lvl8pPr algn="l">
              <a:defRPr sz="2250" b="1">
                <a:solidFill>
                  <a:srgbClr val="202520"/>
                </a:solidFill>
                <a:latin typeface="Times New Roman"/>
                <a:ea typeface="Times New Roman"/>
                <a:cs typeface="Times New Roman"/>
              </a:defRPr>
            </a:lvl8pPr>
            <a:lvl9pPr algn="l">
              <a:defRPr sz="2250" b="1">
                <a:solidFill>
                  <a:srgbClr val="202520"/>
                </a:solidFill>
                <a:latin typeface="Times New Roman"/>
                <a:ea typeface="Times New Roman"/>
                <a:cs typeface="Times New Roman"/>
              </a:defRPr>
            </a:lvl9pPr>
          </a:lstStyle>
          <a:p xmlns:a="http://schemas.openxmlformats.org/drawingml/2006/main">
            <a:pPr algn="l">
              <a:defRPr sz="2250" b="1">
                <a:solidFill>
                  <a:srgbClr val="202520"/>
                </a:solidFill>
                <a:latin typeface="Times New Roman"/>
                <a:ea typeface="Times New Roman"/>
                <a:cs typeface="Times New Roman"/>
              </a:defRPr>
            </a:pPr>
            <a:r>
              <a:rPr sz="2250" b="1">
                <a:solidFill>
                  <a:srgbClr val="202520"/>
                </a:solidFill>
                <a:latin typeface="Times New Roman"/>
                <a:ea typeface="Times New Roman"/>
                <a:cs typeface="Times New Roman"/>
              </a:rPr>
              <a:t>Juan José Bajaña Chuno</a:t>
            </a:r>
          </a:p>
        </p:txBody>
      </p:sp>
      <p:sp>
        <p:nvSpPr>
          <p:cNvPr id="5" name="text-4">
            <a:extLst xmlns:a="http://schemas.openxmlformats.org/drawingml/2006/main">
              <a:ext uri="{FF2B5EF4-FFF2-40B4-BE49-F238E27FC236}">
                <a16:creationId xmlns:a16="http://schemas.microsoft.com/office/drawing/2014/main" id="{E0B233D4-6338-4D12-B1D2-21BC7DBE1208}"/>
              </a:ext>
            </a:extLst>
          </p:cNvPr>
          <p:cNvSpPr>
            <a:spLocks xmlns:a="http://schemas.openxmlformats.org/drawingml/2006/main" noGrp="1"/>
          </p:cNvSpPr>
          <p:nvPr/>
        </p:nvSpPr>
        <p:spPr>
          <a:xfrm xmlns:a="http://schemas.openxmlformats.org/drawingml/2006/main">
            <a:off x="638175" y="4648200"/>
            <a:ext cx="10477500" cy="1209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a:solidFill>
                  <a:srgbClr val="41745A"/>
                </a:solidFill>
                <a:latin typeface="Times New Roman"/>
                <a:ea typeface="Times New Roman"/>
                <a:cs typeface="Times New Roman"/>
              </a:defRPr>
            </a:defPPr>
            <a:lvl1pPr algn="l">
              <a:defRPr sz="1950">
                <a:solidFill>
                  <a:srgbClr val="41745A"/>
                </a:solidFill>
                <a:latin typeface="Times New Roman"/>
                <a:ea typeface="Times New Roman"/>
                <a:cs typeface="Times New Roman"/>
              </a:defRPr>
            </a:lvl1pPr>
            <a:lvl2pPr algn="l">
              <a:defRPr sz="1950">
                <a:solidFill>
                  <a:srgbClr val="41745A"/>
                </a:solidFill>
                <a:latin typeface="Times New Roman"/>
                <a:ea typeface="Times New Roman"/>
                <a:cs typeface="Times New Roman"/>
              </a:defRPr>
            </a:lvl2pPr>
            <a:lvl3pPr algn="l">
              <a:defRPr sz="1950">
                <a:solidFill>
                  <a:srgbClr val="41745A"/>
                </a:solidFill>
                <a:latin typeface="Times New Roman"/>
                <a:ea typeface="Times New Roman"/>
                <a:cs typeface="Times New Roman"/>
              </a:defRPr>
            </a:lvl3pPr>
            <a:lvl4pPr algn="l">
              <a:defRPr sz="1950">
                <a:solidFill>
                  <a:srgbClr val="41745A"/>
                </a:solidFill>
                <a:latin typeface="Times New Roman"/>
                <a:ea typeface="Times New Roman"/>
                <a:cs typeface="Times New Roman"/>
              </a:defRPr>
            </a:lvl4pPr>
            <a:lvl5pPr algn="l">
              <a:defRPr sz="1950">
                <a:solidFill>
                  <a:srgbClr val="41745A"/>
                </a:solidFill>
                <a:latin typeface="Times New Roman"/>
                <a:ea typeface="Times New Roman"/>
                <a:cs typeface="Times New Roman"/>
              </a:defRPr>
            </a:lvl5pPr>
            <a:lvl6pPr algn="l">
              <a:defRPr sz="1950">
                <a:solidFill>
                  <a:srgbClr val="41745A"/>
                </a:solidFill>
                <a:latin typeface="Times New Roman"/>
                <a:ea typeface="Times New Roman"/>
                <a:cs typeface="Times New Roman"/>
              </a:defRPr>
            </a:lvl6pPr>
            <a:lvl7pPr algn="l">
              <a:defRPr sz="1950">
                <a:solidFill>
                  <a:srgbClr val="41745A"/>
                </a:solidFill>
                <a:latin typeface="Times New Roman"/>
                <a:ea typeface="Times New Roman"/>
                <a:cs typeface="Times New Roman"/>
              </a:defRPr>
            </a:lvl7pPr>
            <a:lvl8pPr algn="l">
              <a:defRPr sz="1950">
                <a:solidFill>
                  <a:srgbClr val="41745A"/>
                </a:solidFill>
                <a:latin typeface="Times New Roman"/>
                <a:ea typeface="Times New Roman"/>
                <a:cs typeface="Times New Roman"/>
              </a:defRPr>
            </a:lvl8pPr>
            <a:lvl9pPr algn="l">
              <a:defRPr sz="1950">
                <a:solidFill>
                  <a:srgbClr val="41745A"/>
                </a:solidFill>
                <a:latin typeface="Times New Roman"/>
                <a:ea typeface="Times New Roman"/>
                <a:cs typeface="Times New Roman"/>
              </a:defRPr>
            </a:lvl9pPr>
          </a:lstStyle>
          <a:p xmlns:a="http://schemas.openxmlformats.org/drawingml/2006/main">
            <a:pPr algn="l">
              <a:defRPr sz="1950">
                <a:solidFill>
                  <a:srgbClr val="41745A"/>
                </a:solidFill>
                <a:latin typeface="Times New Roman"/>
                <a:ea typeface="Times New Roman"/>
                <a:cs typeface="Times New Roman"/>
              </a:defRPr>
            </a:pPr>
            <a:r>
              <a:rPr sz="1950">
                <a:solidFill>
                  <a:srgbClr val="41745A"/>
                </a:solidFill>
                <a:latin typeface="Times New Roman"/>
                <a:ea typeface="Times New Roman"/>
                <a:cs typeface="Times New Roman"/>
              </a:rPr>
              <a:t>Genética y Mejoramiento Animal</a:t>
            </a:r>
          </a:p>
          <a:p xmlns:a="http://schemas.openxmlformats.org/drawingml/2006/main">
            <a:pPr algn="l">
              <a:defRPr sz="1950">
                <a:solidFill>
                  <a:srgbClr val="41745A"/>
                </a:solidFill>
                <a:latin typeface="Times New Roman"/>
                <a:ea typeface="Times New Roman"/>
                <a:cs typeface="Times New Roman"/>
              </a:defRPr>
            </a:pPr>
            <a:r>
              <a:rPr sz="1950">
                <a:solidFill>
                  <a:srgbClr val="41745A"/>
                </a:solidFill>
                <a:latin typeface="Times New Roman"/>
                <a:ea typeface="Times New Roman"/>
                <a:cs typeface="Times New Roman"/>
              </a:rPr>
              <a:t>Medicina Veterinaria · Quinto A · 2026-2</a:t>
            </a:r>
          </a:p>
          <a:p xmlns:a="http://schemas.openxmlformats.org/drawingml/2006/main">
            <a:pPr algn="l">
              <a:defRPr sz="1950">
                <a:solidFill>
                  <a:srgbClr val="41745A"/>
                </a:solidFill>
                <a:latin typeface="Times New Roman"/>
                <a:ea typeface="Times New Roman"/>
                <a:cs typeface="Times New Roman"/>
              </a:defRPr>
            </a:pPr>
            <a:r>
              <a:rPr sz="1950">
                <a:solidFill>
                  <a:srgbClr val="41745A"/>
                </a:solidFill>
                <a:latin typeface="Times New Roman"/>
                <a:ea typeface="Times New Roman"/>
                <a:cs typeface="Times New Roman"/>
              </a:rPr>
              <a:t>Universidad Técnica de Machala</a:t>
            </a:r>
          </a:p>
        </p:txBody>
      </p:sp>
    </p:spTree>
    <p:extLst>
      <p:ext uri="{BB962C8B-B14F-4D97-AF65-F5344CB8AC3E}">
        <p14:creationId xmlns:p14="http://schemas.microsoft.com/office/powerpoint/2010/main" val="597721999"/>
      </p:ext>
    </p:extLst>
  </p:cSld>
</p:sld>
</file>

<file path=ppt/slides/slide2.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cxnSp>
        <p:nvCxnSpPr>
          <p:cNvPr id="9" name="">
            <a:extLst xmlns:a="http://schemas.openxmlformats.org/drawingml/2006/main">
              <a:ext uri="{FF2B5EF4-FFF2-40B4-BE49-F238E27FC236}">
                <a16:creationId xmlns:a16="http://schemas.microsoft.com/office/drawing/2014/main" id="{93C0B63E-5FAB-490E-A515-A030458F4AA7}"/>
              </a:ext>
            </a:extLst>
          </p:cNvPr>
          <p:cNvCxnSpPr>
            <a:stCxn xmlns:a="http://schemas.openxmlformats.org/drawingml/2006/main" id="6" idx="3"/>
            <a:endCxn xmlns:a="http://schemas.openxmlformats.org/drawingml/2006/main" id="7" idx="1"/>
          </p:cNvCxnSpPr>
          <p:nvPr/>
        </p:nvCxnSpPr>
        <p:spPr>
          <a:xfrm xmlns:a="http://schemas.openxmlformats.org/drawingml/2006/main">
            <a:off x="7734300" y="2695575"/>
            <a:ext cx="571500" cy="0"/>
          </a:xfrm>
          <a:prstGeom xmlns:a="http://schemas.openxmlformats.org/drawingml/2006/main" prst="straightConnector1">
            <a:avLst/>
          </a:prstGeom>
          <a:ln xmlns:a="http://schemas.openxmlformats.org/drawingml/2006/main" w="19050">
            <a:solidFill>
              <a:srgbClr val="41745A"/>
            </a:solidFill>
            <a:prstDash val="solid"/>
            <a:tailEnd type="arrow" w="med" len="med"/>
          </a:ln>
        </p:spPr>
      </p:cxnSp>
      <p:cxnSp>
        <p:nvCxnSpPr>
          <p:cNvPr id="8" name="">
            <a:extLst xmlns:a="http://schemas.openxmlformats.org/drawingml/2006/main">
              <a:ext uri="{FF2B5EF4-FFF2-40B4-BE49-F238E27FC236}">
                <a16:creationId xmlns:a16="http://schemas.microsoft.com/office/drawing/2014/main" id="{548EC5CA-6090-4337-8C75-77EC7FB7BF3A}"/>
              </a:ext>
            </a:extLst>
          </p:cNvPr>
          <p:cNvCxnSpPr>
            <a:stCxn xmlns:a="http://schemas.openxmlformats.org/drawingml/2006/main" id="5" idx="3"/>
            <a:endCxn xmlns:a="http://schemas.openxmlformats.org/drawingml/2006/main" id="6" idx="1"/>
          </p:cNvCxnSpPr>
          <p:nvPr/>
        </p:nvCxnSpPr>
        <p:spPr>
          <a:xfrm xmlns:a="http://schemas.openxmlformats.org/drawingml/2006/main">
            <a:off x="3886200" y="2695575"/>
            <a:ext cx="571500" cy="0"/>
          </a:xfrm>
          <a:prstGeom xmlns:a="http://schemas.openxmlformats.org/drawingml/2006/main" prst="straightConnector1">
            <a:avLst/>
          </a:prstGeom>
          <a:ln xmlns:a="http://schemas.openxmlformats.org/drawingml/2006/main" w="19050">
            <a:solidFill>
              <a:srgbClr val="41745A"/>
            </a:solidFill>
            <a:prstDash val="solid"/>
            <a:tailEnd type="arrow" w="med" len="med"/>
          </a:ln>
        </p:spPr>
      </p:cxnSp>
      <p:sp>
        <p:nvSpPr>
          <p:cNvPr id="11" name="title">
            <a:extLst xmlns:a="http://schemas.openxmlformats.org/drawingml/2006/main">
              <a:ext uri="{FF2B5EF4-FFF2-40B4-BE49-F238E27FC236}">
                <a16:creationId xmlns:a16="http://schemas.microsoft.com/office/drawing/2014/main" id="{367FC688-B8C3-4F38-8541-20B2E6537866}"/>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Determinación y diferenciación sexual</a:t>
            </a:r>
          </a:p>
        </p:txBody>
      </p:sp>
      <p:sp>
        <p:nvSpPr>
          <p:cNvPr id="2" name="">
            <a:extLst xmlns:a="http://schemas.openxmlformats.org/drawingml/2006/main">
              <a:ext uri="{FF2B5EF4-FFF2-40B4-BE49-F238E27FC236}">
                <a16:creationId xmlns:a16="http://schemas.microsoft.com/office/drawing/2014/main" id="{2D578226-8C4F-4B6B-8478-51363BD69F16}"/>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F1DE94CF-FC8F-429D-9B82-55176179C4F0}"/>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2</a:t>
            </a:r>
          </a:p>
        </p:txBody>
      </p:sp>
      <p:sp>
        <p:nvSpPr>
          <p:cNvPr id="4" name="references">
            <a:extLst xmlns:a="http://schemas.openxmlformats.org/drawingml/2006/main">
              <a:ext uri="{FF2B5EF4-FFF2-40B4-BE49-F238E27FC236}">
                <a16:creationId xmlns:a16="http://schemas.microsoft.com/office/drawing/2014/main" id="{BD31005C-E28D-4FBB-86B3-5E9E746752F3}"/>
              </a:ext>
            </a:extLst>
          </p:cNvPr>
          <p:cNvSpPr>
            <a:spLocks xmlns:a="http://schemas.openxmlformats.org/drawingml/2006/main" noGrp="1"/>
          </p:cNvSpPr>
          <p:nvPr/>
        </p:nvSpPr>
        <p:spPr>
          <a:xfrm xmlns:a="http://schemas.openxmlformats.org/drawingml/2006/main">
            <a:off x="609600" y="6419850"/>
            <a:ext cx="10382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a:solidFill>
                  <a:srgbClr val="41745A"/>
                </a:solidFill>
                <a:latin typeface="Times New Roman"/>
                <a:ea typeface="Times New Roman"/>
                <a:cs typeface="Times New Roman"/>
              </a:defRPr>
            </a:defPPr>
            <a:lvl1pPr algn="l">
              <a:defRPr sz="1350">
                <a:solidFill>
                  <a:srgbClr val="41745A"/>
                </a:solidFill>
                <a:latin typeface="Times New Roman"/>
                <a:ea typeface="Times New Roman"/>
                <a:cs typeface="Times New Roman"/>
              </a:defRPr>
            </a:lvl1pPr>
            <a:lvl2pPr algn="l">
              <a:defRPr sz="1350">
                <a:solidFill>
                  <a:srgbClr val="41745A"/>
                </a:solidFill>
                <a:latin typeface="Times New Roman"/>
                <a:ea typeface="Times New Roman"/>
                <a:cs typeface="Times New Roman"/>
              </a:defRPr>
            </a:lvl2pPr>
            <a:lvl3pPr algn="l">
              <a:defRPr sz="1350">
                <a:solidFill>
                  <a:srgbClr val="41745A"/>
                </a:solidFill>
                <a:latin typeface="Times New Roman"/>
                <a:ea typeface="Times New Roman"/>
                <a:cs typeface="Times New Roman"/>
              </a:defRPr>
            </a:lvl3pPr>
            <a:lvl4pPr algn="l">
              <a:defRPr sz="1350">
                <a:solidFill>
                  <a:srgbClr val="41745A"/>
                </a:solidFill>
                <a:latin typeface="Times New Roman"/>
                <a:ea typeface="Times New Roman"/>
                <a:cs typeface="Times New Roman"/>
              </a:defRPr>
            </a:lvl4pPr>
            <a:lvl5pPr algn="l">
              <a:defRPr sz="1350">
                <a:solidFill>
                  <a:srgbClr val="41745A"/>
                </a:solidFill>
                <a:latin typeface="Times New Roman"/>
                <a:ea typeface="Times New Roman"/>
                <a:cs typeface="Times New Roman"/>
              </a:defRPr>
            </a:lvl5pPr>
            <a:lvl6pPr algn="l">
              <a:defRPr sz="1350">
                <a:solidFill>
                  <a:srgbClr val="41745A"/>
                </a:solidFill>
                <a:latin typeface="Times New Roman"/>
                <a:ea typeface="Times New Roman"/>
                <a:cs typeface="Times New Roman"/>
              </a:defRPr>
            </a:lvl6pPr>
            <a:lvl7pPr algn="l">
              <a:defRPr sz="1350">
                <a:solidFill>
                  <a:srgbClr val="41745A"/>
                </a:solidFill>
                <a:latin typeface="Times New Roman"/>
                <a:ea typeface="Times New Roman"/>
                <a:cs typeface="Times New Roman"/>
              </a:defRPr>
            </a:lvl7pPr>
            <a:lvl8pPr algn="l">
              <a:defRPr sz="1350">
                <a:solidFill>
                  <a:srgbClr val="41745A"/>
                </a:solidFill>
                <a:latin typeface="Times New Roman"/>
                <a:ea typeface="Times New Roman"/>
                <a:cs typeface="Times New Roman"/>
              </a:defRPr>
            </a:lvl8pPr>
            <a:lvl9pPr algn="l">
              <a:defRPr sz="1350">
                <a:solidFill>
                  <a:srgbClr val="41745A"/>
                </a:solidFill>
                <a:latin typeface="Times New Roman"/>
                <a:ea typeface="Times New Roman"/>
                <a:cs typeface="Times New Roman"/>
              </a:defRPr>
            </a:lvl9pPr>
          </a:lstStyle>
          <a:p xmlns:a="http://schemas.openxmlformats.org/drawingml/2006/main">
            <a:pPr algn="l">
              <a:defRPr sz="1350">
                <a:solidFill>
                  <a:srgbClr val="41745A"/>
                </a:solidFill>
                <a:latin typeface="Times New Roman"/>
                <a:ea typeface="Times New Roman"/>
                <a:cs typeface="Times New Roman"/>
              </a:defRPr>
            </a:pPr>
            <a:r>
              <a:rPr sz="1350">
                <a:solidFill>
                  <a:srgbClr val="41745A"/>
                </a:solidFill>
                <a:latin typeface="Times New Roman"/>
                <a:ea typeface="Times New Roman"/>
                <a:cs typeface="Times New Roman"/>
              </a:rPr>
              <a:t>Fuentes: [1]</a:t>
            </a:r>
          </a:p>
        </p:txBody>
      </p:sp>
      <p:sp>
        <p:nvSpPr>
          <p:cNvPr id="5" name="">
            <a:extLst xmlns:a="http://schemas.openxmlformats.org/drawingml/2006/main">
              <a:ext uri="{FF2B5EF4-FFF2-40B4-BE49-F238E27FC236}">
                <a16:creationId xmlns:a16="http://schemas.microsoft.com/office/drawing/2014/main" id="{0E491E75-A60E-4FEA-9808-D4625D226D86}"/>
              </a:ext>
            </a:extLst>
          </p:cNvPr>
          <p:cNvSpPr>
            <a:spLocks xmlns:a="http://schemas.openxmlformats.org/drawingml/2006/main" noGrp="1"/>
          </p:cNvSpPr>
          <p:nvPr/>
        </p:nvSpPr>
        <p:spPr>
          <a:xfrm xmlns:a="http://schemas.openxmlformats.org/drawingml/2006/main">
            <a:off x="609600" y="2066925"/>
            <a:ext cx="3276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41745A"/>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2175" b="0">
                <a:solidFill>
                  <a:srgbClr val="183F31"/>
                </a:solidFill>
                <a:latin typeface="Times New Roman"/>
                <a:ea typeface="Times New Roman"/>
                <a:cs typeface="Times New Roman"/>
              </a:defRPr>
            </a:defPPr>
            <a:lvl1pPr algn="ctr">
              <a:defRPr sz="2175" b="0">
                <a:solidFill>
                  <a:srgbClr val="183F31"/>
                </a:solidFill>
                <a:latin typeface="Times New Roman"/>
                <a:ea typeface="Times New Roman"/>
                <a:cs typeface="Times New Roman"/>
              </a:defRPr>
            </a:lvl1pPr>
            <a:lvl2pPr algn="ctr">
              <a:defRPr sz="2175" b="0">
                <a:solidFill>
                  <a:srgbClr val="183F31"/>
                </a:solidFill>
                <a:latin typeface="Times New Roman"/>
                <a:ea typeface="Times New Roman"/>
                <a:cs typeface="Times New Roman"/>
              </a:defRPr>
            </a:lvl2pPr>
            <a:lvl3pPr algn="ctr">
              <a:defRPr sz="2175" b="0">
                <a:solidFill>
                  <a:srgbClr val="183F31"/>
                </a:solidFill>
                <a:latin typeface="Times New Roman"/>
                <a:ea typeface="Times New Roman"/>
                <a:cs typeface="Times New Roman"/>
              </a:defRPr>
            </a:lvl3pPr>
            <a:lvl4pPr algn="ctr">
              <a:defRPr sz="2175" b="0">
                <a:solidFill>
                  <a:srgbClr val="183F31"/>
                </a:solidFill>
                <a:latin typeface="Times New Roman"/>
                <a:ea typeface="Times New Roman"/>
                <a:cs typeface="Times New Roman"/>
              </a:defRPr>
            </a:lvl4pPr>
            <a:lvl5pPr algn="ctr">
              <a:defRPr sz="2175" b="0">
                <a:solidFill>
                  <a:srgbClr val="183F31"/>
                </a:solidFill>
                <a:latin typeface="Times New Roman"/>
                <a:ea typeface="Times New Roman"/>
                <a:cs typeface="Times New Roman"/>
              </a:defRPr>
            </a:lvl5pPr>
            <a:lvl6pPr algn="ctr">
              <a:defRPr sz="2175" b="0">
                <a:solidFill>
                  <a:srgbClr val="183F31"/>
                </a:solidFill>
                <a:latin typeface="Times New Roman"/>
                <a:ea typeface="Times New Roman"/>
                <a:cs typeface="Times New Roman"/>
              </a:defRPr>
            </a:lvl6pPr>
            <a:lvl7pPr algn="ctr">
              <a:defRPr sz="2175" b="0">
                <a:solidFill>
                  <a:srgbClr val="183F31"/>
                </a:solidFill>
                <a:latin typeface="Times New Roman"/>
                <a:ea typeface="Times New Roman"/>
                <a:cs typeface="Times New Roman"/>
              </a:defRPr>
            </a:lvl7pPr>
            <a:lvl8pPr algn="ctr">
              <a:defRPr sz="2175" b="0">
                <a:solidFill>
                  <a:srgbClr val="183F31"/>
                </a:solidFill>
                <a:latin typeface="Times New Roman"/>
                <a:ea typeface="Times New Roman"/>
                <a:cs typeface="Times New Roman"/>
              </a:defRPr>
            </a:lvl8pPr>
            <a:lvl9pPr algn="ctr">
              <a:defRPr sz="2175" b="0">
                <a:solidFill>
                  <a:srgbClr val="183F31"/>
                </a:solidFill>
                <a:latin typeface="Times New Roman"/>
                <a:ea typeface="Times New Roman"/>
                <a:cs typeface="Times New Roman"/>
              </a:defRPr>
            </a:lvl9pPr>
          </a:lstStyle>
          <a:p xmlns:a="http://schemas.openxmlformats.org/drawingml/2006/main">
            <a:pPr algn="ctr">
              <a:defRPr sz="2175" b="0">
                <a:solidFill>
                  <a:srgbClr val="183F31"/>
                </a:solidFill>
                <a:latin typeface="Times New Roman"/>
                <a:ea typeface="Times New Roman"/>
                <a:cs typeface="Times New Roman"/>
              </a:defRPr>
            </a:pPr>
            <a:r>
              <a:rPr sz="2175" b="0">
                <a:solidFill>
                  <a:srgbClr val="183F31"/>
                </a:solidFill>
                <a:latin typeface="Times New Roman"/>
                <a:ea typeface="Times New Roman"/>
                <a:cs typeface="Times New Roman"/>
              </a:rPr>
              <a:t>Señal inicial</a:t>
            </a:r>
          </a:p>
          <a:p xmlns:a="http://schemas.openxmlformats.org/drawingml/2006/main">
            <a:pPr algn="ctr">
              <a:defRPr sz="2175" b="0">
                <a:solidFill>
                  <a:srgbClr val="183F31"/>
                </a:solidFill>
                <a:latin typeface="Times New Roman"/>
                <a:ea typeface="Times New Roman"/>
                <a:cs typeface="Times New Roman"/>
              </a:defRPr>
            </a:pPr>
            <a:r>
              <a:rPr sz="2175" b="0">
                <a:solidFill>
                  <a:srgbClr val="183F31"/>
                </a:solidFill>
                <a:latin typeface="Times New Roman"/>
                <a:ea typeface="Times New Roman"/>
                <a:cs typeface="Times New Roman"/>
              </a:rPr>
              <a:t>cromosomas, genes o ambiente</a:t>
            </a:r>
          </a:p>
        </p:txBody>
      </p:sp>
      <p:sp>
        <p:nvSpPr>
          <p:cNvPr id="6" name="">
            <a:extLst xmlns:a="http://schemas.openxmlformats.org/drawingml/2006/main">
              <a:ext uri="{FF2B5EF4-FFF2-40B4-BE49-F238E27FC236}">
                <a16:creationId xmlns:a16="http://schemas.microsoft.com/office/drawing/2014/main" id="{89F4B7A2-CD60-44D5-A765-0C37D45968AF}"/>
              </a:ext>
            </a:extLst>
          </p:cNvPr>
          <p:cNvSpPr>
            <a:spLocks xmlns:a="http://schemas.openxmlformats.org/drawingml/2006/main" noGrp="1"/>
          </p:cNvSpPr>
          <p:nvPr/>
        </p:nvSpPr>
        <p:spPr>
          <a:xfrm xmlns:a="http://schemas.openxmlformats.org/drawingml/2006/main">
            <a:off x="4457700" y="2066925"/>
            <a:ext cx="3276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41745A"/>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2250" b="0">
                <a:solidFill>
                  <a:srgbClr val="183F31"/>
                </a:solidFill>
                <a:latin typeface="Times New Roman"/>
                <a:ea typeface="Times New Roman"/>
                <a:cs typeface="Times New Roman"/>
              </a:defRPr>
            </a:defPPr>
            <a:lvl1pPr algn="ctr">
              <a:defRPr sz="2250" b="0">
                <a:solidFill>
                  <a:srgbClr val="183F31"/>
                </a:solidFill>
                <a:latin typeface="Times New Roman"/>
                <a:ea typeface="Times New Roman"/>
                <a:cs typeface="Times New Roman"/>
              </a:defRPr>
            </a:lvl1pPr>
            <a:lvl2pPr algn="ctr">
              <a:defRPr sz="2250" b="0">
                <a:solidFill>
                  <a:srgbClr val="183F31"/>
                </a:solidFill>
                <a:latin typeface="Times New Roman"/>
                <a:ea typeface="Times New Roman"/>
                <a:cs typeface="Times New Roman"/>
              </a:defRPr>
            </a:lvl2pPr>
            <a:lvl3pPr algn="ctr">
              <a:defRPr sz="2250" b="0">
                <a:solidFill>
                  <a:srgbClr val="183F31"/>
                </a:solidFill>
                <a:latin typeface="Times New Roman"/>
                <a:ea typeface="Times New Roman"/>
                <a:cs typeface="Times New Roman"/>
              </a:defRPr>
            </a:lvl3pPr>
            <a:lvl4pPr algn="ctr">
              <a:defRPr sz="2250" b="0">
                <a:solidFill>
                  <a:srgbClr val="183F31"/>
                </a:solidFill>
                <a:latin typeface="Times New Roman"/>
                <a:ea typeface="Times New Roman"/>
                <a:cs typeface="Times New Roman"/>
              </a:defRPr>
            </a:lvl4pPr>
            <a:lvl5pPr algn="ctr">
              <a:defRPr sz="2250" b="0">
                <a:solidFill>
                  <a:srgbClr val="183F31"/>
                </a:solidFill>
                <a:latin typeface="Times New Roman"/>
                <a:ea typeface="Times New Roman"/>
                <a:cs typeface="Times New Roman"/>
              </a:defRPr>
            </a:lvl5pPr>
            <a:lvl6pPr algn="ctr">
              <a:defRPr sz="2250" b="0">
                <a:solidFill>
                  <a:srgbClr val="183F31"/>
                </a:solidFill>
                <a:latin typeface="Times New Roman"/>
                <a:ea typeface="Times New Roman"/>
                <a:cs typeface="Times New Roman"/>
              </a:defRPr>
            </a:lvl6pPr>
            <a:lvl7pPr algn="ctr">
              <a:defRPr sz="2250" b="0">
                <a:solidFill>
                  <a:srgbClr val="183F31"/>
                </a:solidFill>
                <a:latin typeface="Times New Roman"/>
                <a:ea typeface="Times New Roman"/>
                <a:cs typeface="Times New Roman"/>
              </a:defRPr>
            </a:lvl7pPr>
            <a:lvl8pPr algn="ctr">
              <a:defRPr sz="2250" b="0">
                <a:solidFill>
                  <a:srgbClr val="183F31"/>
                </a:solidFill>
                <a:latin typeface="Times New Roman"/>
                <a:ea typeface="Times New Roman"/>
                <a:cs typeface="Times New Roman"/>
              </a:defRPr>
            </a:lvl8pPr>
            <a:lvl9pPr algn="ctr">
              <a:defRPr sz="2250" b="0">
                <a:solidFill>
                  <a:srgbClr val="183F31"/>
                </a:solidFill>
                <a:latin typeface="Times New Roman"/>
                <a:ea typeface="Times New Roman"/>
                <a:cs typeface="Times New Roman"/>
              </a:defRPr>
            </a:lvl9pPr>
          </a:lstStyle>
          <a:p xmlns:a="http://schemas.openxmlformats.org/drawingml/2006/main">
            <a:pPr algn="ctr">
              <a:defRPr sz="2250" b="0">
                <a:solidFill>
                  <a:srgbClr val="183F31"/>
                </a:solidFill>
                <a:latin typeface="Times New Roman"/>
                <a:ea typeface="Times New Roman"/>
                <a:cs typeface="Times New Roman"/>
              </a:defRPr>
            </a:pPr>
            <a:r>
              <a:rPr sz="2250" b="0">
                <a:solidFill>
                  <a:srgbClr val="183F31"/>
                </a:solidFill>
                <a:latin typeface="Times New Roman"/>
                <a:ea typeface="Times New Roman"/>
                <a:cs typeface="Times New Roman"/>
              </a:rPr>
              <a:t>Sexo gonadal</a:t>
            </a:r>
          </a:p>
          <a:p xmlns:a="http://schemas.openxmlformats.org/drawingml/2006/main">
            <a:pPr algn="ctr">
              <a:defRPr sz="2250" b="0">
                <a:solidFill>
                  <a:srgbClr val="183F31"/>
                </a:solidFill>
                <a:latin typeface="Times New Roman"/>
                <a:ea typeface="Times New Roman"/>
                <a:cs typeface="Times New Roman"/>
              </a:defRPr>
            </a:pPr>
            <a:r>
              <a:rPr sz="2250" b="0">
                <a:solidFill>
                  <a:srgbClr val="183F31"/>
                </a:solidFill>
                <a:latin typeface="Times New Roman"/>
                <a:ea typeface="Times New Roman"/>
                <a:cs typeface="Times New Roman"/>
              </a:rPr>
              <a:t>testículo u ovario</a:t>
            </a:r>
          </a:p>
        </p:txBody>
      </p:sp>
      <p:sp>
        <p:nvSpPr>
          <p:cNvPr id="7" name="">
            <a:extLst xmlns:a="http://schemas.openxmlformats.org/drawingml/2006/main">
              <a:ext uri="{FF2B5EF4-FFF2-40B4-BE49-F238E27FC236}">
                <a16:creationId xmlns:a16="http://schemas.microsoft.com/office/drawing/2014/main" id="{FE12728C-2272-4ED5-BAF7-D75E5F7443B6}"/>
              </a:ext>
            </a:extLst>
          </p:cNvPr>
          <p:cNvSpPr>
            <a:spLocks xmlns:a="http://schemas.openxmlformats.org/drawingml/2006/main" noGrp="1"/>
          </p:cNvSpPr>
          <p:nvPr/>
        </p:nvSpPr>
        <p:spPr>
          <a:xfrm xmlns:a="http://schemas.openxmlformats.org/drawingml/2006/main">
            <a:off x="8305800" y="2066925"/>
            <a:ext cx="3276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41745A"/>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2175" b="0">
                <a:solidFill>
                  <a:srgbClr val="183F31"/>
                </a:solidFill>
                <a:latin typeface="Times New Roman"/>
                <a:ea typeface="Times New Roman"/>
                <a:cs typeface="Times New Roman"/>
              </a:defRPr>
            </a:defPPr>
            <a:lvl1pPr algn="ctr">
              <a:defRPr sz="2175" b="0">
                <a:solidFill>
                  <a:srgbClr val="183F31"/>
                </a:solidFill>
                <a:latin typeface="Times New Roman"/>
                <a:ea typeface="Times New Roman"/>
                <a:cs typeface="Times New Roman"/>
              </a:defRPr>
            </a:lvl1pPr>
            <a:lvl2pPr algn="ctr">
              <a:defRPr sz="2175" b="0">
                <a:solidFill>
                  <a:srgbClr val="183F31"/>
                </a:solidFill>
                <a:latin typeface="Times New Roman"/>
                <a:ea typeface="Times New Roman"/>
                <a:cs typeface="Times New Roman"/>
              </a:defRPr>
            </a:lvl2pPr>
            <a:lvl3pPr algn="ctr">
              <a:defRPr sz="2175" b="0">
                <a:solidFill>
                  <a:srgbClr val="183F31"/>
                </a:solidFill>
                <a:latin typeface="Times New Roman"/>
                <a:ea typeface="Times New Roman"/>
                <a:cs typeface="Times New Roman"/>
              </a:defRPr>
            </a:lvl3pPr>
            <a:lvl4pPr algn="ctr">
              <a:defRPr sz="2175" b="0">
                <a:solidFill>
                  <a:srgbClr val="183F31"/>
                </a:solidFill>
                <a:latin typeface="Times New Roman"/>
                <a:ea typeface="Times New Roman"/>
                <a:cs typeface="Times New Roman"/>
              </a:defRPr>
            </a:lvl4pPr>
            <a:lvl5pPr algn="ctr">
              <a:defRPr sz="2175" b="0">
                <a:solidFill>
                  <a:srgbClr val="183F31"/>
                </a:solidFill>
                <a:latin typeface="Times New Roman"/>
                <a:ea typeface="Times New Roman"/>
                <a:cs typeface="Times New Roman"/>
              </a:defRPr>
            </a:lvl5pPr>
            <a:lvl6pPr algn="ctr">
              <a:defRPr sz="2175" b="0">
                <a:solidFill>
                  <a:srgbClr val="183F31"/>
                </a:solidFill>
                <a:latin typeface="Times New Roman"/>
                <a:ea typeface="Times New Roman"/>
                <a:cs typeface="Times New Roman"/>
              </a:defRPr>
            </a:lvl6pPr>
            <a:lvl7pPr algn="ctr">
              <a:defRPr sz="2175" b="0">
                <a:solidFill>
                  <a:srgbClr val="183F31"/>
                </a:solidFill>
                <a:latin typeface="Times New Roman"/>
                <a:ea typeface="Times New Roman"/>
                <a:cs typeface="Times New Roman"/>
              </a:defRPr>
            </a:lvl7pPr>
            <a:lvl8pPr algn="ctr">
              <a:defRPr sz="2175" b="0">
                <a:solidFill>
                  <a:srgbClr val="183F31"/>
                </a:solidFill>
                <a:latin typeface="Times New Roman"/>
                <a:ea typeface="Times New Roman"/>
                <a:cs typeface="Times New Roman"/>
              </a:defRPr>
            </a:lvl8pPr>
            <a:lvl9pPr algn="ctr">
              <a:defRPr sz="2175" b="0">
                <a:solidFill>
                  <a:srgbClr val="183F31"/>
                </a:solidFill>
                <a:latin typeface="Times New Roman"/>
                <a:ea typeface="Times New Roman"/>
                <a:cs typeface="Times New Roman"/>
              </a:defRPr>
            </a:lvl9pPr>
          </a:lstStyle>
          <a:p xmlns:a="http://schemas.openxmlformats.org/drawingml/2006/main">
            <a:pPr algn="ctr">
              <a:defRPr sz="2175" b="0">
                <a:solidFill>
                  <a:srgbClr val="183F31"/>
                </a:solidFill>
                <a:latin typeface="Times New Roman"/>
                <a:ea typeface="Times New Roman"/>
                <a:cs typeface="Times New Roman"/>
              </a:defRPr>
            </a:pPr>
            <a:r>
              <a:rPr sz="2175" b="0">
                <a:solidFill>
                  <a:srgbClr val="183F31"/>
                </a:solidFill>
                <a:latin typeface="Times New Roman"/>
                <a:ea typeface="Times New Roman"/>
                <a:cs typeface="Times New Roman"/>
              </a:rPr>
              <a:t>Diferenciación</a:t>
            </a:r>
          </a:p>
          <a:p xmlns:a="http://schemas.openxmlformats.org/drawingml/2006/main">
            <a:pPr algn="ctr">
              <a:defRPr sz="2175" b="0">
                <a:solidFill>
                  <a:srgbClr val="183F31"/>
                </a:solidFill>
                <a:latin typeface="Times New Roman"/>
                <a:ea typeface="Times New Roman"/>
                <a:cs typeface="Times New Roman"/>
              </a:defRPr>
            </a:pPr>
            <a:r>
              <a:rPr sz="2175" b="0">
                <a:solidFill>
                  <a:srgbClr val="183F31"/>
                </a:solidFill>
                <a:latin typeface="Times New Roman"/>
                <a:ea typeface="Times New Roman"/>
                <a:cs typeface="Times New Roman"/>
              </a:rPr>
              <a:t>conductos y genitales</a:t>
            </a:r>
          </a:p>
        </p:txBody>
      </p:sp>
      <p:sp>
        <p:nvSpPr>
          <p:cNvPr id="10" name="text-9">
            <a:extLst xmlns:a="http://schemas.openxmlformats.org/drawingml/2006/main">
              <a:ext uri="{FF2B5EF4-FFF2-40B4-BE49-F238E27FC236}">
                <a16:creationId xmlns:a16="http://schemas.microsoft.com/office/drawing/2014/main" id="{E68377CD-B942-4DDC-9799-BE3CCD9F877B}"/>
              </a:ext>
            </a:extLst>
          </p:cNvPr>
          <p:cNvSpPr>
            <a:spLocks xmlns:a="http://schemas.openxmlformats.org/drawingml/2006/main" noGrp="1"/>
          </p:cNvSpPr>
          <p:nvPr/>
        </p:nvSpPr>
        <p:spPr>
          <a:xfrm xmlns:a="http://schemas.openxmlformats.org/drawingml/2006/main">
            <a:off x="1219200" y="4143375"/>
            <a:ext cx="97536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550" b="1">
                <a:solidFill>
                  <a:srgbClr val="183F31"/>
                </a:solidFill>
                <a:latin typeface="Times New Roman"/>
                <a:ea typeface="Times New Roman"/>
                <a:cs typeface="Times New Roman"/>
              </a:defRPr>
            </a:defPPr>
            <a:lvl1pPr algn="ctr">
              <a:defRPr sz="2550" b="1">
                <a:solidFill>
                  <a:srgbClr val="183F31"/>
                </a:solidFill>
                <a:latin typeface="Times New Roman"/>
                <a:ea typeface="Times New Roman"/>
                <a:cs typeface="Times New Roman"/>
              </a:defRPr>
            </a:lvl1pPr>
            <a:lvl2pPr algn="ctr">
              <a:defRPr sz="2550" b="1">
                <a:solidFill>
                  <a:srgbClr val="183F31"/>
                </a:solidFill>
                <a:latin typeface="Times New Roman"/>
                <a:ea typeface="Times New Roman"/>
                <a:cs typeface="Times New Roman"/>
              </a:defRPr>
            </a:lvl2pPr>
            <a:lvl3pPr algn="ctr">
              <a:defRPr sz="2550" b="1">
                <a:solidFill>
                  <a:srgbClr val="183F31"/>
                </a:solidFill>
                <a:latin typeface="Times New Roman"/>
                <a:ea typeface="Times New Roman"/>
                <a:cs typeface="Times New Roman"/>
              </a:defRPr>
            </a:lvl3pPr>
            <a:lvl4pPr algn="ctr">
              <a:defRPr sz="2550" b="1">
                <a:solidFill>
                  <a:srgbClr val="183F31"/>
                </a:solidFill>
                <a:latin typeface="Times New Roman"/>
                <a:ea typeface="Times New Roman"/>
                <a:cs typeface="Times New Roman"/>
              </a:defRPr>
            </a:lvl4pPr>
            <a:lvl5pPr algn="ctr">
              <a:defRPr sz="2550" b="1">
                <a:solidFill>
                  <a:srgbClr val="183F31"/>
                </a:solidFill>
                <a:latin typeface="Times New Roman"/>
                <a:ea typeface="Times New Roman"/>
                <a:cs typeface="Times New Roman"/>
              </a:defRPr>
            </a:lvl5pPr>
            <a:lvl6pPr algn="ctr">
              <a:defRPr sz="2550" b="1">
                <a:solidFill>
                  <a:srgbClr val="183F31"/>
                </a:solidFill>
                <a:latin typeface="Times New Roman"/>
                <a:ea typeface="Times New Roman"/>
                <a:cs typeface="Times New Roman"/>
              </a:defRPr>
            </a:lvl6pPr>
            <a:lvl7pPr algn="ctr">
              <a:defRPr sz="2550" b="1">
                <a:solidFill>
                  <a:srgbClr val="183F31"/>
                </a:solidFill>
                <a:latin typeface="Times New Roman"/>
                <a:ea typeface="Times New Roman"/>
                <a:cs typeface="Times New Roman"/>
              </a:defRPr>
            </a:lvl7pPr>
            <a:lvl8pPr algn="ctr">
              <a:defRPr sz="2550" b="1">
                <a:solidFill>
                  <a:srgbClr val="183F31"/>
                </a:solidFill>
                <a:latin typeface="Times New Roman"/>
                <a:ea typeface="Times New Roman"/>
                <a:cs typeface="Times New Roman"/>
              </a:defRPr>
            </a:lvl8pPr>
            <a:lvl9pPr algn="ctr">
              <a:defRPr sz="2550" b="1">
                <a:solidFill>
                  <a:srgbClr val="183F31"/>
                </a:solidFill>
                <a:latin typeface="Times New Roman"/>
                <a:ea typeface="Times New Roman"/>
                <a:cs typeface="Times New Roman"/>
              </a:defRPr>
            </a:lvl9pPr>
          </a:lstStyle>
          <a:p xmlns:a="http://schemas.openxmlformats.org/drawingml/2006/main">
            <a:pPr algn="ctr">
              <a:defRPr sz="2550" b="1">
                <a:solidFill>
                  <a:srgbClr val="183F31"/>
                </a:solidFill>
                <a:latin typeface="Times New Roman"/>
                <a:ea typeface="Times New Roman"/>
                <a:cs typeface="Times New Roman"/>
              </a:defRPr>
            </a:pPr>
            <a:r>
              <a:rPr sz="2550" b="1">
                <a:solidFill>
                  <a:srgbClr val="183F31"/>
                </a:solidFill>
                <a:latin typeface="Times New Roman"/>
                <a:ea typeface="Times New Roman"/>
                <a:cs typeface="Times New Roman"/>
              </a:rPr>
              <a:t>La señal inicial y el resultado anatómico corresponden a etapas distintas del desarrollo.</a:t>
            </a:r>
          </a:p>
        </p:txBody>
      </p:sp>
    </p:spTree>
    <p:extLst>
      <p:ext uri="{BB962C8B-B14F-4D97-AF65-F5344CB8AC3E}">
        <p14:creationId xmlns:p14="http://schemas.microsoft.com/office/powerpoint/2010/main" val="840997798"/>
      </p:ext>
    </p:extLst>
  </p:cSld>
</p:sld>
</file>

<file path=ppt/slides/slide3.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0412027D-833A-433D-A293-E83AA84FED9A}"/>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Cromosomas sexuales y heterogametia</a:t>
            </a:r>
          </a:p>
        </p:txBody>
      </p:sp>
      <p:sp>
        <p:nvSpPr>
          <p:cNvPr id="2" name="">
            <a:extLst xmlns:a="http://schemas.openxmlformats.org/drawingml/2006/main">
              <a:ext uri="{FF2B5EF4-FFF2-40B4-BE49-F238E27FC236}">
                <a16:creationId xmlns:a16="http://schemas.microsoft.com/office/drawing/2014/main" id="{53D870F9-E6C5-42E5-B750-A602C99852DD}"/>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9120F0D6-4A07-4EDF-976E-A6758A148C78}"/>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3</a:t>
            </a:r>
          </a:p>
        </p:txBody>
      </p:sp>
      <p:sp>
        <p:nvSpPr>
          <p:cNvPr id="4" name="references">
            <a:extLst xmlns:a="http://schemas.openxmlformats.org/drawingml/2006/main">
              <a:ext uri="{FF2B5EF4-FFF2-40B4-BE49-F238E27FC236}">
                <a16:creationId xmlns:a16="http://schemas.microsoft.com/office/drawing/2014/main" id="{65A49E93-BFBA-4E97-B312-D12B4BEB257D}"/>
              </a:ext>
            </a:extLst>
          </p:cNvPr>
          <p:cNvSpPr>
            <a:spLocks xmlns:a="http://schemas.openxmlformats.org/drawingml/2006/main" noGrp="1"/>
          </p:cNvSpPr>
          <p:nvPr/>
        </p:nvSpPr>
        <p:spPr>
          <a:xfrm xmlns:a="http://schemas.openxmlformats.org/drawingml/2006/main">
            <a:off x="609600" y="6419850"/>
            <a:ext cx="10382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a:solidFill>
                  <a:srgbClr val="41745A"/>
                </a:solidFill>
                <a:latin typeface="Times New Roman"/>
                <a:ea typeface="Times New Roman"/>
                <a:cs typeface="Times New Roman"/>
              </a:defRPr>
            </a:defPPr>
            <a:lvl1pPr algn="l">
              <a:defRPr sz="1350">
                <a:solidFill>
                  <a:srgbClr val="41745A"/>
                </a:solidFill>
                <a:latin typeface="Times New Roman"/>
                <a:ea typeface="Times New Roman"/>
                <a:cs typeface="Times New Roman"/>
              </a:defRPr>
            </a:lvl1pPr>
            <a:lvl2pPr algn="l">
              <a:defRPr sz="1350">
                <a:solidFill>
                  <a:srgbClr val="41745A"/>
                </a:solidFill>
                <a:latin typeface="Times New Roman"/>
                <a:ea typeface="Times New Roman"/>
                <a:cs typeface="Times New Roman"/>
              </a:defRPr>
            </a:lvl2pPr>
            <a:lvl3pPr algn="l">
              <a:defRPr sz="1350">
                <a:solidFill>
                  <a:srgbClr val="41745A"/>
                </a:solidFill>
                <a:latin typeface="Times New Roman"/>
                <a:ea typeface="Times New Roman"/>
                <a:cs typeface="Times New Roman"/>
              </a:defRPr>
            </a:lvl3pPr>
            <a:lvl4pPr algn="l">
              <a:defRPr sz="1350">
                <a:solidFill>
                  <a:srgbClr val="41745A"/>
                </a:solidFill>
                <a:latin typeface="Times New Roman"/>
                <a:ea typeface="Times New Roman"/>
                <a:cs typeface="Times New Roman"/>
              </a:defRPr>
            </a:lvl4pPr>
            <a:lvl5pPr algn="l">
              <a:defRPr sz="1350">
                <a:solidFill>
                  <a:srgbClr val="41745A"/>
                </a:solidFill>
                <a:latin typeface="Times New Roman"/>
                <a:ea typeface="Times New Roman"/>
                <a:cs typeface="Times New Roman"/>
              </a:defRPr>
            </a:lvl5pPr>
            <a:lvl6pPr algn="l">
              <a:defRPr sz="1350">
                <a:solidFill>
                  <a:srgbClr val="41745A"/>
                </a:solidFill>
                <a:latin typeface="Times New Roman"/>
                <a:ea typeface="Times New Roman"/>
                <a:cs typeface="Times New Roman"/>
              </a:defRPr>
            </a:lvl6pPr>
            <a:lvl7pPr algn="l">
              <a:defRPr sz="1350">
                <a:solidFill>
                  <a:srgbClr val="41745A"/>
                </a:solidFill>
                <a:latin typeface="Times New Roman"/>
                <a:ea typeface="Times New Roman"/>
                <a:cs typeface="Times New Roman"/>
              </a:defRPr>
            </a:lvl7pPr>
            <a:lvl8pPr algn="l">
              <a:defRPr sz="1350">
                <a:solidFill>
                  <a:srgbClr val="41745A"/>
                </a:solidFill>
                <a:latin typeface="Times New Roman"/>
                <a:ea typeface="Times New Roman"/>
                <a:cs typeface="Times New Roman"/>
              </a:defRPr>
            </a:lvl8pPr>
            <a:lvl9pPr algn="l">
              <a:defRPr sz="1350">
                <a:solidFill>
                  <a:srgbClr val="41745A"/>
                </a:solidFill>
                <a:latin typeface="Times New Roman"/>
                <a:ea typeface="Times New Roman"/>
                <a:cs typeface="Times New Roman"/>
              </a:defRPr>
            </a:lvl9pPr>
          </a:lstStyle>
          <a:p xmlns:a="http://schemas.openxmlformats.org/drawingml/2006/main">
            <a:pPr algn="l">
              <a:defRPr sz="1350">
                <a:solidFill>
                  <a:srgbClr val="41745A"/>
                </a:solidFill>
                <a:latin typeface="Times New Roman"/>
                <a:ea typeface="Times New Roman"/>
                <a:cs typeface="Times New Roman"/>
              </a:defRPr>
            </a:pPr>
            <a:r>
              <a:rPr sz="1350">
                <a:solidFill>
                  <a:srgbClr val="41745A"/>
                </a:solidFill>
                <a:latin typeface="Times New Roman"/>
                <a:ea typeface="Times New Roman"/>
                <a:cs typeface="Times New Roman"/>
              </a:rPr>
              <a:t>Fuentes: [1]</a:t>
            </a:r>
          </a:p>
        </p:txBody>
      </p:sp>
      <p:graphicFrame>
        <p:nvGraphicFramePr>
          <p:cNvPr id="5" name="">
            <a:extLst xmlns:a="http://schemas.openxmlformats.org/drawingml/2006/main">
              <a:ext uri="{FF2B5EF4-FFF2-40B4-BE49-F238E27FC236}">
                <a16:creationId xmlns:a16="http://schemas.microsoft.com/office/drawing/2014/main" id="{4CE542B5-7B7D-434A-8C0D-F7237D3B98EB}"/>
              </a:ext>
            </a:extLst>
          </p:cNvPr>
          <p:cNvGraphicFramePr/>
          <p:nvPr/>
        </p:nvGraphicFramePr>
        <p:xfrm>
          <a:off xmlns:a="http://schemas.openxmlformats.org/drawingml/2006/main" x="609600" y="1885950"/>
          <a:ext xmlns:a="http://schemas.openxmlformats.org/drawingml/2006/main" cx="10972800" cy="3409950"/>
        </p:xfrm>
        <a:graphic xmlns:a="http://schemas.openxmlformats.org/drawingml/2006/main">
          <a:graphicData uri="http://schemas.openxmlformats.org/drawingml/2006/table">
            <a:tbl>
              <a:tblPr firstRow="1" bandRow="0"/>
              <a:tblGrid>
                <a:gridCol w="2190750"/>
                <a:gridCol w="4476750"/>
                <a:gridCol w="4305300"/>
              </a:tblGrid>
              <a:tr h="852488">
                <a:tc>
                  <a:txBody>
                    <a:bodyPr wrap="square" lIns="95250" tIns="95250" rIns="95250" bIns="95250">
                      <a:noAutofit/>
                    </a:bodyPr>
                    <a:lstStyle/>
                    <a:p>
                      <a:pPr algn="l"/>
                      <a:r>
                        <a:rPr sz="2025" b="1">
                          <a:solidFill>
                            <a:srgbClr val="FFFFFF"/>
                          </a:solidFill>
                          <a:latin typeface="Times New Roman"/>
                          <a:ea typeface="Times New Roman"/>
                          <a:cs typeface="Times New Roman"/>
                        </a:rPr>
                        <a:t>Concepto</a:t>
                      </a:r>
                    </a:p>
                  </a:txBody>
                  <a:tcPr marL="91440" marR="91440" marT="45720" marB="45720" anchor="ctr">
                    <a:lnL w="9525">
                      <a:solidFill>
                        <a:srgbClr val="D5DED3"/>
                      </a:solidFill>
                      <a:prstDash val="solid"/>
                    </a:lnL>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c>
                  <a:txBody>
                    <a:bodyPr wrap="square" lIns="95250" tIns="95250" rIns="95250" bIns="95250">
                      <a:noAutofit/>
                    </a:bodyPr>
                    <a:lstStyle/>
                    <a:p>
                      <a:pPr algn="l"/>
                      <a:r>
                        <a:rPr sz="2025" b="1">
                          <a:solidFill>
                            <a:srgbClr val="FFFFFF"/>
                          </a:solidFill>
                          <a:latin typeface="Times New Roman"/>
                          <a:ea typeface="Times New Roman"/>
                          <a:cs typeface="Times New Roman"/>
                        </a:rPr>
                        <a:t>Significado</a:t>
                      </a:r>
                    </a:p>
                  </a:txBody>
                  <a:tcPr marL="91440" marR="91440" marT="45720" marB="45720" anchor="ctr">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c>
                  <a:txBody>
                    <a:bodyPr wrap="square" lIns="95250" tIns="95250" rIns="95250" bIns="95250">
                      <a:noAutofit/>
                    </a:bodyPr>
                    <a:lstStyle/>
                    <a:p>
                      <a:pPr algn="l"/>
                      <a:r>
                        <a:rPr sz="2025" b="1">
                          <a:solidFill>
                            <a:srgbClr val="FFFFFF"/>
                          </a:solidFill>
                          <a:latin typeface="Times New Roman"/>
                          <a:ea typeface="Times New Roman"/>
                          <a:cs typeface="Times New Roman"/>
                        </a:rPr>
                        <a:t>Ejemplo</a:t>
                      </a:r>
                    </a:p>
                  </a:txBody>
                  <a:tcPr marL="91440" marR="91440" marT="45720" marB="45720" anchor="ctr">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r>
              <a:tr h="852488">
                <a:tc>
                  <a:txBody>
                    <a:bodyPr wrap="square" lIns="95250" tIns="95250" rIns="95250" bIns="95250">
                      <a:noAutofit/>
                    </a:bodyPr>
                    <a:lstStyle/>
                    <a:p>
                      <a:pPr algn="l"/>
                      <a:r>
                        <a:rPr sz="2025" b="0">
                          <a:solidFill>
                            <a:srgbClr val="202520"/>
                          </a:solidFill>
                          <a:latin typeface="Times New Roman"/>
                          <a:ea typeface="Times New Roman"/>
                          <a:cs typeface="Times New Roman"/>
                        </a:rPr>
                        <a:t>Autosomas</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Cromosomas no sexuales</a:t>
                      </a:r>
                    </a:p>
                  </a:txBody>
                  <a:tcPr marL="91440" marR="91440" marT="45720" marB="45720" anchor="ctr">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Pares autosómicos</a:t>
                      </a:r>
                    </a:p>
                  </a:txBody>
                  <a:tcPr marL="91440" marR="91440" marT="45720" marB="45720" anchor="ctr">
                    <a:lnR w="9525">
                      <a:solidFill>
                        <a:srgbClr val="D5DED3"/>
                      </a:solidFill>
                      <a:prstDash val="solid"/>
                    </a:lnR>
                    <a:lnB w="9525">
                      <a:solidFill>
                        <a:srgbClr val="D5DED3"/>
                      </a:solidFill>
                      <a:prstDash val="solid"/>
                    </a:lnB>
                    <a:solidFill>
                      <a:srgbClr val="FFFFFF"/>
                    </a:solidFill>
                  </a:tcPr>
                </a:tc>
              </a:tr>
              <a:tr h="852488">
                <a:tc>
                  <a:txBody>
                    <a:bodyPr wrap="square" lIns="95250" tIns="95250" rIns="95250" bIns="95250">
                      <a:noAutofit/>
                    </a:bodyPr>
                    <a:lstStyle/>
                    <a:p>
                      <a:pPr algn="l"/>
                      <a:r>
                        <a:rPr sz="2025" b="0">
                          <a:solidFill>
                            <a:srgbClr val="202520"/>
                          </a:solidFill>
                          <a:latin typeface="Times New Roman"/>
                          <a:ea typeface="Times New Roman"/>
                          <a:cs typeface="Times New Roman"/>
                        </a:rPr>
                        <a:t>Homogamético</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Un tipo de gameto sexual</a:t>
                      </a:r>
                    </a:p>
                  </a:txBody>
                  <a:tcPr marL="91440" marR="91440" marT="45720" marB="45720" anchor="ctr">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XX produce X</a:t>
                      </a:r>
                    </a:p>
                    <a:p>
                      <a:pPr algn="l"/>
                      <a:r>
                        <a:rPr sz="2025" b="0">
                          <a:solidFill>
                            <a:srgbClr val="202520"/>
                          </a:solidFill>
                          <a:latin typeface="Times New Roman"/>
                          <a:ea typeface="Times New Roman"/>
                          <a:cs typeface="Times New Roman"/>
                        </a:rPr>
                        <a:t>ZZ produce Z</a:t>
                      </a:r>
                    </a:p>
                  </a:txBody>
                  <a:tcPr marL="91440" marR="91440" marT="45720" marB="45720" anchor="ctr">
                    <a:lnR w="9525">
                      <a:solidFill>
                        <a:srgbClr val="D5DED3"/>
                      </a:solidFill>
                      <a:prstDash val="solid"/>
                    </a:lnR>
                    <a:lnB w="9525">
                      <a:solidFill>
                        <a:srgbClr val="D5DED3"/>
                      </a:solidFill>
                      <a:prstDash val="solid"/>
                    </a:lnB>
                    <a:solidFill>
                      <a:srgbClr val="F0F5EF"/>
                    </a:solidFill>
                  </a:tcPr>
                </a:tc>
              </a:tr>
              <a:tr h="852488">
                <a:tc>
                  <a:txBody>
                    <a:bodyPr wrap="square" lIns="95250" tIns="95250" rIns="95250" bIns="95250">
                      <a:noAutofit/>
                    </a:bodyPr>
                    <a:lstStyle/>
                    <a:p>
                      <a:pPr algn="l"/>
                      <a:r>
                        <a:rPr sz="2025" b="0">
                          <a:solidFill>
                            <a:srgbClr val="202520"/>
                          </a:solidFill>
                          <a:latin typeface="Times New Roman"/>
                          <a:ea typeface="Times New Roman"/>
                          <a:cs typeface="Times New Roman"/>
                        </a:rPr>
                        <a:t>Heterogamético</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Dos tipos de gameto sexual</a:t>
                      </a:r>
                    </a:p>
                  </a:txBody>
                  <a:tcPr marL="91440" marR="91440" marT="45720" marB="45720" anchor="ctr">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XY produce X o Y</a:t>
                      </a:r>
                    </a:p>
                    <a:p>
                      <a:pPr algn="l"/>
                      <a:r>
                        <a:rPr sz="2025" b="0">
                          <a:solidFill>
                            <a:srgbClr val="202520"/>
                          </a:solidFill>
                          <a:latin typeface="Times New Roman"/>
                          <a:ea typeface="Times New Roman"/>
                          <a:cs typeface="Times New Roman"/>
                        </a:rPr>
                        <a:t>ZW produce Z o W</a:t>
                      </a:r>
                    </a:p>
                  </a:txBody>
                  <a:tcPr marL="91440" marR="91440" marT="45720" marB="45720" anchor="ctr">
                    <a:lnR w="9525">
                      <a:solidFill>
                        <a:srgbClr val="D5DED3"/>
                      </a:solidFill>
                      <a:prstDash val="solid"/>
                    </a:lnR>
                    <a:lnB w="9525">
                      <a:solidFill>
                        <a:srgbClr val="D5DED3"/>
                      </a:solidFill>
                      <a:prstDash val="solid"/>
                    </a:lnB>
                    <a:solidFill>
                      <a:srgbClr val="FFFFFF"/>
                    </a:solidFill>
                  </a:tcPr>
                </a:tc>
              </a:tr>
            </a:tbl>
          </a:graphicData>
        </a:graphic>
      </p:graphicFrame>
      <p:sp>
        <p:nvSpPr>
          <p:cNvPr id="6" name="text-4">
            <a:extLst xmlns:a="http://schemas.openxmlformats.org/drawingml/2006/main">
              <a:ext uri="{FF2B5EF4-FFF2-40B4-BE49-F238E27FC236}">
                <a16:creationId xmlns:a16="http://schemas.microsoft.com/office/drawing/2014/main" id="{B4AE9064-4CF9-41DF-8C7D-7A89F6FB02DA}"/>
              </a:ext>
            </a:extLst>
          </p:cNvPr>
          <p:cNvSpPr>
            <a:spLocks xmlns:a="http://schemas.openxmlformats.org/drawingml/2006/main" noGrp="1"/>
          </p:cNvSpPr>
          <p:nvPr/>
        </p:nvSpPr>
        <p:spPr>
          <a:xfrm xmlns:a="http://schemas.openxmlformats.org/drawingml/2006/main">
            <a:off x="609600" y="5591175"/>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41745A"/>
                </a:solidFill>
                <a:latin typeface="Times New Roman"/>
                <a:ea typeface="Times New Roman"/>
                <a:cs typeface="Times New Roman"/>
              </a:defRPr>
            </a:defPPr>
            <a:lvl1pPr algn="l">
              <a:defRPr sz="2250" b="1">
                <a:solidFill>
                  <a:srgbClr val="41745A"/>
                </a:solidFill>
                <a:latin typeface="Times New Roman"/>
                <a:ea typeface="Times New Roman"/>
                <a:cs typeface="Times New Roman"/>
              </a:defRPr>
            </a:lvl1pPr>
            <a:lvl2pPr algn="l">
              <a:defRPr sz="2250" b="1">
                <a:solidFill>
                  <a:srgbClr val="41745A"/>
                </a:solidFill>
                <a:latin typeface="Times New Roman"/>
                <a:ea typeface="Times New Roman"/>
                <a:cs typeface="Times New Roman"/>
              </a:defRPr>
            </a:lvl2pPr>
            <a:lvl3pPr algn="l">
              <a:defRPr sz="2250" b="1">
                <a:solidFill>
                  <a:srgbClr val="41745A"/>
                </a:solidFill>
                <a:latin typeface="Times New Roman"/>
                <a:ea typeface="Times New Roman"/>
                <a:cs typeface="Times New Roman"/>
              </a:defRPr>
            </a:lvl3pPr>
            <a:lvl4pPr algn="l">
              <a:defRPr sz="2250" b="1">
                <a:solidFill>
                  <a:srgbClr val="41745A"/>
                </a:solidFill>
                <a:latin typeface="Times New Roman"/>
                <a:ea typeface="Times New Roman"/>
                <a:cs typeface="Times New Roman"/>
              </a:defRPr>
            </a:lvl4pPr>
            <a:lvl5pPr algn="l">
              <a:defRPr sz="2250" b="1">
                <a:solidFill>
                  <a:srgbClr val="41745A"/>
                </a:solidFill>
                <a:latin typeface="Times New Roman"/>
                <a:ea typeface="Times New Roman"/>
                <a:cs typeface="Times New Roman"/>
              </a:defRPr>
            </a:lvl5pPr>
            <a:lvl6pPr algn="l">
              <a:defRPr sz="2250" b="1">
                <a:solidFill>
                  <a:srgbClr val="41745A"/>
                </a:solidFill>
                <a:latin typeface="Times New Roman"/>
                <a:ea typeface="Times New Roman"/>
                <a:cs typeface="Times New Roman"/>
              </a:defRPr>
            </a:lvl6pPr>
            <a:lvl7pPr algn="l">
              <a:defRPr sz="2250" b="1">
                <a:solidFill>
                  <a:srgbClr val="41745A"/>
                </a:solidFill>
                <a:latin typeface="Times New Roman"/>
                <a:ea typeface="Times New Roman"/>
                <a:cs typeface="Times New Roman"/>
              </a:defRPr>
            </a:lvl7pPr>
            <a:lvl8pPr algn="l">
              <a:defRPr sz="2250" b="1">
                <a:solidFill>
                  <a:srgbClr val="41745A"/>
                </a:solidFill>
                <a:latin typeface="Times New Roman"/>
                <a:ea typeface="Times New Roman"/>
                <a:cs typeface="Times New Roman"/>
              </a:defRPr>
            </a:lvl8pPr>
            <a:lvl9pPr algn="l">
              <a:defRPr sz="2250" b="1">
                <a:solidFill>
                  <a:srgbClr val="41745A"/>
                </a:solidFill>
                <a:latin typeface="Times New Roman"/>
                <a:ea typeface="Times New Roman"/>
                <a:cs typeface="Times New Roman"/>
              </a:defRPr>
            </a:lvl9pPr>
          </a:lstStyle>
          <a:p xmlns:a="http://schemas.openxmlformats.org/drawingml/2006/main">
            <a:pPr algn="l">
              <a:defRPr sz="2250" b="1">
                <a:solidFill>
                  <a:srgbClr val="41745A"/>
                </a:solidFill>
                <a:latin typeface="Times New Roman"/>
                <a:ea typeface="Times New Roman"/>
                <a:cs typeface="Times New Roman"/>
              </a:defRPr>
            </a:pPr>
            <a:r>
              <a:rPr sz="2250" b="1">
                <a:solidFill>
                  <a:srgbClr val="41745A"/>
                </a:solidFill>
                <a:latin typeface="Times New Roman"/>
                <a:ea typeface="Times New Roman"/>
                <a:cs typeface="Times New Roman"/>
              </a:rPr>
              <a:t>La heterogametia identifica quién aporta los dos tipos de gametos.</a:t>
            </a:r>
          </a:p>
        </p:txBody>
      </p:sp>
    </p:spTree>
    <p:extLst>
      <p:ext uri="{BB962C8B-B14F-4D97-AF65-F5344CB8AC3E}">
        <p14:creationId xmlns:p14="http://schemas.microsoft.com/office/powerpoint/2010/main" val="1561563544"/>
      </p:ext>
    </p:extLst>
  </p:cSld>
</p:sld>
</file>

<file path=ppt/slides/slide4.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913ADA5D-4098-4E01-9607-5D1651CED543}"/>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Sistema XX/XY en mamíferos</a:t>
            </a:r>
          </a:p>
        </p:txBody>
      </p:sp>
      <p:sp>
        <p:nvSpPr>
          <p:cNvPr id="2" name="">
            <a:extLst xmlns:a="http://schemas.openxmlformats.org/drawingml/2006/main">
              <a:ext uri="{FF2B5EF4-FFF2-40B4-BE49-F238E27FC236}">
                <a16:creationId xmlns:a16="http://schemas.microsoft.com/office/drawing/2014/main" id="{4143E46A-125A-4BFB-B22D-E7AFC2D41D56}"/>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1EA7E001-CD39-40CC-B581-E11493A38536}"/>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4</a:t>
            </a:r>
          </a:p>
        </p:txBody>
      </p:sp>
      <p:sp>
        <p:nvSpPr>
          <p:cNvPr id="4" name="references">
            <a:extLst xmlns:a="http://schemas.openxmlformats.org/drawingml/2006/main">
              <a:ext uri="{FF2B5EF4-FFF2-40B4-BE49-F238E27FC236}">
                <a16:creationId xmlns:a16="http://schemas.microsoft.com/office/drawing/2014/main" id="{24B7D4D3-A317-43FF-AEB6-0F4544224837}"/>
              </a:ext>
            </a:extLst>
          </p:cNvPr>
          <p:cNvSpPr>
            <a:spLocks xmlns:a="http://schemas.openxmlformats.org/drawingml/2006/main" noGrp="1"/>
          </p:cNvSpPr>
          <p:nvPr/>
        </p:nvSpPr>
        <p:spPr>
          <a:xfrm xmlns:a="http://schemas.openxmlformats.org/drawingml/2006/main">
            <a:off x="609600" y="6419850"/>
            <a:ext cx="10382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a:solidFill>
                  <a:srgbClr val="41745A"/>
                </a:solidFill>
                <a:latin typeface="Times New Roman"/>
                <a:ea typeface="Times New Roman"/>
                <a:cs typeface="Times New Roman"/>
              </a:defRPr>
            </a:defPPr>
            <a:lvl1pPr algn="l">
              <a:defRPr sz="1350">
                <a:solidFill>
                  <a:srgbClr val="41745A"/>
                </a:solidFill>
                <a:latin typeface="Times New Roman"/>
                <a:ea typeface="Times New Roman"/>
                <a:cs typeface="Times New Roman"/>
              </a:defRPr>
            </a:lvl1pPr>
            <a:lvl2pPr algn="l">
              <a:defRPr sz="1350">
                <a:solidFill>
                  <a:srgbClr val="41745A"/>
                </a:solidFill>
                <a:latin typeface="Times New Roman"/>
                <a:ea typeface="Times New Roman"/>
                <a:cs typeface="Times New Roman"/>
              </a:defRPr>
            </a:lvl2pPr>
            <a:lvl3pPr algn="l">
              <a:defRPr sz="1350">
                <a:solidFill>
                  <a:srgbClr val="41745A"/>
                </a:solidFill>
                <a:latin typeface="Times New Roman"/>
                <a:ea typeface="Times New Roman"/>
                <a:cs typeface="Times New Roman"/>
              </a:defRPr>
            </a:lvl3pPr>
            <a:lvl4pPr algn="l">
              <a:defRPr sz="1350">
                <a:solidFill>
                  <a:srgbClr val="41745A"/>
                </a:solidFill>
                <a:latin typeface="Times New Roman"/>
                <a:ea typeface="Times New Roman"/>
                <a:cs typeface="Times New Roman"/>
              </a:defRPr>
            </a:lvl4pPr>
            <a:lvl5pPr algn="l">
              <a:defRPr sz="1350">
                <a:solidFill>
                  <a:srgbClr val="41745A"/>
                </a:solidFill>
                <a:latin typeface="Times New Roman"/>
                <a:ea typeface="Times New Roman"/>
                <a:cs typeface="Times New Roman"/>
              </a:defRPr>
            </a:lvl5pPr>
            <a:lvl6pPr algn="l">
              <a:defRPr sz="1350">
                <a:solidFill>
                  <a:srgbClr val="41745A"/>
                </a:solidFill>
                <a:latin typeface="Times New Roman"/>
                <a:ea typeface="Times New Roman"/>
                <a:cs typeface="Times New Roman"/>
              </a:defRPr>
            </a:lvl6pPr>
            <a:lvl7pPr algn="l">
              <a:defRPr sz="1350">
                <a:solidFill>
                  <a:srgbClr val="41745A"/>
                </a:solidFill>
                <a:latin typeface="Times New Roman"/>
                <a:ea typeface="Times New Roman"/>
                <a:cs typeface="Times New Roman"/>
              </a:defRPr>
            </a:lvl7pPr>
            <a:lvl8pPr algn="l">
              <a:defRPr sz="1350">
                <a:solidFill>
                  <a:srgbClr val="41745A"/>
                </a:solidFill>
                <a:latin typeface="Times New Roman"/>
                <a:ea typeface="Times New Roman"/>
                <a:cs typeface="Times New Roman"/>
              </a:defRPr>
            </a:lvl8pPr>
            <a:lvl9pPr algn="l">
              <a:defRPr sz="1350">
                <a:solidFill>
                  <a:srgbClr val="41745A"/>
                </a:solidFill>
                <a:latin typeface="Times New Roman"/>
                <a:ea typeface="Times New Roman"/>
                <a:cs typeface="Times New Roman"/>
              </a:defRPr>
            </a:lvl9pPr>
          </a:lstStyle>
          <a:p xmlns:a="http://schemas.openxmlformats.org/drawingml/2006/main">
            <a:pPr algn="l">
              <a:defRPr sz="1350">
                <a:solidFill>
                  <a:srgbClr val="41745A"/>
                </a:solidFill>
                <a:latin typeface="Times New Roman"/>
                <a:ea typeface="Times New Roman"/>
                <a:cs typeface="Times New Roman"/>
              </a:defRPr>
            </a:pPr>
            <a:r>
              <a:rPr sz="1350">
                <a:solidFill>
                  <a:srgbClr val="41745A"/>
                </a:solidFill>
                <a:latin typeface="Times New Roman"/>
                <a:ea typeface="Times New Roman"/>
                <a:cs typeface="Times New Roman"/>
              </a:rPr>
              <a:t>Fuentes: [1] [2]</a:t>
            </a:r>
          </a:p>
        </p:txBody>
      </p:sp>
      <p:sp>
        <p:nvSpPr>
          <p:cNvPr id="5" name="text-4">
            <a:extLst xmlns:a="http://schemas.openxmlformats.org/drawingml/2006/main">
              <a:ext uri="{FF2B5EF4-FFF2-40B4-BE49-F238E27FC236}">
                <a16:creationId xmlns:a16="http://schemas.microsoft.com/office/drawing/2014/main" id="{7608EFD7-4CCB-4AB6-972D-508874196AF2}"/>
              </a:ext>
            </a:extLst>
          </p:cNvPr>
          <p:cNvSpPr>
            <a:spLocks xmlns:a="http://schemas.openxmlformats.org/drawingml/2006/main" noGrp="1"/>
          </p:cNvSpPr>
          <p:nvPr/>
        </p:nvSpPr>
        <p:spPr>
          <a:xfrm xmlns:a="http://schemas.openxmlformats.org/drawingml/2006/main">
            <a:off x="609600" y="180975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41745A"/>
                </a:solidFill>
                <a:latin typeface="Times New Roman"/>
                <a:ea typeface="Times New Roman"/>
                <a:cs typeface="Times New Roman"/>
              </a:defRPr>
            </a:defPPr>
            <a:lvl1pPr algn="l">
              <a:defRPr sz="2550" b="1">
                <a:solidFill>
                  <a:srgbClr val="41745A"/>
                </a:solidFill>
                <a:latin typeface="Times New Roman"/>
                <a:ea typeface="Times New Roman"/>
                <a:cs typeface="Times New Roman"/>
              </a:defRPr>
            </a:lvl1pPr>
            <a:lvl2pPr algn="l">
              <a:defRPr sz="2550" b="1">
                <a:solidFill>
                  <a:srgbClr val="41745A"/>
                </a:solidFill>
                <a:latin typeface="Times New Roman"/>
                <a:ea typeface="Times New Roman"/>
                <a:cs typeface="Times New Roman"/>
              </a:defRPr>
            </a:lvl2pPr>
            <a:lvl3pPr algn="l">
              <a:defRPr sz="2550" b="1">
                <a:solidFill>
                  <a:srgbClr val="41745A"/>
                </a:solidFill>
                <a:latin typeface="Times New Roman"/>
                <a:ea typeface="Times New Roman"/>
                <a:cs typeface="Times New Roman"/>
              </a:defRPr>
            </a:lvl3pPr>
            <a:lvl4pPr algn="l">
              <a:defRPr sz="2550" b="1">
                <a:solidFill>
                  <a:srgbClr val="41745A"/>
                </a:solidFill>
                <a:latin typeface="Times New Roman"/>
                <a:ea typeface="Times New Roman"/>
                <a:cs typeface="Times New Roman"/>
              </a:defRPr>
            </a:lvl4pPr>
            <a:lvl5pPr algn="l">
              <a:defRPr sz="2550" b="1">
                <a:solidFill>
                  <a:srgbClr val="41745A"/>
                </a:solidFill>
                <a:latin typeface="Times New Roman"/>
                <a:ea typeface="Times New Roman"/>
                <a:cs typeface="Times New Roman"/>
              </a:defRPr>
            </a:lvl5pPr>
            <a:lvl6pPr algn="l">
              <a:defRPr sz="2550" b="1">
                <a:solidFill>
                  <a:srgbClr val="41745A"/>
                </a:solidFill>
                <a:latin typeface="Times New Roman"/>
                <a:ea typeface="Times New Roman"/>
                <a:cs typeface="Times New Roman"/>
              </a:defRPr>
            </a:lvl6pPr>
            <a:lvl7pPr algn="l">
              <a:defRPr sz="2550" b="1">
                <a:solidFill>
                  <a:srgbClr val="41745A"/>
                </a:solidFill>
                <a:latin typeface="Times New Roman"/>
                <a:ea typeface="Times New Roman"/>
                <a:cs typeface="Times New Roman"/>
              </a:defRPr>
            </a:lvl7pPr>
            <a:lvl8pPr algn="l">
              <a:defRPr sz="2550" b="1">
                <a:solidFill>
                  <a:srgbClr val="41745A"/>
                </a:solidFill>
                <a:latin typeface="Times New Roman"/>
                <a:ea typeface="Times New Roman"/>
                <a:cs typeface="Times New Roman"/>
              </a:defRPr>
            </a:lvl8pPr>
            <a:lvl9pPr algn="l">
              <a:defRPr sz="2550" b="1">
                <a:solidFill>
                  <a:srgbClr val="41745A"/>
                </a:solidFill>
                <a:latin typeface="Times New Roman"/>
                <a:ea typeface="Times New Roman"/>
                <a:cs typeface="Times New Roman"/>
              </a:defRPr>
            </a:lvl9pPr>
          </a:lstStyle>
          <a:p xmlns:a="http://schemas.openxmlformats.org/drawingml/2006/main">
            <a:pPr algn="l">
              <a:defRPr sz="2550" b="1">
                <a:solidFill>
                  <a:srgbClr val="41745A"/>
                </a:solidFill>
                <a:latin typeface="Times New Roman"/>
                <a:ea typeface="Times New Roman"/>
                <a:cs typeface="Times New Roman"/>
              </a:defRPr>
            </a:pPr>
            <a:r>
              <a:rPr sz="2550" b="1">
                <a:solidFill>
                  <a:srgbClr val="41745A"/>
                </a:solidFill>
                <a:latin typeface="Times New Roman"/>
                <a:ea typeface="Times New Roman"/>
                <a:cs typeface="Times New Roman"/>
              </a:rPr>
              <a:t>Hembra XX × macho XY</a:t>
            </a:r>
          </a:p>
        </p:txBody>
      </p:sp>
      <p:graphicFrame>
        <p:nvGraphicFramePr>
          <p:cNvPr id="6" name="">
            <a:extLst xmlns:a="http://schemas.openxmlformats.org/drawingml/2006/main">
              <a:ext uri="{FF2B5EF4-FFF2-40B4-BE49-F238E27FC236}">
                <a16:creationId xmlns:a16="http://schemas.microsoft.com/office/drawing/2014/main" id="{2365DCFF-2298-489C-9FAC-5CF7314AEEF9}"/>
              </a:ext>
            </a:extLst>
          </p:cNvPr>
          <p:cNvGraphicFramePr/>
          <p:nvPr/>
        </p:nvGraphicFramePr>
        <p:xfrm>
          <a:off xmlns:a="http://schemas.openxmlformats.org/drawingml/2006/main" x="609600" y="2533650"/>
          <a:ext xmlns:a="http://schemas.openxmlformats.org/drawingml/2006/main" cx="6572250" cy="2857500"/>
        </p:xfrm>
        <a:graphic xmlns:a="http://schemas.openxmlformats.org/drawingml/2006/main">
          <a:graphicData uri="http://schemas.openxmlformats.org/drawingml/2006/table">
            <a:tbl>
              <a:tblPr firstRow="1" bandRow="0"/>
              <a:tblGrid>
                <a:gridCol w="3333750"/>
                <a:gridCol w="1619250"/>
                <a:gridCol w="1619250"/>
              </a:tblGrid>
              <a:tr h="952500">
                <a:tc>
                  <a:txBody>
                    <a:bodyPr wrap="square" lIns="95250" tIns="95250" rIns="95250" bIns="95250">
                      <a:noAutofit/>
                    </a:bodyPr>
                    <a:lstStyle/>
                    <a:p>
                      <a:pPr algn="l"/>
                      <a:r>
                        <a:rPr sz="2400" b="1">
                          <a:solidFill>
                            <a:srgbClr val="FFFFFF"/>
                          </a:solidFill>
                          <a:latin typeface="Times New Roman"/>
                          <a:ea typeface="Times New Roman"/>
                          <a:cs typeface="Times New Roman"/>
                        </a:rPr>
                        <a:t>Óvulo / espermatozoide</a:t>
                      </a:r>
                    </a:p>
                  </a:txBody>
                  <a:tcPr marL="91440" marR="91440" marT="45720" marB="45720" anchor="ctr">
                    <a:lnL w="9525">
                      <a:solidFill>
                        <a:srgbClr val="D5DED3"/>
                      </a:solidFill>
                      <a:prstDash val="solid"/>
                    </a:lnL>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c>
                  <a:txBody>
                    <a:bodyPr wrap="square" lIns="95250" tIns="95250" rIns="95250" bIns="95250">
                      <a:noAutofit/>
                    </a:bodyPr>
                    <a:lstStyle/>
                    <a:p>
                      <a:pPr algn="l"/>
                      <a:r>
                        <a:rPr sz="2400" b="1">
                          <a:solidFill>
                            <a:srgbClr val="FFFFFF"/>
                          </a:solidFill>
                          <a:latin typeface="Times New Roman"/>
                          <a:ea typeface="Times New Roman"/>
                          <a:cs typeface="Times New Roman"/>
                        </a:rPr>
                        <a:t>X</a:t>
                      </a:r>
                    </a:p>
                  </a:txBody>
                  <a:tcPr marL="91440" marR="91440" marT="45720" marB="45720" anchor="ctr">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c>
                  <a:txBody>
                    <a:bodyPr wrap="square" lIns="95250" tIns="95250" rIns="95250" bIns="95250">
                      <a:noAutofit/>
                    </a:bodyPr>
                    <a:lstStyle/>
                    <a:p>
                      <a:pPr algn="l"/>
                      <a:r>
                        <a:rPr sz="2400" b="1">
                          <a:solidFill>
                            <a:srgbClr val="FFFFFF"/>
                          </a:solidFill>
                          <a:latin typeface="Times New Roman"/>
                          <a:ea typeface="Times New Roman"/>
                          <a:cs typeface="Times New Roman"/>
                        </a:rPr>
                        <a:t>Y</a:t>
                      </a:r>
                    </a:p>
                  </a:txBody>
                  <a:tcPr marL="91440" marR="91440" marT="45720" marB="45720" anchor="ctr">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r>
              <a:tr h="952500">
                <a:tc>
                  <a:txBody>
                    <a:bodyPr wrap="square" lIns="95250" tIns="95250" rIns="95250" bIns="95250">
                      <a:noAutofit/>
                    </a:bodyPr>
                    <a:lstStyle/>
                    <a:p>
                      <a:pPr algn="l"/>
                      <a:r>
                        <a:rPr sz="2400" b="0">
                          <a:solidFill>
                            <a:srgbClr val="202520"/>
                          </a:solidFill>
                          <a:latin typeface="Times New Roman"/>
                          <a:ea typeface="Times New Roman"/>
                          <a:cs typeface="Times New Roman"/>
                        </a:rPr>
                        <a:t>X</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400" b="0">
                          <a:solidFill>
                            <a:srgbClr val="202520"/>
                          </a:solidFill>
                          <a:latin typeface="Times New Roman"/>
                          <a:ea typeface="Times New Roman"/>
                          <a:cs typeface="Times New Roman"/>
                        </a:rPr>
                        <a:t>XX</a:t>
                      </a:r>
                    </a:p>
                  </a:txBody>
                  <a:tcPr marL="91440" marR="91440" marT="45720" marB="45720" anchor="ctr">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400" b="0">
                          <a:solidFill>
                            <a:srgbClr val="202520"/>
                          </a:solidFill>
                          <a:latin typeface="Times New Roman"/>
                          <a:ea typeface="Times New Roman"/>
                          <a:cs typeface="Times New Roman"/>
                        </a:rPr>
                        <a:t>XY</a:t>
                      </a:r>
                    </a:p>
                  </a:txBody>
                  <a:tcPr marL="91440" marR="91440" marT="45720" marB="45720" anchor="ctr">
                    <a:lnR w="9525">
                      <a:solidFill>
                        <a:srgbClr val="D5DED3"/>
                      </a:solidFill>
                      <a:prstDash val="solid"/>
                    </a:lnR>
                    <a:lnB w="9525">
                      <a:solidFill>
                        <a:srgbClr val="D5DED3"/>
                      </a:solidFill>
                      <a:prstDash val="solid"/>
                    </a:lnB>
                    <a:solidFill>
                      <a:srgbClr val="FFFFFF"/>
                    </a:solidFill>
                  </a:tcPr>
                </a:tc>
              </a:tr>
              <a:tr h="952500">
                <a:tc>
                  <a:txBody>
                    <a:bodyPr wrap="square" lIns="95250" tIns="95250" rIns="95250" bIns="95250">
                      <a:noAutofit/>
                    </a:bodyPr>
                    <a:lstStyle/>
                    <a:p>
                      <a:pPr algn="l"/>
                      <a:r>
                        <a:rPr sz="2400" b="0">
                          <a:solidFill>
                            <a:srgbClr val="202520"/>
                          </a:solidFill>
                          <a:latin typeface="Times New Roman"/>
                          <a:ea typeface="Times New Roman"/>
                          <a:cs typeface="Times New Roman"/>
                        </a:rPr>
                        <a:t>X</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2400" b="0">
                          <a:solidFill>
                            <a:srgbClr val="202520"/>
                          </a:solidFill>
                          <a:latin typeface="Times New Roman"/>
                          <a:ea typeface="Times New Roman"/>
                          <a:cs typeface="Times New Roman"/>
                        </a:rPr>
                        <a:t>XX</a:t>
                      </a:r>
                    </a:p>
                  </a:txBody>
                  <a:tcPr marL="91440" marR="91440" marT="45720" marB="45720" anchor="ctr">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2400" b="0">
                          <a:solidFill>
                            <a:srgbClr val="202520"/>
                          </a:solidFill>
                          <a:latin typeface="Times New Roman"/>
                          <a:ea typeface="Times New Roman"/>
                          <a:cs typeface="Times New Roman"/>
                        </a:rPr>
                        <a:t>XY</a:t>
                      </a:r>
                    </a:p>
                  </a:txBody>
                  <a:tcPr marL="91440" marR="91440" marT="45720" marB="45720" anchor="ctr">
                    <a:lnR w="9525">
                      <a:solidFill>
                        <a:srgbClr val="D5DED3"/>
                      </a:solidFill>
                      <a:prstDash val="solid"/>
                    </a:lnR>
                    <a:lnB w="9525">
                      <a:solidFill>
                        <a:srgbClr val="D5DED3"/>
                      </a:solidFill>
                      <a:prstDash val="solid"/>
                    </a:lnB>
                    <a:solidFill>
                      <a:srgbClr val="F0F5EF"/>
                    </a:solidFill>
                  </a:tcPr>
                </a:tc>
              </a:tr>
            </a:tbl>
          </a:graphicData>
        </a:graphic>
      </p:graphicFrame>
      <p:sp>
        <p:nvSpPr>
          <p:cNvPr id="7" name="text-5">
            <a:extLst xmlns:a="http://schemas.openxmlformats.org/drawingml/2006/main">
              <a:ext uri="{FF2B5EF4-FFF2-40B4-BE49-F238E27FC236}">
                <a16:creationId xmlns:a16="http://schemas.microsoft.com/office/drawing/2014/main" id="{E397745C-11D1-487B-820F-85D015FCB8C3}"/>
              </a:ext>
            </a:extLst>
          </p:cNvPr>
          <p:cNvSpPr>
            <a:spLocks xmlns:a="http://schemas.openxmlformats.org/drawingml/2006/main" noGrp="1"/>
          </p:cNvSpPr>
          <p:nvPr/>
        </p:nvSpPr>
        <p:spPr>
          <a:xfrm xmlns:a="http://schemas.openxmlformats.org/drawingml/2006/main">
            <a:off x="7743825" y="2638425"/>
            <a:ext cx="3714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83F31"/>
                </a:solidFill>
                <a:latin typeface="Times New Roman"/>
                <a:ea typeface="Times New Roman"/>
                <a:cs typeface="Times New Roman"/>
              </a:defRPr>
            </a:defPPr>
            <a:lvl1pPr algn="l">
              <a:defRPr sz="2400" b="1">
                <a:solidFill>
                  <a:srgbClr val="183F31"/>
                </a:solidFill>
                <a:latin typeface="Times New Roman"/>
                <a:ea typeface="Times New Roman"/>
                <a:cs typeface="Times New Roman"/>
              </a:defRPr>
            </a:lvl1pPr>
            <a:lvl2pPr algn="l">
              <a:defRPr sz="2400" b="1">
                <a:solidFill>
                  <a:srgbClr val="183F31"/>
                </a:solidFill>
                <a:latin typeface="Times New Roman"/>
                <a:ea typeface="Times New Roman"/>
                <a:cs typeface="Times New Roman"/>
              </a:defRPr>
            </a:lvl2pPr>
            <a:lvl3pPr algn="l">
              <a:defRPr sz="2400" b="1">
                <a:solidFill>
                  <a:srgbClr val="183F31"/>
                </a:solidFill>
                <a:latin typeface="Times New Roman"/>
                <a:ea typeface="Times New Roman"/>
                <a:cs typeface="Times New Roman"/>
              </a:defRPr>
            </a:lvl3pPr>
            <a:lvl4pPr algn="l">
              <a:defRPr sz="2400" b="1">
                <a:solidFill>
                  <a:srgbClr val="183F31"/>
                </a:solidFill>
                <a:latin typeface="Times New Roman"/>
                <a:ea typeface="Times New Roman"/>
                <a:cs typeface="Times New Roman"/>
              </a:defRPr>
            </a:lvl4pPr>
            <a:lvl5pPr algn="l">
              <a:defRPr sz="2400" b="1">
                <a:solidFill>
                  <a:srgbClr val="183F31"/>
                </a:solidFill>
                <a:latin typeface="Times New Roman"/>
                <a:ea typeface="Times New Roman"/>
                <a:cs typeface="Times New Roman"/>
              </a:defRPr>
            </a:lvl5pPr>
            <a:lvl6pPr algn="l">
              <a:defRPr sz="2400" b="1">
                <a:solidFill>
                  <a:srgbClr val="183F31"/>
                </a:solidFill>
                <a:latin typeface="Times New Roman"/>
                <a:ea typeface="Times New Roman"/>
                <a:cs typeface="Times New Roman"/>
              </a:defRPr>
            </a:lvl6pPr>
            <a:lvl7pPr algn="l">
              <a:defRPr sz="2400" b="1">
                <a:solidFill>
                  <a:srgbClr val="183F31"/>
                </a:solidFill>
                <a:latin typeface="Times New Roman"/>
                <a:ea typeface="Times New Roman"/>
                <a:cs typeface="Times New Roman"/>
              </a:defRPr>
            </a:lvl7pPr>
            <a:lvl8pPr algn="l">
              <a:defRPr sz="2400" b="1">
                <a:solidFill>
                  <a:srgbClr val="183F31"/>
                </a:solidFill>
                <a:latin typeface="Times New Roman"/>
                <a:ea typeface="Times New Roman"/>
                <a:cs typeface="Times New Roman"/>
              </a:defRPr>
            </a:lvl8pPr>
            <a:lvl9pPr algn="l">
              <a:defRPr sz="2400" b="1">
                <a:solidFill>
                  <a:srgbClr val="183F31"/>
                </a:solidFill>
                <a:latin typeface="Times New Roman"/>
                <a:ea typeface="Times New Roman"/>
                <a:cs typeface="Times New Roman"/>
              </a:defRPr>
            </a:lvl9pPr>
          </a:lstStyle>
          <a:p xmlns:a="http://schemas.openxmlformats.org/drawingml/2006/main">
            <a:pPr algn="l">
              <a:defRPr sz="2400" b="1">
                <a:solidFill>
                  <a:srgbClr val="183F31"/>
                </a:solidFill>
                <a:latin typeface="Times New Roman"/>
                <a:ea typeface="Times New Roman"/>
                <a:cs typeface="Times New Roman"/>
              </a:defRPr>
            </a:pPr>
            <a:r>
              <a:rPr sz="2400" b="1">
                <a:solidFill>
                  <a:srgbClr val="183F31"/>
                </a:solidFill>
                <a:latin typeface="Times New Roman"/>
                <a:ea typeface="Times New Roman"/>
                <a:cs typeface="Times New Roman"/>
              </a:rPr>
              <a:t>Macho heterogamético</a:t>
            </a:r>
          </a:p>
        </p:txBody>
      </p:sp>
      <p:sp>
        <p:nvSpPr>
          <p:cNvPr id="8" name="text-6">
            <a:extLst xmlns:a="http://schemas.openxmlformats.org/drawingml/2006/main">
              <a:ext uri="{FF2B5EF4-FFF2-40B4-BE49-F238E27FC236}">
                <a16:creationId xmlns:a16="http://schemas.microsoft.com/office/drawing/2014/main" id="{D5DCB691-17D6-4E16-A579-529536A580B2}"/>
              </a:ext>
            </a:extLst>
          </p:cNvPr>
          <p:cNvSpPr>
            <a:spLocks xmlns:a="http://schemas.openxmlformats.org/drawingml/2006/main" noGrp="1"/>
          </p:cNvSpPr>
          <p:nvPr/>
        </p:nvSpPr>
        <p:spPr>
          <a:xfrm xmlns:a="http://schemas.openxmlformats.org/drawingml/2006/main">
            <a:off x="7743825" y="3238500"/>
            <a:ext cx="36195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a:solidFill>
                  <a:srgbClr val="202520"/>
                </a:solidFill>
                <a:latin typeface="Times New Roman"/>
                <a:ea typeface="Times New Roman"/>
                <a:cs typeface="Times New Roman"/>
              </a:defRPr>
            </a:defPPr>
            <a:lvl1pPr algn="l">
              <a:defRPr sz="2250">
                <a:solidFill>
                  <a:srgbClr val="202520"/>
                </a:solidFill>
                <a:latin typeface="Times New Roman"/>
                <a:ea typeface="Times New Roman"/>
                <a:cs typeface="Times New Roman"/>
              </a:defRPr>
            </a:lvl1pPr>
            <a:lvl2pPr algn="l">
              <a:defRPr sz="2250">
                <a:solidFill>
                  <a:srgbClr val="202520"/>
                </a:solidFill>
                <a:latin typeface="Times New Roman"/>
                <a:ea typeface="Times New Roman"/>
                <a:cs typeface="Times New Roman"/>
              </a:defRPr>
            </a:lvl2pPr>
            <a:lvl3pPr algn="l">
              <a:defRPr sz="2250">
                <a:solidFill>
                  <a:srgbClr val="202520"/>
                </a:solidFill>
                <a:latin typeface="Times New Roman"/>
                <a:ea typeface="Times New Roman"/>
                <a:cs typeface="Times New Roman"/>
              </a:defRPr>
            </a:lvl3pPr>
            <a:lvl4pPr algn="l">
              <a:defRPr sz="2250">
                <a:solidFill>
                  <a:srgbClr val="202520"/>
                </a:solidFill>
                <a:latin typeface="Times New Roman"/>
                <a:ea typeface="Times New Roman"/>
                <a:cs typeface="Times New Roman"/>
              </a:defRPr>
            </a:lvl4pPr>
            <a:lvl5pPr algn="l">
              <a:defRPr sz="2250">
                <a:solidFill>
                  <a:srgbClr val="202520"/>
                </a:solidFill>
                <a:latin typeface="Times New Roman"/>
                <a:ea typeface="Times New Roman"/>
                <a:cs typeface="Times New Roman"/>
              </a:defRPr>
            </a:lvl5pPr>
            <a:lvl6pPr algn="l">
              <a:defRPr sz="2250">
                <a:solidFill>
                  <a:srgbClr val="202520"/>
                </a:solidFill>
                <a:latin typeface="Times New Roman"/>
                <a:ea typeface="Times New Roman"/>
                <a:cs typeface="Times New Roman"/>
              </a:defRPr>
            </a:lvl6pPr>
            <a:lvl7pPr algn="l">
              <a:defRPr sz="2250">
                <a:solidFill>
                  <a:srgbClr val="202520"/>
                </a:solidFill>
                <a:latin typeface="Times New Roman"/>
                <a:ea typeface="Times New Roman"/>
                <a:cs typeface="Times New Roman"/>
              </a:defRPr>
            </a:lvl7pPr>
            <a:lvl8pPr algn="l">
              <a:defRPr sz="2250">
                <a:solidFill>
                  <a:srgbClr val="202520"/>
                </a:solidFill>
                <a:latin typeface="Times New Roman"/>
                <a:ea typeface="Times New Roman"/>
                <a:cs typeface="Times New Roman"/>
              </a:defRPr>
            </a:lvl8pPr>
            <a:lvl9pPr algn="l">
              <a:defRPr sz="2250">
                <a:solidFill>
                  <a:srgbClr val="202520"/>
                </a:solidFill>
                <a:latin typeface="Times New Roman"/>
                <a:ea typeface="Times New Roman"/>
                <a:cs typeface="Times New Roman"/>
              </a:defRPr>
            </a:lvl9pPr>
          </a:lstStyle>
          <a:p xmlns:a="http://schemas.openxmlformats.org/drawingml/2006/main">
            <a:pPr algn="l">
              <a:defRPr sz="2250">
                <a:solidFill>
                  <a:srgbClr val="202520"/>
                </a:solidFill>
                <a:latin typeface="Times New Roman"/>
                <a:ea typeface="Times New Roman"/>
                <a:cs typeface="Times New Roman"/>
              </a:defRPr>
            </a:pPr>
            <a:r>
              <a:rPr sz="2250">
                <a:solidFill>
                  <a:srgbClr val="202520"/>
                </a:solidFill>
                <a:latin typeface="Times New Roman"/>
                <a:ea typeface="Times New Roman"/>
                <a:cs typeface="Times New Roman"/>
              </a:rPr>
              <a:t>Gametos X o Y</a:t>
            </a:r>
          </a:p>
          <a:p xmlns:a="http://schemas.openxmlformats.org/drawingml/2006/main">
            <a:r>
              <a:t/>
            </a:r>
          </a:p>
          <a:p xmlns:a="http://schemas.openxmlformats.org/drawingml/2006/main">
            <a:pPr algn="l">
              <a:defRPr sz="2250">
                <a:solidFill>
                  <a:srgbClr val="202520"/>
                </a:solidFill>
                <a:latin typeface="Times New Roman"/>
                <a:ea typeface="Times New Roman"/>
                <a:cs typeface="Times New Roman"/>
              </a:defRPr>
            </a:pPr>
            <a:r>
              <a:rPr sz="2250">
                <a:solidFill>
                  <a:srgbClr val="202520"/>
                </a:solidFill>
                <a:latin typeface="Times New Roman"/>
                <a:ea typeface="Times New Roman"/>
                <a:cs typeface="Times New Roman"/>
              </a:rPr>
              <a:t>Expectativa teórica</a:t>
            </a:r>
          </a:p>
          <a:p xmlns:a="http://schemas.openxmlformats.org/drawingml/2006/main">
            <a:pPr algn="l">
              <a:defRPr sz="2250">
                <a:solidFill>
                  <a:srgbClr val="202520"/>
                </a:solidFill>
                <a:latin typeface="Times New Roman"/>
                <a:ea typeface="Times New Roman"/>
                <a:cs typeface="Times New Roman"/>
              </a:defRPr>
            </a:pPr>
            <a:r>
              <a:rPr sz="2250">
                <a:solidFill>
                  <a:srgbClr val="202520"/>
                </a:solidFill>
                <a:latin typeface="Times New Roman"/>
                <a:ea typeface="Times New Roman"/>
                <a:cs typeface="Times New Roman"/>
              </a:rPr>
              <a:t>½ XX y ½ XY</a:t>
            </a:r>
          </a:p>
        </p:txBody>
      </p:sp>
      <p:sp>
        <p:nvSpPr>
          <p:cNvPr id="9" name="text-7">
            <a:extLst xmlns:a="http://schemas.openxmlformats.org/drawingml/2006/main">
              <a:ext uri="{FF2B5EF4-FFF2-40B4-BE49-F238E27FC236}">
                <a16:creationId xmlns:a16="http://schemas.microsoft.com/office/drawing/2014/main" id="{92CAC3BF-AB55-4B1E-B3DC-EA75B1D0906C}"/>
              </a:ext>
            </a:extLst>
          </p:cNvPr>
          <p:cNvSpPr>
            <a:spLocks xmlns:a="http://schemas.openxmlformats.org/drawingml/2006/main" noGrp="1"/>
          </p:cNvSpPr>
          <p:nvPr/>
        </p:nvSpPr>
        <p:spPr>
          <a:xfrm xmlns:a="http://schemas.openxmlformats.org/drawingml/2006/main">
            <a:off x="609600" y="5791200"/>
            <a:ext cx="1076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a:solidFill>
                  <a:srgbClr val="41745A"/>
                </a:solidFill>
                <a:latin typeface="Times New Roman"/>
                <a:ea typeface="Times New Roman"/>
                <a:cs typeface="Times New Roman"/>
              </a:defRPr>
            </a:defPPr>
            <a:lvl1pPr algn="l">
              <a:defRPr sz="1950">
                <a:solidFill>
                  <a:srgbClr val="41745A"/>
                </a:solidFill>
                <a:latin typeface="Times New Roman"/>
                <a:ea typeface="Times New Roman"/>
                <a:cs typeface="Times New Roman"/>
              </a:defRPr>
            </a:lvl1pPr>
            <a:lvl2pPr algn="l">
              <a:defRPr sz="1950">
                <a:solidFill>
                  <a:srgbClr val="41745A"/>
                </a:solidFill>
                <a:latin typeface="Times New Roman"/>
                <a:ea typeface="Times New Roman"/>
                <a:cs typeface="Times New Roman"/>
              </a:defRPr>
            </a:lvl2pPr>
            <a:lvl3pPr algn="l">
              <a:defRPr sz="1950">
                <a:solidFill>
                  <a:srgbClr val="41745A"/>
                </a:solidFill>
                <a:latin typeface="Times New Roman"/>
                <a:ea typeface="Times New Roman"/>
                <a:cs typeface="Times New Roman"/>
              </a:defRPr>
            </a:lvl3pPr>
            <a:lvl4pPr algn="l">
              <a:defRPr sz="1950">
                <a:solidFill>
                  <a:srgbClr val="41745A"/>
                </a:solidFill>
                <a:latin typeface="Times New Roman"/>
                <a:ea typeface="Times New Roman"/>
                <a:cs typeface="Times New Roman"/>
              </a:defRPr>
            </a:lvl4pPr>
            <a:lvl5pPr algn="l">
              <a:defRPr sz="1950">
                <a:solidFill>
                  <a:srgbClr val="41745A"/>
                </a:solidFill>
                <a:latin typeface="Times New Roman"/>
                <a:ea typeface="Times New Roman"/>
                <a:cs typeface="Times New Roman"/>
              </a:defRPr>
            </a:lvl5pPr>
            <a:lvl6pPr algn="l">
              <a:defRPr sz="1950">
                <a:solidFill>
                  <a:srgbClr val="41745A"/>
                </a:solidFill>
                <a:latin typeface="Times New Roman"/>
                <a:ea typeface="Times New Roman"/>
                <a:cs typeface="Times New Roman"/>
              </a:defRPr>
            </a:lvl6pPr>
            <a:lvl7pPr algn="l">
              <a:defRPr sz="1950">
                <a:solidFill>
                  <a:srgbClr val="41745A"/>
                </a:solidFill>
                <a:latin typeface="Times New Roman"/>
                <a:ea typeface="Times New Roman"/>
                <a:cs typeface="Times New Roman"/>
              </a:defRPr>
            </a:lvl7pPr>
            <a:lvl8pPr algn="l">
              <a:defRPr sz="1950">
                <a:solidFill>
                  <a:srgbClr val="41745A"/>
                </a:solidFill>
                <a:latin typeface="Times New Roman"/>
                <a:ea typeface="Times New Roman"/>
                <a:cs typeface="Times New Roman"/>
              </a:defRPr>
            </a:lvl8pPr>
            <a:lvl9pPr algn="l">
              <a:defRPr sz="1950">
                <a:solidFill>
                  <a:srgbClr val="41745A"/>
                </a:solidFill>
                <a:latin typeface="Times New Roman"/>
                <a:ea typeface="Times New Roman"/>
                <a:cs typeface="Times New Roman"/>
              </a:defRPr>
            </a:lvl9pPr>
          </a:lstStyle>
          <a:p xmlns:a="http://schemas.openxmlformats.org/drawingml/2006/main">
            <a:pPr algn="l">
              <a:defRPr sz="1950">
                <a:solidFill>
                  <a:srgbClr val="41745A"/>
                </a:solidFill>
                <a:latin typeface="Times New Roman"/>
                <a:ea typeface="Times New Roman"/>
                <a:cs typeface="Times New Roman"/>
              </a:defRPr>
            </a:pPr>
            <a:r>
              <a:rPr sz="1950">
                <a:solidFill>
                  <a:srgbClr val="41745A"/>
                </a:solidFill>
                <a:latin typeface="Times New Roman"/>
                <a:ea typeface="Times New Roman"/>
                <a:cs typeface="Times New Roman"/>
              </a:rPr>
              <a:t>La proporción de una camada puede diferir de 1:1.</a:t>
            </a:r>
          </a:p>
        </p:txBody>
      </p:sp>
    </p:spTree>
    <p:extLst>
      <p:ext uri="{BB962C8B-B14F-4D97-AF65-F5344CB8AC3E}">
        <p14:creationId xmlns:p14="http://schemas.microsoft.com/office/powerpoint/2010/main" val="1486714990"/>
      </p:ext>
    </p:extLst>
  </p:cSld>
</p:sld>
</file>

<file path=ppt/slides/slide5.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1B418F05-C97F-439D-9844-6F9E0EDDBD09}"/>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Sistema ZZ/ZW en aves</a:t>
            </a:r>
          </a:p>
        </p:txBody>
      </p:sp>
      <p:sp>
        <p:nvSpPr>
          <p:cNvPr id="2" name="">
            <a:extLst xmlns:a="http://schemas.openxmlformats.org/drawingml/2006/main">
              <a:ext uri="{FF2B5EF4-FFF2-40B4-BE49-F238E27FC236}">
                <a16:creationId xmlns:a16="http://schemas.microsoft.com/office/drawing/2014/main" id="{15622C6B-993F-483C-A881-640504581BF8}"/>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C5A67658-A2AE-4B99-A69B-65E667085E9C}"/>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5</a:t>
            </a:r>
          </a:p>
        </p:txBody>
      </p:sp>
      <p:sp>
        <p:nvSpPr>
          <p:cNvPr id="4" name="references">
            <a:extLst xmlns:a="http://schemas.openxmlformats.org/drawingml/2006/main">
              <a:ext uri="{FF2B5EF4-FFF2-40B4-BE49-F238E27FC236}">
                <a16:creationId xmlns:a16="http://schemas.microsoft.com/office/drawing/2014/main" id="{2C4054AC-3DBE-4B9A-9210-977D0A24F9A0}"/>
              </a:ext>
            </a:extLst>
          </p:cNvPr>
          <p:cNvSpPr>
            <a:spLocks xmlns:a="http://schemas.openxmlformats.org/drawingml/2006/main" noGrp="1"/>
          </p:cNvSpPr>
          <p:nvPr/>
        </p:nvSpPr>
        <p:spPr>
          <a:xfrm xmlns:a="http://schemas.openxmlformats.org/drawingml/2006/main">
            <a:off x="609600" y="6419850"/>
            <a:ext cx="10382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a:solidFill>
                  <a:srgbClr val="41745A"/>
                </a:solidFill>
                <a:latin typeface="Times New Roman"/>
                <a:ea typeface="Times New Roman"/>
                <a:cs typeface="Times New Roman"/>
              </a:defRPr>
            </a:defPPr>
            <a:lvl1pPr algn="l">
              <a:defRPr sz="1350">
                <a:solidFill>
                  <a:srgbClr val="41745A"/>
                </a:solidFill>
                <a:latin typeface="Times New Roman"/>
                <a:ea typeface="Times New Roman"/>
                <a:cs typeface="Times New Roman"/>
              </a:defRPr>
            </a:lvl1pPr>
            <a:lvl2pPr algn="l">
              <a:defRPr sz="1350">
                <a:solidFill>
                  <a:srgbClr val="41745A"/>
                </a:solidFill>
                <a:latin typeface="Times New Roman"/>
                <a:ea typeface="Times New Roman"/>
                <a:cs typeface="Times New Roman"/>
              </a:defRPr>
            </a:lvl2pPr>
            <a:lvl3pPr algn="l">
              <a:defRPr sz="1350">
                <a:solidFill>
                  <a:srgbClr val="41745A"/>
                </a:solidFill>
                <a:latin typeface="Times New Roman"/>
                <a:ea typeface="Times New Roman"/>
                <a:cs typeface="Times New Roman"/>
              </a:defRPr>
            </a:lvl3pPr>
            <a:lvl4pPr algn="l">
              <a:defRPr sz="1350">
                <a:solidFill>
                  <a:srgbClr val="41745A"/>
                </a:solidFill>
                <a:latin typeface="Times New Roman"/>
                <a:ea typeface="Times New Roman"/>
                <a:cs typeface="Times New Roman"/>
              </a:defRPr>
            </a:lvl4pPr>
            <a:lvl5pPr algn="l">
              <a:defRPr sz="1350">
                <a:solidFill>
                  <a:srgbClr val="41745A"/>
                </a:solidFill>
                <a:latin typeface="Times New Roman"/>
                <a:ea typeface="Times New Roman"/>
                <a:cs typeface="Times New Roman"/>
              </a:defRPr>
            </a:lvl5pPr>
            <a:lvl6pPr algn="l">
              <a:defRPr sz="1350">
                <a:solidFill>
                  <a:srgbClr val="41745A"/>
                </a:solidFill>
                <a:latin typeface="Times New Roman"/>
                <a:ea typeface="Times New Roman"/>
                <a:cs typeface="Times New Roman"/>
              </a:defRPr>
            </a:lvl6pPr>
            <a:lvl7pPr algn="l">
              <a:defRPr sz="1350">
                <a:solidFill>
                  <a:srgbClr val="41745A"/>
                </a:solidFill>
                <a:latin typeface="Times New Roman"/>
                <a:ea typeface="Times New Roman"/>
                <a:cs typeface="Times New Roman"/>
              </a:defRPr>
            </a:lvl7pPr>
            <a:lvl8pPr algn="l">
              <a:defRPr sz="1350">
                <a:solidFill>
                  <a:srgbClr val="41745A"/>
                </a:solidFill>
                <a:latin typeface="Times New Roman"/>
                <a:ea typeface="Times New Roman"/>
                <a:cs typeface="Times New Roman"/>
              </a:defRPr>
            </a:lvl8pPr>
            <a:lvl9pPr algn="l">
              <a:defRPr sz="1350">
                <a:solidFill>
                  <a:srgbClr val="41745A"/>
                </a:solidFill>
                <a:latin typeface="Times New Roman"/>
                <a:ea typeface="Times New Roman"/>
                <a:cs typeface="Times New Roman"/>
              </a:defRPr>
            </a:lvl9pPr>
          </a:lstStyle>
          <a:p xmlns:a="http://schemas.openxmlformats.org/drawingml/2006/main">
            <a:pPr algn="l">
              <a:defRPr sz="1350">
                <a:solidFill>
                  <a:srgbClr val="41745A"/>
                </a:solidFill>
                <a:latin typeface="Times New Roman"/>
                <a:ea typeface="Times New Roman"/>
                <a:cs typeface="Times New Roman"/>
              </a:defRPr>
            </a:pPr>
            <a:r>
              <a:rPr sz="1350">
                <a:solidFill>
                  <a:srgbClr val="41745A"/>
                </a:solidFill>
                <a:latin typeface="Times New Roman"/>
                <a:ea typeface="Times New Roman"/>
                <a:cs typeface="Times New Roman"/>
              </a:rPr>
              <a:t>Fuentes: [3]</a:t>
            </a:r>
          </a:p>
        </p:txBody>
      </p:sp>
      <p:sp>
        <p:nvSpPr>
          <p:cNvPr id="5" name="text-4">
            <a:extLst xmlns:a="http://schemas.openxmlformats.org/drawingml/2006/main">
              <a:ext uri="{FF2B5EF4-FFF2-40B4-BE49-F238E27FC236}">
                <a16:creationId xmlns:a16="http://schemas.microsoft.com/office/drawing/2014/main" id="{7B7BBDCC-CC27-4215-8CB3-814ABACE91CD}"/>
              </a:ext>
            </a:extLst>
          </p:cNvPr>
          <p:cNvSpPr>
            <a:spLocks xmlns:a="http://schemas.openxmlformats.org/drawingml/2006/main" noGrp="1"/>
          </p:cNvSpPr>
          <p:nvPr/>
        </p:nvSpPr>
        <p:spPr>
          <a:xfrm xmlns:a="http://schemas.openxmlformats.org/drawingml/2006/main">
            <a:off x="609600" y="180975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41745A"/>
                </a:solidFill>
                <a:latin typeface="Times New Roman"/>
                <a:ea typeface="Times New Roman"/>
                <a:cs typeface="Times New Roman"/>
              </a:defRPr>
            </a:defPPr>
            <a:lvl1pPr algn="l">
              <a:defRPr sz="2550" b="1">
                <a:solidFill>
                  <a:srgbClr val="41745A"/>
                </a:solidFill>
                <a:latin typeface="Times New Roman"/>
                <a:ea typeface="Times New Roman"/>
                <a:cs typeface="Times New Roman"/>
              </a:defRPr>
            </a:lvl1pPr>
            <a:lvl2pPr algn="l">
              <a:defRPr sz="2550" b="1">
                <a:solidFill>
                  <a:srgbClr val="41745A"/>
                </a:solidFill>
                <a:latin typeface="Times New Roman"/>
                <a:ea typeface="Times New Roman"/>
                <a:cs typeface="Times New Roman"/>
              </a:defRPr>
            </a:lvl2pPr>
            <a:lvl3pPr algn="l">
              <a:defRPr sz="2550" b="1">
                <a:solidFill>
                  <a:srgbClr val="41745A"/>
                </a:solidFill>
                <a:latin typeface="Times New Roman"/>
                <a:ea typeface="Times New Roman"/>
                <a:cs typeface="Times New Roman"/>
              </a:defRPr>
            </a:lvl3pPr>
            <a:lvl4pPr algn="l">
              <a:defRPr sz="2550" b="1">
                <a:solidFill>
                  <a:srgbClr val="41745A"/>
                </a:solidFill>
                <a:latin typeface="Times New Roman"/>
                <a:ea typeface="Times New Roman"/>
                <a:cs typeface="Times New Roman"/>
              </a:defRPr>
            </a:lvl4pPr>
            <a:lvl5pPr algn="l">
              <a:defRPr sz="2550" b="1">
                <a:solidFill>
                  <a:srgbClr val="41745A"/>
                </a:solidFill>
                <a:latin typeface="Times New Roman"/>
                <a:ea typeface="Times New Roman"/>
                <a:cs typeface="Times New Roman"/>
              </a:defRPr>
            </a:lvl5pPr>
            <a:lvl6pPr algn="l">
              <a:defRPr sz="2550" b="1">
                <a:solidFill>
                  <a:srgbClr val="41745A"/>
                </a:solidFill>
                <a:latin typeface="Times New Roman"/>
                <a:ea typeface="Times New Roman"/>
                <a:cs typeface="Times New Roman"/>
              </a:defRPr>
            </a:lvl6pPr>
            <a:lvl7pPr algn="l">
              <a:defRPr sz="2550" b="1">
                <a:solidFill>
                  <a:srgbClr val="41745A"/>
                </a:solidFill>
                <a:latin typeface="Times New Roman"/>
                <a:ea typeface="Times New Roman"/>
                <a:cs typeface="Times New Roman"/>
              </a:defRPr>
            </a:lvl7pPr>
            <a:lvl8pPr algn="l">
              <a:defRPr sz="2550" b="1">
                <a:solidFill>
                  <a:srgbClr val="41745A"/>
                </a:solidFill>
                <a:latin typeface="Times New Roman"/>
                <a:ea typeface="Times New Roman"/>
                <a:cs typeface="Times New Roman"/>
              </a:defRPr>
            </a:lvl8pPr>
            <a:lvl9pPr algn="l">
              <a:defRPr sz="2550" b="1">
                <a:solidFill>
                  <a:srgbClr val="41745A"/>
                </a:solidFill>
                <a:latin typeface="Times New Roman"/>
                <a:ea typeface="Times New Roman"/>
                <a:cs typeface="Times New Roman"/>
              </a:defRPr>
            </a:lvl9pPr>
          </a:lstStyle>
          <a:p xmlns:a="http://schemas.openxmlformats.org/drawingml/2006/main">
            <a:pPr algn="l">
              <a:defRPr sz="2550" b="1">
                <a:solidFill>
                  <a:srgbClr val="41745A"/>
                </a:solidFill>
                <a:latin typeface="Times New Roman"/>
                <a:ea typeface="Times New Roman"/>
                <a:cs typeface="Times New Roman"/>
              </a:defRPr>
            </a:pPr>
            <a:r>
              <a:rPr sz="2550" b="1">
                <a:solidFill>
                  <a:srgbClr val="41745A"/>
                </a:solidFill>
                <a:latin typeface="Times New Roman"/>
                <a:ea typeface="Times New Roman"/>
                <a:cs typeface="Times New Roman"/>
              </a:rPr>
              <a:t>Hembra ZW × macho ZZ</a:t>
            </a:r>
          </a:p>
        </p:txBody>
      </p:sp>
      <p:graphicFrame>
        <p:nvGraphicFramePr>
          <p:cNvPr id="6" name="">
            <a:extLst xmlns:a="http://schemas.openxmlformats.org/drawingml/2006/main">
              <a:ext uri="{FF2B5EF4-FFF2-40B4-BE49-F238E27FC236}">
                <a16:creationId xmlns:a16="http://schemas.microsoft.com/office/drawing/2014/main" id="{E11C6DE8-DA6F-4D57-87C3-D120EFA23C56}"/>
              </a:ext>
            </a:extLst>
          </p:cNvPr>
          <p:cNvGraphicFramePr/>
          <p:nvPr/>
        </p:nvGraphicFramePr>
        <p:xfrm>
          <a:off xmlns:a="http://schemas.openxmlformats.org/drawingml/2006/main" x="609600" y="2533650"/>
          <a:ext xmlns:a="http://schemas.openxmlformats.org/drawingml/2006/main" cx="6572250" cy="2857500"/>
        </p:xfrm>
        <a:graphic xmlns:a="http://schemas.openxmlformats.org/drawingml/2006/main">
          <a:graphicData uri="http://schemas.openxmlformats.org/drawingml/2006/table">
            <a:tbl>
              <a:tblPr firstRow="1" bandRow="0"/>
              <a:tblGrid>
                <a:gridCol w="3333750"/>
                <a:gridCol w="1619250"/>
                <a:gridCol w="1619250"/>
              </a:tblGrid>
              <a:tr h="952500">
                <a:tc>
                  <a:txBody>
                    <a:bodyPr wrap="square" lIns="95250" tIns="95250" rIns="95250" bIns="95250">
                      <a:noAutofit/>
                    </a:bodyPr>
                    <a:lstStyle/>
                    <a:p>
                      <a:pPr algn="l"/>
                      <a:r>
                        <a:rPr sz="2400" b="1">
                          <a:solidFill>
                            <a:srgbClr val="FFFFFF"/>
                          </a:solidFill>
                          <a:latin typeface="Times New Roman"/>
                          <a:ea typeface="Times New Roman"/>
                          <a:cs typeface="Times New Roman"/>
                        </a:rPr>
                        <a:t>Óvulo / espermatozoide</a:t>
                      </a:r>
                    </a:p>
                  </a:txBody>
                  <a:tcPr marL="91440" marR="91440" marT="45720" marB="45720" anchor="ctr">
                    <a:lnL w="9525">
                      <a:solidFill>
                        <a:srgbClr val="D5DED3"/>
                      </a:solidFill>
                      <a:prstDash val="solid"/>
                    </a:lnL>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c>
                  <a:txBody>
                    <a:bodyPr wrap="square" lIns="95250" tIns="95250" rIns="95250" bIns="95250">
                      <a:noAutofit/>
                    </a:bodyPr>
                    <a:lstStyle/>
                    <a:p>
                      <a:pPr algn="l"/>
                      <a:r>
                        <a:rPr sz="2400" b="1">
                          <a:solidFill>
                            <a:srgbClr val="FFFFFF"/>
                          </a:solidFill>
                          <a:latin typeface="Times New Roman"/>
                          <a:ea typeface="Times New Roman"/>
                          <a:cs typeface="Times New Roman"/>
                        </a:rPr>
                        <a:t>Z</a:t>
                      </a:r>
                    </a:p>
                  </a:txBody>
                  <a:tcPr marL="91440" marR="91440" marT="45720" marB="45720" anchor="ctr">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c>
                  <a:txBody>
                    <a:bodyPr wrap="square" lIns="95250" tIns="95250" rIns="95250" bIns="95250">
                      <a:noAutofit/>
                    </a:bodyPr>
                    <a:lstStyle/>
                    <a:p>
                      <a:pPr algn="l"/>
                      <a:r>
                        <a:rPr sz="2400" b="1">
                          <a:solidFill>
                            <a:srgbClr val="FFFFFF"/>
                          </a:solidFill>
                          <a:latin typeface="Times New Roman"/>
                          <a:ea typeface="Times New Roman"/>
                          <a:cs typeface="Times New Roman"/>
                        </a:rPr>
                        <a:t>Z</a:t>
                      </a:r>
                    </a:p>
                  </a:txBody>
                  <a:tcPr marL="91440" marR="91440" marT="45720" marB="45720" anchor="ctr">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r>
              <a:tr h="952500">
                <a:tc>
                  <a:txBody>
                    <a:bodyPr wrap="square" lIns="95250" tIns="95250" rIns="95250" bIns="95250">
                      <a:noAutofit/>
                    </a:bodyPr>
                    <a:lstStyle/>
                    <a:p>
                      <a:pPr algn="l"/>
                      <a:r>
                        <a:rPr sz="2400" b="0">
                          <a:solidFill>
                            <a:srgbClr val="202520"/>
                          </a:solidFill>
                          <a:latin typeface="Times New Roman"/>
                          <a:ea typeface="Times New Roman"/>
                          <a:cs typeface="Times New Roman"/>
                        </a:rPr>
                        <a:t>Z</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400" b="0">
                          <a:solidFill>
                            <a:srgbClr val="202520"/>
                          </a:solidFill>
                          <a:latin typeface="Times New Roman"/>
                          <a:ea typeface="Times New Roman"/>
                          <a:cs typeface="Times New Roman"/>
                        </a:rPr>
                        <a:t>ZZ</a:t>
                      </a:r>
                    </a:p>
                  </a:txBody>
                  <a:tcPr marL="91440" marR="91440" marT="45720" marB="45720" anchor="ctr">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400" b="0">
                          <a:solidFill>
                            <a:srgbClr val="202520"/>
                          </a:solidFill>
                          <a:latin typeface="Times New Roman"/>
                          <a:ea typeface="Times New Roman"/>
                          <a:cs typeface="Times New Roman"/>
                        </a:rPr>
                        <a:t>ZZ</a:t>
                      </a:r>
                    </a:p>
                  </a:txBody>
                  <a:tcPr marL="91440" marR="91440" marT="45720" marB="45720" anchor="ctr">
                    <a:lnR w="9525">
                      <a:solidFill>
                        <a:srgbClr val="D5DED3"/>
                      </a:solidFill>
                      <a:prstDash val="solid"/>
                    </a:lnR>
                    <a:lnB w="9525">
                      <a:solidFill>
                        <a:srgbClr val="D5DED3"/>
                      </a:solidFill>
                      <a:prstDash val="solid"/>
                    </a:lnB>
                    <a:solidFill>
                      <a:srgbClr val="FFFFFF"/>
                    </a:solidFill>
                  </a:tcPr>
                </a:tc>
              </a:tr>
              <a:tr h="952500">
                <a:tc>
                  <a:txBody>
                    <a:bodyPr wrap="square" lIns="95250" tIns="95250" rIns="95250" bIns="95250">
                      <a:noAutofit/>
                    </a:bodyPr>
                    <a:lstStyle/>
                    <a:p>
                      <a:pPr algn="l"/>
                      <a:r>
                        <a:rPr sz="2400" b="0">
                          <a:solidFill>
                            <a:srgbClr val="202520"/>
                          </a:solidFill>
                          <a:latin typeface="Times New Roman"/>
                          <a:ea typeface="Times New Roman"/>
                          <a:cs typeface="Times New Roman"/>
                        </a:rPr>
                        <a:t>W</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2400" b="0">
                          <a:solidFill>
                            <a:srgbClr val="202520"/>
                          </a:solidFill>
                          <a:latin typeface="Times New Roman"/>
                          <a:ea typeface="Times New Roman"/>
                          <a:cs typeface="Times New Roman"/>
                        </a:rPr>
                        <a:t>ZW</a:t>
                      </a:r>
                    </a:p>
                  </a:txBody>
                  <a:tcPr marL="91440" marR="91440" marT="45720" marB="45720" anchor="ctr">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2400" b="0">
                          <a:solidFill>
                            <a:srgbClr val="202520"/>
                          </a:solidFill>
                          <a:latin typeface="Times New Roman"/>
                          <a:ea typeface="Times New Roman"/>
                          <a:cs typeface="Times New Roman"/>
                        </a:rPr>
                        <a:t>ZW</a:t>
                      </a:r>
                    </a:p>
                  </a:txBody>
                  <a:tcPr marL="91440" marR="91440" marT="45720" marB="45720" anchor="ctr">
                    <a:lnR w="9525">
                      <a:solidFill>
                        <a:srgbClr val="D5DED3"/>
                      </a:solidFill>
                      <a:prstDash val="solid"/>
                    </a:lnR>
                    <a:lnB w="9525">
                      <a:solidFill>
                        <a:srgbClr val="D5DED3"/>
                      </a:solidFill>
                      <a:prstDash val="solid"/>
                    </a:lnB>
                    <a:solidFill>
                      <a:srgbClr val="F0F5EF"/>
                    </a:solidFill>
                  </a:tcPr>
                </a:tc>
              </a:tr>
            </a:tbl>
          </a:graphicData>
        </a:graphic>
      </p:graphicFrame>
      <p:sp>
        <p:nvSpPr>
          <p:cNvPr id="7" name="text-5">
            <a:extLst xmlns:a="http://schemas.openxmlformats.org/drawingml/2006/main">
              <a:ext uri="{FF2B5EF4-FFF2-40B4-BE49-F238E27FC236}">
                <a16:creationId xmlns:a16="http://schemas.microsoft.com/office/drawing/2014/main" id="{9786712D-3DAB-4DC6-A58E-6F8B036E4E4B}"/>
              </a:ext>
            </a:extLst>
          </p:cNvPr>
          <p:cNvSpPr>
            <a:spLocks xmlns:a="http://schemas.openxmlformats.org/drawingml/2006/main" noGrp="1"/>
          </p:cNvSpPr>
          <p:nvPr/>
        </p:nvSpPr>
        <p:spPr>
          <a:xfrm xmlns:a="http://schemas.openxmlformats.org/drawingml/2006/main">
            <a:off x="7743825" y="2638425"/>
            <a:ext cx="3714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83F31"/>
                </a:solidFill>
                <a:latin typeface="Times New Roman"/>
                <a:ea typeface="Times New Roman"/>
                <a:cs typeface="Times New Roman"/>
              </a:defRPr>
            </a:defPPr>
            <a:lvl1pPr algn="l">
              <a:defRPr sz="2400" b="1">
                <a:solidFill>
                  <a:srgbClr val="183F31"/>
                </a:solidFill>
                <a:latin typeface="Times New Roman"/>
                <a:ea typeface="Times New Roman"/>
                <a:cs typeface="Times New Roman"/>
              </a:defRPr>
            </a:lvl1pPr>
            <a:lvl2pPr algn="l">
              <a:defRPr sz="2400" b="1">
                <a:solidFill>
                  <a:srgbClr val="183F31"/>
                </a:solidFill>
                <a:latin typeface="Times New Roman"/>
                <a:ea typeface="Times New Roman"/>
                <a:cs typeface="Times New Roman"/>
              </a:defRPr>
            </a:lvl2pPr>
            <a:lvl3pPr algn="l">
              <a:defRPr sz="2400" b="1">
                <a:solidFill>
                  <a:srgbClr val="183F31"/>
                </a:solidFill>
                <a:latin typeface="Times New Roman"/>
                <a:ea typeface="Times New Roman"/>
                <a:cs typeface="Times New Roman"/>
              </a:defRPr>
            </a:lvl3pPr>
            <a:lvl4pPr algn="l">
              <a:defRPr sz="2400" b="1">
                <a:solidFill>
                  <a:srgbClr val="183F31"/>
                </a:solidFill>
                <a:latin typeface="Times New Roman"/>
                <a:ea typeface="Times New Roman"/>
                <a:cs typeface="Times New Roman"/>
              </a:defRPr>
            </a:lvl4pPr>
            <a:lvl5pPr algn="l">
              <a:defRPr sz="2400" b="1">
                <a:solidFill>
                  <a:srgbClr val="183F31"/>
                </a:solidFill>
                <a:latin typeface="Times New Roman"/>
                <a:ea typeface="Times New Roman"/>
                <a:cs typeface="Times New Roman"/>
              </a:defRPr>
            </a:lvl5pPr>
            <a:lvl6pPr algn="l">
              <a:defRPr sz="2400" b="1">
                <a:solidFill>
                  <a:srgbClr val="183F31"/>
                </a:solidFill>
                <a:latin typeface="Times New Roman"/>
                <a:ea typeface="Times New Roman"/>
                <a:cs typeface="Times New Roman"/>
              </a:defRPr>
            </a:lvl6pPr>
            <a:lvl7pPr algn="l">
              <a:defRPr sz="2400" b="1">
                <a:solidFill>
                  <a:srgbClr val="183F31"/>
                </a:solidFill>
                <a:latin typeface="Times New Roman"/>
                <a:ea typeface="Times New Roman"/>
                <a:cs typeface="Times New Roman"/>
              </a:defRPr>
            </a:lvl7pPr>
            <a:lvl8pPr algn="l">
              <a:defRPr sz="2400" b="1">
                <a:solidFill>
                  <a:srgbClr val="183F31"/>
                </a:solidFill>
                <a:latin typeface="Times New Roman"/>
                <a:ea typeface="Times New Roman"/>
                <a:cs typeface="Times New Roman"/>
              </a:defRPr>
            </a:lvl8pPr>
            <a:lvl9pPr algn="l">
              <a:defRPr sz="2400" b="1">
                <a:solidFill>
                  <a:srgbClr val="183F31"/>
                </a:solidFill>
                <a:latin typeface="Times New Roman"/>
                <a:ea typeface="Times New Roman"/>
                <a:cs typeface="Times New Roman"/>
              </a:defRPr>
            </a:lvl9pPr>
          </a:lstStyle>
          <a:p xmlns:a="http://schemas.openxmlformats.org/drawingml/2006/main">
            <a:pPr algn="l">
              <a:defRPr sz="2400" b="1">
                <a:solidFill>
                  <a:srgbClr val="183F31"/>
                </a:solidFill>
                <a:latin typeface="Times New Roman"/>
                <a:ea typeface="Times New Roman"/>
                <a:cs typeface="Times New Roman"/>
              </a:defRPr>
            </a:pPr>
            <a:r>
              <a:rPr sz="2400" b="1">
                <a:solidFill>
                  <a:srgbClr val="183F31"/>
                </a:solidFill>
                <a:latin typeface="Times New Roman"/>
                <a:ea typeface="Times New Roman"/>
                <a:cs typeface="Times New Roman"/>
              </a:rPr>
              <a:t>Hembra heterogamética</a:t>
            </a:r>
          </a:p>
        </p:txBody>
      </p:sp>
      <p:sp>
        <p:nvSpPr>
          <p:cNvPr id="8" name="text-6">
            <a:extLst xmlns:a="http://schemas.openxmlformats.org/drawingml/2006/main">
              <a:ext uri="{FF2B5EF4-FFF2-40B4-BE49-F238E27FC236}">
                <a16:creationId xmlns:a16="http://schemas.microsoft.com/office/drawing/2014/main" id="{334EB985-F45C-4EC5-B3B2-93AD949DCE7E}"/>
              </a:ext>
            </a:extLst>
          </p:cNvPr>
          <p:cNvSpPr>
            <a:spLocks xmlns:a="http://schemas.openxmlformats.org/drawingml/2006/main" noGrp="1"/>
          </p:cNvSpPr>
          <p:nvPr/>
        </p:nvSpPr>
        <p:spPr>
          <a:xfrm xmlns:a="http://schemas.openxmlformats.org/drawingml/2006/main">
            <a:off x="7743825" y="3238500"/>
            <a:ext cx="36195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a:solidFill>
                  <a:srgbClr val="202520"/>
                </a:solidFill>
                <a:latin typeface="Times New Roman"/>
                <a:ea typeface="Times New Roman"/>
                <a:cs typeface="Times New Roman"/>
              </a:defRPr>
            </a:defPPr>
            <a:lvl1pPr algn="l">
              <a:defRPr sz="2250">
                <a:solidFill>
                  <a:srgbClr val="202520"/>
                </a:solidFill>
                <a:latin typeface="Times New Roman"/>
                <a:ea typeface="Times New Roman"/>
                <a:cs typeface="Times New Roman"/>
              </a:defRPr>
            </a:lvl1pPr>
            <a:lvl2pPr algn="l">
              <a:defRPr sz="2250">
                <a:solidFill>
                  <a:srgbClr val="202520"/>
                </a:solidFill>
                <a:latin typeface="Times New Roman"/>
                <a:ea typeface="Times New Roman"/>
                <a:cs typeface="Times New Roman"/>
              </a:defRPr>
            </a:lvl2pPr>
            <a:lvl3pPr algn="l">
              <a:defRPr sz="2250">
                <a:solidFill>
                  <a:srgbClr val="202520"/>
                </a:solidFill>
                <a:latin typeface="Times New Roman"/>
                <a:ea typeface="Times New Roman"/>
                <a:cs typeface="Times New Roman"/>
              </a:defRPr>
            </a:lvl3pPr>
            <a:lvl4pPr algn="l">
              <a:defRPr sz="2250">
                <a:solidFill>
                  <a:srgbClr val="202520"/>
                </a:solidFill>
                <a:latin typeface="Times New Roman"/>
                <a:ea typeface="Times New Roman"/>
                <a:cs typeface="Times New Roman"/>
              </a:defRPr>
            </a:lvl4pPr>
            <a:lvl5pPr algn="l">
              <a:defRPr sz="2250">
                <a:solidFill>
                  <a:srgbClr val="202520"/>
                </a:solidFill>
                <a:latin typeface="Times New Roman"/>
                <a:ea typeface="Times New Roman"/>
                <a:cs typeface="Times New Roman"/>
              </a:defRPr>
            </a:lvl5pPr>
            <a:lvl6pPr algn="l">
              <a:defRPr sz="2250">
                <a:solidFill>
                  <a:srgbClr val="202520"/>
                </a:solidFill>
                <a:latin typeface="Times New Roman"/>
                <a:ea typeface="Times New Roman"/>
                <a:cs typeface="Times New Roman"/>
              </a:defRPr>
            </a:lvl6pPr>
            <a:lvl7pPr algn="l">
              <a:defRPr sz="2250">
                <a:solidFill>
                  <a:srgbClr val="202520"/>
                </a:solidFill>
                <a:latin typeface="Times New Roman"/>
                <a:ea typeface="Times New Roman"/>
                <a:cs typeface="Times New Roman"/>
              </a:defRPr>
            </a:lvl7pPr>
            <a:lvl8pPr algn="l">
              <a:defRPr sz="2250">
                <a:solidFill>
                  <a:srgbClr val="202520"/>
                </a:solidFill>
                <a:latin typeface="Times New Roman"/>
                <a:ea typeface="Times New Roman"/>
                <a:cs typeface="Times New Roman"/>
              </a:defRPr>
            </a:lvl8pPr>
            <a:lvl9pPr algn="l">
              <a:defRPr sz="2250">
                <a:solidFill>
                  <a:srgbClr val="202520"/>
                </a:solidFill>
                <a:latin typeface="Times New Roman"/>
                <a:ea typeface="Times New Roman"/>
                <a:cs typeface="Times New Roman"/>
              </a:defRPr>
            </a:lvl9pPr>
          </a:lstStyle>
          <a:p xmlns:a="http://schemas.openxmlformats.org/drawingml/2006/main">
            <a:pPr algn="l">
              <a:defRPr sz="2250">
                <a:solidFill>
                  <a:srgbClr val="202520"/>
                </a:solidFill>
                <a:latin typeface="Times New Roman"/>
                <a:ea typeface="Times New Roman"/>
                <a:cs typeface="Times New Roman"/>
              </a:defRPr>
            </a:pPr>
            <a:r>
              <a:rPr sz="2250">
                <a:solidFill>
                  <a:srgbClr val="202520"/>
                </a:solidFill>
                <a:latin typeface="Times New Roman"/>
                <a:ea typeface="Times New Roman"/>
                <a:cs typeface="Times New Roman"/>
              </a:rPr>
              <a:t>Gametos Z o W</a:t>
            </a:r>
          </a:p>
          <a:p xmlns:a="http://schemas.openxmlformats.org/drawingml/2006/main">
            <a:r>
              <a:t/>
            </a:r>
          </a:p>
          <a:p xmlns:a="http://schemas.openxmlformats.org/drawingml/2006/main">
            <a:pPr algn="l">
              <a:defRPr sz="2250">
                <a:solidFill>
                  <a:srgbClr val="202520"/>
                </a:solidFill>
                <a:latin typeface="Times New Roman"/>
                <a:ea typeface="Times New Roman"/>
                <a:cs typeface="Times New Roman"/>
              </a:defRPr>
            </a:pPr>
            <a:r>
              <a:rPr sz="2250">
                <a:solidFill>
                  <a:srgbClr val="202520"/>
                </a:solidFill>
                <a:latin typeface="Times New Roman"/>
                <a:ea typeface="Times New Roman"/>
                <a:cs typeface="Times New Roman"/>
              </a:rPr>
              <a:t>Expectativa teórica</a:t>
            </a:r>
          </a:p>
          <a:p xmlns:a="http://schemas.openxmlformats.org/drawingml/2006/main">
            <a:pPr algn="l">
              <a:defRPr sz="2250">
                <a:solidFill>
                  <a:srgbClr val="202520"/>
                </a:solidFill>
                <a:latin typeface="Times New Roman"/>
                <a:ea typeface="Times New Roman"/>
                <a:cs typeface="Times New Roman"/>
              </a:defRPr>
            </a:pPr>
            <a:r>
              <a:rPr sz="2250">
                <a:solidFill>
                  <a:srgbClr val="202520"/>
                </a:solidFill>
                <a:latin typeface="Times New Roman"/>
                <a:ea typeface="Times New Roman"/>
                <a:cs typeface="Times New Roman"/>
              </a:rPr>
              <a:t>½ ZZ y ½ ZW</a:t>
            </a:r>
          </a:p>
        </p:txBody>
      </p:sp>
      <p:sp>
        <p:nvSpPr>
          <p:cNvPr id="9" name="text-7">
            <a:extLst xmlns:a="http://schemas.openxmlformats.org/drawingml/2006/main">
              <a:ext uri="{FF2B5EF4-FFF2-40B4-BE49-F238E27FC236}">
                <a16:creationId xmlns:a16="http://schemas.microsoft.com/office/drawing/2014/main" id="{4933F197-A37D-4E22-BE9A-72509C64E04B}"/>
              </a:ext>
            </a:extLst>
          </p:cNvPr>
          <p:cNvSpPr>
            <a:spLocks xmlns:a="http://schemas.openxmlformats.org/drawingml/2006/main" noGrp="1"/>
          </p:cNvSpPr>
          <p:nvPr/>
        </p:nvSpPr>
        <p:spPr>
          <a:xfrm xmlns:a="http://schemas.openxmlformats.org/drawingml/2006/main">
            <a:off x="609600" y="5791200"/>
            <a:ext cx="1076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a:solidFill>
                  <a:srgbClr val="41745A"/>
                </a:solidFill>
                <a:latin typeface="Times New Roman"/>
                <a:ea typeface="Times New Roman"/>
                <a:cs typeface="Times New Roman"/>
              </a:defRPr>
            </a:defPPr>
            <a:lvl1pPr algn="l">
              <a:defRPr sz="1950">
                <a:solidFill>
                  <a:srgbClr val="41745A"/>
                </a:solidFill>
                <a:latin typeface="Times New Roman"/>
                <a:ea typeface="Times New Roman"/>
                <a:cs typeface="Times New Roman"/>
              </a:defRPr>
            </a:lvl1pPr>
            <a:lvl2pPr algn="l">
              <a:defRPr sz="1950">
                <a:solidFill>
                  <a:srgbClr val="41745A"/>
                </a:solidFill>
                <a:latin typeface="Times New Roman"/>
                <a:ea typeface="Times New Roman"/>
                <a:cs typeface="Times New Roman"/>
              </a:defRPr>
            </a:lvl2pPr>
            <a:lvl3pPr algn="l">
              <a:defRPr sz="1950">
                <a:solidFill>
                  <a:srgbClr val="41745A"/>
                </a:solidFill>
                <a:latin typeface="Times New Roman"/>
                <a:ea typeface="Times New Roman"/>
                <a:cs typeface="Times New Roman"/>
              </a:defRPr>
            </a:lvl3pPr>
            <a:lvl4pPr algn="l">
              <a:defRPr sz="1950">
                <a:solidFill>
                  <a:srgbClr val="41745A"/>
                </a:solidFill>
                <a:latin typeface="Times New Roman"/>
                <a:ea typeface="Times New Roman"/>
                <a:cs typeface="Times New Roman"/>
              </a:defRPr>
            </a:lvl4pPr>
            <a:lvl5pPr algn="l">
              <a:defRPr sz="1950">
                <a:solidFill>
                  <a:srgbClr val="41745A"/>
                </a:solidFill>
                <a:latin typeface="Times New Roman"/>
                <a:ea typeface="Times New Roman"/>
                <a:cs typeface="Times New Roman"/>
              </a:defRPr>
            </a:lvl5pPr>
            <a:lvl6pPr algn="l">
              <a:defRPr sz="1950">
                <a:solidFill>
                  <a:srgbClr val="41745A"/>
                </a:solidFill>
                <a:latin typeface="Times New Roman"/>
                <a:ea typeface="Times New Roman"/>
                <a:cs typeface="Times New Roman"/>
              </a:defRPr>
            </a:lvl6pPr>
            <a:lvl7pPr algn="l">
              <a:defRPr sz="1950">
                <a:solidFill>
                  <a:srgbClr val="41745A"/>
                </a:solidFill>
                <a:latin typeface="Times New Roman"/>
                <a:ea typeface="Times New Roman"/>
                <a:cs typeface="Times New Roman"/>
              </a:defRPr>
            </a:lvl7pPr>
            <a:lvl8pPr algn="l">
              <a:defRPr sz="1950">
                <a:solidFill>
                  <a:srgbClr val="41745A"/>
                </a:solidFill>
                <a:latin typeface="Times New Roman"/>
                <a:ea typeface="Times New Roman"/>
                <a:cs typeface="Times New Roman"/>
              </a:defRPr>
            </a:lvl8pPr>
            <a:lvl9pPr algn="l">
              <a:defRPr sz="1950">
                <a:solidFill>
                  <a:srgbClr val="41745A"/>
                </a:solidFill>
                <a:latin typeface="Times New Roman"/>
                <a:ea typeface="Times New Roman"/>
                <a:cs typeface="Times New Roman"/>
              </a:defRPr>
            </a:lvl9pPr>
          </a:lstStyle>
          <a:p xmlns:a="http://schemas.openxmlformats.org/drawingml/2006/main">
            <a:pPr algn="l">
              <a:defRPr sz="1950">
                <a:solidFill>
                  <a:srgbClr val="41745A"/>
                </a:solidFill>
                <a:latin typeface="Times New Roman"/>
                <a:ea typeface="Times New Roman"/>
                <a:cs typeface="Times New Roman"/>
              </a:defRPr>
            </a:pPr>
            <a:r>
              <a:rPr sz="1950">
                <a:solidFill>
                  <a:srgbClr val="41745A"/>
                </a:solidFill>
                <a:latin typeface="Times New Roman"/>
                <a:ea typeface="Times New Roman"/>
                <a:cs typeface="Times New Roman"/>
              </a:rPr>
              <a:t>En aves, la dosis de DMRT1 participa en la determinación gonadal.</a:t>
            </a:r>
          </a:p>
        </p:txBody>
      </p:sp>
    </p:spTree>
    <p:extLst>
      <p:ext uri="{BB962C8B-B14F-4D97-AF65-F5344CB8AC3E}">
        <p14:creationId xmlns:p14="http://schemas.microsoft.com/office/powerpoint/2010/main" val="725772637"/>
      </p:ext>
    </p:extLst>
  </p:cSld>
</p:sld>
</file>

<file path=ppt/slides/slide6.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4D5742DF-DEFA-4F72-881F-73691650CD11}"/>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Sistemas de determinación sexual</a:t>
            </a:r>
          </a:p>
        </p:txBody>
      </p:sp>
      <p:sp>
        <p:nvSpPr>
          <p:cNvPr id="2" name="">
            <a:extLst xmlns:a="http://schemas.openxmlformats.org/drawingml/2006/main">
              <a:ext uri="{FF2B5EF4-FFF2-40B4-BE49-F238E27FC236}">
                <a16:creationId xmlns:a16="http://schemas.microsoft.com/office/drawing/2014/main" id="{135BBE37-ECCD-4FC1-8007-2B9A529AE412}"/>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015BC705-12C7-443F-B4B2-BDB61295AA91}"/>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6</a:t>
            </a:r>
          </a:p>
        </p:txBody>
      </p:sp>
      <p:sp>
        <p:nvSpPr>
          <p:cNvPr id="4" name="references">
            <a:extLst xmlns:a="http://schemas.openxmlformats.org/drawingml/2006/main">
              <a:ext uri="{FF2B5EF4-FFF2-40B4-BE49-F238E27FC236}">
                <a16:creationId xmlns:a16="http://schemas.microsoft.com/office/drawing/2014/main" id="{63B6474F-4F24-4595-AB02-A5C472345D4A}"/>
              </a:ext>
            </a:extLst>
          </p:cNvPr>
          <p:cNvSpPr>
            <a:spLocks xmlns:a="http://schemas.openxmlformats.org/drawingml/2006/main" noGrp="1"/>
          </p:cNvSpPr>
          <p:nvPr/>
        </p:nvSpPr>
        <p:spPr>
          <a:xfrm xmlns:a="http://schemas.openxmlformats.org/drawingml/2006/main">
            <a:off x="609600" y="6419850"/>
            <a:ext cx="10382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a:solidFill>
                  <a:srgbClr val="41745A"/>
                </a:solidFill>
                <a:latin typeface="Times New Roman"/>
                <a:ea typeface="Times New Roman"/>
                <a:cs typeface="Times New Roman"/>
              </a:defRPr>
            </a:defPPr>
            <a:lvl1pPr algn="l">
              <a:defRPr sz="1350">
                <a:solidFill>
                  <a:srgbClr val="41745A"/>
                </a:solidFill>
                <a:latin typeface="Times New Roman"/>
                <a:ea typeface="Times New Roman"/>
                <a:cs typeface="Times New Roman"/>
              </a:defRPr>
            </a:lvl1pPr>
            <a:lvl2pPr algn="l">
              <a:defRPr sz="1350">
                <a:solidFill>
                  <a:srgbClr val="41745A"/>
                </a:solidFill>
                <a:latin typeface="Times New Roman"/>
                <a:ea typeface="Times New Roman"/>
                <a:cs typeface="Times New Roman"/>
              </a:defRPr>
            </a:lvl2pPr>
            <a:lvl3pPr algn="l">
              <a:defRPr sz="1350">
                <a:solidFill>
                  <a:srgbClr val="41745A"/>
                </a:solidFill>
                <a:latin typeface="Times New Roman"/>
                <a:ea typeface="Times New Roman"/>
                <a:cs typeface="Times New Roman"/>
              </a:defRPr>
            </a:lvl3pPr>
            <a:lvl4pPr algn="l">
              <a:defRPr sz="1350">
                <a:solidFill>
                  <a:srgbClr val="41745A"/>
                </a:solidFill>
                <a:latin typeface="Times New Roman"/>
                <a:ea typeface="Times New Roman"/>
                <a:cs typeface="Times New Roman"/>
              </a:defRPr>
            </a:lvl4pPr>
            <a:lvl5pPr algn="l">
              <a:defRPr sz="1350">
                <a:solidFill>
                  <a:srgbClr val="41745A"/>
                </a:solidFill>
                <a:latin typeface="Times New Roman"/>
                <a:ea typeface="Times New Roman"/>
                <a:cs typeface="Times New Roman"/>
              </a:defRPr>
            </a:lvl5pPr>
            <a:lvl6pPr algn="l">
              <a:defRPr sz="1350">
                <a:solidFill>
                  <a:srgbClr val="41745A"/>
                </a:solidFill>
                <a:latin typeface="Times New Roman"/>
                <a:ea typeface="Times New Roman"/>
                <a:cs typeface="Times New Roman"/>
              </a:defRPr>
            </a:lvl6pPr>
            <a:lvl7pPr algn="l">
              <a:defRPr sz="1350">
                <a:solidFill>
                  <a:srgbClr val="41745A"/>
                </a:solidFill>
                <a:latin typeface="Times New Roman"/>
                <a:ea typeface="Times New Roman"/>
                <a:cs typeface="Times New Roman"/>
              </a:defRPr>
            </a:lvl7pPr>
            <a:lvl8pPr algn="l">
              <a:defRPr sz="1350">
                <a:solidFill>
                  <a:srgbClr val="41745A"/>
                </a:solidFill>
                <a:latin typeface="Times New Roman"/>
                <a:ea typeface="Times New Roman"/>
                <a:cs typeface="Times New Roman"/>
              </a:defRPr>
            </a:lvl8pPr>
            <a:lvl9pPr algn="l">
              <a:defRPr sz="1350">
                <a:solidFill>
                  <a:srgbClr val="41745A"/>
                </a:solidFill>
                <a:latin typeface="Times New Roman"/>
                <a:ea typeface="Times New Roman"/>
                <a:cs typeface="Times New Roman"/>
              </a:defRPr>
            </a:lvl9pPr>
          </a:lstStyle>
          <a:p xmlns:a="http://schemas.openxmlformats.org/drawingml/2006/main">
            <a:pPr algn="l">
              <a:defRPr sz="1350">
                <a:solidFill>
                  <a:srgbClr val="41745A"/>
                </a:solidFill>
                <a:latin typeface="Times New Roman"/>
                <a:ea typeface="Times New Roman"/>
                <a:cs typeface="Times New Roman"/>
              </a:defRPr>
            </a:pPr>
            <a:r>
              <a:rPr sz="1350">
                <a:solidFill>
                  <a:srgbClr val="41745A"/>
                </a:solidFill>
                <a:latin typeface="Times New Roman"/>
                <a:ea typeface="Times New Roman"/>
                <a:cs typeface="Times New Roman"/>
              </a:rPr>
              <a:t>Fuentes: [4] [3] [5] [6] [7]</a:t>
            </a:r>
          </a:p>
        </p:txBody>
      </p:sp>
      <p:graphicFrame>
        <p:nvGraphicFramePr>
          <p:cNvPr id="5" name="">
            <a:extLst xmlns:a="http://schemas.openxmlformats.org/drawingml/2006/main">
              <a:ext uri="{FF2B5EF4-FFF2-40B4-BE49-F238E27FC236}">
                <a16:creationId xmlns:a16="http://schemas.microsoft.com/office/drawing/2014/main" id="{8305E512-2008-402A-9190-6A369303F541}"/>
              </a:ext>
            </a:extLst>
          </p:cNvPr>
          <p:cNvGraphicFramePr/>
          <p:nvPr/>
        </p:nvGraphicFramePr>
        <p:xfrm>
          <a:off xmlns:a="http://schemas.openxmlformats.org/drawingml/2006/main" x="609600" y="1743075"/>
          <a:ext xmlns:a="http://schemas.openxmlformats.org/drawingml/2006/main" cx="10972800" cy="4219575"/>
        </p:xfrm>
        <a:graphic xmlns:a="http://schemas.openxmlformats.org/drawingml/2006/main">
          <a:graphicData uri="http://schemas.openxmlformats.org/drawingml/2006/table">
            <a:tbl>
              <a:tblPr firstRow="1" bandRow="0"/>
              <a:tblGrid>
                <a:gridCol w="2476500"/>
                <a:gridCol w="4019550"/>
                <a:gridCol w="4476750"/>
              </a:tblGrid>
              <a:tr h="602796">
                <a:tc>
                  <a:txBody>
                    <a:bodyPr wrap="square" lIns="95250" tIns="95250" rIns="95250" bIns="95250">
                      <a:noAutofit/>
                    </a:bodyPr>
                    <a:lstStyle/>
                    <a:p>
                      <a:pPr algn="l"/>
                      <a:r>
                        <a:rPr sz="1800" b="1">
                          <a:solidFill>
                            <a:srgbClr val="FFFFFF"/>
                          </a:solidFill>
                          <a:latin typeface="Times New Roman"/>
                          <a:ea typeface="Times New Roman"/>
                          <a:cs typeface="Times New Roman"/>
                        </a:rPr>
                        <a:t>Sistema</a:t>
                      </a:r>
                    </a:p>
                  </a:txBody>
                  <a:tcPr marL="91440" marR="91440" marT="45720" marB="45720" anchor="ctr">
                    <a:lnL w="9525">
                      <a:solidFill>
                        <a:srgbClr val="D5DED3"/>
                      </a:solidFill>
                      <a:prstDash val="solid"/>
                    </a:lnL>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c>
                  <a:txBody>
                    <a:bodyPr wrap="square" lIns="95250" tIns="95250" rIns="95250" bIns="95250">
                      <a:noAutofit/>
                    </a:bodyPr>
                    <a:lstStyle/>
                    <a:p>
                      <a:pPr algn="l"/>
                      <a:r>
                        <a:rPr sz="1800" b="1">
                          <a:solidFill>
                            <a:srgbClr val="FFFFFF"/>
                          </a:solidFill>
                          <a:latin typeface="Times New Roman"/>
                          <a:ea typeface="Times New Roman"/>
                          <a:cs typeface="Times New Roman"/>
                        </a:rPr>
                        <a:t>Señal principal</a:t>
                      </a:r>
                    </a:p>
                  </a:txBody>
                  <a:tcPr marL="91440" marR="91440" marT="45720" marB="45720" anchor="ctr">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c>
                  <a:txBody>
                    <a:bodyPr wrap="square" lIns="95250" tIns="95250" rIns="95250" bIns="95250">
                      <a:noAutofit/>
                    </a:bodyPr>
                    <a:lstStyle/>
                    <a:p>
                      <a:pPr algn="l"/>
                      <a:r>
                        <a:rPr sz="1800" b="1">
                          <a:solidFill>
                            <a:srgbClr val="FFFFFF"/>
                          </a:solidFill>
                          <a:latin typeface="Times New Roman"/>
                          <a:ea typeface="Times New Roman"/>
                          <a:cs typeface="Times New Roman"/>
                        </a:rPr>
                        <a:t>Ejemplos</a:t>
                      </a:r>
                    </a:p>
                  </a:txBody>
                  <a:tcPr marL="91440" marR="91440" marT="45720" marB="45720" anchor="ctr">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r>
              <a:tr h="602796">
                <a:tc>
                  <a:txBody>
                    <a:bodyPr wrap="square" lIns="95250" tIns="95250" rIns="95250" bIns="95250">
                      <a:noAutofit/>
                    </a:bodyPr>
                    <a:lstStyle/>
                    <a:p>
                      <a:pPr algn="l"/>
                      <a:r>
                        <a:rPr sz="1800" b="0">
                          <a:solidFill>
                            <a:srgbClr val="202520"/>
                          </a:solidFill>
                          <a:latin typeface="Times New Roman"/>
                          <a:ea typeface="Times New Roman"/>
                          <a:cs typeface="Times New Roman"/>
                        </a:rPr>
                        <a:t>XX/XY</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1800" b="0">
                          <a:solidFill>
                            <a:srgbClr val="202520"/>
                          </a:solidFill>
                          <a:latin typeface="Times New Roman"/>
                          <a:ea typeface="Times New Roman"/>
                          <a:cs typeface="Times New Roman"/>
                        </a:rPr>
                        <a:t>Combinación cromosómica</a:t>
                      </a:r>
                    </a:p>
                  </a:txBody>
                  <a:tcPr marL="91440" marR="91440" marT="45720" marB="45720" anchor="ctr">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1800" b="0">
                          <a:solidFill>
                            <a:srgbClr val="202520"/>
                          </a:solidFill>
                          <a:latin typeface="Times New Roman"/>
                          <a:ea typeface="Times New Roman"/>
                          <a:cs typeface="Times New Roman"/>
                        </a:rPr>
                        <a:t>Mamíferos terios</a:t>
                      </a:r>
                    </a:p>
                  </a:txBody>
                  <a:tcPr marL="91440" marR="91440" marT="45720" marB="45720" anchor="ctr">
                    <a:lnR w="9525">
                      <a:solidFill>
                        <a:srgbClr val="D5DED3"/>
                      </a:solidFill>
                      <a:prstDash val="solid"/>
                    </a:lnR>
                    <a:lnB w="9525">
                      <a:solidFill>
                        <a:srgbClr val="D5DED3"/>
                      </a:solidFill>
                      <a:prstDash val="solid"/>
                    </a:lnB>
                    <a:solidFill>
                      <a:srgbClr val="FFFFFF"/>
                    </a:solidFill>
                  </a:tcPr>
                </a:tc>
              </a:tr>
              <a:tr h="602796">
                <a:tc>
                  <a:txBody>
                    <a:bodyPr wrap="square" lIns="95250" tIns="95250" rIns="95250" bIns="95250">
                      <a:noAutofit/>
                    </a:bodyPr>
                    <a:lstStyle/>
                    <a:p>
                      <a:pPr algn="l"/>
                      <a:r>
                        <a:rPr sz="1800" b="0">
                          <a:solidFill>
                            <a:srgbClr val="202520"/>
                          </a:solidFill>
                          <a:latin typeface="Times New Roman"/>
                          <a:ea typeface="Times New Roman"/>
                          <a:cs typeface="Times New Roman"/>
                        </a:rPr>
                        <a:t>ZZ/ZW</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1800" b="0">
                          <a:solidFill>
                            <a:srgbClr val="202520"/>
                          </a:solidFill>
                          <a:latin typeface="Times New Roman"/>
                          <a:ea typeface="Times New Roman"/>
                          <a:cs typeface="Times New Roman"/>
                        </a:rPr>
                        <a:t>Combinación cromosómica</a:t>
                      </a:r>
                    </a:p>
                  </a:txBody>
                  <a:tcPr marL="91440" marR="91440" marT="45720" marB="45720" anchor="ctr">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1800" b="0">
                          <a:solidFill>
                            <a:srgbClr val="202520"/>
                          </a:solidFill>
                          <a:latin typeface="Times New Roman"/>
                          <a:ea typeface="Times New Roman"/>
                          <a:cs typeface="Times New Roman"/>
                        </a:rPr>
                        <a:t>Aves</a:t>
                      </a:r>
                    </a:p>
                  </a:txBody>
                  <a:tcPr marL="91440" marR="91440" marT="45720" marB="45720" anchor="ctr">
                    <a:lnR w="9525">
                      <a:solidFill>
                        <a:srgbClr val="D5DED3"/>
                      </a:solidFill>
                      <a:prstDash val="solid"/>
                    </a:lnR>
                    <a:lnB w="9525">
                      <a:solidFill>
                        <a:srgbClr val="D5DED3"/>
                      </a:solidFill>
                      <a:prstDash val="solid"/>
                    </a:lnB>
                    <a:solidFill>
                      <a:srgbClr val="F0F5EF"/>
                    </a:solidFill>
                  </a:tcPr>
                </a:tc>
              </a:tr>
              <a:tr h="602796">
                <a:tc>
                  <a:txBody>
                    <a:bodyPr wrap="square" lIns="95250" tIns="95250" rIns="95250" bIns="95250">
                      <a:noAutofit/>
                    </a:bodyPr>
                    <a:lstStyle/>
                    <a:p>
                      <a:pPr algn="l"/>
                      <a:r>
                        <a:rPr sz="1800" b="0">
                          <a:solidFill>
                            <a:srgbClr val="202520"/>
                          </a:solidFill>
                          <a:latin typeface="Times New Roman"/>
                          <a:ea typeface="Times New Roman"/>
                          <a:cs typeface="Times New Roman"/>
                        </a:rPr>
                        <a:t>XX/X0</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1800" b="0">
                          <a:solidFill>
                            <a:srgbClr val="202520"/>
                          </a:solidFill>
                          <a:latin typeface="Times New Roman"/>
                          <a:ea typeface="Times New Roman"/>
                          <a:cs typeface="Times New Roman"/>
                        </a:rPr>
                        <a:t>Número de cromosomas X</a:t>
                      </a:r>
                    </a:p>
                  </a:txBody>
                  <a:tcPr marL="91440" marR="91440" marT="45720" marB="45720" anchor="ctr">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1800" b="0">
                          <a:solidFill>
                            <a:srgbClr val="202520"/>
                          </a:solidFill>
                          <a:latin typeface="Times New Roman"/>
                          <a:ea typeface="Times New Roman"/>
                          <a:cs typeface="Times New Roman"/>
                        </a:rPr>
                        <a:t>Algunos insectos</a:t>
                      </a:r>
                    </a:p>
                  </a:txBody>
                  <a:tcPr marL="91440" marR="91440" marT="45720" marB="45720" anchor="ctr">
                    <a:lnR w="9525">
                      <a:solidFill>
                        <a:srgbClr val="D5DED3"/>
                      </a:solidFill>
                      <a:prstDash val="solid"/>
                    </a:lnR>
                    <a:lnB w="9525">
                      <a:solidFill>
                        <a:srgbClr val="D5DED3"/>
                      </a:solidFill>
                      <a:prstDash val="solid"/>
                    </a:lnB>
                    <a:solidFill>
                      <a:srgbClr val="FFFFFF"/>
                    </a:solidFill>
                  </a:tcPr>
                </a:tc>
              </a:tr>
              <a:tr h="602796">
                <a:tc>
                  <a:txBody>
                    <a:bodyPr wrap="square" lIns="95250" tIns="95250" rIns="95250" bIns="95250">
                      <a:noAutofit/>
                    </a:bodyPr>
                    <a:lstStyle/>
                    <a:p>
                      <a:pPr algn="l"/>
                      <a:r>
                        <a:rPr sz="1800" b="0">
                          <a:solidFill>
                            <a:srgbClr val="202520"/>
                          </a:solidFill>
                          <a:latin typeface="Times New Roman"/>
                          <a:ea typeface="Times New Roman"/>
                          <a:cs typeface="Times New Roman"/>
                        </a:rPr>
                        <a:t>Haplodiploidía</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1800" b="0">
                          <a:solidFill>
                            <a:srgbClr val="202520"/>
                          </a:solidFill>
                          <a:latin typeface="Times New Roman"/>
                          <a:ea typeface="Times New Roman"/>
                          <a:cs typeface="Times New Roman"/>
                        </a:rPr>
                        <a:t>Ploidía y mecanismos genéticos</a:t>
                      </a:r>
                    </a:p>
                  </a:txBody>
                  <a:tcPr marL="91440" marR="91440" marT="45720" marB="45720" anchor="ctr">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1800" b="0">
                          <a:solidFill>
                            <a:srgbClr val="202520"/>
                          </a:solidFill>
                          <a:latin typeface="Times New Roman"/>
                          <a:ea typeface="Times New Roman"/>
                          <a:cs typeface="Times New Roman"/>
                        </a:rPr>
                        <a:t>Abejas y otros himenópteros</a:t>
                      </a:r>
                    </a:p>
                  </a:txBody>
                  <a:tcPr marL="91440" marR="91440" marT="45720" marB="45720" anchor="ctr">
                    <a:lnR w="9525">
                      <a:solidFill>
                        <a:srgbClr val="D5DED3"/>
                      </a:solidFill>
                      <a:prstDash val="solid"/>
                    </a:lnR>
                    <a:lnB w="9525">
                      <a:solidFill>
                        <a:srgbClr val="D5DED3"/>
                      </a:solidFill>
                      <a:prstDash val="solid"/>
                    </a:lnB>
                    <a:solidFill>
                      <a:srgbClr val="F0F5EF"/>
                    </a:solidFill>
                  </a:tcPr>
                </a:tc>
              </a:tr>
              <a:tr h="602796">
                <a:tc>
                  <a:txBody>
                    <a:bodyPr wrap="square" lIns="95250" tIns="95250" rIns="95250" bIns="95250">
                      <a:noAutofit/>
                    </a:bodyPr>
                    <a:lstStyle/>
                    <a:p>
                      <a:pPr algn="l"/>
                      <a:r>
                        <a:rPr sz="1800" b="0">
                          <a:solidFill>
                            <a:srgbClr val="202520"/>
                          </a:solidFill>
                          <a:latin typeface="Times New Roman"/>
                          <a:ea typeface="Times New Roman"/>
                          <a:cs typeface="Times New Roman"/>
                        </a:rPr>
                        <a:t>Temperatura</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1800" b="0">
                          <a:solidFill>
                            <a:srgbClr val="202520"/>
                          </a:solidFill>
                          <a:latin typeface="Times New Roman"/>
                          <a:ea typeface="Times New Roman"/>
                          <a:cs typeface="Times New Roman"/>
                        </a:rPr>
                        <a:t>Temperatura de incubación</a:t>
                      </a:r>
                    </a:p>
                  </a:txBody>
                  <a:tcPr marL="91440" marR="91440" marT="45720" marB="45720" anchor="ctr">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1800" b="0">
                          <a:solidFill>
                            <a:srgbClr val="202520"/>
                          </a:solidFill>
                          <a:latin typeface="Times New Roman"/>
                          <a:ea typeface="Times New Roman"/>
                          <a:cs typeface="Times New Roman"/>
                        </a:rPr>
                        <a:t>Varias tortugas y cocodrilianos</a:t>
                      </a:r>
                    </a:p>
                  </a:txBody>
                  <a:tcPr marL="91440" marR="91440" marT="45720" marB="45720" anchor="ctr">
                    <a:lnR w="9525">
                      <a:solidFill>
                        <a:srgbClr val="D5DED3"/>
                      </a:solidFill>
                      <a:prstDash val="solid"/>
                    </a:lnR>
                    <a:lnB w="9525">
                      <a:solidFill>
                        <a:srgbClr val="D5DED3"/>
                      </a:solidFill>
                      <a:prstDash val="solid"/>
                    </a:lnB>
                    <a:solidFill>
                      <a:srgbClr val="FFFFFF"/>
                    </a:solidFill>
                  </a:tcPr>
                </a:tc>
              </a:tr>
              <a:tr h="602796">
                <a:tc>
                  <a:txBody>
                    <a:bodyPr wrap="square" lIns="95250" tIns="95250" rIns="95250" bIns="95250">
                      <a:noAutofit/>
                    </a:bodyPr>
                    <a:lstStyle/>
                    <a:p>
                      <a:pPr algn="l"/>
                      <a:r>
                        <a:rPr sz="1800" b="0">
                          <a:solidFill>
                            <a:srgbClr val="202520"/>
                          </a:solidFill>
                          <a:latin typeface="Times New Roman"/>
                          <a:ea typeface="Times New Roman"/>
                          <a:cs typeface="Times New Roman"/>
                        </a:rPr>
                        <a:t>Sistemas diversos</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1800" b="0">
                          <a:solidFill>
                            <a:srgbClr val="202520"/>
                          </a:solidFill>
                          <a:latin typeface="Times New Roman"/>
                          <a:ea typeface="Times New Roman"/>
                          <a:cs typeface="Times New Roman"/>
                        </a:rPr>
                        <a:t>Genes y factores ambientales</a:t>
                      </a:r>
                    </a:p>
                  </a:txBody>
                  <a:tcPr marL="91440" marR="91440" marT="45720" marB="45720" anchor="ctr">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1800" b="0">
                          <a:solidFill>
                            <a:srgbClr val="202520"/>
                          </a:solidFill>
                          <a:latin typeface="Times New Roman"/>
                          <a:ea typeface="Times New Roman"/>
                          <a:cs typeface="Times New Roman"/>
                        </a:rPr>
                        <a:t>Peces</a:t>
                      </a:r>
                    </a:p>
                  </a:txBody>
                  <a:tcPr marL="91440" marR="91440" marT="45720" marB="45720" anchor="ctr">
                    <a:lnR w="9525">
                      <a:solidFill>
                        <a:srgbClr val="D5DED3"/>
                      </a:solidFill>
                      <a:prstDash val="solid"/>
                    </a:lnR>
                    <a:lnB w="9525">
                      <a:solidFill>
                        <a:srgbClr val="D5DED3"/>
                      </a:solidFill>
                      <a:prstDash val="solid"/>
                    </a:lnB>
                    <a:solidFill>
                      <a:srgbClr val="F0F5EF"/>
                    </a:solidFill>
                  </a:tcPr>
                </a:tc>
              </a:tr>
            </a:tbl>
          </a:graphicData>
        </a:graphic>
      </p:graphicFrame>
    </p:spTree>
    <p:extLst>
      <p:ext uri="{BB962C8B-B14F-4D97-AF65-F5344CB8AC3E}">
        <p14:creationId xmlns:p14="http://schemas.microsoft.com/office/powerpoint/2010/main" val="797480888"/>
      </p:ext>
    </p:extLst>
  </p:cSld>
</p:sld>
</file>

<file path=ppt/slides/slide7.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cxnSp>
        <p:nvCxnSpPr>
          <p:cNvPr id="9" name="">
            <a:extLst xmlns:a="http://schemas.openxmlformats.org/drawingml/2006/main">
              <a:ext uri="{FF2B5EF4-FFF2-40B4-BE49-F238E27FC236}">
                <a16:creationId xmlns:a16="http://schemas.microsoft.com/office/drawing/2014/main" id="{53104F0B-75BB-4472-8958-557AB17519D9}"/>
              </a:ext>
            </a:extLst>
          </p:cNvPr>
          <p:cNvCxnSpPr>
            <a:stCxn xmlns:a="http://schemas.openxmlformats.org/drawingml/2006/main" id="5" idx="2"/>
            <a:endCxn xmlns:a="http://schemas.openxmlformats.org/drawingml/2006/main" id="7" idx="0"/>
          </p:cNvCxnSpPr>
          <p:nvPr/>
        </p:nvCxnSpPr>
        <p:spPr>
          <a:xfrm xmlns:a="http://schemas.openxmlformats.org/drawingml/2006/main">
            <a:off x="6096000" y="2600325"/>
            <a:ext cx="2752725" cy="1028700"/>
          </a:xfrm>
          <a:prstGeom xmlns:a="http://schemas.openxmlformats.org/drawingml/2006/main" prst="straightConnector1">
            <a:avLst/>
          </a:prstGeom>
          <a:ln xmlns:a="http://schemas.openxmlformats.org/drawingml/2006/main" w="19050">
            <a:solidFill>
              <a:srgbClr val="41745A"/>
            </a:solidFill>
            <a:prstDash val="solid"/>
            <a:tailEnd type="arrow" w="med" len="med"/>
          </a:ln>
        </p:spPr>
      </p:cxnSp>
      <p:cxnSp>
        <p:nvCxnSpPr>
          <p:cNvPr id="8" name="">
            <a:extLst xmlns:a="http://schemas.openxmlformats.org/drawingml/2006/main">
              <a:ext uri="{FF2B5EF4-FFF2-40B4-BE49-F238E27FC236}">
                <a16:creationId xmlns:a16="http://schemas.microsoft.com/office/drawing/2014/main" id="{34859651-62CB-409F-AC63-0B1B5BB40C8B}"/>
              </a:ext>
            </a:extLst>
          </p:cNvPr>
          <p:cNvCxnSpPr>
            <a:stCxn xmlns:a="http://schemas.openxmlformats.org/drawingml/2006/main" id="5" idx="2"/>
            <a:endCxn xmlns:a="http://schemas.openxmlformats.org/drawingml/2006/main" id="6" idx="0"/>
          </p:cNvCxnSpPr>
          <p:nvPr/>
        </p:nvCxnSpPr>
        <p:spPr>
          <a:xfrm xmlns:a="http://schemas.openxmlformats.org/drawingml/2006/main" flipH="1">
            <a:off x="3343275" y="2600325"/>
            <a:ext cx="2752725" cy="1028700"/>
          </a:xfrm>
          <a:prstGeom xmlns:a="http://schemas.openxmlformats.org/drawingml/2006/main" prst="straightConnector1">
            <a:avLst/>
          </a:prstGeom>
          <a:ln xmlns:a="http://schemas.openxmlformats.org/drawingml/2006/main" w="19050">
            <a:solidFill>
              <a:srgbClr val="41745A"/>
            </a:solidFill>
            <a:prstDash val="solid"/>
            <a:tailEnd type="arrow" w="med" len="med"/>
          </a:ln>
        </p:spPr>
      </p:cxnSp>
      <p:sp>
        <p:nvSpPr>
          <p:cNvPr id="12" name="title">
            <a:extLst xmlns:a="http://schemas.openxmlformats.org/drawingml/2006/main">
              <a:ext uri="{FF2B5EF4-FFF2-40B4-BE49-F238E27FC236}">
                <a16:creationId xmlns:a16="http://schemas.microsoft.com/office/drawing/2014/main" id="{48D25490-42CD-46A6-8C7E-FEED8BC61A6B}"/>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La gónada bipotencial del embrión</a:t>
            </a:r>
          </a:p>
        </p:txBody>
      </p:sp>
      <p:sp>
        <p:nvSpPr>
          <p:cNvPr id="2" name="">
            <a:extLst xmlns:a="http://schemas.openxmlformats.org/drawingml/2006/main">
              <a:ext uri="{FF2B5EF4-FFF2-40B4-BE49-F238E27FC236}">
                <a16:creationId xmlns:a16="http://schemas.microsoft.com/office/drawing/2014/main" id="{1A535CF5-E0C7-4960-996E-D0ED9E2AF972}"/>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774D76A7-F747-49A8-870E-2F45F4D3898E}"/>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7</a:t>
            </a:r>
          </a:p>
        </p:txBody>
      </p:sp>
      <p:sp>
        <p:nvSpPr>
          <p:cNvPr id="4" name="references">
            <a:extLst xmlns:a="http://schemas.openxmlformats.org/drawingml/2006/main">
              <a:ext uri="{FF2B5EF4-FFF2-40B4-BE49-F238E27FC236}">
                <a16:creationId xmlns:a16="http://schemas.microsoft.com/office/drawing/2014/main" id="{D3375039-190A-42F9-8CFD-5E59F766BC1F}"/>
              </a:ext>
            </a:extLst>
          </p:cNvPr>
          <p:cNvSpPr>
            <a:spLocks xmlns:a="http://schemas.openxmlformats.org/drawingml/2006/main" noGrp="1"/>
          </p:cNvSpPr>
          <p:nvPr/>
        </p:nvSpPr>
        <p:spPr>
          <a:xfrm xmlns:a="http://schemas.openxmlformats.org/drawingml/2006/main">
            <a:off x="609600" y="6419850"/>
            <a:ext cx="10382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a:solidFill>
                  <a:srgbClr val="41745A"/>
                </a:solidFill>
                <a:latin typeface="Times New Roman"/>
                <a:ea typeface="Times New Roman"/>
                <a:cs typeface="Times New Roman"/>
              </a:defRPr>
            </a:defPPr>
            <a:lvl1pPr algn="l">
              <a:defRPr sz="1350">
                <a:solidFill>
                  <a:srgbClr val="41745A"/>
                </a:solidFill>
                <a:latin typeface="Times New Roman"/>
                <a:ea typeface="Times New Roman"/>
                <a:cs typeface="Times New Roman"/>
              </a:defRPr>
            </a:lvl1pPr>
            <a:lvl2pPr algn="l">
              <a:defRPr sz="1350">
                <a:solidFill>
                  <a:srgbClr val="41745A"/>
                </a:solidFill>
                <a:latin typeface="Times New Roman"/>
                <a:ea typeface="Times New Roman"/>
                <a:cs typeface="Times New Roman"/>
              </a:defRPr>
            </a:lvl2pPr>
            <a:lvl3pPr algn="l">
              <a:defRPr sz="1350">
                <a:solidFill>
                  <a:srgbClr val="41745A"/>
                </a:solidFill>
                <a:latin typeface="Times New Roman"/>
                <a:ea typeface="Times New Roman"/>
                <a:cs typeface="Times New Roman"/>
              </a:defRPr>
            </a:lvl3pPr>
            <a:lvl4pPr algn="l">
              <a:defRPr sz="1350">
                <a:solidFill>
                  <a:srgbClr val="41745A"/>
                </a:solidFill>
                <a:latin typeface="Times New Roman"/>
                <a:ea typeface="Times New Roman"/>
                <a:cs typeface="Times New Roman"/>
              </a:defRPr>
            </a:lvl4pPr>
            <a:lvl5pPr algn="l">
              <a:defRPr sz="1350">
                <a:solidFill>
                  <a:srgbClr val="41745A"/>
                </a:solidFill>
                <a:latin typeface="Times New Roman"/>
                <a:ea typeface="Times New Roman"/>
                <a:cs typeface="Times New Roman"/>
              </a:defRPr>
            </a:lvl5pPr>
            <a:lvl6pPr algn="l">
              <a:defRPr sz="1350">
                <a:solidFill>
                  <a:srgbClr val="41745A"/>
                </a:solidFill>
                <a:latin typeface="Times New Roman"/>
                <a:ea typeface="Times New Roman"/>
                <a:cs typeface="Times New Roman"/>
              </a:defRPr>
            </a:lvl6pPr>
            <a:lvl7pPr algn="l">
              <a:defRPr sz="1350">
                <a:solidFill>
                  <a:srgbClr val="41745A"/>
                </a:solidFill>
                <a:latin typeface="Times New Roman"/>
                <a:ea typeface="Times New Roman"/>
                <a:cs typeface="Times New Roman"/>
              </a:defRPr>
            </a:lvl7pPr>
            <a:lvl8pPr algn="l">
              <a:defRPr sz="1350">
                <a:solidFill>
                  <a:srgbClr val="41745A"/>
                </a:solidFill>
                <a:latin typeface="Times New Roman"/>
                <a:ea typeface="Times New Roman"/>
                <a:cs typeface="Times New Roman"/>
              </a:defRPr>
            </a:lvl8pPr>
            <a:lvl9pPr algn="l">
              <a:defRPr sz="1350">
                <a:solidFill>
                  <a:srgbClr val="41745A"/>
                </a:solidFill>
                <a:latin typeface="Times New Roman"/>
                <a:ea typeface="Times New Roman"/>
                <a:cs typeface="Times New Roman"/>
              </a:defRPr>
            </a:lvl9pPr>
          </a:lstStyle>
          <a:p xmlns:a="http://schemas.openxmlformats.org/drawingml/2006/main">
            <a:pPr algn="l">
              <a:defRPr sz="1350">
                <a:solidFill>
                  <a:srgbClr val="41745A"/>
                </a:solidFill>
                <a:latin typeface="Times New Roman"/>
                <a:ea typeface="Times New Roman"/>
                <a:cs typeface="Times New Roman"/>
              </a:defRPr>
            </a:pPr>
            <a:r>
              <a:rPr sz="1350">
                <a:solidFill>
                  <a:srgbClr val="41745A"/>
                </a:solidFill>
                <a:latin typeface="Times New Roman"/>
                <a:ea typeface="Times New Roman"/>
                <a:cs typeface="Times New Roman"/>
              </a:rPr>
              <a:t>Fuentes: [1] [2]</a:t>
            </a:r>
          </a:p>
        </p:txBody>
      </p:sp>
      <p:sp>
        <p:nvSpPr>
          <p:cNvPr id="5" name="">
            <a:extLst xmlns:a="http://schemas.openxmlformats.org/drawingml/2006/main">
              <a:ext uri="{FF2B5EF4-FFF2-40B4-BE49-F238E27FC236}">
                <a16:creationId xmlns:a16="http://schemas.microsoft.com/office/drawing/2014/main" id="{CE7A45F8-BF52-40D5-B7C0-2ADF7A282F86}"/>
              </a:ext>
            </a:extLst>
          </p:cNvPr>
          <p:cNvSpPr>
            <a:spLocks xmlns:a="http://schemas.openxmlformats.org/drawingml/2006/main" noGrp="1"/>
          </p:cNvSpPr>
          <p:nvPr/>
        </p:nvSpPr>
        <p:spPr>
          <a:xfrm xmlns:a="http://schemas.openxmlformats.org/drawingml/2006/main">
            <a:off x="4067175" y="1781175"/>
            <a:ext cx="4057650" cy="819150"/>
          </a:xfrm>
          <a:prstGeom xmlns:a="http://schemas.openxmlformats.org/drawingml/2006/main" prst="rect">
            <a:avLst/>
          </a:prstGeom>
          <a:solidFill xmlns:a="http://schemas.openxmlformats.org/drawingml/2006/main">
            <a:srgbClr val="EEF4ED"/>
          </a:solidFill>
          <a:ln xmlns:a="http://schemas.openxmlformats.org/drawingml/2006/main" w="14288">
            <a:solidFill>
              <a:srgbClr val="41745A"/>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2550" b="1">
                <a:solidFill>
                  <a:srgbClr val="183F31"/>
                </a:solidFill>
                <a:latin typeface="Times New Roman"/>
                <a:ea typeface="Times New Roman"/>
                <a:cs typeface="Times New Roman"/>
              </a:defRPr>
            </a:defPPr>
            <a:lvl1pPr algn="ctr">
              <a:defRPr sz="2550" b="1">
                <a:solidFill>
                  <a:srgbClr val="183F31"/>
                </a:solidFill>
                <a:latin typeface="Times New Roman"/>
                <a:ea typeface="Times New Roman"/>
                <a:cs typeface="Times New Roman"/>
              </a:defRPr>
            </a:lvl1pPr>
            <a:lvl2pPr algn="ctr">
              <a:defRPr sz="2550" b="1">
                <a:solidFill>
                  <a:srgbClr val="183F31"/>
                </a:solidFill>
                <a:latin typeface="Times New Roman"/>
                <a:ea typeface="Times New Roman"/>
                <a:cs typeface="Times New Roman"/>
              </a:defRPr>
            </a:lvl2pPr>
            <a:lvl3pPr algn="ctr">
              <a:defRPr sz="2550" b="1">
                <a:solidFill>
                  <a:srgbClr val="183F31"/>
                </a:solidFill>
                <a:latin typeface="Times New Roman"/>
                <a:ea typeface="Times New Roman"/>
                <a:cs typeface="Times New Roman"/>
              </a:defRPr>
            </a:lvl3pPr>
            <a:lvl4pPr algn="ctr">
              <a:defRPr sz="2550" b="1">
                <a:solidFill>
                  <a:srgbClr val="183F31"/>
                </a:solidFill>
                <a:latin typeface="Times New Roman"/>
                <a:ea typeface="Times New Roman"/>
                <a:cs typeface="Times New Roman"/>
              </a:defRPr>
            </a:lvl4pPr>
            <a:lvl5pPr algn="ctr">
              <a:defRPr sz="2550" b="1">
                <a:solidFill>
                  <a:srgbClr val="183F31"/>
                </a:solidFill>
                <a:latin typeface="Times New Roman"/>
                <a:ea typeface="Times New Roman"/>
                <a:cs typeface="Times New Roman"/>
              </a:defRPr>
            </a:lvl5pPr>
            <a:lvl6pPr algn="ctr">
              <a:defRPr sz="2550" b="1">
                <a:solidFill>
                  <a:srgbClr val="183F31"/>
                </a:solidFill>
                <a:latin typeface="Times New Roman"/>
                <a:ea typeface="Times New Roman"/>
                <a:cs typeface="Times New Roman"/>
              </a:defRPr>
            </a:lvl6pPr>
            <a:lvl7pPr algn="ctr">
              <a:defRPr sz="2550" b="1">
                <a:solidFill>
                  <a:srgbClr val="183F31"/>
                </a:solidFill>
                <a:latin typeface="Times New Roman"/>
                <a:ea typeface="Times New Roman"/>
                <a:cs typeface="Times New Roman"/>
              </a:defRPr>
            </a:lvl7pPr>
            <a:lvl8pPr algn="ctr">
              <a:defRPr sz="2550" b="1">
                <a:solidFill>
                  <a:srgbClr val="183F31"/>
                </a:solidFill>
                <a:latin typeface="Times New Roman"/>
                <a:ea typeface="Times New Roman"/>
                <a:cs typeface="Times New Roman"/>
              </a:defRPr>
            </a:lvl8pPr>
            <a:lvl9pPr algn="ctr">
              <a:defRPr sz="2550" b="1">
                <a:solidFill>
                  <a:srgbClr val="183F31"/>
                </a:solidFill>
                <a:latin typeface="Times New Roman"/>
                <a:ea typeface="Times New Roman"/>
                <a:cs typeface="Times New Roman"/>
              </a:defRPr>
            </a:lvl9pPr>
          </a:lstStyle>
          <a:p xmlns:a="http://schemas.openxmlformats.org/drawingml/2006/main">
            <a:pPr algn="ctr">
              <a:defRPr sz="2550" b="1">
                <a:solidFill>
                  <a:srgbClr val="183F31"/>
                </a:solidFill>
                <a:latin typeface="Times New Roman"/>
                <a:ea typeface="Times New Roman"/>
                <a:cs typeface="Times New Roman"/>
              </a:defRPr>
            </a:pPr>
            <a:r>
              <a:rPr sz="2550" b="1">
                <a:solidFill>
                  <a:srgbClr val="183F31"/>
                </a:solidFill>
                <a:latin typeface="Times New Roman"/>
                <a:ea typeface="Times New Roman"/>
                <a:cs typeface="Times New Roman"/>
              </a:rPr>
              <a:t>Gónada bipotencial</a:t>
            </a:r>
          </a:p>
        </p:txBody>
      </p:sp>
      <p:sp>
        <p:nvSpPr>
          <p:cNvPr id="6" name="">
            <a:extLst xmlns:a="http://schemas.openxmlformats.org/drawingml/2006/main">
              <a:ext uri="{FF2B5EF4-FFF2-40B4-BE49-F238E27FC236}">
                <a16:creationId xmlns:a16="http://schemas.microsoft.com/office/drawing/2014/main" id="{B276E84B-AF52-44B2-8C2C-C6E69FC5FD96}"/>
              </a:ext>
            </a:extLst>
          </p:cNvPr>
          <p:cNvSpPr>
            <a:spLocks xmlns:a="http://schemas.openxmlformats.org/drawingml/2006/main" noGrp="1"/>
          </p:cNvSpPr>
          <p:nvPr/>
        </p:nvSpPr>
        <p:spPr>
          <a:xfrm xmlns:a="http://schemas.openxmlformats.org/drawingml/2006/main">
            <a:off x="1371600" y="3629025"/>
            <a:ext cx="3943350" cy="933450"/>
          </a:xfrm>
          <a:prstGeom xmlns:a="http://schemas.openxmlformats.org/drawingml/2006/main" prst="rect">
            <a:avLst/>
          </a:prstGeom>
          <a:solidFill xmlns:a="http://schemas.openxmlformats.org/drawingml/2006/main">
            <a:srgbClr val="FFFFFF"/>
          </a:solidFill>
          <a:ln xmlns:a="http://schemas.openxmlformats.org/drawingml/2006/main" w="14288">
            <a:solidFill>
              <a:srgbClr val="41745A"/>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2550" b="1">
                <a:solidFill>
                  <a:srgbClr val="183F31"/>
                </a:solidFill>
                <a:latin typeface="Times New Roman"/>
                <a:ea typeface="Times New Roman"/>
                <a:cs typeface="Times New Roman"/>
              </a:defRPr>
            </a:defPPr>
            <a:lvl1pPr algn="ctr">
              <a:defRPr sz="2550" b="1">
                <a:solidFill>
                  <a:srgbClr val="183F31"/>
                </a:solidFill>
                <a:latin typeface="Times New Roman"/>
                <a:ea typeface="Times New Roman"/>
                <a:cs typeface="Times New Roman"/>
              </a:defRPr>
            </a:lvl1pPr>
            <a:lvl2pPr algn="ctr">
              <a:defRPr sz="2550" b="1">
                <a:solidFill>
                  <a:srgbClr val="183F31"/>
                </a:solidFill>
                <a:latin typeface="Times New Roman"/>
                <a:ea typeface="Times New Roman"/>
                <a:cs typeface="Times New Roman"/>
              </a:defRPr>
            </a:lvl2pPr>
            <a:lvl3pPr algn="ctr">
              <a:defRPr sz="2550" b="1">
                <a:solidFill>
                  <a:srgbClr val="183F31"/>
                </a:solidFill>
                <a:latin typeface="Times New Roman"/>
                <a:ea typeface="Times New Roman"/>
                <a:cs typeface="Times New Roman"/>
              </a:defRPr>
            </a:lvl3pPr>
            <a:lvl4pPr algn="ctr">
              <a:defRPr sz="2550" b="1">
                <a:solidFill>
                  <a:srgbClr val="183F31"/>
                </a:solidFill>
                <a:latin typeface="Times New Roman"/>
                <a:ea typeface="Times New Roman"/>
                <a:cs typeface="Times New Roman"/>
              </a:defRPr>
            </a:lvl4pPr>
            <a:lvl5pPr algn="ctr">
              <a:defRPr sz="2550" b="1">
                <a:solidFill>
                  <a:srgbClr val="183F31"/>
                </a:solidFill>
                <a:latin typeface="Times New Roman"/>
                <a:ea typeface="Times New Roman"/>
                <a:cs typeface="Times New Roman"/>
              </a:defRPr>
            </a:lvl5pPr>
            <a:lvl6pPr algn="ctr">
              <a:defRPr sz="2550" b="1">
                <a:solidFill>
                  <a:srgbClr val="183F31"/>
                </a:solidFill>
                <a:latin typeface="Times New Roman"/>
                <a:ea typeface="Times New Roman"/>
                <a:cs typeface="Times New Roman"/>
              </a:defRPr>
            </a:lvl6pPr>
            <a:lvl7pPr algn="ctr">
              <a:defRPr sz="2550" b="1">
                <a:solidFill>
                  <a:srgbClr val="183F31"/>
                </a:solidFill>
                <a:latin typeface="Times New Roman"/>
                <a:ea typeface="Times New Roman"/>
                <a:cs typeface="Times New Roman"/>
              </a:defRPr>
            </a:lvl7pPr>
            <a:lvl8pPr algn="ctr">
              <a:defRPr sz="2550" b="1">
                <a:solidFill>
                  <a:srgbClr val="183F31"/>
                </a:solidFill>
                <a:latin typeface="Times New Roman"/>
                <a:ea typeface="Times New Roman"/>
                <a:cs typeface="Times New Roman"/>
              </a:defRPr>
            </a:lvl8pPr>
            <a:lvl9pPr algn="ctr">
              <a:defRPr sz="2550" b="1">
                <a:solidFill>
                  <a:srgbClr val="183F31"/>
                </a:solidFill>
                <a:latin typeface="Times New Roman"/>
                <a:ea typeface="Times New Roman"/>
                <a:cs typeface="Times New Roman"/>
              </a:defRPr>
            </a:lvl9pPr>
          </a:lstStyle>
          <a:p xmlns:a="http://schemas.openxmlformats.org/drawingml/2006/main">
            <a:pPr algn="ctr">
              <a:defRPr sz="2550" b="1">
                <a:solidFill>
                  <a:srgbClr val="183F31"/>
                </a:solidFill>
                <a:latin typeface="Times New Roman"/>
                <a:ea typeface="Times New Roman"/>
                <a:cs typeface="Times New Roman"/>
              </a:defRPr>
            </a:pPr>
            <a:r>
              <a:rPr sz="2550" b="1">
                <a:solidFill>
                  <a:srgbClr val="183F31"/>
                </a:solidFill>
                <a:latin typeface="Times New Roman"/>
                <a:ea typeface="Times New Roman"/>
                <a:cs typeface="Times New Roman"/>
              </a:rPr>
              <a:t>Vía testicular</a:t>
            </a:r>
          </a:p>
        </p:txBody>
      </p:sp>
      <p:sp>
        <p:nvSpPr>
          <p:cNvPr id="7" name="">
            <a:extLst xmlns:a="http://schemas.openxmlformats.org/drawingml/2006/main">
              <a:ext uri="{FF2B5EF4-FFF2-40B4-BE49-F238E27FC236}">
                <a16:creationId xmlns:a16="http://schemas.microsoft.com/office/drawing/2014/main" id="{99BB95D4-0FBD-4F4A-B72D-C2C9BB3EC005}"/>
              </a:ext>
            </a:extLst>
          </p:cNvPr>
          <p:cNvSpPr>
            <a:spLocks xmlns:a="http://schemas.openxmlformats.org/drawingml/2006/main" noGrp="1"/>
          </p:cNvSpPr>
          <p:nvPr/>
        </p:nvSpPr>
        <p:spPr>
          <a:xfrm xmlns:a="http://schemas.openxmlformats.org/drawingml/2006/main">
            <a:off x="6877050" y="3629025"/>
            <a:ext cx="3943350" cy="933450"/>
          </a:xfrm>
          <a:prstGeom xmlns:a="http://schemas.openxmlformats.org/drawingml/2006/main" prst="rect">
            <a:avLst/>
          </a:prstGeom>
          <a:solidFill xmlns:a="http://schemas.openxmlformats.org/drawingml/2006/main">
            <a:srgbClr val="FFFFFF"/>
          </a:solidFill>
          <a:ln xmlns:a="http://schemas.openxmlformats.org/drawingml/2006/main" w="14288">
            <a:solidFill>
              <a:srgbClr val="41745A"/>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2550" b="1">
                <a:solidFill>
                  <a:srgbClr val="183F31"/>
                </a:solidFill>
                <a:latin typeface="Times New Roman"/>
                <a:ea typeface="Times New Roman"/>
                <a:cs typeface="Times New Roman"/>
              </a:defRPr>
            </a:defPPr>
            <a:lvl1pPr algn="ctr">
              <a:defRPr sz="2550" b="1">
                <a:solidFill>
                  <a:srgbClr val="183F31"/>
                </a:solidFill>
                <a:latin typeface="Times New Roman"/>
                <a:ea typeface="Times New Roman"/>
                <a:cs typeface="Times New Roman"/>
              </a:defRPr>
            </a:lvl1pPr>
            <a:lvl2pPr algn="ctr">
              <a:defRPr sz="2550" b="1">
                <a:solidFill>
                  <a:srgbClr val="183F31"/>
                </a:solidFill>
                <a:latin typeface="Times New Roman"/>
                <a:ea typeface="Times New Roman"/>
                <a:cs typeface="Times New Roman"/>
              </a:defRPr>
            </a:lvl2pPr>
            <a:lvl3pPr algn="ctr">
              <a:defRPr sz="2550" b="1">
                <a:solidFill>
                  <a:srgbClr val="183F31"/>
                </a:solidFill>
                <a:latin typeface="Times New Roman"/>
                <a:ea typeface="Times New Roman"/>
                <a:cs typeface="Times New Roman"/>
              </a:defRPr>
            </a:lvl3pPr>
            <a:lvl4pPr algn="ctr">
              <a:defRPr sz="2550" b="1">
                <a:solidFill>
                  <a:srgbClr val="183F31"/>
                </a:solidFill>
                <a:latin typeface="Times New Roman"/>
                <a:ea typeface="Times New Roman"/>
                <a:cs typeface="Times New Roman"/>
              </a:defRPr>
            </a:lvl4pPr>
            <a:lvl5pPr algn="ctr">
              <a:defRPr sz="2550" b="1">
                <a:solidFill>
                  <a:srgbClr val="183F31"/>
                </a:solidFill>
                <a:latin typeface="Times New Roman"/>
                <a:ea typeface="Times New Roman"/>
                <a:cs typeface="Times New Roman"/>
              </a:defRPr>
            </a:lvl5pPr>
            <a:lvl6pPr algn="ctr">
              <a:defRPr sz="2550" b="1">
                <a:solidFill>
                  <a:srgbClr val="183F31"/>
                </a:solidFill>
                <a:latin typeface="Times New Roman"/>
                <a:ea typeface="Times New Roman"/>
                <a:cs typeface="Times New Roman"/>
              </a:defRPr>
            </a:lvl6pPr>
            <a:lvl7pPr algn="ctr">
              <a:defRPr sz="2550" b="1">
                <a:solidFill>
                  <a:srgbClr val="183F31"/>
                </a:solidFill>
                <a:latin typeface="Times New Roman"/>
                <a:ea typeface="Times New Roman"/>
                <a:cs typeface="Times New Roman"/>
              </a:defRPr>
            </a:lvl7pPr>
            <a:lvl8pPr algn="ctr">
              <a:defRPr sz="2550" b="1">
                <a:solidFill>
                  <a:srgbClr val="183F31"/>
                </a:solidFill>
                <a:latin typeface="Times New Roman"/>
                <a:ea typeface="Times New Roman"/>
                <a:cs typeface="Times New Roman"/>
              </a:defRPr>
            </a:lvl8pPr>
            <a:lvl9pPr algn="ctr">
              <a:defRPr sz="2550" b="1">
                <a:solidFill>
                  <a:srgbClr val="183F31"/>
                </a:solidFill>
                <a:latin typeface="Times New Roman"/>
                <a:ea typeface="Times New Roman"/>
                <a:cs typeface="Times New Roman"/>
              </a:defRPr>
            </a:lvl9pPr>
          </a:lstStyle>
          <a:p xmlns:a="http://schemas.openxmlformats.org/drawingml/2006/main">
            <a:pPr algn="ctr">
              <a:defRPr sz="2550" b="1">
                <a:solidFill>
                  <a:srgbClr val="183F31"/>
                </a:solidFill>
                <a:latin typeface="Times New Roman"/>
                <a:ea typeface="Times New Roman"/>
                <a:cs typeface="Times New Roman"/>
              </a:defRPr>
            </a:pPr>
            <a:r>
              <a:rPr sz="2550" b="1">
                <a:solidFill>
                  <a:srgbClr val="183F31"/>
                </a:solidFill>
                <a:latin typeface="Times New Roman"/>
                <a:ea typeface="Times New Roman"/>
                <a:cs typeface="Times New Roman"/>
              </a:rPr>
              <a:t>Vía ovárica</a:t>
            </a:r>
          </a:p>
        </p:txBody>
      </p:sp>
      <p:sp>
        <p:nvSpPr>
          <p:cNvPr id="10" name="text-9">
            <a:extLst xmlns:a="http://schemas.openxmlformats.org/drawingml/2006/main">
              <a:ext uri="{FF2B5EF4-FFF2-40B4-BE49-F238E27FC236}">
                <a16:creationId xmlns:a16="http://schemas.microsoft.com/office/drawing/2014/main" id="{40E79A36-E317-4796-A258-B7B50946104B}"/>
              </a:ext>
            </a:extLst>
          </p:cNvPr>
          <p:cNvSpPr>
            <a:spLocks xmlns:a="http://schemas.openxmlformats.org/drawingml/2006/main" noGrp="1"/>
          </p:cNvSpPr>
          <p:nvPr/>
        </p:nvSpPr>
        <p:spPr>
          <a:xfrm xmlns:a="http://schemas.openxmlformats.org/drawingml/2006/main">
            <a:off x="2305050" y="4772025"/>
            <a:ext cx="75819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a:solidFill>
                  <a:srgbClr val="41745A"/>
                </a:solidFill>
                <a:latin typeface="Times New Roman"/>
                <a:ea typeface="Times New Roman"/>
                <a:cs typeface="Times New Roman"/>
              </a:defRPr>
            </a:defPPr>
            <a:lvl1pPr algn="ctr">
              <a:defRPr sz="2100">
                <a:solidFill>
                  <a:srgbClr val="41745A"/>
                </a:solidFill>
                <a:latin typeface="Times New Roman"/>
                <a:ea typeface="Times New Roman"/>
                <a:cs typeface="Times New Roman"/>
              </a:defRPr>
            </a:lvl1pPr>
            <a:lvl2pPr algn="ctr">
              <a:defRPr sz="2100">
                <a:solidFill>
                  <a:srgbClr val="41745A"/>
                </a:solidFill>
                <a:latin typeface="Times New Roman"/>
                <a:ea typeface="Times New Roman"/>
                <a:cs typeface="Times New Roman"/>
              </a:defRPr>
            </a:lvl2pPr>
            <a:lvl3pPr algn="ctr">
              <a:defRPr sz="2100">
                <a:solidFill>
                  <a:srgbClr val="41745A"/>
                </a:solidFill>
                <a:latin typeface="Times New Roman"/>
                <a:ea typeface="Times New Roman"/>
                <a:cs typeface="Times New Roman"/>
              </a:defRPr>
            </a:lvl3pPr>
            <a:lvl4pPr algn="ctr">
              <a:defRPr sz="2100">
                <a:solidFill>
                  <a:srgbClr val="41745A"/>
                </a:solidFill>
                <a:latin typeface="Times New Roman"/>
                <a:ea typeface="Times New Roman"/>
                <a:cs typeface="Times New Roman"/>
              </a:defRPr>
            </a:lvl4pPr>
            <a:lvl5pPr algn="ctr">
              <a:defRPr sz="2100">
                <a:solidFill>
                  <a:srgbClr val="41745A"/>
                </a:solidFill>
                <a:latin typeface="Times New Roman"/>
                <a:ea typeface="Times New Roman"/>
                <a:cs typeface="Times New Roman"/>
              </a:defRPr>
            </a:lvl5pPr>
            <a:lvl6pPr algn="ctr">
              <a:defRPr sz="2100">
                <a:solidFill>
                  <a:srgbClr val="41745A"/>
                </a:solidFill>
                <a:latin typeface="Times New Roman"/>
                <a:ea typeface="Times New Roman"/>
                <a:cs typeface="Times New Roman"/>
              </a:defRPr>
            </a:lvl6pPr>
            <a:lvl7pPr algn="ctr">
              <a:defRPr sz="2100">
                <a:solidFill>
                  <a:srgbClr val="41745A"/>
                </a:solidFill>
                <a:latin typeface="Times New Roman"/>
                <a:ea typeface="Times New Roman"/>
                <a:cs typeface="Times New Roman"/>
              </a:defRPr>
            </a:lvl7pPr>
            <a:lvl8pPr algn="ctr">
              <a:defRPr sz="2100">
                <a:solidFill>
                  <a:srgbClr val="41745A"/>
                </a:solidFill>
                <a:latin typeface="Times New Roman"/>
                <a:ea typeface="Times New Roman"/>
                <a:cs typeface="Times New Roman"/>
              </a:defRPr>
            </a:lvl8pPr>
            <a:lvl9pPr algn="ctr">
              <a:defRPr sz="2100">
                <a:solidFill>
                  <a:srgbClr val="41745A"/>
                </a:solidFill>
                <a:latin typeface="Times New Roman"/>
                <a:ea typeface="Times New Roman"/>
                <a:cs typeface="Times New Roman"/>
              </a:defRPr>
            </a:lvl9pPr>
          </a:lstStyle>
          <a:p xmlns:a="http://schemas.openxmlformats.org/drawingml/2006/main">
            <a:pPr algn="ctr">
              <a:defRPr sz="2100">
                <a:solidFill>
                  <a:srgbClr val="41745A"/>
                </a:solidFill>
                <a:latin typeface="Times New Roman"/>
                <a:ea typeface="Times New Roman"/>
                <a:cs typeface="Times New Roman"/>
              </a:defRPr>
            </a:pPr>
            <a:r>
              <a:rPr sz="2100">
                <a:solidFill>
                  <a:srgbClr val="41745A"/>
                </a:solidFill>
                <a:latin typeface="Times New Roman"/>
                <a:ea typeface="Times New Roman"/>
                <a:cs typeface="Times New Roman"/>
              </a:rPr>
              <a:t>Células somáticas + células germinales</a:t>
            </a:r>
          </a:p>
        </p:txBody>
      </p:sp>
      <p:sp>
        <p:nvSpPr>
          <p:cNvPr id="11" name="text-10">
            <a:extLst xmlns:a="http://schemas.openxmlformats.org/drawingml/2006/main">
              <a:ext uri="{FF2B5EF4-FFF2-40B4-BE49-F238E27FC236}">
                <a16:creationId xmlns:a16="http://schemas.microsoft.com/office/drawing/2014/main" id="{A76EA755-51BB-449F-897A-682A253FC576}"/>
              </a:ext>
            </a:extLst>
          </p:cNvPr>
          <p:cNvSpPr>
            <a:spLocks xmlns:a="http://schemas.openxmlformats.org/drawingml/2006/main" noGrp="1"/>
          </p:cNvSpPr>
          <p:nvPr/>
        </p:nvSpPr>
        <p:spPr>
          <a:xfrm xmlns:a="http://schemas.openxmlformats.org/drawingml/2006/main">
            <a:off x="1314450" y="5286375"/>
            <a:ext cx="95631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325" b="1">
                <a:solidFill>
                  <a:srgbClr val="183F31"/>
                </a:solidFill>
                <a:latin typeface="Times New Roman"/>
                <a:ea typeface="Times New Roman"/>
                <a:cs typeface="Times New Roman"/>
              </a:defRPr>
            </a:defPPr>
            <a:lvl1pPr algn="ctr">
              <a:defRPr sz="2325" b="1">
                <a:solidFill>
                  <a:srgbClr val="183F31"/>
                </a:solidFill>
                <a:latin typeface="Times New Roman"/>
                <a:ea typeface="Times New Roman"/>
                <a:cs typeface="Times New Roman"/>
              </a:defRPr>
            </a:lvl1pPr>
            <a:lvl2pPr algn="ctr">
              <a:defRPr sz="2325" b="1">
                <a:solidFill>
                  <a:srgbClr val="183F31"/>
                </a:solidFill>
                <a:latin typeface="Times New Roman"/>
                <a:ea typeface="Times New Roman"/>
                <a:cs typeface="Times New Roman"/>
              </a:defRPr>
            </a:lvl2pPr>
            <a:lvl3pPr algn="ctr">
              <a:defRPr sz="2325" b="1">
                <a:solidFill>
                  <a:srgbClr val="183F31"/>
                </a:solidFill>
                <a:latin typeface="Times New Roman"/>
                <a:ea typeface="Times New Roman"/>
                <a:cs typeface="Times New Roman"/>
              </a:defRPr>
            </a:lvl3pPr>
            <a:lvl4pPr algn="ctr">
              <a:defRPr sz="2325" b="1">
                <a:solidFill>
                  <a:srgbClr val="183F31"/>
                </a:solidFill>
                <a:latin typeface="Times New Roman"/>
                <a:ea typeface="Times New Roman"/>
                <a:cs typeface="Times New Roman"/>
              </a:defRPr>
            </a:lvl4pPr>
            <a:lvl5pPr algn="ctr">
              <a:defRPr sz="2325" b="1">
                <a:solidFill>
                  <a:srgbClr val="183F31"/>
                </a:solidFill>
                <a:latin typeface="Times New Roman"/>
                <a:ea typeface="Times New Roman"/>
                <a:cs typeface="Times New Roman"/>
              </a:defRPr>
            </a:lvl5pPr>
            <a:lvl6pPr algn="ctr">
              <a:defRPr sz="2325" b="1">
                <a:solidFill>
                  <a:srgbClr val="183F31"/>
                </a:solidFill>
                <a:latin typeface="Times New Roman"/>
                <a:ea typeface="Times New Roman"/>
                <a:cs typeface="Times New Roman"/>
              </a:defRPr>
            </a:lvl6pPr>
            <a:lvl7pPr algn="ctr">
              <a:defRPr sz="2325" b="1">
                <a:solidFill>
                  <a:srgbClr val="183F31"/>
                </a:solidFill>
                <a:latin typeface="Times New Roman"/>
                <a:ea typeface="Times New Roman"/>
                <a:cs typeface="Times New Roman"/>
              </a:defRPr>
            </a:lvl7pPr>
            <a:lvl8pPr algn="ctr">
              <a:defRPr sz="2325" b="1">
                <a:solidFill>
                  <a:srgbClr val="183F31"/>
                </a:solidFill>
                <a:latin typeface="Times New Roman"/>
                <a:ea typeface="Times New Roman"/>
                <a:cs typeface="Times New Roman"/>
              </a:defRPr>
            </a:lvl8pPr>
            <a:lvl9pPr algn="ctr">
              <a:defRPr sz="2325" b="1">
                <a:solidFill>
                  <a:srgbClr val="183F31"/>
                </a:solidFill>
                <a:latin typeface="Times New Roman"/>
                <a:ea typeface="Times New Roman"/>
                <a:cs typeface="Times New Roman"/>
              </a:defRPr>
            </a:lvl9pPr>
          </a:lstStyle>
          <a:p xmlns:a="http://schemas.openxmlformats.org/drawingml/2006/main">
            <a:pPr algn="ctr">
              <a:defRPr sz="2325" b="1">
                <a:solidFill>
                  <a:srgbClr val="183F31"/>
                </a:solidFill>
                <a:latin typeface="Times New Roman"/>
                <a:ea typeface="Times New Roman"/>
                <a:cs typeface="Times New Roman"/>
              </a:defRPr>
            </a:pPr>
            <a:r>
              <a:rPr sz="2325" b="1">
                <a:solidFill>
                  <a:srgbClr val="183F31"/>
                </a:solidFill>
                <a:latin typeface="Times New Roman"/>
                <a:ea typeface="Times New Roman"/>
                <a:cs typeface="Times New Roman"/>
              </a:rPr>
              <a:t>La regulación génica orienta la diferenciación de células y tejidos.</a:t>
            </a:r>
          </a:p>
        </p:txBody>
      </p:sp>
    </p:spTree>
    <p:extLst>
      <p:ext uri="{BB962C8B-B14F-4D97-AF65-F5344CB8AC3E}">
        <p14:creationId xmlns:p14="http://schemas.microsoft.com/office/powerpoint/2010/main" val="1159295363"/>
      </p:ext>
    </p:extLst>
  </p:cSld>
</p:sld>
</file>

<file path=ppt/slides/slide8.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E92103E0-0419-43B2-BE34-EADB7F6452CC}"/>
              </a:ext>
            </a:extLst>
          </p:cNvPr>
          <p:cNvCxnSpPr>
            <a:stCxn xmlns:a="http://schemas.openxmlformats.org/drawingml/2006/main" id="13" idx="2"/>
            <a:endCxn xmlns:a="http://schemas.openxmlformats.org/drawingml/2006/main" id="14" idx="0"/>
          </p:cNvCxnSpPr>
          <p:nvPr/>
        </p:nvCxnSpPr>
        <p:spPr>
          <a:xfrm xmlns:a="http://schemas.openxmlformats.org/drawingml/2006/main">
            <a:off x="9124950" y="4343400"/>
            <a:ext cx="0" cy="495300"/>
          </a:xfrm>
          <a:prstGeom xmlns:a="http://schemas.openxmlformats.org/drawingml/2006/main" prst="straightConnector1">
            <a:avLst/>
          </a:prstGeom>
          <a:ln xmlns:a="http://schemas.openxmlformats.org/drawingml/2006/main" w="19050">
            <a:solidFill>
              <a:srgbClr val="41745A"/>
            </a:solidFill>
            <a:prstDash val="solid"/>
            <a:tailEnd type="arrow" w="med" len="med"/>
          </a:ln>
        </p:spPr>
      </p:cxnSp>
      <p:cxnSp>
        <p:nvCxnSpPr>
          <p:cNvPr id="15" name="">
            <a:extLst xmlns:a="http://schemas.openxmlformats.org/drawingml/2006/main">
              <a:ext uri="{FF2B5EF4-FFF2-40B4-BE49-F238E27FC236}">
                <a16:creationId xmlns:a16="http://schemas.microsoft.com/office/drawing/2014/main" id="{21C8988F-C696-41F7-BC3B-5F8F513EB2CC}"/>
              </a:ext>
            </a:extLst>
          </p:cNvPr>
          <p:cNvCxnSpPr>
            <a:stCxn xmlns:a="http://schemas.openxmlformats.org/drawingml/2006/main" id="12" idx="2"/>
            <a:endCxn xmlns:a="http://schemas.openxmlformats.org/drawingml/2006/main" id="13" idx="0"/>
          </p:cNvCxnSpPr>
          <p:nvPr/>
        </p:nvCxnSpPr>
        <p:spPr>
          <a:xfrm xmlns:a="http://schemas.openxmlformats.org/drawingml/2006/main">
            <a:off x="9124950" y="3162300"/>
            <a:ext cx="0" cy="495300"/>
          </a:xfrm>
          <a:prstGeom xmlns:a="http://schemas.openxmlformats.org/drawingml/2006/main" prst="straightConnector1">
            <a:avLst/>
          </a:prstGeom>
          <a:ln xmlns:a="http://schemas.openxmlformats.org/drawingml/2006/main" w="19050">
            <a:solidFill>
              <a:srgbClr val="41745A"/>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8A48576D-4A6F-412C-B077-12A074CDAD27}"/>
              </a:ext>
            </a:extLst>
          </p:cNvPr>
          <p:cNvCxnSpPr>
            <a:stCxn xmlns:a="http://schemas.openxmlformats.org/drawingml/2006/main" id="8" idx="2"/>
            <a:endCxn xmlns:a="http://schemas.openxmlformats.org/drawingml/2006/main" id="9" idx="0"/>
          </p:cNvCxnSpPr>
          <p:nvPr/>
        </p:nvCxnSpPr>
        <p:spPr>
          <a:xfrm xmlns:a="http://schemas.openxmlformats.org/drawingml/2006/main">
            <a:off x="3086100" y="4343400"/>
            <a:ext cx="0" cy="495300"/>
          </a:xfrm>
          <a:prstGeom xmlns:a="http://schemas.openxmlformats.org/drawingml/2006/main" prst="straightConnector1">
            <a:avLst/>
          </a:prstGeom>
          <a:ln xmlns:a="http://schemas.openxmlformats.org/drawingml/2006/main" w="19050">
            <a:solidFill>
              <a:srgbClr val="41745A"/>
            </a:solidFill>
            <a:prstDash val="solid"/>
            <a:tailEnd type="arrow" w="med" len="med"/>
          </a:ln>
        </p:spPr>
      </p:cxnSp>
      <p:cxnSp>
        <p:nvCxnSpPr>
          <p:cNvPr id="10" name="">
            <a:extLst xmlns:a="http://schemas.openxmlformats.org/drawingml/2006/main">
              <a:ext uri="{FF2B5EF4-FFF2-40B4-BE49-F238E27FC236}">
                <a16:creationId xmlns:a16="http://schemas.microsoft.com/office/drawing/2014/main" id="{670CB480-B358-4ACD-B1B0-A218894636F6}"/>
              </a:ext>
            </a:extLst>
          </p:cNvPr>
          <p:cNvCxnSpPr>
            <a:stCxn xmlns:a="http://schemas.openxmlformats.org/drawingml/2006/main" id="7" idx="2"/>
            <a:endCxn xmlns:a="http://schemas.openxmlformats.org/drawingml/2006/main" id="8" idx="0"/>
          </p:cNvCxnSpPr>
          <p:nvPr/>
        </p:nvCxnSpPr>
        <p:spPr>
          <a:xfrm xmlns:a="http://schemas.openxmlformats.org/drawingml/2006/main">
            <a:off x="3086100" y="3162300"/>
            <a:ext cx="0" cy="495300"/>
          </a:xfrm>
          <a:prstGeom xmlns:a="http://schemas.openxmlformats.org/drawingml/2006/main" prst="straightConnector1">
            <a:avLst/>
          </a:prstGeom>
          <a:ln xmlns:a="http://schemas.openxmlformats.org/drawingml/2006/main" w="19050">
            <a:solidFill>
              <a:srgbClr val="41745A"/>
            </a:solidFill>
            <a:prstDash val="solid"/>
            <a:tailEnd type="arrow" w="med" len="med"/>
          </a:ln>
        </p:spPr>
      </p:cxnSp>
      <p:sp>
        <p:nvSpPr>
          <p:cNvPr id="18" name="title">
            <a:extLst xmlns:a="http://schemas.openxmlformats.org/drawingml/2006/main">
              <a:ext uri="{FF2B5EF4-FFF2-40B4-BE49-F238E27FC236}">
                <a16:creationId xmlns:a16="http://schemas.microsoft.com/office/drawing/2014/main" id="{EE9B0A0E-DE62-4E0D-9955-A82A71ED85FE}"/>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Redes testicular y ovárica en mamíferos</a:t>
            </a:r>
          </a:p>
        </p:txBody>
      </p:sp>
      <p:sp>
        <p:nvSpPr>
          <p:cNvPr id="2" name="">
            <a:extLst xmlns:a="http://schemas.openxmlformats.org/drawingml/2006/main">
              <a:ext uri="{FF2B5EF4-FFF2-40B4-BE49-F238E27FC236}">
                <a16:creationId xmlns:a16="http://schemas.microsoft.com/office/drawing/2014/main" id="{EFC49FAF-D61C-4956-B917-49279CBFD7A5}"/>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562A91C9-715E-4981-BC8D-161BD0AF921D}"/>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8</a:t>
            </a:r>
          </a:p>
        </p:txBody>
      </p:sp>
      <p:sp>
        <p:nvSpPr>
          <p:cNvPr id="4" name="references">
            <a:extLst xmlns:a="http://schemas.openxmlformats.org/drawingml/2006/main">
              <a:ext uri="{FF2B5EF4-FFF2-40B4-BE49-F238E27FC236}">
                <a16:creationId xmlns:a16="http://schemas.microsoft.com/office/drawing/2014/main" id="{08E79F2D-C61C-4CCD-94F3-888CC080FF62}"/>
              </a:ext>
            </a:extLst>
          </p:cNvPr>
          <p:cNvSpPr>
            <a:spLocks xmlns:a="http://schemas.openxmlformats.org/drawingml/2006/main" noGrp="1"/>
          </p:cNvSpPr>
          <p:nvPr/>
        </p:nvSpPr>
        <p:spPr>
          <a:xfrm xmlns:a="http://schemas.openxmlformats.org/drawingml/2006/main">
            <a:off x="609600" y="6419850"/>
            <a:ext cx="10382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a:solidFill>
                  <a:srgbClr val="41745A"/>
                </a:solidFill>
                <a:latin typeface="Times New Roman"/>
                <a:ea typeface="Times New Roman"/>
                <a:cs typeface="Times New Roman"/>
              </a:defRPr>
            </a:defPPr>
            <a:lvl1pPr algn="l">
              <a:defRPr sz="1350">
                <a:solidFill>
                  <a:srgbClr val="41745A"/>
                </a:solidFill>
                <a:latin typeface="Times New Roman"/>
                <a:ea typeface="Times New Roman"/>
                <a:cs typeface="Times New Roman"/>
              </a:defRPr>
            </a:lvl1pPr>
            <a:lvl2pPr algn="l">
              <a:defRPr sz="1350">
                <a:solidFill>
                  <a:srgbClr val="41745A"/>
                </a:solidFill>
                <a:latin typeface="Times New Roman"/>
                <a:ea typeface="Times New Roman"/>
                <a:cs typeface="Times New Roman"/>
              </a:defRPr>
            </a:lvl2pPr>
            <a:lvl3pPr algn="l">
              <a:defRPr sz="1350">
                <a:solidFill>
                  <a:srgbClr val="41745A"/>
                </a:solidFill>
                <a:latin typeface="Times New Roman"/>
                <a:ea typeface="Times New Roman"/>
                <a:cs typeface="Times New Roman"/>
              </a:defRPr>
            </a:lvl3pPr>
            <a:lvl4pPr algn="l">
              <a:defRPr sz="1350">
                <a:solidFill>
                  <a:srgbClr val="41745A"/>
                </a:solidFill>
                <a:latin typeface="Times New Roman"/>
                <a:ea typeface="Times New Roman"/>
                <a:cs typeface="Times New Roman"/>
              </a:defRPr>
            </a:lvl4pPr>
            <a:lvl5pPr algn="l">
              <a:defRPr sz="1350">
                <a:solidFill>
                  <a:srgbClr val="41745A"/>
                </a:solidFill>
                <a:latin typeface="Times New Roman"/>
                <a:ea typeface="Times New Roman"/>
                <a:cs typeface="Times New Roman"/>
              </a:defRPr>
            </a:lvl5pPr>
            <a:lvl6pPr algn="l">
              <a:defRPr sz="1350">
                <a:solidFill>
                  <a:srgbClr val="41745A"/>
                </a:solidFill>
                <a:latin typeface="Times New Roman"/>
                <a:ea typeface="Times New Roman"/>
                <a:cs typeface="Times New Roman"/>
              </a:defRPr>
            </a:lvl6pPr>
            <a:lvl7pPr algn="l">
              <a:defRPr sz="1350">
                <a:solidFill>
                  <a:srgbClr val="41745A"/>
                </a:solidFill>
                <a:latin typeface="Times New Roman"/>
                <a:ea typeface="Times New Roman"/>
                <a:cs typeface="Times New Roman"/>
              </a:defRPr>
            </a:lvl7pPr>
            <a:lvl8pPr algn="l">
              <a:defRPr sz="1350">
                <a:solidFill>
                  <a:srgbClr val="41745A"/>
                </a:solidFill>
                <a:latin typeface="Times New Roman"/>
                <a:ea typeface="Times New Roman"/>
                <a:cs typeface="Times New Roman"/>
              </a:defRPr>
            </a:lvl8pPr>
            <a:lvl9pPr algn="l">
              <a:defRPr sz="1350">
                <a:solidFill>
                  <a:srgbClr val="41745A"/>
                </a:solidFill>
                <a:latin typeface="Times New Roman"/>
                <a:ea typeface="Times New Roman"/>
                <a:cs typeface="Times New Roman"/>
              </a:defRPr>
            </a:lvl9pPr>
          </a:lstStyle>
          <a:p xmlns:a="http://schemas.openxmlformats.org/drawingml/2006/main">
            <a:pPr algn="l">
              <a:defRPr sz="1350">
                <a:solidFill>
                  <a:srgbClr val="41745A"/>
                </a:solidFill>
                <a:latin typeface="Times New Roman"/>
                <a:ea typeface="Times New Roman"/>
                <a:cs typeface="Times New Roman"/>
              </a:defRPr>
            </a:pPr>
            <a:r>
              <a:rPr sz="1350">
                <a:solidFill>
                  <a:srgbClr val="41745A"/>
                </a:solidFill>
                <a:latin typeface="Times New Roman"/>
                <a:ea typeface="Times New Roman"/>
                <a:cs typeface="Times New Roman"/>
              </a:rPr>
              <a:t>Fuentes: [2] [8]</a:t>
            </a:r>
          </a:p>
        </p:txBody>
      </p:sp>
      <p:sp>
        <p:nvSpPr>
          <p:cNvPr id="5" name="text-4">
            <a:extLst xmlns:a="http://schemas.openxmlformats.org/drawingml/2006/main">
              <a:ext uri="{FF2B5EF4-FFF2-40B4-BE49-F238E27FC236}">
                <a16:creationId xmlns:a16="http://schemas.microsoft.com/office/drawing/2014/main" id="{03442DE0-801A-46F0-A711-053697AC27D2}"/>
              </a:ext>
            </a:extLst>
          </p:cNvPr>
          <p:cNvSpPr>
            <a:spLocks xmlns:a="http://schemas.openxmlformats.org/drawingml/2006/main" noGrp="1"/>
          </p:cNvSpPr>
          <p:nvPr/>
        </p:nvSpPr>
        <p:spPr>
          <a:xfrm xmlns:a="http://schemas.openxmlformats.org/drawingml/2006/main">
            <a:off x="990600" y="1752600"/>
            <a:ext cx="4191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475" b="1">
                <a:solidFill>
                  <a:srgbClr val="41745A"/>
                </a:solidFill>
                <a:latin typeface="Times New Roman"/>
                <a:ea typeface="Times New Roman"/>
                <a:cs typeface="Times New Roman"/>
              </a:defRPr>
            </a:defPPr>
            <a:lvl1pPr algn="ctr">
              <a:defRPr sz="2475" b="1">
                <a:solidFill>
                  <a:srgbClr val="41745A"/>
                </a:solidFill>
                <a:latin typeface="Times New Roman"/>
                <a:ea typeface="Times New Roman"/>
                <a:cs typeface="Times New Roman"/>
              </a:defRPr>
            </a:lvl1pPr>
            <a:lvl2pPr algn="ctr">
              <a:defRPr sz="2475" b="1">
                <a:solidFill>
                  <a:srgbClr val="41745A"/>
                </a:solidFill>
                <a:latin typeface="Times New Roman"/>
                <a:ea typeface="Times New Roman"/>
                <a:cs typeface="Times New Roman"/>
              </a:defRPr>
            </a:lvl2pPr>
            <a:lvl3pPr algn="ctr">
              <a:defRPr sz="2475" b="1">
                <a:solidFill>
                  <a:srgbClr val="41745A"/>
                </a:solidFill>
                <a:latin typeface="Times New Roman"/>
                <a:ea typeface="Times New Roman"/>
                <a:cs typeface="Times New Roman"/>
              </a:defRPr>
            </a:lvl3pPr>
            <a:lvl4pPr algn="ctr">
              <a:defRPr sz="2475" b="1">
                <a:solidFill>
                  <a:srgbClr val="41745A"/>
                </a:solidFill>
                <a:latin typeface="Times New Roman"/>
                <a:ea typeface="Times New Roman"/>
                <a:cs typeface="Times New Roman"/>
              </a:defRPr>
            </a:lvl4pPr>
            <a:lvl5pPr algn="ctr">
              <a:defRPr sz="2475" b="1">
                <a:solidFill>
                  <a:srgbClr val="41745A"/>
                </a:solidFill>
                <a:latin typeface="Times New Roman"/>
                <a:ea typeface="Times New Roman"/>
                <a:cs typeface="Times New Roman"/>
              </a:defRPr>
            </a:lvl5pPr>
            <a:lvl6pPr algn="ctr">
              <a:defRPr sz="2475" b="1">
                <a:solidFill>
                  <a:srgbClr val="41745A"/>
                </a:solidFill>
                <a:latin typeface="Times New Roman"/>
                <a:ea typeface="Times New Roman"/>
                <a:cs typeface="Times New Roman"/>
              </a:defRPr>
            </a:lvl6pPr>
            <a:lvl7pPr algn="ctr">
              <a:defRPr sz="2475" b="1">
                <a:solidFill>
                  <a:srgbClr val="41745A"/>
                </a:solidFill>
                <a:latin typeface="Times New Roman"/>
                <a:ea typeface="Times New Roman"/>
                <a:cs typeface="Times New Roman"/>
              </a:defRPr>
            </a:lvl7pPr>
            <a:lvl8pPr algn="ctr">
              <a:defRPr sz="2475" b="1">
                <a:solidFill>
                  <a:srgbClr val="41745A"/>
                </a:solidFill>
                <a:latin typeface="Times New Roman"/>
                <a:ea typeface="Times New Roman"/>
                <a:cs typeface="Times New Roman"/>
              </a:defRPr>
            </a:lvl8pPr>
            <a:lvl9pPr algn="ctr">
              <a:defRPr sz="2475" b="1">
                <a:solidFill>
                  <a:srgbClr val="41745A"/>
                </a:solidFill>
                <a:latin typeface="Times New Roman"/>
                <a:ea typeface="Times New Roman"/>
                <a:cs typeface="Times New Roman"/>
              </a:defRPr>
            </a:lvl9pPr>
          </a:lstStyle>
          <a:p xmlns:a="http://schemas.openxmlformats.org/drawingml/2006/main">
            <a:pPr algn="ctr">
              <a:defRPr sz="2475" b="1">
                <a:solidFill>
                  <a:srgbClr val="41745A"/>
                </a:solidFill>
                <a:latin typeface="Times New Roman"/>
                <a:ea typeface="Times New Roman"/>
                <a:cs typeface="Times New Roman"/>
              </a:defRPr>
            </a:pPr>
            <a:r>
              <a:rPr sz="2475" b="1">
                <a:solidFill>
                  <a:srgbClr val="41745A"/>
                </a:solidFill>
                <a:latin typeface="Times New Roman"/>
                <a:ea typeface="Times New Roman"/>
                <a:cs typeface="Times New Roman"/>
              </a:rPr>
              <a:t>Vía testicular</a:t>
            </a:r>
          </a:p>
        </p:txBody>
      </p:sp>
      <p:sp>
        <p:nvSpPr>
          <p:cNvPr id="6" name="text-5">
            <a:extLst xmlns:a="http://schemas.openxmlformats.org/drawingml/2006/main">
              <a:ext uri="{FF2B5EF4-FFF2-40B4-BE49-F238E27FC236}">
                <a16:creationId xmlns:a16="http://schemas.microsoft.com/office/drawing/2014/main" id="{CAB9DA44-F174-4FE3-B924-9E23FBD4D383}"/>
              </a:ext>
            </a:extLst>
          </p:cNvPr>
          <p:cNvSpPr>
            <a:spLocks xmlns:a="http://schemas.openxmlformats.org/drawingml/2006/main" noGrp="1"/>
          </p:cNvSpPr>
          <p:nvPr/>
        </p:nvSpPr>
        <p:spPr>
          <a:xfrm xmlns:a="http://schemas.openxmlformats.org/drawingml/2006/main">
            <a:off x="7029450" y="1752600"/>
            <a:ext cx="4191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475" b="1">
                <a:solidFill>
                  <a:srgbClr val="41745A"/>
                </a:solidFill>
                <a:latin typeface="Times New Roman"/>
                <a:ea typeface="Times New Roman"/>
                <a:cs typeface="Times New Roman"/>
              </a:defRPr>
            </a:defPPr>
            <a:lvl1pPr algn="ctr">
              <a:defRPr sz="2475" b="1">
                <a:solidFill>
                  <a:srgbClr val="41745A"/>
                </a:solidFill>
                <a:latin typeface="Times New Roman"/>
                <a:ea typeface="Times New Roman"/>
                <a:cs typeface="Times New Roman"/>
              </a:defRPr>
            </a:lvl1pPr>
            <a:lvl2pPr algn="ctr">
              <a:defRPr sz="2475" b="1">
                <a:solidFill>
                  <a:srgbClr val="41745A"/>
                </a:solidFill>
                <a:latin typeface="Times New Roman"/>
                <a:ea typeface="Times New Roman"/>
                <a:cs typeface="Times New Roman"/>
              </a:defRPr>
            </a:lvl2pPr>
            <a:lvl3pPr algn="ctr">
              <a:defRPr sz="2475" b="1">
                <a:solidFill>
                  <a:srgbClr val="41745A"/>
                </a:solidFill>
                <a:latin typeface="Times New Roman"/>
                <a:ea typeface="Times New Roman"/>
                <a:cs typeface="Times New Roman"/>
              </a:defRPr>
            </a:lvl3pPr>
            <a:lvl4pPr algn="ctr">
              <a:defRPr sz="2475" b="1">
                <a:solidFill>
                  <a:srgbClr val="41745A"/>
                </a:solidFill>
                <a:latin typeface="Times New Roman"/>
                <a:ea typeface="Times New Roman"/>
                <a:cs typeface="Times New Roman"/>
              </a:defRPr>
            </a:lvl4pPr>
            <a:lvl5pPr algn="ctr">
              <a:defRPr sz="2475" b="1">
                <a:solidFill>
                  <a:srgbClr val="41745A"/>
                </a:solidFill>
                <a:latin typeface="Times New Roman"/>
                <a:ea typeface="Times New Roman"/>
                <a:cs typeface="Times New Roman"/>
              </a:defRPr>
            </a:lvl5pPr>
            <a:lvl6pPr algn="ctr">
              <a:defRPr sz="2475" b="1">
                <a:solidFill>
                  <a:srgbClr val="41745A"/>
                </a:solidFill>
                <a:latin typeface="Times New Roman"/>
                <a:ea typeface="Times New Roman"/>
                <a:cs typeface="Times New Roman"/>
              </a:defRPr>
            </a:lvl6pPr>
            <a:lvl7pPr algn="ctr">
              <a:defRPr sz="2475" b="1">
                <a:solidFill>
                  <a:srgbClr val="41745A"/>
                </a:solidFill>
                <a:latin typeface="Times New Roman"/>
                <a:ea typeface="Times New Roman"/>
                <a:cs typeface="Times New Roman"/>
              </a:defRPr>
            </a:lvl7pPr>
            <a:lvl8pPr algn="ctr">
              <a:defRPr sz="2475" b="1">
                <a:solidFill>
                  <a:srgbClr val="41745A"/>
                </a:solidFill>
                <a:latin typeface="Times New Roman"/>
                <a:ea typeface="Times New Roman"/>
                <a:cs typeface="Times New Roman"/>
              </a:defRPr>
            </a:lvl8pPr>
            <a:lvl9pPr algn="ctr">
              <a:defRPr sz="2475" b="1">
                <a:solidFill>
                  <a:srgbClr val="41745A"/>
                </a:solidFill>
                <a:latin typeface="Times New Roman"/>
                <a:ea typeface="Times New Roman"/>
                <a:cs typeface="Times New Roman"/>
              </a:defRPr>
            </a:lvl9pPr>
          </a:lstStyle>
          <a:p xmlns:a="http://schemas.openxmlformats.org/drawingml/2006/main">
            <a:pPr algn="ctr">
              <a:defRPr sz="2475" b="1">
                <a:solidFill>
                  <a:srgbClr val="41745A"/>
                </a:solidFill>
                <a:latin typeface="Times New Roman"/>
                <a:ea typeface="Times New Roman"/>
                <a:cs typeface="Times New Roman"/>
              </a:defRPr>
            </a:pPr>
            <a:r>
              <a:rPr sz="2475" b="1">
                <a:solidFill>
                  <a:srgbClr val="41745A"/>
                </a:solidFill>
                <a:latin typeface="Times New Roman"/>
                <a:ea typeface="Times New Roman"/>
                <a:cs typeface="Times New Roman"/>
              </a:rPr>
              <a:t>Vía ovárica</a:t>
            </a:r>
          </a:p>
        </p:txBody>
      </p:sp>
      <p:sp>
        <p:nvSpPr>
          <p:cNvPr id="7" name="">
            <a:extLst xmlns:a="http://schemas.openxmlformats.org/drawingml/2006/main">
              <a:ext uri="{FF2B5EF4-FFF2-40B4-BE49-F238E27FC236}">
                <a16:creationId xmlns:a16="http://schemas.microsoft.com/office/drawing/2014/main" id="{9A4D35C0-219A-4057-B41F-68D267EB6D92}"/>
              </a:ext>
            </a:extLst>
          </p:cNvPr>
          <p:cNvSpPr>
            <a:spLocks xmlns:a="http://schemas.openxmlformats.org/drawingml/2006/main" noGrp="1"/>
          </p:cNvSpPr>
          <p:nvPr/>
        </p:nvSpPr>
        <p:spPr>
          <a:xfrm xmlns:a="http://schemas.openxmlformats.org/drawingml/2006/main">
            <a:off x="1371600" y="2476500"/>
            <a:ext cx="3429000" cy="685800"/>
          </a:xfrm>
          <a:prstGeom xmlns:a="http://schemas.openxmlformats.org/drawingml/2006/main" prst="rect">
            <a:avLst/>
          </a:prstGeom>
          <a:solidFill xmlns:a="http://schemas.openxmlformats.org/drawingml/2006/main">
            <a:srgbClr val="FFFFFF"/>
          </a:solidFill>
          <a:ln xmlns:a="http://schemas.openxmlformats.org/drawingml/2006/main" w="14288">
            <a:solidFill>
              <a:srgbClr val="41745A"/>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2550" b="1">
                <a:solidFill>
                  <a:srgbClr val="183F31"/>
                </a:solidFill>
                <a:latin typeface="Times New Roman"/>
                <a:ea typeface="Times New Roman"/>
                <a:cs typeface="Times New Roman"/>
              </a:defRPr>
            </a:defPPr>
            <a:lvl1pPr algn="ctr">
              <a:defRPr sz="2550" b="1">
                <a:solidFill>
                  <a:srgbClr val="183F31"/>
                </a:solidFill>
                <a:latin typeface="Times New Roman"/>
                <a:ea typeface="Times New Roman"/>
                <a:cs typeface="Times New Roman"/>
              </a:defRPr>
            </a:lvl1pPr>
            <a:lvl2pPr algn="ctr">
              <a:defRPr sz="2550" b="1">
                <a:solidFill>
                  <a:srgbClr val="183F31"/>
                </a:solidFill>
                <a:latin typeface="Times New Roman"/>
                <a:ea typeface="Times New Roman"/>
                <a:cs typeface="Times New Roman"/>
              </a:defRPr>
            </a:lvl2pPr>
            <a:lvl3pPr algn="ctr">
              <a:defRPr sz="2550" b="1">
                <a:solidFill>
                  <a:srgbClr val="183F31"/>
                </a:solidFill>
                <a:latin typeface="Times New Roman"/>
                <a:ea typeface="Times New Roman"/>
                <a:cs typeface="Times New Roman"/>
              </a:defRPr>
            </a:lvl3pPr>
            <a:lvl4pPr algn="ctr">
              <a:defRPr sz="2550" b="1">
                <a:solidFill>
                  <a:srgbClr val="183F31"/>
                </a:solidFill>
                <a:latin typeface="Times New Roman"/>
                <a:ea typeface="Times New Roman"/>
                <a:cs typeface="Times New Roman"/>
              </a:defRPr>
            </a:lvl4pPr>
            <a:lvl5pPr algn="ctr">
              <a:defRPr sz="2550" b="1">
                <a:solidFill>
                  <a:srgbClr val="183F31"/>
                </a:solidFill>
                <a:latin typeface="Times New Roman"/>
                <a:ea typeface="Times New Roman"/>
                <a:cs typeface="Times New Roman"/>
              </a:defRPr>
            </a:lvl5pPr>
            <a:lvl6pPr algn="ctr">
              <a:defRPr sz="2550" b="1">
                <a:solidFill>
                  <a:srgbClr val="183F31"/>
                </a:solidFill>
                <a:latin typeface="Times New Roman"/>
                <a:ea typeface="Times New Roman"/>
                <a:cs typeface="Times New Roman"/>
              </a:defRPr>
            </a:lvl6pPr>
            <a:lvl7pPr algn="ctr">
              <a:defRPr sz="2550" b="1">
                <a:solidFill>
                  <a:srgbClr val="183F31"/>
                </a:solidFill>
                <a:latin typeface="Times New Roman"/>
                <a:ea typeface="Times New Roman"/>
                <a:cs typeface="Times New Roman"/>
              </a:defRPr>
            </a:lvl7pPr>
            <a:lvl8pPr algn="ctr">
              <a:defRPr sz="2550" b="1">
                <a:solidFill>
                  <a:srgbClr val="183F31"/>
                </a:solidFill>
                <a:latin typeface="Times New Roman"/>
                <a:ea typeface="Times New Roman"/>
                <a:cs typeface="Times New Roman"/>
              </a:defRPr>
            </a:lvl8pPr>
            <a:lvl9pPr algn="ctr">
              <a:defRPr sz="2550" b="1">
                <a:solidFill>
                  <a:srgbClr val="183F31"/>
                </a:solidFill>
                <a:latin typeface="Times New Roman"/>
                <a:ea typeface="Times New Roman"/>
                <a:cs typeface="Times New Roman"/>
              </a:defRPr>
            </a:lvl9pPr>
          </a:lstStyle>
          <a:p xmlns:a="http://schemas.openxmlformats.org/drawingml/2006/main">
            <a:pPr algn="ctr">
              <a:defRPr sz="2550" b="1">
                <a:solidFill>
                  <a:srgbClr val="183F31"/>
                </a:solidFill>
                <a:latin typeface="Times New Roman"/>
                <a:ea typeface="Times New Roman"/>
                <a:cs typeface="Times New Roman"/>
              </a:defRPr>
            </a:pPr>
            <a:r>
              <a:rPr sz="2550" b="1">
                <a:solidFill>
                  <a:srgbClr val="183F31"/>
                </a:solidFill>
                <a:latin typeface="Times New Roman"/>
                <a:ea typeface="Times New Roman"/>
                <a:cs typeface="Times New Roman"/>
              </a:rPr>
              <a:t>SRY</a:t>
            </a:r>
          </a:p>
        </p:txBody>
      </p:sp>
      <p:sp>
        <p:nvSpPr>
          <p:cNvPr id="8" name="">
            <a:extLst xmlns:a="http://schemas.openxmlformats.org/drawingml/2006/main">
              <a:ext uri="{FF2B5EF4-FFF2-40B4-BE49-F238E27FC236}">
                <a16:creationId xmlns:a16="http://schemas.microsoft.com/office/drawing/2014/main" id="{911F767A-9996-44DD-91B5-8BB03AAA236D}"/>
              </a:ext>
            </a:extLst>
          </p:cNvPr>
          <p:cNvSpPr>
            <a:spLocks xmlns:a="http://schemas.openxmlformats.org/drawingml/2006/main" noGrp="1"/>
          </p:cNvSpPr>
          <p:nvPr/>
        </p:nvSpPr>
        <p:spPr>
          <a:xfrm xmlns:a="http://schemas.openxmlformats.org/drawingml/2006/main">
            <a:off x="1371600" y="3657600"/>
            <a:ext cx="3429000" cy="685800"/>
          </a:xfrm>
          <a:prstGeom xmlns:a="http://schemas.openxmlformats.org/drawingml/2006/main" prst="rect">
            <a:avLst/>
          </a:prstGeom>
          <a:solidFill xmlns:a="http://schemas.openxmlformats.org/drawingml/2006/main">
            <a:srgbClr val="FFFFFF"/>
          </a:solidFill>
          <a:ln xmlns:a="http://schemas.openxmlformats.org/drawingml/2006/main" w="14288">
            <a:solidFill>
              <a:srgbClr val="41745A"/>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2550" b="1">
                <a:solidFill>
                  <a:srgbClr val="183F31"/>
                </a:solidFill>
                <a:latin typeface="Times New Roman"/>
                <a:ea typeface="Times New Roman"/>
                <a:cs typeface="Times New Roman"/>
              </a:defRPr>
            </a:defPPr>
            <a:lvl1pPr algn="ctr">
              <a:defRPr sz="2550" b="1">
                <a:solidFill>
                  <a:srgbClr val="183F31"/>
                </a:solidFill>
                <a:latin typeface="Times New Roman"/>
                <a:ea typeface="Times New Roman"/>
                <a:cs typeface="Times New Roman"/>
              </a:defRPr>
            </a:lvl1pPr>
            <a:lvl2pPr algn="ctr">
              <a:defRPr sz="2550" b="1">
                <a:solidFill>
                  <a:srgbClr val="183F31"/>
                </a:solidFill>
                <a:latin typeface="Times New Roman"/>
                <a:ea typeface="Times New Roman"/>
                <a:cs typeface="Times New Roman"/>
              </a:defRPr>
            </a:lvl2pPr>
            <a:lvl3pPr algn="ctr">
              <a:defRPr sz="2550" b="1">
                <a:solidFill>
                  <a:srgbClr val="183F31"/>
                </a:solidFill>
                <a:latin typeface="Times New Roman"/>
                <a:ea typeface="Times New Roman"/>
                <a:cs typeface="Times New Roman"/>
              </a:defRPr>
            </a:lvl3pPr>
            <a:lvl4pPr algn="ctr">
              <a:defRPr sz="2550" b="1">
                <a:solidFill>
                  <a:srgbClr val="183F31"/>
                </a:solidFill>
                <a:latin typeface="Times New Roman"/>
                <a:ea typeface="Times New Roman"/>
                <a:cs typeface="Times New Roman"/>
              </a:defRPr>
            </a:lvl4pPr>
            <a:lvl5pPr algn="ctr">
              <a:defRPr sz="2550" b="1">
                <a:solidFill>
                  <a:srgbClr val="183F31"/>
                </a:solidFill>
                <a:latin typeface="Times New Roman"/>
                <a:ea typeface="Times New Roman"/>
                <a:cs typeface="Times New Roman"/>
              </a:defRPr>
            </a:lvl5pPr>
            <a:lvl6pPr algn="ctr">
              <a:defRPr sz="2550" b="1">
                <a:solidFill>
                  <a:srgbClr val="183F31"/>
                </a:solidFill>
                <a:latin typeface="Times New Roman"/>
                <a:ea typeface="Times New Roman"/>
                <a:cs typeface="Times New Roman"/>
              </a:defRPr>
            </a:lvl6pPr>
            <a:lvl7pPr algn="ctr">
              <a:defRPr sz="2550" b="1">
                <a:solidFill>
                  <a:srgbClr val="183F31"/>
                </a:solidFill>
                <a:latin typeface="Times New Roman"/>
                <a:ea typeface="Times New Roman"/>
                <a:cs typeface="Times New Roman"/>
              </a:defRPr>
            </a:lvl7pPr>
            <a:lvl8pPr algn="ctr">
              <a:defRPr sz="2550" b="1">
                <a:solidFill>
                  <a:srgbClr val="183F31"/>
                </a:solidFill>
                <a:latin typeface="Times New Roman"/>
                <a:ea typeface="Times New Roman"/>
                <a:cs typeface="Times New Roman"/>
              </a:defRPr>
            </a:lvl8pPr>
            <a:lvl9pPr algn="ctr">
              <a:defRPr sz="2550" b="1">
                <a:solidFill>
                  <a:srgbClr val="183F31"/>
                </a:solidFill>
                <a:latin typeface="Times New Roman"/>
                <a:ea typeface="Times New Roman"/>
                <a:cs typeface="Times New Roman"/>
              </a:defRPr>
            </a:lvl9pPr>
          </a:lstStyle>
          <a:p xmlns:a="http://schemas.openxmlformats.org/drawingml/2006/main">
            <a:pPr algn="ctr">
              <a:defRPr sz="2550" b="1">
                <a:solidFill>
                  <a:srgbClr val="183F31"/>
                </a:solidFill>
                <a:latin typeface="Times New Roman"/>
                <a:ea typeface="Times New Roman"/>
                <a:cs typeface="Times New Roman"/>
              </a:defRPr>
            </a:pPr>
            <a:r>
              <a:rPr sz="2550" b="1">
                <a:solidFill>
                  <a:srgbClr val="183F31"/>
                </a:solidFill>
                <a:latin typeface="Times New Roman"/>
                <a:ea typeface="Times New Roman"/>
                <a:cs typeface="Times New Roman"/>
              </a:rPr>
              <a:t>SOX9</a:t>
            </a:r>
          </a:p>
        </p:txBody>
      </p:sp>
      <p:sp>
        <p:nvSpPr>
          <p:cNvPr id="9" name="">
            <a:extLst xmlns:a="http://schemas.openxmlformats.org/drawingml/2006/main">
              <a:ext uri="{FF2B5EF4-FFF2-40B4-BE49-F238E27FC236}">
                <a16:creationId xmlns:a16="http://schemas.microsoft.com/office/drawing/2014/main" id="{823115CC-6E4D-4907-B9E5-8E83BE7B8DCC}"/>
              </a:ext>
            </a:extLst>
          </p:cNvPr>
          <p:cNvSpPr>
            <a:spLocks xmlns:a="http://schemas.openxmlformats.org/drawingml/2006/main" noGrp="1"/>
          </p:cNvSpPr>
          <p:nvPr/>
        </p:nvSpPr>
        <p:spPr>
          <a:xfrm xmlns:a="http://schemas.openxmlformats.org/drawingml/2006/main">
            <a:off x="1371600" y="4838700"/>
            <a:ext cx="342900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41745A"/>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2250" b="0">
                <a:solidFill>
                  <a:srgbClr val="183F31"/>
                </a:solidFill>
                <a:latin typeface="Times New Roman"/>
                <a:ea typeface="Times New Roman"/>
                <a:cs typeface="Times New Roman"/>
              </a:defRPr>
            </a:defPPr>
            <a:lvl1pPr algn="ctr">
              <a:defRPr sz="2250" b="0">
                <a:solidFill>
                  <a:srgbClr val="183F31"/>
                </a:solidFill>
                <a:latin typeface="Times New Roman"/>
                <a:ea typeface="Times New Roman"/>
                <a:cs typeface="Times New Roman"/>
              </a:defRPr>
            </a:lvl1pPr>
            <a:lvl2pPr algn="ctr">
              <a:defRPr sz="2250" b="0">
                <a:solidFill>
                  <a:srgbClr val="183F31"/>
                </a:solidFill>
                <a:latin typeface="Times New Roman"/>
                <a:ea typeface="Times New Roman"/>
                <a:cs typeface="Times New Roman"/>
              </a:defRPr>
            </a:lvl2pPr>
            <a:lvl3pPr algn="ctr">
              <a:defRPr sz="2250" b="0">
                <a:solidFill>
                  <a:srgbClr val="183F31"/>
                </a:solidFill>
                <a:latin typeface="Times New Roman"/>
                <a:ea typeface="Times New Roman"/>
                <a:cs typeface="Times New Roman"/>
              </a:defRPr>
            </a:lvl3pPr>
            <a:lvl4pPr algn="ctr">
              <a:defRPr sz="2250" b="0">
                <a:solidFill>
                  <a:srgbClr val="183F31"/>
                </a:solidFill>
                <a:latin typeface="Times New Roman"/>
                <a:ea typeface="Times New Roman"/>
                <a:cs typeface="Times New Roman"/>
              </a:defRPr>
            </a:lvl4pPr>
            <a:lvl5pPr algn="ctr">
              <a:defRPr sz="2250" b="0">
                <a:solidFill>
                  <a:srgbClr val="183F31"/>
                </a:solidFill>
                <a:latin typeface="Times New Roman"/>
                <a:ea typeface="Times New Roman"/>
                <a:cs typeface="Times New Roman"/>
              </a:defRPr>
            </a:lvl5pPr>
            <a:lvl6pPr algn="ctr">
              <a:defRPr sz="2250" b="0">
                <a:solidFill>
                  <a:srgbClr val="183F31"/>
                </a:solidFill>
                <a:latin typeface="Times New Roman"/>
                <a:ea typeface="Times New Roman"/>
                <a:cs typeface="Times New Roman"/>
              </a:defRPr>
            </a:lvl6pPr>
            <a:lvl7pPr algn="ctr">
              <a:defRPr sz="2250" b="0">
                <a:solidFill>
                  <a:srgbClr val="183F31"/>
                </a:solidFill>
                <a:latin typeface="Times New Roman"/>
                <a:ea typeface="Times New Roman"/>
                <a:cs typeface="Times New Roman"/>
              </a:defRPr>
            </a:lvl7pPr>
            <a:lvl8pPr algn="ctr">
              <a:defRPr sz="2250" b="0">
                <a:solidFill>
                  <a:srgbClr val="183F31"/>
                </a:solidFill>
                <a:latin typeface="Times New Roman"/>
                <a:ea typeface="Times New Roman"/>
                <a:cs typeface="Times New Roman"/>
              </a:defRPr>
            </a:lvl8pPr>
            <a:lvl9pPr algn="ctr">
              <a:defRPr sz="2250" b="0">
                <a:solidFill>
                  <a:srgbClr val="183F31"/>
                </a:solidFill>
                <a:latin typeface="Times New Roman"/>
                <a:ea typeface="Times New Roman"/>
                <a:cs typeface="Times New Roman"/>
              </a:defRPr>
            </a:lvl9pPr>
          </a:lstStyle>
          <a:p xmlns:a="http://schemas.openxmlformats.org/drawingml/2006/main">
            <a:pPr algn="ctr">
              <a:defRPr sz="2250" b="0">
                <a:solidFill>
                  <a:srgbClr val="183F31"/>
                </a:solidFill>
                <a:latin typeface="Times New Roman"/>
                <a:ea typeface="Times New Roman"/>
                <a:cs typeface="Times New Roman"/>
              </a:defRPr>
            </a:pPr>
            <a:r>
              <a:rPr sz="2250" b="0">
                <a:solidFill>
                  <a:srgbClr val="183F31"/>
                </a:solidFill>
                <a:latin typeface="Times New Roman"/>
                <a:ea typeface="Times New Roman"/>
                <a:cs typeface="Times New Roman"/>
              </a:rPr>
              <a:t>Células de Sertoli</a:t>
            </a:r>
          </a:p>
        </p:txBody>
      </p:sp>
      <p:sp>
        <p:nvSpPr>
          <p:cNvPr id="12" name="">
            <a:extLst xmlns:a="http://schemas.openxmlformats.org/drawingml/2006/main">
              <a:ext uri="{FF2B5EF4-FFF2-40B4-BE49-F238E27FC236}">
                <a16:creationId xmlns:a16="http://schemas.microsoft.com/office/drawing/2014/main" id="{23E57EA0-23E3-4606-88DC-6304CD9A41C3}"/>
              </a:ext>
            </a:extLst>
          </p:cNvPr>
          <p:cNvSpPr>
            <a:spLocks xmlns:a="http://schemas.openxmlformats.org/drawingml/2006/main" noGrp="1"/>
          </p:cNvSpPr>
          <p:nvPr/>
        </p:nvSpPr>
        <p:spPr>
          <a:xfrm xmlns:a="http://schemas.openxmlformats.org/drawingml/2006/main">
            <a:off x="7410450" y="2476500"/>
            <a:ext cx="3429000" cy="685800"/>
          </a:xfrm>
          <a:prstGeom xmlns:a="http://schemas.openxmlformats.org/drawingml/2006/main" prst="rect">
            <a:avLst/>
          </a:prstGeom>
          <a:solidFill xmlns:a="http://schemas.openxmlformats.org/drawingml/2006/main">
            <a:srgbClr val="FFFFFF"/>
          </a:solidFill>
          <a:ln xmlns:a="http://schemas.openxmlformats.org/drawingml/2006/main" w="14288">
            <a:solidFill>
              <a:srgbClr val="41745A"/>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2400" b="1">
                <a:solidFill>
                  <a:srgbClr val="183F31"/>
                </a:solidFill>
                <a:latin typeface="Times New Roman"/>
                <a:ea typeface="Times New Roman"/>
                <a:cs typeface="Times New Roman"/>
              </a:defRPr>
            </a:defPPr>
            <a:lvl1pPr algn="ctr">
              <a:defRPr sz="2400" b="1">
                <a:solidFill>
                  <a:srgbClr val="183F31"/>
                </a:solidFill>
                <a:latin typeface="Times New Roman"/>
                <a:ea typeface="Times New Roman"/>
                <a:cs typeface="Times New Roman"/>
              </a:defRPr>
            </a:lvl1pPr>
            <a:lvl2pPr algn="ctr">
              <a:defRPr sz="2400" b="1">
                <a:solidFill>
                  <a:srgbClr val="183F31"/>
                </a:solidFill>
                <a:latin typeface="Times New Roman"/>
                <a:ea typeface="Times New Roman"/>
                <a:cs typeface="Times New Roman"/>
              </a:defRPr>
            </a:lvl2pPr>
            <a:lvl3pPr algn="ctr">
              <a:defRPr sz="2400" b="1">
                <a:solidFill>
                  <a:srgbClr val="183F31"/>
                </a:solidFill>
                <a:latin typeface="Times New Roman"/>
                <a:ea typeface="Times New Roman"/>
                <a:cs typeface="Times New Roman"/>
              </a:defRPr>
            </a:lvl3pPr>
            <a:lvl4pPr algn="ctr">
              <a:defRPr sz="2400" b="1">
                <a:solidFill>
                  <a:srgbClr val="183F31"/>
                </a:solidFill>
                <a:latin typeface="Times New Roman"/>
                <a:ea typeface="Times New Roman"/>
                <a:cs typeface="Times New Roman"/>
              </a:defRPr>
            </a:lvl4pPr>
            <a:lvl5pPr algn="ctr">
              <a:defRPr sz="2400" b="1">
                <a:solidFill>
                  <a:srgbClr val="183F31"/>
                </a:solidFill>
                <a:latin typeface="Times New Roman"/>
                <a:ea typeface="Times New Roman"/>
                <a:cs typeface="Times New Roman"/>
              </a:defRPr>
            </a:lvl5pPr>
            <a:lvl6pPr algn="ctr">
              <a:defRPr sz="2400" b="1">
                <a:solidFill>
                  <a:srgbClr val="183F31"/>
                </a:solidFill>
                <a:latin typeface="Times New Roman"/>
                <a:ea typeface="Times New Roman"/>
                <a:cs typeface="Times New Roman"/>
              </a:defRPr>
            </a:lvl6pPr>
            <a:lvl7pPr algn="ctr">
              <a:defRPr sz="2400" b="1">
                <a:solidFill>
                  <a:srgbClr val="183F31"/>
                </a:solidFill>
                <a:latin typeface="Times New Roman"/>
                <a:ea typeface="Times New Roman"/>
                <a:cs typeface="Times New Roman"/>
              </a:defRPr>
            </a:lvl7pPr>
            <a:lvl8pPr algn="ctr">
              <a:defRPr sz="2400" b="1">
                <a:solidFill>
                  <a:srgbClr val="183F31"/>
                </a:solidFill>
                <a:latin typeface="Times New Roman"/>
                <a:ea typeface="Times New Roman"/>
                <a:cs typeface="Times New Roman"/>
              </a:defRPr>
            </a:lvl8pPr>
            <a:lvl9pPr algn="ctr">
              <a:defRPr sz="2400" b="1">
                <a:solidFill>
                  <a:srgbClr val="183F31"/>
                </a:solidFill>
                <a:latin typeface="Times New Roman"/>
                <a:ea typeface="Times New Roman"/>
                <a:cs typeface="Times New Roman"/>
              </a:defRPr>
            </a:lvl9pPr>
          </a:lstStyle>
          <a:p xmlns:a="http://schemas.openxmlformats.org/drawingml/2006/main">
            <a:pPr algn="ctr">
              <a:defRPr sz="2400" b="1">
                <a:solidFill>
                  <a:srgbClr val="183F31"/>
                </a:solidFill>
                <a:latin typeface="Times New Roman"/>
                <a:ea typeface="Times New Roman"/>
                <a:cs typeface="Times New Roman"/>
              </a:defRPr>
            </a:pPr>
            <a:r>
              <a:rPr sz="2400" b="1">
                <a:solidFill>
                  <a:srgbClr val="183F31"/>
                </a:solidFill>
                <a:latin typeface="Times New Roman"/>
                <a:ea typeface="Times New Roman"/>
                <a:cs typeface="Times New Roman"/>
              </a:rPr>
              <a:t>WNT4 · RSPO1</a:t>
            </a:r>
          </a:p>
        </p:txBody>
      </p:sp>
      <p:sp>
        <p:nvSpPr>
          <p:cNvPr id="13" name="">
            <a:extLst xmlns:a="http://schemas.openxmlformats.org/drawingml/2006/main">
              <a:ext uri="{FF2B5EF4-FFF2-40B4-BE49-F238E27FC236}">
                <a16:creationId xmlns:a16="http://schemas.microsoft.com/office/drawing/2014/main" id="{0BA877F1-15E6-4DF5-AA0B-45FEE35A30FE}"/>
              </a:ext>
            </a:extLst>
          </p:cNvPr>
          <p:cNvSpPr>
            <a:spLocks xmlns:a="http://schemas.openxmlformats.org/drawingml/2006/main" noGrp="1"/>
          </p:cNvSpPr>
          <p:nvPr/>
        </p:nvSpPr>
        <p:spPr>
          <a:xfrm xmlns:a="http://schemas.openxmlformats.org/drawingml/2006/main">
            <a:off x="7410450" y="3657600"/>
            <a:ext cx="3429000" cy="685800"/>
          </a:xfrm>
          <a:prstGeom xmlns:a="http://schemas.openxmlformats.org/drawingml/2006/main" prst="rect">
            <a:avLst/>
          </a:prstGeom>
          <a:solidFill xmlns:a="http://schemas.openxmlformats.org/drawingml/2006/main">
            <a:srgbClr val="FFFFFF"/>
          </a:solidFill>
          <a:ln xmlns:a="http://schemas.openxmlformats.org/drawingml/2006/main" w="14288">
            <a:solidFill>
              <a:srgbClr val="41745A"/>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2400" b="1">
                <a:solidFill>
                  <a:srgbClr val="183F31"/>
                </a:solidFill>
                <a:latin typeface="Times New Roman"/>
                <a:ea typeface="Times New Roman"/>
                <a:cs typeface="Times New Roman"/>
              </a:defRPr>
            </a:defPPr>
            <a:lvl1pPr algn="ctr">
              <a:defRPr sz="2400" b="1">
                <a:solidFill>
                  <a:srgbClr val="183F31"/>
                </a:solidFill>
                <a:latin typeface="Times New Roman"/>
                <a:ea typeface="Times New Roman"/>
                <a:cs typeface="Times New Roman"/>
              </a:defRPr>
            </a:lvl1pPr>
            <a:lvl2pPr algn="ctr">
              <a:defRPr sz="2400" b="1">
                <a:solidFill>
                  <a:srgbClr val="183F31"/>
                </a:solidFill>
                <a:latin typeface="Times New Roman"/>
                <a:ea typeface="Times New Roman"/>
                <a:cs typeface="Times New Roman"/>
              </a:defRPr>
            </a:lvl2pPr>
            <a:lvl3pPr algn="ctr">
              <a:defRPr sz="2400" b="1">
                <a:solidFill>
                  <a:srgbClr val="183F31"/>
                </a:solidFill>
                <a:latin typeface="Times New Roman"/>
                <a:ea typeface="Times New Roman"/>
                <a:cs typeface="Times New Roman"/>
              </a:defRPr>
            </a:lvl3pPr>
            <a:lvl4pPr algn="ctr">
              <a:defRPr sz="2400" b="1">
                <a:solidFill>
                  <a:srgbClr val="183F31"/>
                </a:solidFill>
                <a:latin typeface="Times New Roman"/>
                <a:ea typeface="Times New Roman"/>
                <a:cs typeface="Times New Roman"/>
              </a:defRPr>
            </a:lvl4pPr>
            <a:lvl5pPr algn="ctr">
              <a:defRPr sz="2400" b="1">
                <a:solidFill>
                  <a:srgbClr val="183F31"/>
                </a:solidFill>
                <a:latin typeface="Times New Roman"/>
                <a:ea typeface="Times New Roman"/>
                <a:cs typeface="Times New Roman"/>
              </a:defRPr>
            </a:lvl5pPr>
            <a:lvl6pPr algn="ctr">
              <a:defRPr sz="2400" b="1">
                <a:solidFill>
                  <a:srgbClr val="183F31"/>
                </a:solidFill>
                <a:latin typeface="Times New Roman"/>
                <a:ea typeface="Times New Roman"/>
                <a:cs typeface="Times New Roman"/>
              </a:defRPr>
            </a:lvl6pPr>
            <a:lvl7pPr algn="ctr">
              <a:defRPr sz="2400" b="1">
                <a:solidFill>
                  <a:srgbClr val="183F31"/>
                </a:solidFill>
                <a:latin typeface="Times New Roman"/>
                <a:ea typeface="Times New Roman"/>
                <a:cs typeface="Times New Roman"/>
              </a:defRPr>
            </a:lvl7pPr>
            <a:lvl8pPr algn="ctr">
              <a:defRPr sz="2400" b="1">
                <a:solidFill>
                  <a:srgbClr val="183F31"/>
                </a:solidFill>
                <a:latin typeface="Times New Roman"/>
                <a:ea typeface="Times New Roman"/>
                <a:cs typeface="Times New Roman"/>
              </a:defRPr>
            </a:lvl8pPr>
            <a:lvl9pPr algn="ctr">
              <a:defRPr sz="2400" b="1">
                <a:solidFill>
                  <a:srgbClr val="183F31"/>
                </a:solidFill>
                <a:latin typeface="Times New Roman"/>
                <a:ea typeface="Times New Roman"/>
                <a:cs typeface="Times New Roman"/>
              </a:defRPr>
            </a:lvl9pPr>
          </a:lstStyle>
          <a:p xmlns:a="http://schemas.openxmlformats.org/drawingml/2006/main">
            <a:pPr algn="ctr">
              <a:defRPr sz="2400" b="1">
                <a:solidFill>
                  <a:srgbClr val="183F31"/>
                </a:solidFill>
                <a:latin typeface="Times New Roman"/>
                <a:ea typeface="Times New Roman"/>
                <a:cs typeface="Times New Roman"/>
              </a:defRPr>
            </a:pPr>
            <a:r>
              <a:rPr sz="2400" b="1">
                <a:solidFill>
                  <a:srgbClr val="183F31"/>
                </a:solidFill>
                <a:latin typeface="Times New Roman"/>
                <a:ea typeface="Times New Roman"/>
                <a:cs typeface="Times New Roman"/>
              </a:rPr>
              <a:t>β-catenina</a:t>
            </a:r>
          </a:p>
        </p:txBody>
      </p:sp>
      <p:sp>
        <p:nvSpPr>
          <p:cNvPr id="14" name="">
            <a:extLst xmlns:a="http://schemas.openxmlformats.org/drawingml/2006/main">
              <a:ext uri="{FF2B5EF4-FFF2-40B4-BE49-F238E27FC236}">
                <a16:creationId xmlns:a16="http://schemas.microsoft.com/office/drawing/2014/main" id="{06601D21-3B70-4A5F-B725-3C0207B28A61}"/>
              </a:ext>
            </a:extLst>
          </p:cNvPr>
          <p:cNvSpPr>
            <a:spLocks xmlns:a="http://schemas.openxmlformats.org/drawingml/2006/main" noGrp="1"/>
          </p:cNvSpPr>
          <p:nvPr/>
        </p:nvSpPr>
        <p:spPr>
          <a:xfrm xmlns:a="http://schemas.openxmlformats.org/drawingml/2006/main">
            <a:off x="7410450" y="4838700"/>
            <a:ext cx="342900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41745A"/>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2250" b="0">
                <a:solidFill>
                  <a:srgbClr val="183F31"/>
                </a:solidFill>
                <a:latin typeface="Times New Roman"/>
                <a:ea typeface="Times New Roman"/>
                <a:cs typeface="Times New Roman"/>
              </a:defRPr>
            </a:defPPr>
            <a:lvl1pPr algn="ctr">
              <a:defRPr sz="2250" b="0">
                <a:solidFill>
                  <a:srgbClr val="183F31"/>
                </a:solidFill>
                <a:latin typeface="Times New Roman"/>
                <a:ea typeface="Times New Roman"/>
                <a:cs typeface="Times New Roman"/>
              </a:defRPr>
            </a:lvl1pPr>
            <a:lvl2pPr algn="ctr">
              <a:defRPr sz="2250" b="0">
                <a:solidFill>
                  <a:srgbClr val="183F31"/>
                </a:solidFill>
                <a:latin typeface="Times New Roman"/>
                <a:ea typeface="Times New Roman"/>
                <a:cs typeface="Times New Roman"/>
              </a:defRPr>
            </a:lvl2pPr>
            <a:lvl3pPr algn="ctr">
              <a:defRPr sz="2250" b="0">
                <a:solidFill>
                  <a:srgbClr val="183F31"/>
                </a:solidFill>
                <a:latin typeface="Times New Roman"/>
                <a:ea typeface="Times New Roman"/>
                <a:cs typeface="Times New Roman"/>
              </a:defRPr>
            </a:lvl3pPr>
            <a:lvl4pPr algn="ctr">
              <a:defRPr sz="2250" b="0">
                <a:solidFill>
                  <a:srgbClr val="183F31"/>
                </a:solidFill>
                <a:latin typeface="Times New Roman"/>
                <a:ea typeface="Times New Roman"/>
                <a:cs typeface="Times New Roman"/>
              </a:defRPr>
            </a:lvl4pPr>
            <a:lvl5pPr algn="ctr">
              <a:defRPr sz="2250" b="0">
                <a:solidFill>
                  <a:srgbClr val="183F31"/>
                </a:solidFill>
                <a:latin typeface="Times New Roman"/>
                <a:ea typeface="Times New Roman"/>
                <a:cs typeface="Times New Roman"/>
              </a:defRPr>
            </a:lvl5pPr>
            <a:lvl6pPr algn="ctr">
              <a:defRPr sz="2250" b="0">
                <a:solidFill>
                  <a:srgbClr val="183F31"/>
                </a:solidFill>
                <a:latin typeface="Times New Roman"/>
                <a:ea typeface="Times New Roman"/>
                <a:cs typeface="Times New Roman"/>
              </a:defRPr>
            </a:lvl6pPr>
            <a:lvl7pPr algn="ctr">
              <a:defRPr sz="2250" b="0">
                <a:solidFill>
                  <a:srgbClr val="183F31"/>
                </a:solidFill>
                <a:latin typeface="Times New Roman"/>
                <a:ea typeface="Times New Roman"/>
                <a:cs typeface="Times New Roman"/>
              </a:defRPr>
            </a:lvl7pPr>
            <a:lvl8pPr algn="ctr">
              <a:defRPr sz="2250" b="0">
                <a:solidFill>
                  <a:srgbClr val="183F31"/>
                </a:solidFill>
                <a:latin typeface="Times New Roman"/>
                <a:ea typeface="Times New Roman"/>
                <a:cs typeface="Times New Roman"/>
              </a:defRPr>
            </a:lvl8pPr>
            <a:lvl9pPr algn="ctr">
              <a:defRPr sz="2250" b="0">
                <a:solidFill>
                  <a:srgbClr val="183F31"/>
                </a:solidFill>
                <a:latin typeface="Times New Roman"/>
                <a:ea typeface="Times New Roman"/>
                <a:cs typeface="Times New Roman"/>
              </a:defRPr>
            </a:lvl9pPr>
          </a:lstStyle>
          <a:p xmlns:a="http://schemas.openxmlformats.org/drawingml/2006/main">
            <a:pPr algn="ctr">
              <a:defRPr sz="2250" b="0">
                <a:solidFill>
                  <a:srgbClr val="183F31"/>
                </a:solidFill>
                <a:latin typeface="Times New Roman"/>
                <a:ea typeface="Times New Roman"/>
                <a:cs typeface="Times New Roman"/>
              </a:defRPr>
            </a:pPr>
            <a:r>
              <a:rPr sz="2250" b="0">
                <a:solidFill>
                  <a:srgbClr val="183F31"/>
                </a:solidFill>
                <a:latin typeface="Times New Roman"/>
                <a:ea typeface="Times New Roman"/>
                <a:cs typeface="Times New Roman"/>
              </a:rPr>
              <a:t>Desarrollo ovárico</a:t>
            </a:r>
          </a:p>
        </p:txBody>
      </p:sp>
      <p:sp>
        <p:nvSpPr>
          <p:cNvPr id="17" name="text-16">
            <a:extLst xmlns:a="http://schemas.openxmlformats.org/drawingml/2006/main">
              <a:ext uri="{FF2B5EF4-FFF2-40B4-BE49-F238E27FC236}">
                <a16:creationId xmlns:a16="http://schemas.microsoft.com/office/drawing/2014/main" id="{A676A344-53A0-415F-8CBD-E280566D4CDD}"/>
              </a:ext>
            </a:extLst>
          </p:cNvPr>
          <p:cNvSpPr>
            <a:spLocks xmlns:a="http://schemas.openxmlformats.org/drawingml/2006/main" noGrp="1"/>
          </p:cNvSpPr>
          <p:nvPr/>
        </p:nvSpPr>
        <p:spPr>
          <a:xfrm xmlns:a="http://schemas.openxmlformats.org/drawingml/2006/main">
            <a:off x="609600" y="5857875"/>
            <a:ext cx="1097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a:solidFill>
                  <a:srgbClr val="41745A"/>
                </a:solidFill>
                <a:latin typeface="Times New Roman"/>
                <a:ea typeface="Times New Roman"/>
                <a:cs typeface="Times New Roman"/>
              </a:defRPr>
            </a:defPPr>
            <a:lvl1pPr algn="ctr">
              <a:defRPr sz="1875">
                <a:solidFill>
                  <a:srgbClr val="41745A"/>
                </a:solidFill>
                <a:latin typeface="Times New Roman"/>
                <a:ea typeface="Times New Roman"/>
                <a:cs typeface="Times New Roman"/>
              </a:defRPr>
            </a:lvl1pPr>
            <a:lvl2pPr algn="ctr">
              <a:defRPr sz="1875">
                <a:solidFill>
                  <a:srgbClr val="41745A"/>
                </a:solidFill>
                <a:latin typeface="Times New Roman"/>
                <a:ea typeface="Times New Roman"/>
                <a:cs typeface="Times New Roman"/>
              </a:defRPr>
            </a:lvl2pPr>
            <a:lvl3pPr algn="ctr">
              <a:defRPr sz="1875">
                <a:solidFill>
                  <a:srgbClr val="41745A"/>
                </a:solidFill>
                <a:latin typeface="Times New Roman"/>
                <a:ea typeface="Times New Roman"/>
                <a:cs typeface="Times New Roman"/>
              </a:defRPr>
            </a:lvl3pPr>
            <a:lvl4pPr algn="ctr">
              <a:defRPr sz="1875">
                <a:solidFill>
                  <a:srgbClr val="41745A"/>
                </a:solidFill>
                <a:latin typeface="Times New Roman"/>
                <a:ea typeface="Times New Roman"/>
                <a:cs typeface="Times New Roman"/>
              </a:defRPr>
            </a:lvl4pPr>
            <a:lvl5pPr algn="ctr">
              <a:defRPr sz="1875">
                <a:solidFill>
                  <a:srgbClr val="41745A"/>
                </a:solidFill>
                <a:latin typeface="Times New Roman"/>
                <a:ea typeface="Times New Roman"/>
                <a:cs typeface="Times New Roman"/>
              </a:defRPr>
            </a:lvl5pPr>
            <a:lvl6pPr algn="ctr">
              <a:defRPr sz="1875">
                <a:solidFill>
                  <a:srgbClr val="41745A"/>
                </a:solidFill>
                <a:latin typeface="Times New Roman"/>
                <a:ea typeface="Times New Roman"/>
                <a:cs typeface="Times New Roman"/>
              </a:defRPr>
            </a:lvl6pPr>
            <a:lvl7pPr algn="ctr">
              <a:defRPr sz="1875">
                <a:solidFill>
                  <a:srgbClr val="41745A"/>
                </a:solidFill>
                <a:latin typeface="Times New Roman"/>
                <a:ea typeface="Times New Roman"/>
                <a:cs typeface="Times New Roman"/>
              </a:defRPr>
            </a:lvl7pPr>
            <a:lvl8pPr algn="ctr">
              <a:defRPr sz="1875">
                <a:solidFill>
                  <a:srgbClr val="41745A"/>
                </a:solidFill>
                <a:latin typeface="Times New Roman"/>
                <a:ea typeface="Times New Roman"/>
                <a:cs typeface="Times New Roman"/>
              </a:defRPr>
            </a:lvl8pPr>
            <a:lvl9pPr algn="ctr">
              <a:defRPr sz="1875">
                <a:solidFill>
                  <a:srgbClr val="41745A"/>
                </a:solidFill>
                <a:latin typeface="Times New Roman"/>
                <a:ea typeface="Times New Roman"/>
                <a:cs typeface="Times New Roman"/>
              </a:defRPr>
            </a:lvl9pPr>
          </a:lstStyle>
          <a:p xmlns:a="http://schemas.openxmlformats.org/drawingml/2006/main">
            <a:pPr algn="ctr">
              <a:defRPr sz="1875">
                <a:solidFill>
                  <a:srgbClr val="41745A"/>
                </a:solidFill>
                <a:latin typeface="Times New Roman"/>
                <a:ea typeface="Times New Roman"/>
                <a:cs typeface="Times New Roman"/>
              </a:defRPr>
            </a:pPr>
            <a:r>
              <a:rPr sz="1875">
                <a:solidFill>
                  <a:srgbClr val="41745A"/>
                </a:solidFill>
                <a:latin typeface="Times New Roman"/>
                <a:ea typeface="Times New Roman"/>
                <a:cs typeface="Times New Roman"/>
              </a:rPr>
              <a:t>FOXL2 contribuye a la identidad y al mantenimiento ovárico.</a:t>
            </a:r>
          </a:p>
        </p:txBody>
      </p:sp>
    </p:spTree>
    <p:extLst>
      <p:ext uri="{BB962C8B-B14F-4D97-AF65-F5344CB8AC3E}">
        <p14:creationId xmlns:p14="http://schemas.microsoft.com/office/powerpoint/2010/main" val="613996443"/>
      </p:ext>
    </p:extLst>
  </p:cSld>
</p:sld>
</file>

<file path=ppt/slides/slide9.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84FF3FC1-383A-46CB-91EB-6797EE58603C}"/>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Hormonas de la diferenciación masculina</a:t>
            </a:r>
          </a:p>
        </p:txBody>
      </p:sp>
      <p:sp>
        <p:nvSpPr>
          <p:cNvPr id="2" name="">
            <a:extLst xmlns:a="http://schemas.openxmlformats.org/drawingml/2006/main">
              <a:ext uri="{FF2B5EF4-FFF2-40B4-BE49-F238E27FC236}">
                <a16:creationId xmlns:a16="http://schemas.microsoft.com/office/drawing/2014/main" id="{2AF18625-F9FA-4D30-AA5B-DF9C11765147}"/>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FC9A9116-DF00-4B78-86AF-DE1C5B710124}"/>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9</a:t>
            </a:r>
          </a:p>
        </p:txBody>
      </p:sp>
      <p:sp>
        <p:nvSpPr>
          <p:cNvPr id="4" name="references">
            <a:extLst xmlns:a="http://schemas.openxmlformats.org/drawingml/2006/main">
              <a:ext uri="{FF2B5EF4-FFF2-40B4-BE49-F238E27FC236}">
                <a16:creationId xmlns:a16="http://schemas.microsoft.com/office/drawing/2014/main" id="{38A41514-3910-4D5F-918F-57F68D1C01D0}"/>
              </a:ext>
            </a:extLst>
          </p:cNvPr>
          <p:cNvSpPr>
            <a:spLocks xmlns:a="http://schemas.openxmlformats.org/drawingml/2006/main" noGrp="1"/>
          </p:cNvSpPr>
          <p:nvPr/>
        </p:nvSpPr>
        <p:spPr>
          <a:xfrm xmlns:a="http://schemas.openxmlformats.org/drawingml/2006/main">
            <a:off x="609600" y="6419850"/>
            <a:ext cx="10382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a:solidFill>
                  <a:srgbClr val="41745A"/>
                </a:solidFill>
                <a:latin typeface="Times New Roman"/>
                <a:ea typeface="Times New Roman"/>
                <a:cs typeface="Times New Roman"/>
              </a:defRPr>
            </a:defPPr>
            <a:lvl1pPr algn="l">
              <a:defRPr sz="1350">
                <a:solidFill>
                  <a:srgbClr val="41745A"/>
                </a:solidFill>
                <a:latin typeface="Times New Roman"/>
                <a:ea typeface="Times New Roman"/>
                <a:cs typeface="Times New Roman"/>
              </a:defRPr>
            </a:lvl1pPr>
            <a:lvl2pPr algn="l">
              <a:defRPr sz="1350">
                <a:solidFill>
                  <a:srgbClr val="41745A"/>
                </a:solidFill>
                <a:latin typeface="Times New Roman"/>
                <a:ea typeface="Times New Roman"/>
                <a:cs typeface="Times New Roman"/>
              </a:defRPr>
            </a:lvl2pPr>
            <a:lvl3pPr algn="l">
              <a:defRPr sz="1350">
                <a:solidFill>
                  <a:srgbClr val="41745A"/>
                </a:solidFill>
                <a:latin typeface="Times New Roman"/>
                <a:ea typeface="Times New Roman"/>
                <a:cs typeface="Times New Roman"/>
              </a:defRPr>
            </a:lvl3pPr>
            <a:lvl4pPr algn="l">
              <a:defRPr sz="1350">
                <a:solidFill>
                  <a:srgbClr val="41745A"/>
                </a:solidFill>
                <a:latin typeface="Times New Roman"/>
                <a:ea typeface="Times New Roman"/>
                <a:cs typeface="Times New Roman"/>
              </a:defRPr>
            </a:lvl4pPr>
            <a:lvl5pPr algn="l">
              <a:defRPr sz="1350">
                <a:solidFill>
                  <a:srgbClr val="41745A"/>
                </a:solidFill>
                <a:latin typeface="Times New Roman"/>
                <a:ea typeface="Times New Roman"/>
                <a:cs typeface="Times New Roman"/>
              </a:defRPr>
            </a:lvl5pPr>
            <a:lvl6pPr algn="l">
              <a:defRPr sz="1350">
                <a:solidFill>
                  <a:srgbClr val="41745A"/>
                </a:solidFill>
                <a:latin typeface="Times New Roman"/>
                <a:ea typeface="Times New Roman"/>
                <a:cs typeface="Times New Roman"/>
              </a:defRPr>
            </a:lvl6pPr>
            <a:lvl7pPr algn="l">
              <a:defRPr sz="1350">
                <a:solidFill>
                  <a:srgbClr val="41745A"/>
                </a:solidFill>
                <a:latin typeface="Times New Roman"/>
                <a:ea typeface="Times New Roman"/>
                <a:cs typeface="Times New Roman"/>
              </a:defRPr>
            </a:lvl7pPr>
            <a:lvl8pPr algn="l">
              <a:defRPr sz="1350">
                <a:solidFill>
                  <a:srgbClr val="41745A"/>
                </a:solidFill>
                <a:latin typeface="Times New Roman"/>
                <a:ea typeface="Times New Roman"/>
                <a:cs typeface="Times New Roman"/>
              </a:defRPr>
            </a:lvl8pPr>
            <a:lvl9pPr algn="l">
              <a:defRPr sz="1350">
                <a:solidFill>
                  <a:srgbClr val="41745A"/>
                </a:solidFill>
                <a:latin typeface="Times New Roman"/>
                <a:ea typeface="Times New Roman"/>
                <a:cs typeface="Times New Roman"/>
              </a:defRPr>
            </a:lvl9pPr>
          </a:lstStyle>
          <a:p xmlns:a="http://schemas.openxmlformats.org/drawingml/2006/main">
            <a:pPr algn="l">
              <a:defRPr sz="1350">
                <a:solidFill>
                  <a:srgbClr val="41745A"/>
                </a:solidFill>
                <a:latin typeface="Times New Roman"/>
                <a:ea typeface="Times New Roman"/>
                <a:cs typeface="Times New Roman"/>
              </a:defRPr>
            </a:pPr>
            <a:r>
              <a:rPr sz="1350">
                <a:solidFill>
                  <a:srgbClr val="41745A"/>
                </a:solidFill>
                <a:latin typeface="Times New Roman"/>
                <a:ea typeface="Times New Roman"/>
                <a:cs typeface="Times New Roman"/>
              </a:rPr>
              <a:t>Fuentes: [1]</a:t>
            </a:r>
          </a:p>
        </p:txBody>
      </p:sp>
      <p:graphicFrame>
        <p:nvGraphicFramePr>
          <p:cNvPr id="5" name="">
            <a:extLst xmlns:a="http://schemas.openxmlformats.org/drawingml/2006/main">
              <a:ext uri="{FF2B5EF4-FFF2-40B4-BE49-F238E27FC236}">
                <a16:creationId xmlns:a16="http://schemas.microsoft.com/office/drawing/2014/main" id="{41123040-CCD5-4C75-8BC3-49E2E93CD80B}"/>
              </a:ext>
            </a:extLst>
          </p:cNvPr>
          <p:cNvGraphicFramePr/>
          <p:nvPr/>
        </p:nvGraphicFramePr>
        <p:xfrm>
          <a:off xmlns:a="http://schemas.openxmlformats.org/drawingml/2006/main" x="609600" y="1838325"/>
          <a:ext xmlns:a="http://schemas.openxmlformats.org/drawingml/2006/main" cx="10972800" cy="3438525"/>
        </p:xfrm>
        <a:graphic xmlns:a="http://schemas.openxmlformats.org/drawingml/2006/main">
          <a:graphicData uri="http://schemas.openxmlformats.org/drawingml/2006/table">
            <a:tbl>
              <a:tblPr firstRow="1" bandRow="0"/>
              <a:tblGrid>
                <a:gridCol w="2333625"/>
                <a:gridCol w="3762375"/>
                <a:gridCol w="4876800"/>
              </a:tblGrid>
              <a:tr h="859631">
                <a:tc>
                  <a:txBody>
                    <a:bodyPr wrap="square" lIns="95250" tIns="95250" rIns="95250" bIns="95250">
                      <a:noAutofit/>
                    </a:bodyPr>
                    <a:lstStyle/>
                    <a:p>
                      <a:pPr algn="l"/>
                      <a:r>
                        <a:rPr sz="2025" b="1">
                          <a:solidFill>
                            <a:srgbClr val="FFFFFF"/>
                          </a:solidFill>
                          <a:latin typeface="Times New Roman"/>
                          <a:ea typeface="Times New Roman"/>
                          <a:cs typeface="Times New Roman"/>
                        </a:rPr>
                        <a:t>Señal</a:t>
                      </a:r>
                    </a:p>
                  </a:txBody>
                  <a:tcPr marL="91440" marR="91440" marT="45720" marB="45720" anchor="ctr">
                    <a:lnL w="9525">
                      <a:solidFill>
                        <a:srgbClr val="D5DED3"/>
                      </a:solidFill>
                      <a:prstDash val="solid"/>
                    </a:lnL>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c>
                  <a:txBody>
                    <a:bodyPr wrap="square" lIns="95250" tIns="95250" rIns="95250" bIns="95250">
                      <a:noAutofit/>
                    </a:bodyPr>
                    <a:lstStyle/>
                    <a:p>
                      <a:pPr algn="l"/>
                      <a:r>
                        <a:rPr sz="2025" b="1">
                          <a:solidFill>
                            <a:srgbClr val="FFFFFF"/>
                          </a:solidFill>
                          <a:latin typeface="Times New Roman"/>
                          <a:ea typeface="Times New Roman"/>
                          <a:cs typeface="Times New Roman"/>
                        </a:rPr>
                        <a:t>Origen o formación</a:t>
                      </a:r>
                    </a:p>
                  </a:txBody>
                  <a:tcPr marL="91440" marR="91440" marT="45720" marB="45720" anchor="ctr">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c>
                  <a:txBody>
                    <a:bodyPr wrap="square" lIns="95250" tIns="95250" rIns="95250" bIns="95250">
                      <a:noAutofit/>
                    </a:bodyPr>
                    <a:lstStyle/>
                    <a:p>
                      <a:pPr algn="l"/>
                      <a:r>
                        <a:rPr sz="2025" b="1">
                          <a:solidFill>
                            <a:srgbClr val="FFFFFF"/>
                          </a:solidFill>
                          <a:latin typeface="Times New Roman"/>
                          <a:ea typeface="Times New Roman"/>
                          <a:cs typeface="Times New Roman"/>
                        </a:rPr>
                        <a:t>Efecto principal</a:t>
                      </a:r>
                    </a:p>
                  </a:txBody>
                  <a:tcPr marL="91440" marR="91440" marT="45720" marB="45720" anchor="ctr">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r>
              <a:tr h="859631">
                <a:tc>
                  <a:txBody>
                    <a:bodyPr wrap="square" lIns="95250" tIns="95250" rIns="95250" bIns="95250">
                      <a:noAutofit/>
                    </a:bodyPr>
                    <a:lstStyle/>
                    <a:p>
                      <a:pPr algn="l"/>
                      <a:r>
                        <a:rPr sz="2025" b="0">
                          <a:solidFill>
                            <a:srgbClr val="202520"/>
                          </a:solidFill>
                          <a:latin typeface="Times New Roman"/>
                          <a:ea typeface="Times New Roman"/>
                          <a:cs typeface="Times New Roman"/>
                        </a:rPr>
                        <a:t>AMH</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Células de Sertoli</a:t>
                      </a:r>
                    </a:p>
                  </a:txBody>
                  <a:tcPr marL="91440" marR="91440" marT="45720" marB="45720" anchor="ctr">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Regresión de conductos de Müller</a:t>
                      </a:r>
                    </a:p>
                  </a:txBody>
                  <a:tcPr marL="91440" marR="91440" marT="45720" marB="45720" anchor="ctr">
                    <a:lnR w="9525">
                      <a:solidFill>
                        <a:srgbClr val="D5DED3"/>
                      </a:solidFill>
                      <a:prstDash val="solid"/>
                    </a:lnR>
                    <a:lnB w="9525">
                      <a:solidFill>
                        <a:srgbClr val="D5DED3"/>
                      </a:solidFill>
                      <a:prstDash val="solid"/>
                    </a:lnB>
                    <a:solidFill>
                      <a:srgbClr val="FFFFFF"/>
                    </a:solidFill>
                  </a:tcPr>
                </a:tc>
              </a:tr>
              <a:tr h="859631">
                <a:tc>
                  <a:txBody>
                    <a:bodyPr wrap="square" lIns="95250" tIns="95250" rIns="95250" bIns="95250">
                      <a:noAutofit/>
                    </a:bodyPr>
                    <a:lstStyle/>
                    <a:p>
                      <a:pPr algn="l"/>
                      <a:r>
                        <a:rPr sz="2025" b="0">
                          <a:solidFill>
                            <a:srgbClr val="202520"/>
                          </a:solidFill>
                          <a:latin typeface="Times New Roman"/>
                          <a:ea typeface="Times New Roman"/>
                          <a:cs typeface="Times New Roman"/>
                        </a:rPr>
                        <a:t>Testosterona</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Células de Leydig</a:t>
                      </a:r>
                    </a:p>
                  </a:txBody>
                  <a:tcPr marL="91440" marR="91440" marT="45720" marB="45720" anchor="ctr">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Desarrollo de conductos de Wolff</a:t>
                      </a:r>
                    </a:p>
                  </a:txBody>
                  <a:tcPr marL="91440" marR="91440" marT="45720" marB="45720" anchor="ctr">
                    <a:lnR w="9525">
                      <a:solidFill>
                        <a:srgbClr val="D5DED3"/>
                      </a:solidFill>
                      <a:prstDash val="solid"/>
                    </a:lnR>
                    <a:lnB w="9525">
                      <a:solidFill>
                        <a:srgbClr val="D5DED3"/>
                      </a:solidFill>
                      <a:prstDash val="solid"/>
                    </a:lnB>
                    <a:solidFill>
                      <a:srgbClr val="F0F5EF"/>
                    </a:solidFill>
                  </a:tcPr>
                </a:tc>
              </a:tr>
              <a:tr h="859631">
                <a:tc>
                  <a:txBody>
                    <a:bodyPr wrap="square" lIns="95250" tIns="95250" rIns="95250" bIns="95250">
                      <a:noAutofit/>
                    </a:bodyPr>
                    <a:lstStyle/>
                    <a:p>
                      <a:pPr algn="l"/>
                      <a:r>
                        <a:rPr sz="2025" b="0">
                          <a:solidFill>
                            <a:srgbClr val="202520"/>
                          </a:solidFill>
                          <a:latin typeface="Times New Roman"/>
                          <a:ea typeface="Times New Roman"/>
                          <a:cs typeface="Times New Roman"/>
                        </a:rPr>
                        <a:t>DHT</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Conversión de testosterona</a:t>
                      </a:r>
                    </a:p>
                    <a:p>
                      <a:pPr algn="l"/>
                      <a:r>
                        <a:rPr sz="2025" b="0">
                          <a:solidFill>
                            <a:srgbClr val="202520"/>
                          </a:solidFill>
                          <a:latin typeface="Times New Roman"/>
                          <a:ea typeface="Times New Roman"/>
                          <a:cs typeface="Times New Roman"/>
                        </a:rPr>
                        <a:t>por 5α-reductasa</a:t>
                      </a:r>
                    </a:p>
                  </a:txBody>
                  <a:tcPr marL="91440" marR="91440" marT="45720" marB="45720" anchor="ctr">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Masculinización de genitales</a:t>
                      </a:r>
                    </a:p>
                    <a:p>
                      <a:pPr algn="l"/>
                      <a:r>
                        <a:rPr sz="2025" b="0">
                          <a:solidFill>
                            <a:srgbClr val="202520"/>
                          </a:solidFill>
                          <a:latin typeface="Times New Roman"/>
                          <a:ea typeface="Times New Roman"/>
                          <a:cs typeface="Times New Roman"/>
                        </a:rPr>
                        <a:t>externos y próstata</a:t>
                      </a:r>
                    </a:p>
                  </a:txBody>
                  <a:tcPr marL="91440" marR="91440" marT="45720" marB="45720" anchor="ctr">
                    <a:lnR w="9525">
                      <a:solidFill>
                        <a:srgbClr val="D5DED3"/>
                      </a:solidFill>
                      <a:prstDash val="solid"/>
                    </a:lnR>
                    <a:lnB w="9525">
                      <a:solidFill>
                        <a:srgbClr val="D5DED3"/>
                      </a:solidFill>
                      <a:prstDash val="solid"/>
                    </a:lnB>
                    <a:solidFill>
                      <a:srgbClr val="FFFFFF"/>
                    </a:solidFill>
                  </a:tcPr>
                </a:tc>
              </a:tr>
            </a:tbl>
          </a:graphicData>
        </a:graphic>
      </p:graphicFrame>
      <p:sp>
        <p:nvSpPr>
          <p:cNvPr id="6" name="text-4">
            <a:extLst xmlns:a="http://schemas.openxmlformats.org/drawingml/2006/main">
              <a:ext uri="{FF2B5EF4-FFF2-40B4-BE49-F238E27FC236}">
                <a16:creationId xmlns:a16="http://schemas.microsoft.com/office/drawing/2014/main" id="{2CD7D72F-F420-4E0C-9155-A1078A83BFA6}"/>
              </a:ext>
            </a:extLst>
          </p:cNvPr>
          <p:cNvSpPr>
            <a:spLocks xmlns:a="http://schemas.openxmlformats.org/drawingml/2006/main" noGrp="1"/>
          </p:cNvSpPr>
          <p:nvPr/>
        </p:nvSpPr>
        <p:spPr>
          <a:xfrm xmlns:a="http://schemas.openxmlformats.org/drawingml/2006/main">
            <a:off x="609600" y="5638800"/>
            <a:ext cx="109728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41745A"/>
                </a:solidFill>
                <a:latin typeface="Times New Roman"/>
                <a:ea typeface="Times New Roman"/>
                <a:cs typeface="Times New Roman"/>
              </a:defRPr>
            </a:defPPr>
            <a:lvl1pPr algn="l">
              <a:defRPr sz="2325" b="1">
                <a:solidFill>
                  <a:srgbClr val="41745A"/>
                </a:solidFill>
                <a:latin typeface="Times New Roman"/>
                <a:ea typeface="Times New Roman"/>
                <a:cs typeface="Times New Roman"/>
              </a:defRPr>
            </a:lvl1pPr>
            <a:lvl2pPr algn="l">
              <a:defRPr sz="2325" b="1">
                <a:solidFill>
                  <a:srgbClr val="41745A"/>
                </a:solidFill>
                <a:latin typeface="Times New Roman"/>
                <a:ea typeface="Times New Roman"/>
                <a:cs typeface="Times New Roman"/>
              </a:defRPr>
            </a:lvl2pPr>
            <a:lvl3pPr algn="l">
              <a:defRPr sz="2325" b="1">
                <a:solidFill>
                  <a:srgbClr val="41745A"/>
                </a:solidFill>
                <a:latin typeface="Times New Roman"/>
                <a:ea typeface="Times New Roman"/>
                <a:cs typeface="Times New Roman"/>
              </a:defRPr>
            </a:lvl3pPr>
            <a:lvl4pPr algn="l">
              <a:defRPr sz="2325" b="1">
                <a:solidFill>
                  <a:srgbClr val="41745A"/>
                </a:solidFill>
                <a:latin typeface="Times New Roman"/>
                <a:ea typeface="Times New Roman"/>
                <a:cs typeface="Times New Roman"/>
              </a:defRPr>
            </a:lvl4pPr>
            <a:lvl5pPr algn="l">
              <a:defRPr sz="2325" b="1">
                <a:solidFill>
                  <a:srgbClr val="41745A"/>
                </a:solidFill>
                <a:latin typeface="Times New Roman"/>
                <a:ea typeface="Times New Roman"/>
                <a:cs typeface="Times New Roman"/>
              </a:defRPr>
            </a:lvl5pPr>
            <a:lvl6pPr algn="l">
              <a:defRPr sz="2325" b="1">
                <a:solidFill>
                  <a:srgbClr val="41745A"/>
                </a:solidFill>
                <a:latin typeface="Times New Roman"/>
                <a:ea typeface="Times New Roman"/>
                <a:cs typeface="Times New Roman"/>
              </a:defRPr>
            </a:lvl6pPr>
            <a:lvl7pPr algn="l">
              <a:defRPr sz="2325" b="1">
                <a:solidFill>
                  <a:srgbClr val="41745A"/>
                </a:solidFill>
                <a:latin typeface="Times New Roman"/>
                <a:ea typeface="Times New Roman"/>
                <a:cs typeface="Times New Roman"/>
              </a:defRPr>
            </a:lvl7pPr>
            <a:lvl8pPr algn="l">
              <a:defRPr sz="2325" b="1">
                <a:solidFill>
                  <a:srgbClr val="41745A"/>
                </a:solidFill>
                <a:latin typeface="Times New Roman"/>
                <a:ea typeface="Times New Roman"/>
                <a:cs typeface="Times New Roman"/>
              </a:defRPr>
            </a:lvl8pPr>
            <a:lvl9pPr algn="l">
              <a:defRPr sz="2325" b="1">
                <a:solidFill>
                  <a:srgbClr val="41745A"/>
                </a:solidFill>
                <a:latin typeface="Times New Roman"/>
                <a:ea typeface="Times New Roman"/>
                <a:cs typeface="Times New Roman"/>
              </a:defRPr>
            </a:lvl9pPr>
          </a:lstStyle>
          <a:p xmlns:a="http://schemas.openxmlformats.org/drawingml/2006/main">
            <a:pPr algn="l">
              <a:defRPr sz="2325" b="1">
                <a:solidFill>
                  <a:srgbClr val="41745A"/>
                </a:solidFill>
                <a:latin typeface="Times New Roman"/>
                <a:ea typeface="Times New Roman"/>
                <a:cs typeface="Times New Roman"/>
              </a:defRPr>
            </a:pPr>
            <a:r>
              <a:rPr sz="2325" b="1">
                <a:solidFill>
                  <a:srgbClr val="41745A"/>
                </a:solidFill>
                <a:latin typeface="Times New Roman"/>
                <a:ea typeface="Times New Roman"/>
                <a:cs typeface="Times New Roman"/>
              </a:rPr>
              <a:t>Producción hormonal y respuesta del tejido deben funcionar juntas.</a:t>
            </a:r>
          </a:p>
        </p:txBody>
      </p:sp>
    </p:spTree>
    <p:extLst>
      <p:ext uri="{BB962C8B-B14F-4D97-AF65-F5344CB8AC3E}">
        <p14:creationId xmlns:p14="http://schemas.microsoft.com/office/powerpoint/2010/main" val="1127837764"/>
      </p:ext>
    </p:extLst>
  </p:cSld>
</p:sld>
</file>

<file path=ppt/slides/slide10.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sp>
        <p:nvSpPr>
          <p:cNvPr id="11" name="title">
            <a:extLst xmlns:a="http://schemas.openxmlformats.org/drawingml/2006/main">
              <a:ext uri="{FF2B5EF4-FFF2-40B4-BE49-F238E27FC236}">
                <a16:creationId xmlns:a16="http://schemas.microsoft.com/office/drawing/2014/main" id="{59455C70-D10F-46EC-B4C0-B26E334B083C}"/>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Diferenciación de los conductos sexuales</a:t>
            </a:r>
          </a:p>
        </p:txBody>
      </p:sp>
      <p:sp>
        <p:nvSpPr>
          <p:cNvPr id="2" name="">
            <a:extLst xmlns:a="http://schemas.openxmlformats.org/drawingml/2006/main">
              <a:ext uri="{FF2B5EF4-FFF2-40B4-BE49-F238E27FC236}">
                <a16:creationId xmlns:a16="http://schemas.microsoft.com/office/drawing/2014/main" id="{E718FB78-8992-49A2-BEBD-7CF511153E74}"/>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59CC77FF-2FBA-4228-A4D0-B3894448643A}"/>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10</a:t>
            </a:r>
          </a:p>
        </p:txBody>
      </p:sp>
      <p:sp>
        <p:nvSpPr>
          <p:cNvPr id="4" name="references">
            <a:extLst xmlns:a="http://schemas.openxmlformats.org/drawingml/2006/main">
              <a:ext uri="{FF2B5EF4-FFF2-40B4-BE49-F238E27FC236}">
                <a16:creationId xmlns:a16="http://schemas.microsoft.com/office/drawing/2014/main" id="{B7A0F5CD-C888-4AE2-B9A8-3D02FD9993A0}"/>
              </a:ext>
            </a:extLst>
          </p:cNvPr>
          <p:cNvSpPr>
            <a:spLocks xmlns:a="http://schemas.openxmlformats.org/drawingml/2006/main" noGrp="1"/>
          </p:cNvSpPr>
          <p:nvPr/>
        </p:nvSpPr>
        <p:spPr>
          <a:xfrm xmlns:a="http://schemas.openxmlformats.org/drawingml/2006/main">
            <a:off x="609600" y="6419850"/>
            <a:ext cx="10382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a:solidFill>
                  <a:srgbClr val="41745A"/>
                </a:solidFill>
                <a:latin typeface="Times New Roman"/>
                <a:ea typeface="Times New Roman"/>
                <a:cs typeface="Times New Roman"/>
              </a:defRPr>
            </a:defPPr>
            <a:lvl1pPr algn="l">
              <a:defRPr sz="1350">
                <a:solidFill>
                  <a:srgbClr val="41745A"/>
                </a:solidFill>
                <a:latin typeface="Times New Roman"/>
                <a:ea typeface="Times New Roman"/>
                <a:cs typeface="Times New Roman"/>
              </a:defRPr>
            </a:lvl1pPr>
            <a:lvl2pPr algn="l">
              <a:defRPr sz="1350">
                <a:solidFill>
                  <a:srgbClr val="41745A"/>
                </a:solidFill>
                <a:latin typeface="Times New Roman"/>
                <a:ea typeface="Times New Roman"/>
                <a:cs typeface="Times New Roman"/>
              </a:defRPr>
            </a:lvl2pPr>
            <a:lvl3pPr algn="l">
              <a:defRPr sz="1350">
                <a:solidFill>
                  <a:srgbClr val="41745A"/>
                </a:solidFill>
                <a:latin typeface="Times New Roman"/>
                <a:ea typeface="Times New Roman"/>
                <a:cs typeface="Times New Roman"/>
              </a:defRPr>
            </a:lvl3pPr>
            <a:lvl4pPr algn="l">
              <a:defRPr sz="1350">
                <a:solidFill>
                  <a:srgbClr val="41745A"/>
                </a:solidFill>
                <a:latin typeface="Times New Roman"/>
                <a:ea typeface="Times New Roman"/>
                <a:cs typeface="Times New Roman"/>
              </a:defRPr>
            </a:lvl4pPr>
            <a:lvl5pPr algn="l">
              <a:defRPr sz="1350">
                <a:solidFill>
                  <a:srgbClr val="41745A"/>
                </a:solidFill>
                <a:latin typeface="Times New Roman"/>
                <a:ea typeface="Times New Roman"/>
                <a:cs typeface="Times New Roman"/>
              </a:defRPr>
            </a:lvl5pPr>
            <a:lvl6pPr algn="l">
              <a:defRPr sz="1350">
                <a:solidFill>
                  <a:srgbClr val="41745A"/>
                </a:solidFill>
                <a:latin typeface="Times New Roman"/>
                <a:ea typeface="Times New Roman"/>
                <a:cs typeface="Times New Roman"/>
              </a:defRPr>
            </a:lvl6pPr>
            <a:lvl7pPr algn="l">
              <a:defRPr sz="1350">
                <a:solidFill>
                  <a:srgbClr val="41745A"/>
                </a:solidFill>
                <a:latin typeface="Times New Roman"/>
                <a:ea typeface="Times New Roman"/>
                <a:cs typeface="Times New Roman"/>
              </a:defRPr>
            </a:lvl7pPr>
            <a:lvl8pPr algn="l">
              <a:defRPr sz="1350">
                <a:solidFill>
                  <a:srgbClr val="41745A"/>
                </a:solidFill>
                <a:latin typeface="Times New Roman"/>
                <a:ea typeface="Times New Roman"/>
                <a:cs typeface="Times New Roman"/>
              </a:defRPr>
            </a:lvl8pPr>
            <a:lvl9pPr algn="l">
              <a:defRPr sz="1350">
                <a:solidFill>
                  <a:srgbClr val="41745A"/>
                </a:solidFill>
                <a:latin typeface="Times New Roman"/>
                <a:ea typeface="Times New Roman"/>
                <a:cs typeface="Times New Roman"/>
              </a:defRPr>
            </a:lvl9pPr>
          </a:lstStyle>
          <a:p xmlns:a="http://schemas.openxmlformats.org/drawingml/2006/main">
            <a:pPr algn="l">
              <a:defRPr sz="1350">
                <a:solidFill>
                  <a:srgbClr val="41745A"/>
                </a:solidFill>
                <a:latin typeface="Times New Roman"/>
                <a:ea typeface="Times New Roman"/>
                <a:cs typeface="Times New Roman"/>
              </a:defRPr>
            </a:pPr>
            <a:r>
              <a:rPr sz="1350">
                <a:solidFill>
                  <a:srgbClr val="41745A"/>
                </a:solidFill>
                <a:latin typeface="Times New Roman"/>
                <a:ea typeface="Times New Roman"/>
                <a:cs typeface="Times New Roman"/>
              </a:rPr>
              <a:t>Fuentes: [1]</a:t>
            </a:r>
          </a:p>
        </p:txBody>
      </p:sp>
      <p:pic>
        <p:nvPicPr>
          <p:cNvPr id="5" name="">
            <a:extLst xmlns:a="http://schemas.openxmlformats.org/drawingml/2006/main">
              <a:ext uri="{FF2B5EF4-FFF2-40B4-BE49-F238E27FC236}">
                <a16:creationId xmlns:a16="http://schemas.microsoft.com/office/drawing/2014/main" id="{146B46F7-95A1-4567-B770-0080ED055937}"/>
              </a:ext>
            </a:extLst>
          </p:cNvPr>
          <p:cNvPicPr>
            <a:picLocks xmlns:a="http://schemas.openxmlformats.org/drawingml/2006/main" noChangeAspect="1"/>
          </p:cNvPicPr>
          <p:nvPr/>
        </p:nvPicPr>
        <p:blipFill>
          <a:blip xmlns:r="http://schemas.openxmlformats.org/officeDocument/2006/relationships" xmlns:a="http://schemas.openxmlformats.org/drawingml/2006/main" r:embed="Rbed9124a8ceb4d40"/>
          <a:stretch xmlns:a="http://schemas.openxmlformats.org/drawingml/2006/main"/>
        </p:blipFill>
        <p:spPr>
          <a:xfrm xmlns:a="http://schemas.openxmlformats.org/drawingml/2006/main">
            <a:off x="615050" y="1590675"/>
            <a:ext cx="5989851" cy="4514850"/>
          </a:xfrm>
          <a:prstGeom xmlns:a="http://schemas.openxmlformats.org/drawingml/2006/main" prst="rect">
            <a:avLst/>
          </a:prstGeom>
        </p:spPr>
      </p:pic>
      <p:sp>
        <p:nvSpPr>
          <p:cNvPr id="6" name="text-4">
            <a:extLst xmlns:a="http://schemas.openxmlformats.org/drawingml/2006/main">
              <a:ext uri="{FF2B5EF4-FFF2-40B4-BE49-F238E27FC236}">
                <a16:creationId xmlns:a16="http://schemas.microsoft.com/office/drawing/2014/main" id="{63DDDC22-5256-4E00-9E70-8F11F3D7A576}"/>
              </a:ext>
            </a:extLst>
          </p:cNvPr>
          <p:cNvSpPr>
            <a:spLocks xmlns:a="http://schemas.openxmlformats.org/drawingml/2006/main" noGrp="1"/>
          </p:cNvSpPr>
          <p:nvPr/>
        </p:nvSpPr>
        <p:spPr>
          <a:xfrm xmlns:a="http://schemas.openxmlformats.org/drawingml/2006/main">
            <a:off x="7048500" y="1847850"/>
            <a:ext cx="442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41745A"/>
                </a:solidFill>
                <a:latin typeface="Times New Roman"/>
                <a:ea typeface="Times New Roman"/>
                <a:cs typeface="Times New Roman"/>
              </a:defRPr>
            </a:defPPr>
            <a:lvl1pPr algn="l">
              <a:defRPr sz="2250" b="1">
                <a:solidFill>
                  <a:srgbClr val="41745A"/>
                </a:solidFill>
                <a:latin typeface="Times New Roman"/>
                <a:ea typeface="Times New Roman"/>
                <a:cs typeface="Times New Roman"/>
              </a:defRPr>
            </a:lvl1pPr>
            <a:lvl2pPr algn="l">
              <a:defRPr sz="2250" b="1">
                <a:solidFill>
                  <a:srgbClr val="41745A"/>
                </a:solidFill>
                <a:latin typeface="Times New Roman"/>
                <a:ea typeface="Times New Roman"/>
                <a:cs typeface="Times New Roman"/>
              </a:defRPr>
            </a:lvl2pPr>
            <a:lvl3pPr algn="l">
              <a:defRPr sz="2250" b="1">
                <a:solidFill>
                  <a:srgbClr val="41745A"/>
                </a:solidFill>
                <a:latin typeface="Times New Roman"/>
                <a:ea typeface="Times New Roman"/>
                <a:cs typeface="Times New Roman"/>
              </a:defRPr>
            </a:lvl3pPr>
            <a:lvl4pPr algn="l">
              <a:defRPr sz="2250" b="1">
                <a:solidFill>
                  <a:srgbClr val="41745A"/>
                </a:solidFill>
                <a:latin typeface="Times New Roman"/>
                <a:ea typeface="Times New Roman"/>
                <a:cs typeface="Times New Roman"/>
              </a:defRPr>
            </a:lvl4pPr>
            <a:lvl5pPr algn="l">
              <a:defRPr sz="2250" b="1">
                <a:solidFill>
                  <a:srgbClr val="41745A"/>
                </a:solidFill>
                <a:latin typeface="Times New Roman"/>
                <a:ea typeface="Times New Roman"/>
                <a:cs typeface="Times New Roman"/>
              </a:defRPr>
            </a:lvl5pPr>
            <a:lvl6pPr algn="l">
              <a:defRPr sz="2250" b="1">
                <a:solidFill>
                  <a:srgbClr val="41745A"/>
                </a:solidFill>
                <a:latin typeface="Times New Roman"/>
                <a:ea typeface="Times New Roman"/>
                <a:cs typeface="Times New Roman"/>
              </a:defRPr>
            </a:lvl6pPr>
            <a:lvl7pPr algn="l">
              <a:defRPr sz="2250" b="1">
                <a:solidFill>
                  <a:srgbClr val="41745A"/>
                </a:solidFill>
                <a:latin typeface="Times New Roman"/>
                <a:ea typeface="Times New Roman"/>
                <a:cs typeface="Times New Roman"/>
              </a:defRPr>
            </a:lvl7pPr>
            <a:lvl8pPr algn="l">
              <a:defRPr sz="2250" b="1">
                <a:solidFill>
                  <a:srgbClr val="41745A"/>
                </a:solidFill>
                <a:latin typeface="Times New Roman"/>
                <a:ea typeface="Times New Roman"/>
                <a:cs typeface="Times New Roman"/>
              </a:defRPr>
            </a:lvl8pPr>
            <a:lvl9pPr algn="l">
              <a:defRPr sz="2250" b="1">
                <a:solidFill>
                  <a:srgbClr val="41745A"/>
                </a:solidFill>
                <a:latin typeface="Times New Roman"/>
                <a:ea typeface="Times New Roman"/>
                <a:cs typeface="Times New Roman"/>
              </a:defRPr>
            </a:lvl9pPr>
          </a:lstStyle>
          <a:p xmlns:a="http://schemas.openxmlformats.org/drawingml/2006/main">
            <a:pPr algn="l">
              <a:defRPr sz="2250" b="1">
                <a:solidFill>
                  <a:srgbClr val="41745A"/>
                </a:solidFill>
                <a:latin typeface="Times New Roman"/>
                <a:ea typeface="Times New Roman"/>
                <a:cs typeface="Times New Roman"/>
              </a:defRPr>
            </a:pPr>
            <a:r>
              <a:rPr sz="2250" b="1">
                <a:solidFill>
                  <a:srgbClr val="41745A"/>
                </a:solidFill>
                <a:latin typeface="Times New Roman"/>
                <a:ea typeface="Times New Roman"/>
                <a:cs typeface="Times New Roman"/>
              </a:rPr>
              <a:t>Conductos de Müller</a:t>
            </a:r>
          </a:p>
        </p:txBody>
      </p:sp>
      <p:sp>
        <p:nvSpPr>
          <p:cNvPr id="7" name="text-5">
            <a:extLst xmlns:a="http://schemas.openxmlformats.org/drawingml/2006/main">
              <a:ext uri="{FF2B5EF4-FFF2-40B4-BE49-F238E27FC236}">
                <a16:creationId xmlns:a16="http://schemas.microsoft.com/office/drawing/2014/main" id="{7444B2BB-066B-40F3-BC93-12B9529CE6E4}"/>
              </a:ext>
            </a:extLst>
          </p:cNvPr>
          <p:cNvSpPr>
            <a:spLocks xmlns:a="http://schemas.openxmlformats.org/drawingml/2006/main" noGrp="1"/>
          </p:cNvSpPr>
          <p:nvPr/>
        </p:nvSpPr>
        <p:spPr>
          <a:xfrm xmlns:a="http://schemas.openxmlformats.org/drawingml/2006/main">
            <a:off x="7048500" y="2371725"/>
            <a:ext cx="4429125" cy="1076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202520"/>
                </a:solidFill>
                <a:latin typeface="Times New Roman"/>
                <a:ea typeface="Times New Roman"/>
                <a:cs typeface="Times New Roman"/>
              </a:defRPr>
            </a:defPPr>
            <a:lvl1pPr algn="l">
              <a:defRPr sz="2100">
                <a:solidFill>
                  <a:srgbClr val="202520"/>
                </a:solidFill>
                <a:latin typeface="Times New Roman"/>
                <a:ea typeface="Times New Roman"/>
                <a:cs typeface="Times New Roman"/>
              </a:defRPr>
            </a:lvl1pPr>
            <a:lvl2pPr algn="l">
              <a:defRPr sz="2100">
                <a:solidFill>
                  <a:srgbClr val="202520"/>
                </a:solidFill>
                <a:latin typeface="Times New Roman"/>
                <a:ea typeface="Times New Roman"/>
                <a:cs typeface="Times New Roman"/>
              </a:defRPr>
            </a:lvl2pPr>
            <a:lvl3pPr algn="l">
              <a:defRPr sz="2100">
                <a:solidFill>
                  <a:srgbClr val="202520"/>
                </a:solidFill>
                <a:latin typeface="Times New Roman"/>
                <a:ea typeface="Times New Roman"/>
                <a:cs typeface="Times New Roman"/>
              </a:defRPr>
            </a:lvl3pPr>
            <a:lvl4pPr algn="l">
              <a:defRPr sz="2100">
                <a:solidFill>
                  <a:srgbClr val="202520"/>
                </a:solidFill>
                <a:latin typeface="Times New Roman"/>
                <a:ea typeface="Times New Roman"/>
                <a:cs typeface="Times New Roman"/>
              </a:defRPr>
            </a:lvl4pPr>
            <a:lvl5pPr algn="l">
              <a:defRPr sz="2100">
                <a:solidFill>
                  <a:srgbClr val="202520"/>
                </a:solidFill>
                <a:latin typeface="Times New Roman"/>
                <a:ea typeface="Times New Roman"/>
                <a:cs typeface="Times New Roman"/>
              </a:defRPr>
            </a:lvl5pPr>
            <a:lvl6pPr algn="l">
              <a:defRPr sz="2100">
                <a:solidFill>
                  <a:srgbClr val="202520"/>
                </a:solidFill>
                <a:latin typeface="Times New Roman"/>
                <a:ea typeface="Times New Roman"/>
                <a:cs typeface="Times New Roman"/>
              </a:defRPr>
            </a:lvl6pPr>
            <a:lvl7pPr algn="l">
              <a:defRPr sz="2100">
                <a:solidFill>
                  <a:srgbClr val="202520"/>
                </a:solidFill>
                <a:latin typeface="Times New Roman"/>
                <a:ea typeface="Times New Roman"/>
                <a:cs typeface="Times New Roman"/>
              </a:defRPr>
            </a:lvl7pPr>
            <a:lvl8pPr algn="l">
              <a:defRPr sz="2100">
                <a:solidFill>
                  <a:srgbClr val="202520"/>
                </a:solidFill>
                <a:latin typeface="Times New Roman"/>
                <a:ea typeface="Times New Roman"/>
                <a:cs typeface="Times New Roman"/>
              </a:defRPr>
            </a:lvl8pPr>
            <a:lvl9pPr algn="l">
              <a:defRPr sz="2100">
                <a:solidFill>
                  <a:srgbClr val="202520"/>
                </a:solidFill>
                <a:latin typeface="Times New Roman"/>
                <a:ea typeface="Times New Roman"/>
                <a:cs typeface="Times New Roman"/>
              </a:defRPr>
            </a:lvl9pPr>
          </a:lstStyle>
          <a:p xmlns:a="http://schemas.openxmlformats.org/drawingml/2006/main">
            <a:pPr algn="l">
              <a:defRPr sz="2100">
                <a:solidFill>
                  <a:srgbClr val="202520"/>
                </a:solidFill>
                <a:latin typeface="Times New Roman"/>
                <a:ea typeface="Times New Roman"/>
                <a:cs typeface="Times New Roman"/>
              </a:defRPr>
            </a:pPr>
            <a:r>
              <a:rPr sz="2100">
                <a:solidFill>
                  <a:srgbClr val="202520"/>
                </a:solidFill>
                <a:latin typeface="Times New Roman"/>
                <a:ea typeface="Times New Roman"/>
                <a:cs typeface="Times New Roman"/>
              </a:rPr>
              <a:t>AMH: regresión</a:t>
            </a:r>
          </a:p>
          <a:p xmlns:a="http://schemas.openxmlformats.org/drawingml/2006/main">
            <a:pPr algn="l">
              <a:defRPr sz="2100">
                <a:solidFill>
                  <a:srgbClr val="202520"/>
                </a:solidFill>
                <a:latin typeface="Times New Roman"/>
                <a:ea typeface="Times New Roman"/>
                <a:cs typeface="Times New Roman"/>
              </a:defRPr>
            </a:pPr>
            <a:r>
              <a:rPr sz="2100">
                <a:solidFill>
                  <a:srgbClr val="202520"/>
                </a:solidFill>
                <a:latin typeface="Times New Roman"/>
                <a:ea typeface="Times New Roman"/>
                <a:cs typeface="Times New Roman"/>
              </a:rPr>
              <a:t>Sin AMH: tracto femenino interno</a:t>
            </a:r>
          </a:p>
        </p:txBody>
      </p:sp>
      <p:sp>
        <p:nvSpPr>
          <p:cNvPr id="8" name="text-6">
            <a:extLst xmlns:a="http://schemas.openxmlformats.org/drawingml/2006/main">
              <a:ext uri="{FF2B5EF4-FFF2-40B4-BE49-F238E27FC236}">
                <a16:creationId xmlns:a16="http://schemas.microsoft.com/office/drawing/2014/main" id="{CD89AB9D-7BA8-4EAD-B836-C95C699D8519}"/>
              </a:ext>
            </a:extLst>
          </p:cNvPr>
          <p:cNvSpPr>
            <a:spLocks xmlns:a="http://schemas.openxmlformats.org/drawingml/2006/main" noGrp="1"/>
          </p:cNvSpPr>
          <p:nvPr/>
        </p:nvSpPr>
        <p:spPr>
          <a:xfrm xmlns:a="http://schemas.openxmlformats.org/drawingml/2006/main">
            <a:off x="7048500" y="3829050"/>
            <a:ext cx="442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41745A"/>
                </a:solidFill>
                <a:latin typeface="Times New Roman"/>
                <a:ea typeface="Times New Roman"/>
                <a:cs typeface="Times New Roman"/>
              </a:defRPr>
            </a:defPPr>
            <a:lvl1pPr algn="l">
              <a:defRPr sz="2250" b="1">
                <a:solidFill>
                  <a:srgbClr val="41745A"/>
                </a:solidFill>
                <a:latin typeface="Times New Roman"/>
                <a:ea typeface="Times New Roman"/>
                <a:cs typeface="Times New Roman"/>
              </a:defRPr>
            </a:lvl1pPr>
            <a:lvl2pPr algn="l">
              <a:defRPr sz="2250" b="1">
                <a:solidFill>
                  <a:srgbClr val="41745A"/>
                </a:solidFill>
                <a:latin typeface="Times New Roman"/>
                <a:ea typeface="Times New Roman"/>
                <a:cs typeface="Times New Roman"/>
              </a:defRPr>
            </a:lvl2pPr>
            <a:lvl3pPr algn="l">
              <a:defRPr sz="2250" b="1">
                <a:solidFill>
                  <a:srgbClr val="41745A"/>
                </a:solidFill>
                <a:latin typeface="Times New Roman"/>
                <a:ea typeface="Times New Roman"/>
                <a:cs typeface="Times New Roman"/>
              </a:defRPr>
            </a:lvl3pPr>
            <a:lvl4pPr algn="l">
              <a:defRPr sz="2250" b="1">
                <a:solidFill>
                  <a:srgbClr val="41745A"/>
                </a:solidFill>
                <a:latin typeface="Times New Roman"/>
                <a:ea typeface="Times New Roman"/>
                <a:cs typeface="Times New Roman"/>
              </a:defRPr>
            </a:lvl4pPr>
            <a:lvl5pPr algn="l">
              <a:defRPr sz="2250" b="1">
                <a:solidFill>
                  <a:srgbClr val="41745A"/>
                </a:solidFill>
                <a:latin typeface="Times New Roman"/>
                <a:ea typeface="Times New Roman"/>
                <a:cs typeface="Times New Roman"/>
              </a:defRPr>
            </a:lvl5pPr>
            <a:lvl6pPr algn="l">
              <a:defRPr sz="2250" b="1">
                <a:solidFill>
                  <a:srgbClr val="41745A"/>
                </a:solidFill>
                <a:latin typeface="Times New Roman"/>
                <a:ea typeface="Times New Roman"/>
                <a:cs typeface="Times New Roman"/>
              </a:defRPr>
            </a:lvl6pPr>
            <a:lvl7pPr algn="l">
              <a:defRPr sz="2250" b="1">
                <a:solidFill>
                  <a:srgbClr val="41745A"/>
                </a:solidFill>
                <a:latin typeface="Times New Roman"/>
                <a:ea typeface="Times New Roman"/>
                <a:cs typeface="Times New Roman"/>
              </a:defRPr>
            </a:lvl7pPr>
            <a:lvl8pPr algn="l">
              <a:defRPr sz="2250" b="1">
                <a:solidFill>
                  <a:srgbClr val="41745A"/>
                </a:solidFill>
                <a:latin typeface="Times New Roman"/>
                <a:ea typeface="Times New Roman"/>
                <a:cs typeface="Times New Roman"/>
              </a:defRPr>
            </a:lvl8pPr>
            <a:lvl9pPr algn="l">
              <a:defRPr sz="2250" b="1">
                <a:solidFill>
                  <a:srgbClr val="41745A"/>
                </a:solidFill>
                <a:latin typeface="Times New Roman"/>
                <a:ea typeface="Times New Roman"/>
                <a:cs typeface="Times New Roman"/>
              </a:defRPr>
            </a:lvl9pPr>
          </a:lstStyle>
          <a:p xmlns:a="http://schemas.openxmlformats.org/drawingml/2006/main">
            <a:pPr algn="l">
              <a:defRPr sz="2250" b="1">
                <a:solidFill>
                  <a:srgbClr val="41745A"/>
                </a:solidFill>
                <a:latin typeface="Times New Roman"/>
                <a:ea typeface="Times New Roman"/>
                <a:cs typeface="Times New Roman"/>
              </a:defRPr>
            </a:pPr>
            <a:r>
              <a:rPr sz="2250" b="1">
                <a:solidFill>
                  <a:srgbClr val="41745A"/>
                </a:solidFill>
                <a:latin typeface="Times New Roman"/>
                <a:ea typeface="Times New Roman"/>
                <a:cs typeface="Times New Roman"/>
              </a:rPr>
              <a:t>Conductos de Wolff</a:t>
            </a:r>
          </a:p>
        </p:txBody>
      </p:sp>
      <p:sp>
        <p:nvSpPr>
          <p:cNvPr id="9" name="text-7">
            <a:extLst xmlns:a="http://schemas.openxmlformats.org/drawingml/2006/main">
              <a:ext uri="{FF2B5EF4-FFF2-40B4-BE49-F238E27FC236}">
                <a16:creationId xmlns:a16="http://schemas.microsoft.com/office/drawing/2014/main" id="{CA799312-2F76-4010-B556-AB9296DE8543}"/>
              </a:ext>
            </a:extLst>
          </p:cNvPr>
          <p:cNvSpPr>
            <a:spLocks xmlns:a="http://schemas.openxmlformats.org/drawingml/2006/main" noGrp="1"/>
          </p:cNvSpPr>
          <p:nvPr/>
        </p:nvSpPr>
        <p:spPr>
          <a:xfrm xmlns:a="http://schemas.openxmlformats.org/drawingml/2006/main">
            <a:off x="7048500" y="4352925"/>
            <a:ext cx="4429125" cy="1171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202520"/>
                </a:solidFill>
                <a:latin typeface="Times New Roman"/>
                <a:ea typeface="Times New Roman"/>
                <a:cs typeface="Times New Roman"/>
              </a:defRPr>
            </a:defPPr>
            <a:lvl1pPr algn="l">
              <a:defRPr sz="2100">
                <a:solidFill>
                  <a:srgbClr val="202520"/>
                </a:solidFill>
                <a:latin typeface="Times New Roman"/>
                <a:ea typeface="Times New Roman"/>
                <a:cs typeface="Times New Roman"/>
              </a:defRPr>
            </a:lvl1pPr>
            <a:lvl2pPr algn="l">
              <a:defRPr sz="2100">
                <a:solidFill>
                  <a:srgbClr val="202520"/>
                </a:solidFill>
                <a:latin typeface="Times New Roman"/>
                <a:ea typeface="Times New Roman"/>
                <a:cs typeface="Times New Roman"/>
              </a:defRPr>
            </a:lvl2pPr>
            <a:lvl3pPr algn="l">
              <a:defRPr sz="2100">
                <a:solidFill>
                  <a:srgbClr val="202520"/>
                </a:solidFill>
                <a:latin typeface="Times New Roman"/>
                <a:ea typeface="Times New Roman"/>
                <a:cs typeface="Times New Roman"/>
              </a:defRPr>
            </a:lvl3pPr>
            <a:lvl4pPr algn="l">
              <a:defRPr sz="2100">
                <a:solidFill>
                  <a:srgbClr val="202520"/>
                </a:solidFill>
                <a:latin typeface="Times New Roman"/>
                <a:ea typeface="Times New Roman"/>
                <a:cs typeface="Times New Roman"/>
              </a:defRPr>
            </a:lvl4pPr>
            <a:lvl5pPr algn="l">
              <a:defRPr sz="2100">
                <a:solidFill>
                  <a:srgbClr val="202520"/>
                </a:solidFill>
                <a:latin typeface="Times New Roman"/>
                <a:ea typeface="Times New Roman"/>
                <a:cs typeface="Times New Roman"/>
              </a:defRPr>
            </a:lvl5pPr>
            <a:lvl6pPr algn="l">
              <a:defRPr sz="2100">
                <a:solidFill>
                  <a:srgbClr val="202520"/>
                </a:solidFill>
                <a:latin typeface="Times New Roman"/>
                <a:ea typeface="Times New Roman"/>
                <a:cs typeface="Times New Roman"/>
              </a:defRPr>
            </a:lvl6pPr>
            <a:lvl7pPr algn="l">
              <a:defRPr sz="2100">
                <a:solidFill>
                  <a:srgbClr val="202520"/>
                </a:solidFill>
                <a:latin typeface="Times New Roman"/>
                <a:ea typeface="Times New Roman"/>
                <a:cs typeface="Times New Roman"/>
              </a:defRPr>
            </a:lvl7pPr>
            <a:lvl8pPr algn="l">
              <a:defRPr sz="2100">
                <a:solidFill>
                  <a:srgbClr val="202520"/>
                </a:solidFill>
                <a:latin typeface="Times New Roman"/>
                <a:ea typeface="Times New Roman"/>
                <a:cs typeface="Times New Roman"/>
              </a:defRPr>
            </a:lvl8pPr>
            <a:lvl9pPr algn="l">
              <a:defRPr sz="2100">
                <a:solidFill>
                  <a:srgbClr val="202520"/>
                </a:solidFill>
                <a:latin typeface="Times New Roman"/>
                <a:ea typeface="Times New Roman"/>
                <a:cs typeface="Times New Roman"/>
              </a:defRPr>
            </a:lvl9pPr>
          </a:lstStyle>
          <a:p xmlns:a="http://schemas.openxmlformats.org/drawingml/2006/main">
            <a:pPr algn="l">
              <a:defRPr sz="2100">
                <a:solidFill>
                  <a:srgbClr val="202520"/>
                </a:solidFill>
                <a:latin typeface="Times New Roman"/>
                <a:ea typeface="Times New Roman"/>
                <a:cs typeface="Times New Roman"/>
              </a:defRPr>
            </a:pPr>
            <a:r>
              <a:rPr sz="2100">
                <a:solidFill>
                  <a:srgbClr val="202520"/>
                </a:solidFill>
                <a:latin typeface="Times New Roman"/>
                <a:ea typeface="Times New Roman"/>
                <a:cs typeface="Times New Roman"/>
              </a:rPr>
              <a:t>Testosterona: desarrollo del epidídimo y conducto deferente</a:t>
            </a:r>
          </a:p>
        </p:txBody>
      </p:sp>
      <p:sp>
        <p:nvSpPr>
          <p:cNvPr id="10" name="text-8">
            <a:extLst xmlns:a="http://schemas.openxmlformats.org/drawingml/2006/main">
              <a:ext uri="{FF2B5EF4-FFF2-40B4-BE49-F238E27FC236}">
                <a16:creationId xmlns:a16="http://schemas.microsoft.com/office/drawing/2014/main" id="{4C59ADDB-7BA4-4B37-AA90-B5CD2BB687B3}"/>
              </a:ext>
            </a:extLst>
          </p:cNvPr>
          <p:cNvSpPr>
            <a:spLocks xmlns:a="http://schemas.openxmlformats.org/drawingml/2006/main" noGrp="1"/>
          </p:cNvSpPr>
          <p:nvPr/>
        </p:nvSpPr>
        <p:spPr>
          <a:xfrm xmlns:a="http://schemas.openxmlformats.org/drawingml/2006/main">
            <a:off x="7048500" y="5810250"/>
            <a:ext cx="4429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a:solidFill>
                  <a:srgbClr val="41745A"/>
                </a:solidFill>
                <a:latin typeface="Times New Roman"/>
                <a:ea typeface="Times New Roman"/>
                <a:cs typeface="Times New Roman"/>
              </a:defRPr>
            </a:defPPr>
            <a:lvl1pPr algn="l">
              <a:defRPr sz="1575">
                <a:solidFill>
                  <a:srgbClr val="41745A"/>
                </a:solidFill>
                <a:latin typeface="Times New Roman"/>
                <a:ea typeface="Times New Roman"/>
                <a:cs typeface="Times New Roman"/>
              </a:defRPr>
            </a:lvl1pPr>
            <a:lvl2pPr algn="l">
              <a:defRPr sz="1575">
                <a:solidFill>
                  <a:srgbClr val="41745A"/>
                </a:solidFill>
                <a:latin typeface="Times New Roman"/>
                <a:ea typeface="Times New Roman"/>
                <a:cs typeface="Times New Roman"/>
              </a:defRPr>
            </a:lvl2pPr>
            <a:lvl3pPr algn="l">
              <a:defRPr sz="1575">
                <a:solidFill>
                  <a:srgbClr val="41745A"/>
                </a:solidFill>
                <a:latin typeface="Times New Roman"/>
                <a:ea typeface="Times New Roman"/>
                <a:cs typeface="Times New Roman"/>
              </a:defRPr>
            </a:lvl3pPr>
            <a:lvl4pPr algn="l">
              <a:defRPr sz="1575">
                <a:solidFill>
                  <a:srgbClr val="41745A"/>
                </a:solidFill>
                <a:latin typeface="Times New Roman"/>
                <a:ea typeface="Times New Roman"/>
                <a:cs typeface="Times New Roman"/>
              </a:defRPr>
            </a:lvl4pPr>
            <a:lvl5pPr algn="l">
              <a:defRPr sz="1575">
                <a:solidFill>
                  <a:srgbClr val="41745A"/>
                </a:solidFill>
                <a:latin typeface="Times New Roman"/>
                <a:ea typeface="Times New Roman"/>
                <a:cs typeface="Times New Roman"/>
              </a:defRPr>
            </a:lvl5pPr>
            <a:lvl6pPr algn="l">
              <a:defRPr sz="1575">
                <a:solidFill>
                  <a:srgbClr val="41745A"/>
                </a:solidFill>
                <a:latin typeface="Times New Roman"/>
                <a:ea typeface="Times New Roman"/>
                <a:cs typeface="Times New Roman"/>
              </a:defRPr>
            </a:lvl6pPr>
            <a:lvl7pPr algn="l">
              <a:defRPr sz="1575">
                <a:solidFill>
                  <a:srgbClr val="41745A"/>
                </a:solidFill>
                <a:latin typeface="Times New Roman"/>
                <a:ea typeface="Times New Roman"/>
                <a:cs typeface="Times New Roman"/>
              </a:defRPr>
            </a:lvl7pPr>
            <a:lvl8pPr algn="l">
              <a:defRPr sz="1575">
                <a:solidFill>
                  <a:srgbClr val="41745A"/>
                </a:solidFill>
                <a:latin typeface="Times New Roman"/>
                <a:ea typeface="Times New Roman"/>
                <a:cs typeface="Times New Roman"/>
              </a:defRPr>
            </a:lvl8pPr>
            <a:lvl9pPr algn="l">
              <a:defRPr sz="1575">
                <a:solidFill>
                  <a:srgbClr val="41745A"/>
                </a:solidFill>
                <a:latin typeface="Times New Roman"/>
                <a:ea typeface="Times New Roman"/>
                <a:cs typeface="Times New Roman"/>
              </a:defRPr>
            </a:lvl9pPr>
          </a:lstStyle>
          <a:p xmlns:a="http://schemas.openxmlformats.org/drawingml/2006/main">
            <a:pPr algn="l">
              <a:defRPr sz="1575">
                <a:solidFill>
                  <a:srgbClr val="41745A"/>
                </a:solidFill>
                <a:latin typeface="Times New Roman"/>
                <a:ea typeface="Times New Roman"/>
                <a:cs typeface="Times New Roman"/>
              </a:defRPr>
            </a:pPr>
            <a:r>
              <a:rPr sz="1575">
                <a:solidFill>
                  <a:srgbClr val="41745A"/>
                </a:solidFill>
                <a:latin typeface="Times New Roman"/>
                <a:ea typeface="Times New Roman"/>
                <a:cs typeface="Times New Roman"/>
              </a:rPr>
              <a:t>Figura 4. UNAM, 2021 [1].</a:t>
            </a:r>
          </a:p>
        </p:txBody>
      </p:sp>
    </p:spTree>
    <p:extLst>
      <p:ext uri="{BB962C8B-B14F-4D97-AF65-F5344CB8AC3E}">
        <p14:creationId xmlns:p14="http://schemas.microsoft.com/office/powerpoint/2010/main" val="1970920996"/>
      </p:ext>
    </p:extLst>
  </p:cSld>
</p:sld>
</file>

<file path=ppt/slides/slide11.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82DC4DD5-6A1C-4E0E-B1AF-CEE06BA66CC2}"/>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Determinación gonadal en aves</a:t>
            </a:r>
          </a:p>
        </p:txBody>
      </p:sp>
      <p:sp>
        <p:nvSpPr>
          <p:cNvPr id="2" name="">
            <a:extLst xmlns:a="http://schemas.openxmlformats.org/drawingml/2006/main">
              <a:ext uri="{FF2B5EF4-FFF2-40B4-BE49-F238E27FC236}">
                <a16:creationId xmlns:a16="http://schemas.microsoft.com/office/drawing/2014/main" id="{2F964EF2-ACBC-4A0A-A32C-9381B763968A}"/>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4BF65F6F-C50A-452E-A770-445D442F3CEE}"/>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11</a:t>
            </a:r>
          </a:p>
        </p:txBody>
      </p:sp>
      <p:sp>
        <p:nvSpPr>
          <p:cNvPr id="4" name="references">
            <a:extLst xmlns:a="http://schemas.openxmlformats.org/drawingml/2006/main">
              <a:ext uri="{FF2B5EF4-FFF2-40B4-BE49-F238E27FC236}">
                <a16:creationId xmlns:a16="http://schemas.microsoft.com/office/drawing/2014/main" id="{4EB6FE97-A0BB-4959-87F8-A336B2EC804D}"/>
              </a:ext>
            </a:extLst>
          </p:cNvPr>
          <p:cNvSpPr>
            <a:spLocks xmlns:a="http://schemas.openxmlformats.org/drawingml/2006/main" noGrp="1"/>
          </p:cNvSpPr>
          <p:nvPr/>
        </p:nvSpPr>
        <p:spPr>
          <a:xfrm xmlns:a="http://schemas.openxmlformats.org/drawingml/2006/main">
            <a:off x="609600" y="6419850"/>
            <a:ext cx="10382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a:solidFill>
                  <a:srgbClr val="41745A"/>
                </a:solidFill>
                <a:latin typeface="Times New Roman"/>
                <a:ea typeface="Times New Roman"/>
                <a:cs typeface="Times New Roman"/>
              </a:defRPr>
            </a:defPPr>
            <a:lvl1pPr algn="l">
              <a:defRPr sz="1350">
                <a:solidFill>
                  <a:srgbClr val="41745A"/>
                </a:solidFill>
                <a:latin typeface="Times New Roman"/>
                <a:ea typeface="Times New Roman"/>
                <a:cs typeface="Times New Roman"/>
              </a:defRPr>
            </a:lvl1pPr>
            <a:lvl2pPr algn="l">
              <a:defRPr sz="1350">
                <a:solidFill>
                  <a:srgbClr val="41745A"/>
                </a:solidFill>
                <a:latin typeface="Times New Roman"/>
                <a:ea typeface="Times New Roman"/>
                <a:cs typeface="Times New Roman"/>
              </a:defRPr>
            </a:lvl2pPr>
            <a:lvl3pPr algn="l">
              <a:defRPr sz="1350">
                <a:solidFill>
                  <a:srgbClr val="41745A"/>
                </a:solidFill>
                <a:latin typeface="Times New Roman"/>
                <a:ea typeface="Times New Roman"/>
                <a:cs typeface="Times New Roman"/>
              </a:defRPr>
            </a:lvl3pPr>
            <a:lvl4pPr algn="l">
              <a:defRPr sz="1350">
                <a:solidFill>
                  <a:srgbClr val="41745A"/>
                </a:solidFill>
                <a:latin typeface="Times New Roman"/>
                <a:ea typeface="Times New Roman"/>
                <a:cs typeface="Times New Roman"/>
              </a:defRPr>
            </a:lvl4pPr>
            <a:lvl5pPr algn="l">
              <a:defRPr sz="1350">
                <a:solidFill>
                  <a:srgbClr val="41745A"/>
                </a:solidFill>
                <a:latin typeface="Times New Roman"/>
                <a:ea typeface="Times New Roman"/>
                <a:cs typeface="Times New Roman"/>
              </a:defRPr>
            </a:lvl5pPr>
            <a:lvl6pPr algn="l">
              <a:defRPr sz="1350">
                <a:solidFill>
                  <a:srgbClr val="41745A"/>
                </a:solidFill>
                <a:latin typeface="Times New Roman"/>
                <a:ea typeface="Times New Roman"/>
                <a:cs typeface="Times New Roman"/>
              </a:defRPr>
            </a:lvl6pPr>
            <a:lvl7pPr algn="l">
              <a:defRPr sz="1350">
                <a:solidFill>
                  <a:srgbClr val="41745A"/>
                </a:solidFill>
                <a:latin typeface="Times New Roman"/>
                <a:ea typeface="Times New Roman"/>
                <a:cs typeface="Times New Roman"/>
              </a:defRPr>
            </a:lvl7pPr>
            <a:lvl8pPr algn="l">
              <a:defRPr sz="1350">
                <a:solidFill>
                  <a:srgbClr val="41745A"/>
                </a:solidFill>
                <a:latin typeface="Times New Roman"/>
                <a:ea typeface="Times New Roman"/>
                <a:cs typeface="Times New Roman"/>
              </a:defRPr>
            </a:lvl8pPr>
            <a:lvl9pPr algn="l">
              <a:defRPr sz="1350">
                <a:solidFill>
                  <a:srgbClr val="41745A"/>
                </a:solidFill>
                <a:latin typeface="Times New Roman"/>
                <a:ea typeface="Times New Roman"/>
                <a:cs typeface="Times New Roman"/>
              </a:defRPr>
            </a:lvl9pPr>
          </a:lstStyle>
          <a:p xmlns:a="http://schemas.openxmlformats.org/drawingml/2006/main">
            <a:pPr algn="l">
              <a:defRPr sz="1350">
                <a:solidFill>
                  <a:srgbClr val="41745A"/>
                </a:solidFill>
                <a:latin typeface="Times New Roman"/>
                <a:ea typeface="Times New Roman"/>
                <a:cs typeface="Times New Roman"/>
              </a:defRPr>
            </a:pPr>
            <a:r>
              <a:rPr sz="1350">
                <a:solidFill>
                  <a:srgbClr val="41745A"/>
                </a:solidFill>
                <a:latin typeface="Times New Roman"/>
                <a:ea typeface="Times New Roman"/>
                <a:cs typeface="Times New Roman"/>
              </a:rPr>
              <a:t>Fuentes: [3]</a:t>
            </a:r>
          </a:p>
        </p:txBody>
      </p:sp>
      <p:sp>
        <p:nvSpPr>
          <p:cNvPr id="5" name="">
            <a:extLst xmlns:a="http://schemas.openxmlformats.org/drawingml/2006/main">
              <a:ext uri="{FF2B5EF4-FFF2-40B4-BE49-F238E27FC236}">
                <a16:creationId xmlns:a16="http://schemas.microsoft.com/office/drawing/2014/main" id="{1431F3F0-2F1F-43EC-8799-22892A51F1D0}"/>
              </a:ext>
            </a:extLst>
          </p:cNvPr>
          <p:cNvSpPr>
            <a:spLocks xmlns:a="http://schemas.openxmlformats.org/drawingml/2006/main" noGrp="1"/>
          </p:cNvSpPr>
          <p:nvPr/>
        </p:nvSpPr>
        <p:spPr>
          <a:xfrm xmlns:a="http://schemas.openxmlformats.org/drawingml/2006/main">
            <a:off x="609600" y="2266950"/>
            <a:ext cx="4667250" cy="1285875"/>
          </a:xfrm>
          <a:prstGeom xmlns:a="http://schemas.openxmlformats.org/drawingml/2006/main" prst="rect">
            <a:avLst/>
          </a:prstGeom>
          <a:solidFill xmlns:a="http://schemas.openxmlformats.org/drawingml/2006/main">
            <a:srgbClr val="FFFFFF"/>
          </a:solidFill>
          <a:ln xmlns:a="http://schemas.openxmlformats.org/drawingml/2006/main" w="14288">
            <a:solidFill>
              <a:srgbClr val="41745A"/>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2400" b="1">
                <a:solidFill>
                  <a:srgbClr val="183F31"/>
                </a:solidFill>
                <a:latin typeface="Times New Roman"/>
                <a:ea typeface="Times New Roman"/>
                <a:cs typeface="Times New Roman"/>
              </a:defRPr>
            </a:defPPr>
            <a:lvl1pPr algn="ctr">
              <a:defRPr sz="2400" b="1">
                <a:solidFill>
                  <a:srgbClr val="183F31"/>
                </a:solidFill>
                <a:latin typeface="Times New Roman"/>
                <a:ea typeface="Times New Roman"/>
                <a:cs typeface="Times New Roman"/>
              </a:defRPr>
            </a:lvl1pPr>
            <a:lvl2pPr algn="ctr">
              <a:defRPr sz="2400" b="1">
                <a:solidFill>
                  <a:srgbClr val="183F31"/>
                </a:solidFill>
                <a:latin typeface="Times New Roman"/>
                <a:ea typeface="Times New Roman"/>
                <a:cs typeface="Times New Roman"/>
              </a:defRPr>
            </a:lvl2pPr>
            <a:lvl3pPr algn="ctr">
              <a:defRPr sz="2400" b="1">
                <a:solidFill>
                  <a:srgbClr val="183F31"/>
                </a:solidFill>
                <a:latin typeface="Times New Roman"/>
                <a:ea typeface="Times New Roman"/>
                <a:cs typeface="Times New Roman"/>
              </a:defRPr>
            </a:lvl3pPr>
            <a:lvl4pPr algn="ctr">
              <a:defRPr sz="2400" b="1">
                <a:solidFill>
                  <a:srgbClr val="183F31"/>
                </a:solidFill>
                <a:latin typeface="Times New Roman"/>
                <a:ea typeface="Times New Roman"/>
                <a:cs typeface="Times New Roman"/>
              </a:defRPr>
            </a:lvl4pPr>
            <a:lvl5pPr algn="ctr">
              <a:defRPr sz="2400" b="1">
                <a:solidFill>
                  <a:srgbClr val="183F31"/>
                </a:solidFill>
                <a:latin typeface="Times New Roman"/>
                <a:ea typeface="Times New Roman"/>
                <a:cs typeface="Times New Roman"/>
              </a:defRPr>
            </a:lvl5pPr>
            <a:lvl6pPr algn="ctr">
              <a:defRPr sz="2400" b="1">
                <a:solidFill>
                  <a:srgbClr val="183F31"/>
                </a:solidFill>
                <a:latin typeface="Times New Roman"/>
                <a:ea typeface="Times New Roman"/>
                <a:cs typeface="Times New Roman"/>
              </a:defRPr>
            </a:lvl6pPr>
            <a:lvl7pPr algn="ctr">
              <a:defRPr sz="2400" b="1">
                <a:solidFill>
                  <a:srgbClr val="183F31"/>
                </a:solidFill>
                <a:latin typeface="Times New Roman"/>
                <a:ea typeface="Times New Roman"/>
                <a:cs typeface="Times New Roman"/>
              </a:defRPr>
            </a:lvl7pPr>
            <a:lvl8pPr algn="ctr">
              <a:defRPr sz="2400" b="1">
                <a:solidFill>
                  <a:srgbClr val="183F31"/>
                </a:solidFill>
                <a:latin typeface="Times New Roman"/>
                <a:ea typeface="Times New Roman"/>
                <a:cs typeface="Times New Roman"/>
              </a:defRPr>
            </a:lvl8pPr>
            <a:lvl9pPr algn="ctr">
              <a:defRPr sz="2400" b="1">
                <a:solidFill>
                  <a:srgbClr val="183F31"/>
                </a:solidFill>
                <a:latin typeface="Times New Roman"/>
                <a:ea typeface="Times New Roman"/>
                <a:cs typeface="Times New Roman"/>
              </a:defRPr>
            </a:lvl9pPr>
          </a:lstStyle>
          <a:p xmlns:a="http://schemas.openxmlformats.org/drawingml/2006/main">
            <a:pPr algn="ctr">
              <a:defRPr sz="2400" b="1">
                <a:solidFill>
                  <a:srgbClr val="183F31"/>
                </a:solidFill>
                <a:latin typeface="Times New Roman"/>
                <a:ea typeface="Times New Roman"/>
                <a:cs typeface="Times New Roman"/>
              </a:defRPr>
            </a:pPr>
            <a:r>
              <a:rPr sz="2400" b="1">
                <a:solidFill>
                  <a:srgbClr val="183F31"/>
                </a:solidFill>
                <a:latin typeface="Times New Roman"/>
                <a:ea typeface="Times New Roman"/>
                <a:cs typeface="Times New Roman"/>
              </a:rPr>
              <a:t>ZZ</a:t>
            </a:r>
          </a:p>
          <a:p xmlns:a="http://schemas.openxmlformats.org/drawingml/2006/main">
            <a:pPr algn="ctr">
              <a:defRPr sz="2400" b="1">
                <a:solidFill>
                  <a:srgbClr val="183F31"/>
                </a:solidFill>
                <a:latin typeface="Times New Roman"/>
                <a:ea typeface="Times New Roman"/>
                <a:cs typeface="Times New Roman"/>
              </a:defRPr>
            </a:pPr>
            <a:r>
              <a:rPr sz="2400" b="1">
                <a:solidFill>
                  <a:srgbClr val="183F31"/>
                </a:solidFill>
                <a:latin typeface="Times New Roman"/>
                <a:ea typeface="Times New Roman"/>
                <a:cs typeface="Times New Roman"/>
              </a:rPr>
              <a:t>dos copias de DMRT1</a:t>
            </a:r>
          </a:p>
        </p:txBody>
      </p:sp>
      <p:sp>
        <p:nvSpPr>
          <p:cNvPr id="6" name="">
            <a:extLst xmlns:a="http://schemas.openxmlformats.org/drawingml/2006/main">
              <a:ext uri="{FF2B5EF4-FFF2-40B4-BE49-F238E27FC236}">
                <a16:creationId xmlns:a16="http://schemas.microsoft.com/office/drawing/2014/main" id="{D55DD421-49F4-47E9-9554-444787D6BD2C}"/>
              </a:ext>
            </a:extLst>
          </p:cNvPr>
          <p:cNvSpPr>
            <a:spLocks xmlns:a="http://schemas.openxmlformats.org/drawingml/2006/main" noGrp="1"/>
          </p:cNvSpPr>
          <p:nvPr/>
        </p:nvSpPr>
        <p:spPr>
          <a:xfrm xmlns:a="http://schemas.openxmlformats.org/drawingml/2006/main">
            <a:off x="6915150" y="2266950"/>
            <a:ext cx="4667250" cy="1285875"/>
          </a:xfrm>
          <a:prstGeom xmlns:a="http://schemas.openxmlformats.org/drawingml/2006/main" prst="rect">
            <a:avLst/>
          </a:prstGeom>
          <a:solidFill xmlns:a="http://schemas.openxmlformats.org/drawingml/2006/main">
            <a:srgbClr val="FFFFFF"/>
          </a:solidFill>
          <a:ln xmlns:a="http://schemas.openxmlformats.org/drawingml/2006/main" w="14288">
            <a:solidFill>
              <a:srgbClr val="41745A"/>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2400" b="1">
                <a:solidFill>
                  <a:srgbClr val="183F31"/>
                </a:solidFill>
                <a:latin typeface="Times New Roman"/>
                <a:ea typeface="Times New Roman"/>
                <a:cs typeface="Times New Roman"/>
              </a:defRPr>
            </a:defPPr>
            <a:lvl1pPr algn="ctr">
              <a:defRPr sz="2400" b="1">
                <a:solidFill>
                  <a:srgbClr val="183F31"/>
                </a:solidFill>
                <a:latin typeface="Times New Roman"/>
                <a:ea typeface="Times New Roman"/>
                <a:cs typeface="Times New Roman"/>
              </a:defRPr>
            </a:lvl1pPr>
            <a:lvl2pPr algn="ctr">
              <a:defRPr sz="2400" b="1">
                <a:solidFill>
                  <a:srgbClr val="183F31"/>
                </a:solidFill>
                <a:latin typeface="Times New Roman"/>
                <a:ea typeface="Times New Roman"/>
                <a:cs typeface="Times New Roman"/>
              </a:defRPr>
            </a:lvl2pPr>
            <a:lvl3pPr algn="ctr">
              <a:defRPr sz="2400" b="1">
                <a:solidFill>
                  <a:srgbClr val="183F31"/>
                </a:solidFill>
                <a:latin typeface="Times New Roman"/>
                <a:ea typeface="Times New Roman"/>
                <a:cs typeface="Times New Roman"/>
              </a:defRPr>
            </a:lvl3pPr>
            <a:lvl4pPr algn="ctr">
              <a:defRPr sz="2400" b="1">
                <a:solidFill>
                  <a:srgbClr val="183F31"/>
                </a:solidFill>
                <a:latin typeface="Times New Roman"/>
                <a:ea typeface="Times New Roman"/>
                <a:cs typeface="Times New Roman"/>
              </a:defRPr>
            </a:lvl4pPr>
            <a:lvl5pPr algn="ctr">
              <a:defRPr sz="2400" b="1">
                <a:solidFill>
                  <a:srgbClr val="183F31"/>
                </a:solidFill>
                <a:latin typeface="Times New Roman"/>
                <a:ea typeface="Times New Roman"/>
                <a:cs typeface="Times New Roman"/>
              </a:defRPr>
            </a:lvl5pPr>
            <a:lvl6pPr algn="ctr">
              <a:defRPr sz="2400" b="1">
                <a:solidFill>
                  <a:srgbClr val="183F31"/>
                </a:solidFill>
                <a:latin typeface="Times New Roman"/>
                <a:ea typeface="Times New Roman"/>
                <a:cs typeface="Times New Roman"/>
              </a:defRPr>
            </a:lvl6pPr>
            <a:lvl7pPr algn="ctr">
              <a:defRPr sz="2400" b="1">
                <a:solidFill>
                  <a:srgbClr val="183F31"/>
                </a:solidFill>
                <a:latin typeface="Times New Roman"/>
                <a:ea typeface="Times New Roman"/>
                <a:cs typeface="Times New Roman"/>
              </a:defRPr>
            </a:lvl7pPr>
            <a:lvl8pPr algn="ctr">
              <a:defRPr sz="2400" b="1">
                <a:solidFill>
                  <a:srgbClr val="183F31"/>
                </a:solidFill>
                <a:latin typeface="Times New Roman"/>
                <a:ea typeface="Times New Roman"/>
                <a:cs typeface="Times New Roman"/>
              </a:defRPr>
            </a:lvl8pPr>
            <a:lvl9pPr algn="ctr">
              <a:defRPr sz="2400" b="1">
                <a:solidFill>
                  <a:srgbClr val="183F31"/>
                </a:solidFill>
                <a:latin typeface="Times New Roman"/>
                <a:ea typeface="Times New Roman"/>
                <a:cs typeface="Times New Roman"/>
              </a:defRPr>
            </a:lvl9pPr>
          </a:lstStyle>
          <a:p xmlns:a="http://schemas.openxmlformats.org/drawingml/2006/main">
            <a:pPr algn="ctr">
              <a:defRPr sz="2400" b="1">
                <a:solidFill>
                  <a:srgbClr val="183F31"/>
                </a:solidFill>
                <a:latin typeface="Times New Roman"/>
                <a:ea typeface="Times New Roman"/>
                <a:cs typeface="Times New Roman"/>
              </a:defRPr>
            </a:pPr>
            <a:r>
              <a:rPr sz="2400" b="1">
                <a:solidFill>
                  <a:srgbClr val="183F31"/>
                </a:solidFill>
                <a:latin typeface="Times New Roman"/>
                <a:ea typeface="Times New Roman"/>
                <a:cs typeface="Times New Roman"/>
              </a:rPr>
              <a:t>ZW</a:t>
            </a:r>
          </a:p>
          <a:p xmlns:a="http://schemas.openxmlformats.org/drawingml/2006/main">
            <a:pPr algn="ctr">
              <a:defRPr sz="2400" b="1">
                <a:solidFill>
                  <a:srgbClr val="183F31"/>
                </a:solidFill>
                <a:latin typeface="Times New Roman"/>
                <a:ea typeface="Times New Roman"/>
                <a:cs typeface="Times New Roman"/>
              </a:defRPr>
            </a:pPr>
            <a:r>
              <a:rPr sz="2400" b="1">
                <a:solidFill>
                  <a:srgbClr val="183F31"/>
                </a:solidFill>
                <a:latin typeface="Times New Roman"/>
                <a:ea typeface="Times New Roman"/>
                <a:cs typeface="Times New Roman"/>
              </a:rPr>
              <a:t>una copia de DMRT1</a:t>
            </a:r>
          </a:p>
        </p:txBody>
      </p:sp>
      <p:sp>
        <p:nvSpPr>
          <p:cNvPr id="7" name="text-6">
            <a:extLst xmlns:a="http://schemas.openxmlformats.org/drawingml/2006/main">
              <a:ext uri="{FF2B5EF4-FFF2-40B4-BE49-F238E27FC236}">
                <a16:creationId xmlns:a16="http://schemas.microsoft.com/office/drawing/2014/main" id="{3C8DB335-5B75-4E45-B146-2166C2B353EC}"/>
              </a:ext>
            </a:extLst>
          </p:cNvPr>
          <p:cNvSpPr>
            <a:spLocks xmlns:a="http://schemas.openxmlformats.org/drawingml/2006/main" noGrp="1"/>
          </p:cNvSpPr>
          <p:nvPr/>
        </p:nvSpPr>
        <p:spPr>
          <a:xfrm xmlns:a="http://schemas.openxmlformats.org/drawingml/2006/main">
            <a:off x="609600" y="3952875"/>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400" b="1">
                <a:solidFill>
                  <a:srgbClr val="41745A"/>
                </a:solidFill>
                <a:latin typeface="Times New Roman"/>
                <a:ea typeface="Times New Roman"/>
                <a:cs typeface="Times New Roman"/>
              </a:defRPr>
            </a:defPPr>
            <a:lvl1pPr algn="ctr">
              <a:defRPr sz="2400" b="1">
                <a:solidFill>
                  <a:srgbClr val="41745A"/>
                </a:solidFill>
                <a:latin typeface="Times New Roman"/>
                <a:ea typeface="Times New Roman"/>
                <a:cs typeface="Times New Roman"/>
              </a:defRPr>
            </a:lvl1pPr>
            <a:lvl2pPr algn="ctr">
              <a:defRPr sz="2400" b="1">
                <a:solidFill>
                  <a:srgbClr val="41745A"/>
                </a:solidFill>
                <a:latin typeface="Times New Roman"/>
                <a:ea typeface="Times New Roman"/>
                <a:cs typeface="Times New Roman"/>
              </a:defRPr>
            </a:lvl2pPr>
            <a:lvl3pPr algn="ctr">
              <a:defRPr sz="2400" b="1">
                <a:solidFill>
                  <a:srgbClr val="41745A"/>
                </a:solidFill>
                <a:latin typeface="Times New Roman"/>
                <a:ea typeface="Times New Roman"/>
                <a:cs typeface="Times New Roman"/>
              </a:defRPr>
            </a:lvl3pPr>
            <a:lvl4pPr algn="ctr">
              <a:defRPr sz="2400" b="1">
                <a:solidFill>
                  <a:srgbClr val="41745A"/>
                </a:solidFill>
                <a:latin typeface="Times New Roman"/>
                <a:ea typeface="Times New Roman"/>
                <a:cs typeface="Times New Roman"/>
              </a:defRPr>
            </a:lvl4pPr>
            <a:lvl5pPr algn="ctr">
              <a:defRPr sz="2400" b="1">
                <a:solidFill>
                  <a:srgbClr val="41745A"/>
                </a:solidFill>
                <a:latin typeface="Times New Roman"/>
                <a:ea typeface="Times New Roman"/>
                <a:cs typeface="Times New Roman"/>
              </a:defRPr>
            </a:lvl5pPr>
            <a:lvl6pPr algn="ctr">
              <a:defRPr sz="2400" b="1">
                <a:solidFill>
                  <a:srgbClr val="41745A"/>
                </a:solidFill>
                <a:latin typeface="Times New Roman"/>
                <a:ea typeface="Times New Roman"/>
                <a:cs typeface="Times New Roman"/>
              </a:defRPr>
            </a:lvl6pPr>
            <a:lvl7pPr algn="ctr">
              <a:defRPr sz="2400" b="1">
                <a:solidFill>
                  <a:srgbClr val="41745A"/>
                </a:solidFill>
                <a:latin typeface="Times New Roman"/>
                <a:ea typeface="Times New Roman"/>
                <a:cs typeface="Times New Roman"/>
              </a:defRPr>
            </a:lvl7pPr>
            <a:lvl8pPr algn="ctr">
              <a:defRPr sz="2400" b="1">
                <a:solidFill>
                  <a:srgbClr val="41745A"/>
                </a:solidFill>
                <a:latin typeface="Times New Roman"/>
                <a:ea typeface="Times New Roman"/>
                <a:cs typeface="Times New Roman"/>
              </a:defRPr>
            </a:lvl8pPr>
            <a:lvl9pPr algn="ctr">
              <a:defRPr sz="2400" b="1">
                <a:solidFill>
                  <a:srgbClr val="41745A"/>
                </a:solidFill>
                <a:latin typeface="Times New Roman"/>
                <a:ea typeface="Times New Roman"/>
                <a:cs typeface="Times New Roman"/>
              </a:defRPr>
            </a:lvl9pPr>
          </a:lstStyle>
          <a:p xmlns:a="http://schemas.openxmlformats.org/drawingml/2006/main">
            <a:pPr algn="ctr">
              <a:defRPr sz="2400" b="1">
                <a:solidFill>
                  <a:srgbClr val="41745A"/>
                </a:solidFill>
                <a:latin typeface="Times New Roman"/>
                <a:ea typeface="Times New Roman"/>
                <a:cs typeface="Times New Roman"/>
              </a:defRPr>
            </a:pPr>
            <a:r>
              <a:rPr sz="2400" b="1">
                <a:solidFill>
                  <a:srgbClr val="41745A"/>
                </a:solidFill>
                <a:latin typeface="Times New Roman"/>
                <a:ea typeface="Times New Roman"/>
                <a:cs typeface="Times New Roman"/>
              </a:rPr>
              <a:t>Desarrollo testicular típico</a:t>
            </a:r>
          </a:p>
        </p:txBody>
      </p:sp>
      <p:sp>
        <p:nvSpPr>
          <p:cNvPr id="8" name="text-7">
            <a:extLst xmlns:a="http://schemas.openxmlformats.org/drawingml/2006/main">
              <a:ext uri="{FF2B5EF4-FFF2-40B4-BE49-F238E27FC236}">
                <a16:creationId xmlns:a16="http://schemas.microsoft.com/office/drawing/2014/main" id="{78F6BD28-141A-42BC-99B6-D5B2A806D6D7}"/>
              </a:ext>
            </a:extLst>
          </p:cNvPr>
          <p:cNvSpPr>
            <a:spLocks xmlns:a="http://schemas.openxmlformats.org/drawingml/2006/main" noGrp="1"/>
          </p:cNvSpPr>
          <p:nvPr/>
        </p:nvSpPr>
        <p:spPr>
          <a:xfrm xmlns:a="http://schemas.openxmlformats.org/drawingml/2006/main">
            <a:off x="6915150" y="3952875"/>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400" b="1">
                <a:solidFill>
                  <a:srgbClr val="41745A"/>
                </a:solidFill>
                <a:latin typeface="Times New Roman"/>
                <a:ea typeface="Times New Roman"/>
                <a:cs typeface="Times New Roman"/>
              </a:defRPr>
            </a:defPPr>
            <a:lvl1pPr algn="ctr">
              <a:defRPr sz="2400" b="1">
                <a:solidFill>
                  <a:srgbClr val="41745A"/>
                </a:solidFill>
                <a:latin typeface="Times New Roman"/>
                <a:ea typeface="Times New Roman"/>
                <a:cs typeface="Times New Roman"/>
              </a:defRPr>
            </a:lvl1pPr>
            <a:lvl2pPr algn="ctr">
              <a:defRPr sz="2400" b="1">
                <a:solidFill>
                  <a:srgbClr val="41745A"/>
                </a:solidFill>
                <a:latin typeface="Times New Roman"/>
                <a:ea typeface="Times New Roman"/>
                <a:cs typeface="Times New Roman"/>
              </a:defRPr>
            </a:lvl2pPr>
            <a:lvl3pPr algn="ctr">
              <a:defRPr sz="2400" b="1">
                <a:solidFill>
                  <a:srgbClr val="41745A"/>
                </a:solidFill>
                <a:latin typeface="Times New Roman"/>
                <a:ea typeface="Times New Roman"/>
                <a:cs typeface="Times New Roman"/>
              </a:defRPr>
            </a:lvl3pPr>
            <a:lvl4pPr algn="ctr">
              <a:defRPr sz="2400" b="1">
                <a:solidFill>
                  <a:srgbClr val="41745A"/>
                </a:solidFill>
                <a:latin typeface="Times New Roman"/>
                <a:ea typeface="Times New Roman"/>
                <a:cs typeface="Times New Roman"/>
              </a:defRPr>
            </a:lvl4pPr>
            <a:lvl5pPr algn="ctr">
              <a:defRPr sz="2400" b="1">
                <a:solidFill>
                  <a:srgbClr val="41745A"/>
                </a:solidFill>
                <a:latin typeface="Times New Roman"/>
                <a:ea typeface="Times New Roman"/>
                <a:cs typeface="Times New Roman"/>
              </a:defRPr>
            </a:lvl5pPr>
            <a:lvl6pPr algn="ctr">
              <a:defRPr sz="2400" b="1">
                <a:solidFill>
                  <a:srgbClr val="41745A"/>
                </a:solidFill>
                <a:latin typeface="Times New Roman"/>
                <a:ea typeface="Times New Roman"/>
                <a:cs typeface="Times New Roman"/>
              </a:defRPr>
            </a:lvl6pPr>
            <a:lvl7pPr algn="ctr">
              <a:defRPr sz="2400" b="1">
                <a:solidFill>
                  <a:srgbClr val="41745A"/>
                </a:solidFill>
                <a:latin typeface="Times New Roman"/>
                <a:ea typeface="Times New Roman"/>
                <a:cs typeface="Times New Roman"/>
              </a:defRPr>
            </a:lvl7pPr>
            <a:lvl8pPr algn="ctr">
              <a:defRPr sz="2400" b="1">
                <a:solidFill>
                  <a:srgbClr val="41745A"/>
                </a:solidFill>
                <a:latin typeface="Times New Roman"/>
                <a:ea typeface="Times New Roman"/>
                <a:cs typeface="Times New Roman"/>
              </a:defRPr>
            </a:lvl8pPr>
            <a:lvl9pPr algn="ctr">
              <a:defRPr sz="2400" b="1">
                <a:solidFill>
                  <a:srgbClr val="41745A"/>
                </a:solidFill>
                <a:latin typeface="Times New Roman"/>
                <a:ea typeface="Times New Roman"/>
                <a:cs typeface="Times New Roman"/>
              </a:defRPr>
            </a:lvl9pPr>
          </a:lstStyle>
          <a:p xmlns:a="http://schemas.openxmlformats.org/drawingml/2006/main">
            <a:pPr algn="ctr">
              <a:defRPr sz="2400" b="1">
                <a:solidFill>
                  <a:srgbClr val="41745A"/>
                </a:solidFill>
                <a:latin typeface="Times New Roman"/>
                <a:ea typeface="Times New Roman"/>
                <a:cs typeface="Times New Roman"/>
              </a:defRPr>
            </a:pPr>
            <a:r>
              <a:rPr sz="2400" b="1">
                <a:solidFill>
                  <a:srgbClr val="41745A"/>
                </a:solidFill>
                <a:latin typeface="Times New Roman"/>
                <a:ea typeface="Times New Roman"/>
                <a:cs typeface="Times New Roman"/>
              </a:rPr>
              <a:t>Desarrollo ovárico típico</a:t>
            </a:r>
          </a:p>
        </p:txBody>
      </p:sp>
      <p:sp>
        <p:nvSpPr>
          <p:cNvPr id="9" name="text-8">
            <a:extLst xmlns:a="http://schemas.openxmlformats.org/drawingml/2006/main">
              <a:ext uri="{FF2B5EF4-FFF2-40B4-BE49-F238E27FC236}">
                <a16:creationId xmlns:a16="http://schemas.microsoft.com/office/drawing/2014/main" id="{87C5E1FD-36D7-4C86-A9D8-660502B2AE17}"/>
              </a:ext>
            </a:extLst>
          </p:cNvPr>
          <p:cNvSpPr>
            <a:spLocks xmlns:a="http://schemas.openxmlformats.org/drawingml/2006/main" noGrp="1"/>
          </p:cNvSpPr>
          <p:nvPr/>
        </p:nvSpPr>
        <p:spPr>
          <a:xfrm xmlns:a="http://schemas.openxmlformats.org/drawingml/2006/main">
            <a:off x="1238250" y="5267325"/>
            <a:ext cx="9715500"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75">
                <a:solidFill>
                  <a:srgbClr val="202520"/>
                </a:solidFill>
                <a:latin typeface="Times New Roman"/>
                <a:ea typeface="Times New Roman"/>
                <a:cs typeface="Times New Roman"/>
              </a:defRPr>
            </a:defPPr>
            <a:lvl1pPr algn="ctr">
              <a:defRPr sz="2175">
                <a:solidFill>
                  <a:srgbClr val="202520"/>
                </a:solidFill>
                <a:latin typeface="Times New Roman"/>
                <a:ea typeface="Times New Roman"/>
                <a:cs typeface="Times New Roman"/>
              </a:defRPr>
            </a:lvl1pPr>
            <a:lvl2pPr algn="ctr">
              <a:defRPr sz="2175">
                <a:solidFill>
                  <a:srgbClr val="202520"/>
                </a:solidFill>
                <a:latin typeface="Times New Roman"/>
                <a:ea typeface="Times New Roman"/>
                <a:cs typeface="Times New Roman"/>
              </a:defRPr>
            </a:lvl2pPr>
            <a:lvl3pPr algn="ctr">
              <a:defRPr sz="2175">
                <a:solidFill>
                  <a:srgbClr val="202520"/>
                </a:solidFill>
                <a:latin typeface="Times New Roman"/>
                <a:ea typeface="Times New Roman"/>
                <a:cs typeface="Times New Roman"/>
              </a:defRPr>
            </a:lvl3pPr>
            <a:lvl4pPr algn="ctr">
              <a:defRPr sz="2175">
                <a:solidFill>
                  <a:srgbClr val="202520"/>
                </a:solidFill>
                <a:latin typeface="Times New Roman"/>
                <a:ea typeface="Times New Roman"/>
                <a:cs typeface="Times New Roman"/>
              </a:defRPr>
            </a:lvl4pPr>
            <a:lvl5pPr algn="ctr">
              <a:defRPr sz="2175">
                <a:solidFill>
                  <a:srgbClr val="202520"/>
                </a:solidFill>
                <a:latin typeface="Times New Roman"/>
                <a:ea typeface="Times New Roman"/>
                <a:cs typeface="Times New Roman"/>
              </a:defRPr>
            </a:lvl5pPr>
            <a:lvl6pPr algn="ctr">
              <a:defRPr sz="2175">
                <a:solidFill>
                  <a:srgbClr val="202520"/>
                </a:solidFill>
                <a:latin typeface="Times New Roman"/>
                <a:ea typeface="Times New Roman"/>
                <a:cs typeface="Times New Roman"/>
              </a:defRPr>
            </a:lvl6pPr>
            <a:lvl7pPr algn="ctr">
              <a:defRPr sz="2175">
                <a:solidFill>
                  <a:srgbClr val="202520"/>
                </a:solidFill>
                <a:latin typeface="Times New Roman"/>
                <a:ea typeface="Times New Roman"/>
                <a:cs typeface="Times New Roman"/>
              </a:defRPr>
            </a:lvl7pPr>
            <a:lvl8pPr algn="ctr">
              <a:defRPr sz="2175">
                <a:solidFill>
                  <a:srgbClr val="202520"/>
                </a:solidFill>
                <a:latin typeface="Times New Roman"/>
                <a:ea typeface="Times New Roman"/>
                <a:cs typeface="Times New Roman"/>
              </a:defRPr>
            </a:lvl8pPr>
            <a:lvl9pPr algn="ctr">
              <a:defRPr sz="2175">
                <a:solidFill>
                  <a:srgbClr val="202520"/>
                </a:solidFill>
                <a:latin typeface="Times New Roman"/>
                <a:ea typeface="Times New Roman"/>
                <a:cs typeface="Times New Roman"/>
              </a:defRPr>
            </a:lvl9pPr>
          </a:lstStyle>
          <a:p xmlns:a="http://schemas.openxmlformats.org/drawingml/2006/main">
            <a:pPr algn="ctr">
              <a:defRPr sz="2175">
                <a:solidFill>
                  <a:srgbClr val="202520"/>
                </a:solidFill>
                <a:latin typeface="Times New Roman"/>
                <a:ea typeface="Times New Roman"/>
                <a:cs typeface="Times New Roman"/>
              </a:defRPr>
            </a:pPr>
            <a:r>
              <a:rPr sz="2175">
                <a:solidFill>
                  <a:srgbClr val="202520"/>
                </a:solidFill>
                <a:latin typeface="Times New Roman"/>
                <a:ea typeface="Times New Roman"/>
                <a:cs typeface="Times New Roman"/>
              </a:rPr>
              <a:t>La dosis de DMRT1 es clave en pollo. La red incluye otros genes y señales hormonales.</a:t>
            </a:r>
          </a:p>
        </p:txBody>
      </p:sp>
    </p:spTree>
    <p:extLst>
      <p:ext uri="{BB962C8B-B14F-4D97-AF65-F5344CB8AC3E}">
        <p14:creationId xmlns:p14="http://schemas.microsoft.com/office/powerpoint/2010/main" val="364262727"/>
      </p:ext>
    </p:extLst>
  </p:cSld>
</p:sld>
</file>

<file path=ppt/slides/slide12.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487B1D38-21F2-4987-9EA6-41A85D627CAB}"/>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X0 y haplodiploidía</a:t>
            </a:r>
          </a:p>
        </p:txBody>
      </p:sp>
      <p:sp>
        <p:nvSpPr>
          <p:cNvPr id="2" name="">
            <a:extLst xmlns:a="http://schemas.openxmlformats.org/drawingml/2006/main">
              <a:ext uri="{FF2B5EF4-FFF2-40B4-BE49-F238E27FC236}">
                <a16:creationId xmlns:a16="http://schemas.microsoft.com/office/drawing/2014/main" id="{DD9CB98B-3BE0-49CD-BEB6-AE18D7CE0DCB}"/>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9D6E9D89-904E-47D0-A6CB-70901F159C6D}"/>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12</a:t>
            </a:r>
          </a:p>
        </p:txBody>
      </p:sp>
      <p:sp>
        <p:nvSpPr>
          <p:cNvPr id="4" name="references">
            <a:extLst xmlns:a="http://schemas.openxmlformats.org/drawingml/2006/main">
              <a:ext uri="{FF2B5EF4-FFF2-40B4-BE49-F238E27FC236}">
                <a16:creationId xmlns:a16="http://schemas.microsoft.com/office/drawing/2014/main" id="{3ABCFA96-6E83-43C9-8C9A-86560031D83A}"/>
              </a:ext>
            </a:extLst>
          </p:cNvPr>
          <p:cNvSpPr>
            <a:spLocks xmlns:a="http://schemas.openxmlformats.org/drawingml/2006/main" noGrp="1"/>
          </p:cNvSpPr>
          <p:nvPr/>
        </p:nvSpPr>
        <p:spPr>
          <a:xfrm xmlns:a="http://schemas.openxmlformats.org/drawingml/2006/main">
            <a:off x="609600" y="6419850"/>
            <a:ext cx="10382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a:solidFill>
                  <a:srgbClr val="41745A"/>
                </a:solidFill>
                <a:latin typeface="Times New Roman"/>
                <a:ea typeface="Times New Roman"/>
                <a:cs typeface="Times New Roman"/>
              </a:defRPr>
            </a:defPPr>
            <a:lvl1pPr algn="l">
              <a:defRPr sz="1350">
                <a:solidFill>
                  <a:srgbClr val="41745A"/>
                </a:solidFill>
                <a:latin typeface="Times New Roman"/>
                <a:ea typeface="Times New Roman"/>
                <a:cs typeface="Times New Roman"/>
              </a:defRPr>
            </a:lvl1pPr>
            <a:lvl2pPr algn="l">
              <a:defRPr sz="1350">
                <a:solidFill>
                  <a:srgbClr val="41745A"/>
                </a:solidFill>
                <a:latin typeface="Times New Roman"/>
                <a:ea typeface="Times New Roman"/>
                <a:cs typeface="Times New Roman"/>
              </a:defRPr>
            </a:lvl2pPr>
            <a:lvl3pPr algn="l">
              <a:defRPr sz="1350">
                <a:solidFill>
                  <a:srgbClr val="41745A"/>
                </a:solidFill>
                <a:latin typeface="Times New Roman"/>
                <a:ea typeface="Times New Roman"/>
                <a:cs typeface="Times New Roman"/>
              </a:defRPr>
            </a:lvl3pPr>
            <a:lvl4pPr algn="l">
              <a:defRPr sz="1350">
                <a:solidFill>
                  <a:srgbClr val="41745A"/>
                </a:solidFill>
                <a:latin typeface="Times New Roman"/>
                <a:ea typeface="Times New Roman"/>
                <a:cs typeface="Times New Roman"/>
              </a:defRPr>
            </a:lvl4pPr>
            <a:lvl5pPr algn="l">
              <a:defRPr sz="1350">
                <a:solidFill>
                  <a:srgbClr val="41745A"/>
                </a:solidFill>
                <a:latin typeface="Times New Roman"/>
                <a:ea typeface="Times New Roman"/>
                <a:cs typeface="Times New Roman"/>
              </a:defRPr>
            </a:lvl5pPr>
            <a:lvl6pPr algn="l">
              <a:defRPr sz="1350">
                <a:solidFill>
                  <a:srgbClr val="41745A"/>
                </a:solidFill>
                <a:latin typeface="Times New Roman"/>
                <a:ea typeface="Times New Roman"/>
                <a:cs typeface="Times New Roman"/>
              </a:defRPr>
            </a:lvl6pPr>
            <a:lvl7pPr algn="l">
              <a:defRPr sz="1350">
                <a:solidFill>
                  <a:srgbClr val="41745A"/>
                </a:solidFill>
                <a:latin typeface="Times New Roman"/>
                <a:ea typeface="Times New Roman"/>
                <a:cs typeface="Times New Roman"/>
              </a:defRPr>
            </a:lvl7pPr>
            <a:lvl8pPr algn="l">
              <a:defRPr sz="1350">
                <a:solidFill>
                  <a:srgbClr val="41745A"/>
                </a:solidFill>
                <a:latin typeface="Times New Roman"/>
                <a:ea typeface="Times New Roman"/>
                <a:cs typeface="Times New Roman"/>
              </a:defRPr>
            </a:lvl8pPr>
            <a:lvl9pPr algn="l">
              <a:defRPr sz="1350">
                <a:solidFill>
                  <a:srgbClr val="41745A"/>
                </a:solidFill>
                <a:latin typeface="Times New Roman"/>
                <a:ea typeface="Times New Roman"/>
                <a:cs typeface="Times New Roman"/>
              </a:defRPr>
            </a:lvl9pPr>
          </a:lstStyle>
          <a:p xmlns:a="http://schemas.openxmlformats.org/drawingml/2006/main">
            <a:pPr algn="l">
              <a:defRPr sz="1350">
                <a:solidFill>
                  <a:srgbClr val="41745A"/>
                </a:solidFill>
                <a:latin typeface="Times New Roman"/>
                <a:ea typeface="Times New Roman"/>
                <a:cs typeface="Times New Roman"/>
              </a:defRPr>
            </a:pPr>
            <a:r>
              <a:rPr sz="1350">
                <a:solidFill>
                  <a:srgbClr val="41745A"/>
                </a:solidFill>
                <a:latin typeface="Times New Roman"/>
                <a:ea typeface="Times New Roman"/>
                <a:cs typeface="Times New Roman"/>
              </a:rPr>
              <a:t>Fuentes: [5] [6]</a:t>
            </a:r>
          </a:p>
        </p:txBody>
      </p:sp>
      <p:graphicFrame>
        <p:nvGraphicFramePr>
          <p:cNvPr id="5" name="">
            <a:extLst xmlns:a="http://schemas.openxmlformats.org/drawingml/2006/main">
              <a:ext uri="{FF2B5EF4-FFF2-40B4-BE49-F238E27FC236}">
                <a16:creationId xmlns:a16="http://schemas.microsoft.com/office/drawing/2014/main" id="{CBE4F049-B5BD-43BB-A707-1AEC989B34F5}"/>
              </a:ext>
            </a:extLst>
          </p:cNvPr>
          <p:cNvGraphicFramePr/>
          <p:nvPr/>
        </p:nvGraphicFramePr>
        <p:xfrm>
          <a:off xmlns:a="http://schemas.openxmlformats.org/drawingml/2006/main" x="609600" y="2047875"/>
          <a:ext xmlns:a="http://schemas.openxmlformats.org/drawingml/2006/main" cx="10972800" cy="3000375"/>
        </p:xfrm>
        <a:graphic xmlns:a="http://schemas.openxmlformats.org/drawingml/2006/main">
          <a:graphicData uri="http://schemas.openxmlformats.org/drawingml/2006/table">
            <a:tbl>
              <a:tblPr firstRow="1" bandRow="0"/>
              <a:tblGrid>
                <a:gridCol w="2381250"/>
                <a:gridCol w="4429125"/>
                <a:gridCol w="4162425"/>
              </a:tblGrid>
              <a:tr h="1000125">
                <a:tc>
                  <a:txBody>
                    <a:bodyPr wrap="square" lIns="95250" tIns="95250" rIns="95250" bIns="95250">
                      <a:noAutofit/>
                    </a:bodyPr>
                    <a:lstStyle/>
                    <a:p>
                      <a:pPr algn="l"/>
                      <a:r>
                        <a:rPr sz="2100" b="1">
                          <a:solidFill>
                            <a:srgbClr val="FFFFFF"/>
                          </a:solidFill>
                          <a:latin typeface="Times New Roman"/>
                          <a:ea typeface="Times New Roman"/>
                          <a:cs typeface="Times New Roman"/>
                        </a:rPr>
                        <a:t>Sistema</a:t>
                      </a:r>
                    </a:p>
                  </a:txBody>
                  <a:tcPr marL="91440" marR="91440" marT="45720" marB="45720" anchor="ctr">
                    <a:lnL w="9525">
                      <a:solidFill>
                        <a:srgbClr val="D5DED3"/>
                      </a:solidFill>
                      <a:prstDash val="solid"/>
                    </a:lnL>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c>
                  <a:txBody>
                    <a:bodyPr wrap="square" lIns="95250" tIns="95250" rIns="95250" bIns="95250">
                      <a:noAutofit/>
                    </a:bodyPr>
                    <a:lstStyle/>
                    <a:p>
                      <a:pPr algn="l"/>
                      <a:r>
                        <a:rPr sz="2100" b="1">
                          <a:solidFill>
                            <a:srgbClr val="FFFFFF"/>
                          </a:solidFill>
                          <a:latin typeface="Times New Roman"/>
                          <a:ea typeface="Times New Roman"/>
                          <a:cs typeface="Times New Roman"/>
                        </a:rPr>
                        <a:t>Patrón general</a:t>
                      </a:r>
                    </a:p>
                  </a:txBody>
                  <a:tcPr marL="91440" marR="91440" marT="45720" marB="45720" anchor="ctr">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c>
                  <a:txBody>
                    <a:bodyPr wrap="square" lIns="95250" tIns="95250" rIns="95250" bIns="95250">
                      <a:noAutofit/>
                    </a:bodyPr>
                    <a:lstStyle/>
                    <a:p>
                      <a:pPr algn="l"/>
                      <a:r>
                        <a:rPr sz="2100" b="1">
                          <a:solidFill>
                            <a:srgbClr val="FFFFFF"/>
                          </a:solidFill>
                          <a:latin typeface="Times New Roman"/>
                          <a:ea typeface="Times New Roman"/>
                          <a:cs typeface="Times New Roman"/>
                        </a:rPr>
                        <a:t>Precisión necesaria</a:t>
                      </a:r>
                    </a:p>
                  </a:txBody>
                  <a:tcPr marL="91440" marR="91440" marT="45720" marB="45720" anchor="ctr">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r>
              <a:tr h="1000125">
                <a:tc>
                  <a:txBody>
                    <a:bodyPr wrap="square" lIns="95250" tIns="95250" rIns="95250" bIns="95250">
                      <a:noAutofit/>
                    </a:bodyPr>
                    <a:lstStyle/>
                    <a:p>
                      <a:pPr algn="l"/>
                      <a:r>
                        <a:rPr sz="2100" b="0">
                          <a:solidFill>
                            <a:srgbClr val="202520"/>
                          </a:solidFill>
                          <a:latin typeface="Times New Roman"/>
                          <a:ea typeface="Times New Roman"/>
                          <a:cs typeface="Times New Roman"/>
                        </a:rPr>
                        <a:t>XX/X0</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100" b="0">
                          <a:solidFill>
                            <a:srgbClr val="202520"/>
                          </a:solidFill>
                          <a:latin typeface="Times New Roman"/>
                          <a:ea typeface="Times New Roman"/>
                          <a:cs typeface="Times New Roman"/>
                        </a:rPr>
                        <a:t>Hembra XX</a:t>
                      </a:r>
                    </a:p>
                    <a:p>
                      <a:pPr algn="l"/>
                      <a:r>
                        <a:rPr sz="2100" b="0">
                          <a:solidFill>
                            <a:srgbClr val="202520"/>
                          </a:solidFill>
                          <a:latin typeface="Times New Roman"/>
                          <a:ea typeface="Times New Roman"/>
                          <a:cs typeface="Times New Roman"/>
                        </a:rPr>
                        <a:t>Macho X0</a:t>
                      </a:r>
                    </a:p>
                  </a:txBody>
                  <a:tcPr marL="91440" marR="91440" marT="45720" marB="45720" anchor="ctr">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100" b="0">
                          <a:solidFill>
                            <a:srgbClr val="202520"/>
                          </a:solidFill>
                          <a:latin typeface="Times New Roman"/>
                          <a:ea typeface="Times New Roman"/>
                          <a:cs typeface="Times New Roman"/>
                        </a:rPr>
                        <a:t>0 significa ausencia de otro</a:t>
                      </a:r>
                    </a:p>
                    <a:p>
                      <a:pPr algn="l"/>
                      <a:r>
                        <a:rPr sz="2100" b="0">
                          <a:solidFill>
                            <a:srgbClr val="202520"/>
                          </a:solidFill>
                          <a:latin typeface="Times New Roman"/>
                          <a:ea typeface="Times New Roman"/>
                          <a:cs typeface="Times New Roman"/>
                        </a:rPr>
                        <a:t>cromosoma sexual</a:t>
                      </a:r>
                    </a:p>
                  </a:txBody>
                  <a:tcPr marL="91440" marR="91440" marT="45720" marB="45720" anchor="ctr">
                    <a:lnR w="9525">
                      <a:solidFill>
                        <a:srgbClr val="D5DED3"/>
                      </a:solidFill>
                      <a:prstDash val="solid"/>
                    </a:lnR>
                    <a:lnB w="9525">
                      <a:solidFill>
                        <a:srgbClr val="D5DED3"/>
                      </a:solidFill>
                      <a:prstDash val="solid"/>
                    </a:lnB>
                    <a:solidFill>
                      <a:srgbClr val="FFFFFF"/>
                    </a:solidFill>
                  </a:tcPr>
                </a:tc>
              </a:tr>
              <a:tr h="1000125">
                <a:tc>
                  <a:txBody>
                    <a:bodyPr wrap="square" lIns="95250" tIns="95250" rIns="95250" bIns="95250">
                      <a:noAutofit/>
                    </a:bodyPr>
                    <a:lstStyle/>
                    <a:p>
                      <a:pPr algn="l"/>
                      <a:r>
                        <a:rPr sz="2100" b="0">
                          <a:solidFill>
                            <a:srgbClr val="202520"/>
                          </a:solidFill>
                          <a:latin typeface="Times New Roman"/>
                          <a:ea typeface="Times New Roman"/>
                          <a:cs typeface="Times New Roman"/>
                        </a:rPr>
                        <a:t>Haplodiploidía</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2100" b="0">
                          <a:solidFill>
                            <a:srgbClr val="202520"/>
                          </a:solidFill>
                          <a:latin typeface="Times New Roman"/>
                          <a:ea typeface="Times New Roman"/>
                          <a:cs typeface="Times New Roman"/>
                        </a:rPr>
                        <a:t>Machos generalmente haploides</a:t>
                      </a:r>
                    </a:p>
                    <a:p>
                      <a:pPr algn="l"/>
                      <a:r>
                        <a:rPr sz="2100" b="0">
                          <a:solidFill>
                            <a:srgbClr val="202520"/>
                          </a:solidFill>
                          <a:latin typeface="Times New Roman"/>
                          <a:ea typeface="Times New Roman"/>
                          <a:cs typeface="Times New Roman"/>
                        </a:rPr>
                        <a:t>Hembras generalmente diploides</a:t>
                      </a:r>
                    </a:p>
                  </a:txBody>
                  <a:tcPr marL="91440" marR="91440" marT="45720" marB="45720" anchor="ctr">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2100" b="0">
                          <a:solidFill>
                            <a:srgbClr val="202520"/>
                          </a:solidFill>
                          <a:latin typeface="Times New Roman"/>
                          <a:ea typeface="Times New Roman"/>
                          <a:cs typeface="Times New Roman"/>
                        </a:rPr>
                        <a:t>En abejas, ciertos genotipos</a:t>
                      </a:r>
                    </a:p>
                    <a:p>
                      <a:pPr algn="l"/>
                      <a:r>
                        <a:rPr sz="2100" b="0">
                          <a:solidFill>
                            <a:srgbClr val="202520"/>
                          </a:solidFill>
                          <a:latin typeface="Times New Roman"/>
                          <a:ea typeface="Times New Roman"/>
                          <a:cs typeface="Times New Roman"/>
                        </a:rPr>
                        <a:t>diploides originan machos</a:t>
                      </a:r>
                    </a:p>
                  </a:txBody>
                  <a:tcPr marL="91440" marR="91440" marT="45720" marB="45720" anchor="ctr">
                    <a:lnR w="9525">
                      <a:solidFill>
                        <a:srgbClr val="D5DED3"/>
                      </a:solidFill>
                      <a:prstDash val="solid"/>
                    </a:lnR>
                    <a:lnB w="9525">
                      <a:solidFill>
                        <a:srgbClr val="D5DED3"/>
                      </a:solidFill>
                      <a:prstDash val="solid"/>
                    </a:lnB>
                    <a:solidFill>
                      <a:srgbClr val="F0F5EF"/>
                    </a:solidFill>
                  </a:tcPr>
                </a:tc>
              </a:tr>
            </a:tbl>
          </a:graphicData>
        </a:graphic>
      </p:graphicFrame>
      <p:sp>
        <p:nvSpPr>
          <p:cNvPr id="6" name="text-4">
            <a:extLst xmlns:a="http://schemas.openxmlformats.org/drawingml/2006/main">
              <a:ext uri="{FF2B5EF4-FFF2-40B4-BE49-F238E27FC236}">
                <a16:creationId xmlns:a16="http://schemas.microsoft.com/office/drawing/2014/main" id="{77E504C3-4489-4C67-B039-615CEC45E8F1}"/>
              </a:ext>
            </a:extLst>
          </p:cNvPr>
          <p:cNvSpPr>
            <a:spLocks xmlns:a="http://schemas.openxmlformats.org/drawingml/2006/main" noGrp="1"/>
          </p:cNvSpPr>
          <p:nvPr/>
        </p:nvSpPr>
        <p:spPr>
          <a:xfrm xmlns:a="http://schemas.openxmlformats.org/drawingml/2006/main">
            <a:off x="609600" y="5514975"/>
            <a:ext cx="1097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41745A"/>
                </a:solidFill>
                <a:latin typeface="Times New Roman"/>
                <a:ea typeface="Times New Roman"/>
                <a:cs typeface="Times New Roman"/>
              </a:defRPr>
            </a:defPPr>
            <a:lvl1pPr algn="l">
              <a:defRPr sz="2550" b="1">
                <a:solidFill>
                  <a:srgbClr val="41745A"/>
                </a:solidFill>
                <a:latin typeface="Times New Roman"/>
                <a:ea typeface="Times New Roman"/>
                <a:cs typeface="Times New Roman"/>
              </a:defRPr>
            </a:lvl1pPr>
            <a:lvl2pPr algn="l">
              <a:defRPr sz="2550" b="1">
                <a:solidFill>
                  <a:srgbClr val="41745A"/>
                </a:solidFill>
                <a:latin typeface="Times New Roman"/>
                <a:ea typeface="Times New Roman"/>
                <a:cs typeface="Times New Roman"/>
              </a:defRPr>
            </a:lvl2pPr>
            <a:lvl3pPr algn="l">
              <a:defRPr sz="2550" b="1">
                <a:solidFill>
                  <a:srgbClr val="41745A"/>
                </a:solidFill>
                <a:latin typeface="Times New Roman"/>
                <a:ea typeface="Times New Roman"/>
                <a:cs typeface="Times New Roman"/>
              </a:defRPr>
            </a:lvl3pPr>
            <a:lvl4pPr algn="l">
              <a:defRPr sz="2550" b="1">
                <a:solidFill>
                  <a:srgbClr val="41745A"/>
                </a:solidFill>
                <a:latin typeface="Times New Roman"/>
                <a:ea typeface="Times New Roman"/>
                <a:cs typeface="Times New Roman"/>
              </a:defRPr>
            </a:lvl4pPr>
            <a:lvl5pPr algn="l">
              <a:defRPr sz="2550" b="1">
                <a:solidFill>
                  <a:srgbClr val="41745A"/>
                </a:solidFill>
                <a:latin typeface="Times New Roman"/>
                <a:ea typeface="Times New Roman"/>
                <a:cs typeface="Times New Roman"/>
              </a:defRPr>
            </a:lvl5pPr>
            <a:lvl6pPr algn="l">
              <a:defRPr sz="2550" b="1">
                <a:solidFill>
                  <a:srgbClr val="41745A"/>
                </a:solidFill>
                <a:latin typeface="Times New Roman"/>
                <a:ea typeface="Times New Roman"/>
                <a:cs typeface="Times New Roman"/>
              </a:defRPr>
            </a:lvl6pPr>
            <a:lvl7pPr algn="l">
              <a:defRPr sz="2550" b="1">
                <a:solidFill>
                  <a:srgbClr val="41745A"/>
                </a:solidFill>
                <a:latin typeface="Times New Roman"/>
                <a:ea typeface="Times New Roman"/>
                <a:cs typeface="Times New Roman"/>
              </a:defRPr>
            </a:lvl7pPr>
            <a:lvl8pPr algn="l">
              <a:defRPr sz="2550" b="1">
                <a:solidFill>
                  <a:srgbClr val="41745A"/>
                </a:solidFill>
                <a:latin typeface="Times New Roman"/>
                <a:ea typeface="Times New Roman"/>
                <a:cs typeface="Times New Roman"/>
              </a:defRPr>
            </a:lvl8pPr>
            <a:lvl9pPr algn="l">
              <a:defRPr sz="2550" b="1">
                <a:solidFill>
                  <a:srgbClr val="41745A"/>
                </a:solidFill>
                <a:latin typeface="Times New Roman"/>
                <a:ea typeface="Times New Roman"/>
                <a:cs typeface="Times New Roman"/>
              </a:defRPr>
            </a:lvl9pPr>
          </a:lstStyle>
          <a:p xmlns:a="http://schemas.openxmlformats.org/drawingml/2006/main">
            <a:pPr algn="l">
              <a:defRPr sz="2550" b="1">
                <a:solidFill>
                  <a:srgbClr val="41745A"/>
                </a:solidFill>
                <a:latin typeface="Times New Roman"/>
                <a:ea typeface="Times New Roman"/>
                <a:cs typeface="Times New Roman"/>
              </a:defRPr>
            </a:pPr>
            <a:r>
              <a:rPr sz="2550" b="1">
                <a:solidFill>
                  <a:srgbClr val="41745A"/>
                </a:solidFill>
                <a:latin typeface="Times New Roman"/>
                <a:ea typeface="Times New Roman"/>
                <a:cs typeface="Times New Roman"/>
              </a:rPr>
              <a:t>La ploidía y el genotipo pueden actuar juntos.</a:t>
            </a:r>
          </a:p>
        </p:txBody>
      </p:sp>
    </p:spTree>
    <p:extLst>
      <p:ext uri="{BB962C8B-B14F-4D97-AF65-F5344CB8AC3E}">
        <p14:creationId xmlns:p14="http://schemas.microsoft.com/office/powerpoint/2010/main" val="1007892409"/>
      </p:ext>
    </p:extLst>
  </p:cSld>
</p:sld>
</file>

<file path=ppt/slides/slide13.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cxnSp>
        <p:nvCxnSpPr>
          <p:cNvPr id="9" name="">
            <a:extLst xmlns:a="http://schemas.openxmlformats.org/drawingml/2006/main">
              <a:ext uri="{FF2B5EF4-FFF2-40B4-BE49-F238E27FC236}">
                <a16:creationId xmlns:a16="http://schemas.microsoft.com/office/drawing/2014/main" id="{01F083E6-5F88-4391-8B66-A40BF0DB2E4F}"/>
              </a:ext>
            </a:extLst>
          </p:cNvPr>
          <p:cNvCxnSpPr>
            <a:stCxn xmlns:a="http://schemas.openxmlformats.org/drawingml/2006/main" id="6" idx="3"/>
            <a:endCxn xmlns:a="http://schemas.openxmlformats.org/drawingml/2006/main" id="7" idx="1"/>
          </p:cNvCxnSpPr>
          <p:nvPr/>
        </p:nvCxnSpPr>
        <p:spPr>
          <a:xfrm xmlns:a="http://schemas.openxmlformats.org/drawingml/2006/main">
            <a:off x="7762875" y="2524125"/>
            <a:ext cx="485775" cy="0"/>
          </a:xfrm>
          <a:prstGeom xmlns:a="http://schemas.openxmlformats.org/drawingml/2006/main" prst="straightConnector1">
            <a:avLst/>
          </a:prstGeom>
          <a:ln xmlns:a="http://schemas.openxmlformats.org/drawingml/2006/main" w="19050">
            <a:solidFill>
              <a:srgbClr val="41745A"/>
            </a:solidFill>
            <a:prstDash val="solid"/>
            <a:tailEnd type="arrow" w="med" len="med"/>
          </a:ln>
        </p:spPr>
      </p:cxnSp>
      <p:cxnSp>
        <p:nvCxnSpPr>
          <p:cNvPr id="8" name="">
            <a:extLst xmlns:a="http://schemas.openxmlformats.org/drawingml/2006/main">
              <a:ext uri="{FF2B5EF4-FFF2-40B4-BE49-F238E27FC236}">
                <a16:creationId xmlns:a16="http://schemas.microsoft.com/office/drawing/2014/main" id="{EA34D568-E22B-4CD6-99FB-B8D8AF9A6835}"/>
              </a:ext>
            </a:extLst>
          </p:cNvPr>
          <p:cNvCxnSpPr>
            <a:stCxn xmlns:a="http://schemas.openxmlformats.org/drawingml/2006/main" id="5" idx="3"/>
            <a:endCxn xmlns:a="http://schemas.openxmlformats.org/drawingml/2006/main" id="6" idx="1"/>
          </p:cNvCxnSpPr>
          <p:nvPr/>
        </p:nvCxnSpPr>
        <p:spPr>
          <a:xfrm xmlns:a="http://schemas.openxmlformats.org/drawingml/2006/main">
            <a:off x="3943350" y="2524125"/>
            <a:ext cx="485775" cy="0"/>
          </a:xfrm>
          <a:prstGeom xmlns:a="http://schemas.openxmlformats.org/drawingml/2006/main" prst="straightConnector1">
            <a:avLst/>
          </a:prstGeom>
          <a:ln xmlns:a="http://schemas.openxmlformats.org/drawingml/2006/main" w="19050">
            <a:solidFill>
              <a:srgbClr val="41745A"/>
            </a:solidFill>
            <a:prstDash val="solid"/>
            <a:tailEnd type="arrow" w="med" len="med"/>
          </a:ln>
        </p:spPr>
      </p:cxnSp>
      <p:sp>
        <p:nvSpPr>
          <p:cNvPr id="14" name="title">
            <a:extLst xmlns:a="http://schemas.openxmlformats.org/drawingml/2006/main">
              <a:ext uri="{FF2B5EF4-FFF2-40B4-BE49-F238E27FC236}">
                <a16:creationId xmlns:a16="http://schemas.microsoft.com/office/drawing/2014/main" id="{1A3EBC14-41CB-4213-8680-9580536AD36F}"/>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Temperatura y determinación sexual</a:t>
            </a:r>
          </a:p>
        </p:txBody>
      </p:sp>
      <p:sp>
        <p:nvSpPr>
          <p:cNvPr id="2" name="">
            <a:extLst xmlns:a="http://schemas.openxmlformats.org/drawingml/2006/main">
              <a:ext uri="{FF2B5EF4-FFF2-40B4-BE49-F238E27FC236}">
                <a16:creationId xmlns:a16="http://schemas.microsoft.com/office/drawing/2014/main" id="{372F2ED5-9F7F-4721-BBE6-3F9E647A111E}"/>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1464D5E8-736C-40AF-A59D-915F0FEE53C2}"/>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13</a:t>
            </a:r>
          </a:p>
        </p:txBody>
      </p:sp>
      <p:sp>
        <p:nvSpPr>
          <p:cNvPr id="4" name="references">
            <a:extLst xmlns:a="http://schemas.openxmlformats.org/drawingml/2006/main">
              <a:ext uri="{FF2B5EF4-FFF2-40B4-BE49-F238E27FC236}">
                <a16:creationId xmlns:a16="http://schemas.microsoft.com/office/drawing/2014/main" id="{695B3EAE-D13F-4F34-9361-ACA9D49F8F5C}"/>
              </a:ext>
            </a:extLst>
          </p:cNvPr>
          <p:cNvSpPr>
            <a:spLocks xmlns:a="http://schemas.openxmlformats.org/drawingml/2006/main" noGrp="1"/>
          </p:cNvSpPr>
          <p:nvPr/>
        </p:nvSpPr>
        <p:spPr>
          <a:xfrm xmlns:a="http://schemas.openxmlformats.org/drawingml/2006/main">
            <a:off x="609600" y="6419850"/>
            <a:ext cx="10382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a:solidFill>
                  <a:srgbClr val="41745A"/>
                </a:solidFill>
                <a:latin typeface="Times New Roman"/>
                <a:ea typeface="Times New Roman"/>
                <a:cs typeface="Times New Roman"/>
              </a:defRPr>
            </a:defPPr>
            <a:lvl1pPr algn="l">
              <a:defRPr sz="1350">
                <a:solidFill>
                  <a:srgbClr val="41745A"/>
                </a:solidFill>
                <a:latin typeface="Times New Roman"/>
                <a:ea typeface="Times New Roman"/>
                <a:cs typeface="Times New Roman"/>
              </a:defRPr>
            </a:lvl1pPr>
            <a:lvl2pPr algn="l">
              <a:defRPr sz="1350">
                <a:solidFill>
                  <a:srgbClr val="41745A"/>
                </a:solidFill>
                <a:latin typeface="Times New Roman"/>
                <a:ea typeface="Times New Roman"/>
                <a:cs typeface="Times New Roman"/>
              </a:defRPr>
            </a:lvl2pPr>
            <a:lvl3pPr algn="l">
              <a:defRPr sz="1350">
                <a:solidFill>
                  <a:srgbClr val="41745A"/>
                </a:solidFill>
                <a:latin typeface="Times New Roman"/>
                <a:ea typeface="Times New Roman"/>
                <a:cs typeface="Times New Roman"/>
              </a:defRPr>
            </a:lvl3pPr>
            <a:lvl4pPr algn="l">
              <a:defRPr sz="1350">
                <a:solidFill>
                  <a:srgbClr val="41745A"/>
                </a:solidFill>
                <a:latin typeface="Times New Roman"/>
                <a:ea typeface="Times New Roman"/>
                <a:cs typeface="Times New Roman"/>
              </a:defRPr>
            </a:lvl4pPr>
            <a:lvl5pPr algn="l">
              <a:defRPr sz="1350">
                <a:solidFill>
                  <a:srgbClr val="41745A"/>
                </a:solidFill>
                <a:latin typeface="Times New Roman"/>
                <a:ea typeface="Times New Roman"/>
                <a:cs typeface="Times New Roman"/>
              </a:defRPr>
            </a:lvl5pPr>
            <a:lvl6pPr algn="l">
              <a:defRPr sz="1350">
                <a:solidFill>
                  <a:srgbClr val="41745A"/>
                </a:solidFill>
                <a:latin typeface="Times New Roman"/>
                <a:ea typeface="Times New Roman"/>
                <a:cs typeface="Times New Roman"/>
              </a:defRPr>
            </a:lvl6pPr>
            <a:lvl7pPr algn="l">
              <a:defRPr sz="1350">
                <a:solidFill>
                  <a:srgbClr val="41745A"/>
                </a:solidFill>
                <a:latin typeface="Times New Roman"/>
                <a:ea typeface="Times New Roman"/>
                <a:cs typeface="Times New Roman"/>
              </a:defRPr>
            </a:lvl7pPr>
            <a:lvl8pPr algn="l">
              <a:defRPr sz="1350">
                <a:solidFill>
                  <a:srgbClr val="41745A"/>
                </a:solidFill>
                <a:latin typeface="Times New Roman"/>
                <a:ea typeface="Times New Roman"/>
                <a:cs typeface="Times New Roman"/>
              </a:defRPr>
            </a:lvl8pPr>
            <a:lvl9pPr algn="l">
              <a:defRPr sz="1350">
                <a:solidFill>
                  <a:srgbClr val="41745A"/>
                </a:solidFill>
                <a:latin typeface="Times New Roman"/>
                <a:ea typeface="Times New Roman"/>
                <a:cs typeface="Times New Roman"/>
              </a:defRPr>
            </a:lvl9pPr>
          </a:lstStyle>
          <a:p xmlns:a="http://schemas.openxmlformats.org/drawingml/2006/main">
            <a:pPr algn="l">
              <a:defRPr sz="1350">
                <a:solidFill>
                  <a:srgbClr val="41745A"/>
                </a:solidFill>
                <a:latin typeface="Times New Roman"/>
                <a:ea typeface="Times New Roman"/>
                <a:cs typeface="Times New Roman"/>
              </a:defRPr>
            </a:pPr>
            <a:r>
              <a:rPr sz="1350">
                <a:solidFill>
                  <a:srgbClr val="41745A"/>
                </a:solidFill>
                <a:latin typeface="Times New Roman"/>
                <a:ea typeface="Times New Roman"/>
                <a:cs typeface="Times New Roman"/>
              </a:rPr>
              <a:t>Fuentes: [7]</a:t>
            </a:r>
          </a:p>
        </p:txBody>
      </p:sp>
      <p:sp>
        <p:nvSpPr>
          <p:cNvPr id="5" name="">
            <a:extLst xmlns:a="http://schemas.openxmlformats.org/drawingml/2006/main">
              <a:ext uri="{FF2B5EF4-FFF2-40B4-BE49-F238E27FC236}">
                <a16:creationId xmlns:a16="http://schemas.microsoft.com/office/drawing/2014/main" id="{BEB610DD-7D7F-4FA8-A39F-145A7E868CC7}"/>
              </a:ext>
            </a:extLst>
          </p:cNvPr>
          <p:cNvSpPr>
            <a:spLocks xmlns:a="http://schemas.openxmlformats.org/drawingml/2006/main" noGrp="1"/>
          </p:cNvSpPr>
          <p:nvPr/>
        </p:nvSpPr>
        <p:spPr>
          <a:xfrm xmlns:a="http://schemas.openxmlformats.org/drawingml/2006/main">
            <a:off x="609600" y="2038350"/>
            <a:ext cx="3333750" cy="971550"/>
          </a:xfrm>
          <a:prstGeom xmlns:a="http://schemas.openxmlformats.org/drawingml/2006/main" prst="rect">
            <a:avLst/>
          </a:prstGeom>
          <a:solidFill xmlns:a="http://schemas.openxmlformats.org/drawingml/2006/main">
            <a:srgbClr val="FFFFFF"/>
          </a:solidFill>
          <a:ln xmlns:a="http://schemas.openxmlformats.org/drawingml/2006/main" w="14288">
            <a:solidFill>
              <a:srgbClr val="41745A"/>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2250" b="0">
                <a:solidFill>
                  <a:srgbClr val="183F31"/>
                </a:solidFill>
                <a:latin typeface="Times New Roman"/>
                <a:ea typeface="Times New Roman"/>
                <a:cs typeface="Times New Roman"/>
              </a:defRPr>
            </a:defPPr>
            <a:lvl1pPr algn="ctr">
              <a:defRPr sz="2250" b="0">
                <a:solidFill>
                  <a:srgbClr val="183F31"/>
                </a:solidFill>
                <a:latin typeface="Times New Roman"/>
                <a:ea typeface="Times New Roman"/>
                <a:cs typeface="Times New Roman"/>
              </a:defRPr>
            </a:lvl1pPr>
            <a:lvl2pPr algn="ctr">
              <a:defRPr sz="2250" b="0">
                <a:solidFill>
                  <a:srgbClr val="183F31"/>
                </a:solidFill>
                <a:latin typeface="Times New Roman"/>
                <a:ea typeface="Times New Roman"/>
                <a:cs typeface="Times New Roman"/>
              </a:defRPr>
            </a:lvl2pPr>
            <a:lvl3pPr algn="ctr">
              <a:defRPr sz="2250" b="0">
                <a:solidFill>
                  <a:srgbClr val="183F31"/>
                </a:solidFill>
                <a:latin typeface="Times New Roman"/>
                <a:ea typeface="Times New Roman"/>
                <a:cs typeface="Times New Roman"/>
              </a:defRPr>
            </a:lvl3pPr>
            <a:lvl4pPr algn="ctr">
              <a:defRPr sz="2250" b="0">
                <a:solidFill>
                  <a:srgbClr val="183F31"/>
                </a:solidFill>
                <a:latin typeface="Times New Roman"/>
                <a:ea typeface="Times New Roman"/>
                <a:cs typeface="Times New Roman"/>
              </a:defRPr>
            </a:lvl4pPr>
            <a:lvl5pPr algn="ctr">
              <a:defRPr sz="2250" b="0">
                <a:solidFill>
                  <a:srgbClr val="183F31"/>
                </a:solidFill>
                <a:latin typeface="Times New Roman"/>
                <a:ea typeface="Times New Roman"/>
                <a:cs typeface="Times New Roman"/>
              </a:defRPr>
            </a:lvl5pPr>
            <a:lvl6pPr algn="ctr">
              <a:defRPr sz="2250" b="0">
                <a:solidFill>
                  <a:srgbClr val="183F31"/>
                </a:solidFill>
                <a:latin typeface="Times New Roman"/>
                <a:ea typeface="Times New Roman"/>
                <a:cs typeface="Times New Roman"/>
              </a:defRPr>
            </a:lvl6pPr>
            <a:lvl7pPr algn="ctr">
              <a:defRPr sz="2250" b="0">
                <a:solidFill>
                  <a:srgbClr val="183F31"/>
                </a:solidFill>
                <a:latin typeface="Times New Roman"/>
                <a:ea typeface="Times New Roman"/>
                <a:cs typeface="Times New Roman"/>
              </a:defRPr>
            </a:lvl7pPr>
            <a:lvl8pPr algn="ctr">
              <a:defRPr sz="2250" b="0">
                <a:solidFill>
                  <a:srgbClr val="183F31"/>
                </a:solidFill>
                <a:latin typeface="Times New Roman"/>
                <a:ea typeface="Times New Roman"/>
                <a:cs typeface="Times New Roman"/>
              </a:defRPr>
            </a:lvl8pPr>
            <a:lvl9pPr algn="ctr">
              <a:defRPr sz="2250" b="0">
                <a:solidFill>
                  <a:srgbClr val="183F31"/>
                </a:solidFill>
                <a:latin typeface="Times New Roman"/>
                <a:ea typeface="Times New Roman"/>
                <a:cs typeface="Times New Roman"/>
              </a:defRPr>
            </a:lvl9pPr>
          </a:lstStyle>
          <a:p xmlns:a="http://schemas.openxmlformats.org/drawingml/2006/main">
            <a:pPr algn="ctr">
              <a:defRPr sz="2250" b="0">
                <a:solidFill>
                  <a:srgbClr val="183F31"/>
                </a:solidFill>
                <a:latin typeface="Times New Roman"/>
                <a:ea typeface="Times New Roman"/>
                <a:cs typeface="Times New Roman"/>
              </a:defRPr>
            </a:pPr>
            <a:r>
              <a:rPr sz="2250" b="0">
                <a:solidFill>
                  <a:srgbClr val="183F31"/>
                </a:solidFill>
                <a:latin typeface="Times New Roman"/>
                <a:ea typeface="Times New Roman"/>
                <a:cs typeface="Times New Roman"/>
              </a:rPr>
              <a:t>Temperatura de incubación</a:t>
            </a:r>
          </a:p>
        </p:txBody>
      </p:sp>
      <p:sp>
        <p:nvSpPr>
          <p:cNvPr id="6" name="">
            <a:extLst xmlns:a="http://schemas.openxmlformats.org/drawingml/2006/main">
              <a:ext uri="{FF2B5EF4-FFF2-40B4-BE49-F238E27FC236}">
                <a16:creationId xmlns:a16="http://schemas.microsoft.com/office/drawing/2014/main" id="{2EE17E5B-F70E-48C7-BBF6-7815E33321EE}"/>
              </a:ext>
            </a:extLst>
          </p:cNvPr>
          <p:cNvSpPr>
            <a:spLocks xmlns:a="http://schemas.openxmlformats.org/drawingml/2006/main" noGrp="1"/>
          </p:cNvSpPr>
          <p:nvPr/>
        </p:nvSpPr>
        <p:spPr>
          <a:xfrm xmlns:a="http://schemas.openxmlformats.org/drawingml/2006/main">
            <a:off x="4429125" y="2038350"/>
            <a:ext cx="3333750" cy="971550"/>
          </a:xfrm>
          <a:prstGeom xmlns:a="http://schemas.openxmlformats.org/drawingml/2006/main" prst="rect">
            <a:avLst/>
          </a:prstGeom>
          <a:solidFill xmlns:a="http://schemas.openxmlformats.org/drawingml/2006/main">
            <a:srgbClr val="FFFFFF"/>
          </a:solidFill>
          <a:ln xmlns:a="http://schemas.openxmlformats.org/drawingml/2006/main" w="14288">
            <a:solidFill>
              <a:srgbClr val="41745A"/>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2250" b="0">
                <a:solidFill>
                  <a:srgbClr val="183F31"/>
                </a:solidFill>
                <a:latin typeface="Times New Roman"/>
                <a:ea typeface="Times New Roman"/>
                <a:cs typeface="Times New Roman"/>
              </a:defRPr>
            </a:defPPr>
            <a:lvl1pPr algn="ctr">
              <a:defRPr sz="2250" b="0">
                <a:solidFill>
                  <a:srgbClr val="183F31"/>
                </a:solidFill>
                <a:latin typeface="Times New Roman"/>
                <a:ea typeface="Times New Roman"/>
                <a:cs typeface="Times New Roman"/>
              </a:defRPr>
            </a:lvl1pPr>
            <a:lvl2pPr algn="ctr">
              <a:defRPr sz="2250" b="0">
                <a:solidFill>
                  <a:srgbClr val="183F31"/>
                </a:solidFill>
                <a:latin typeface="Times New Roman"/>
                <a:ea typeface="Times New Roman"/>
                <a:cs typeface="Times New Roman"/>
              </a:defRPr>
            </a:lvl2pPr>
            <a:lvl3pPr algn="ctr">
              <a:defRPr sz="2250" b="0">
                <a:solidFill>
                  <a:srgbClr val="183F31"/>
                </a:solidFill>
                <a:latin typeface="Times New Roman"/>
                <a:ea typeface="Times New Roman"/>
                <a:cs typeface="Times New Roman"/>
              </a:defRPr>
            </a:lvl3pPr>
            <a:lvl4pPr algn="ctr">
              <a:defRPr sz="2250" b="0">
                <a:solidFill>
                  <a:srgbClr val="183F31"/>
                </a:solidFill>
                <a:latin typeface="Times New Roman"/>
                <a:ea typeface="Times New Roman"/>
                <a:cs typeface="Times New Roman"/>
              </a:defRPr>
            </a:lvl4pPr>
            <a:lvl5pPr algn="ctr">
              <a:defRPr sz="2250" b="0">
                <a:solidFill>
                  <a:srgbClr val="183F31"/>
                </a:solidFill>
                <a:latin typeface="Times New Roman"/>
                <a:ea typeface="Times New Roman"/>
                <a:cs typeface="Times New Roman"/>
              </a:defRPr>
            </a:lvl5pPr>
            <a:lvl6pPr algn="ctr">
              <a:defRPr sz="2250" b="0">
                <a:solidFill>
                  <a:srgbClr val="183F31"/>
                </a:solidFill>
                <a:latin typeface="Times New Roman"/>
                <a:ea typeface="Times New Roman"/>
                <a:cs typeface="Times New Roman"/>
              </a:defRPr>
            </a:lvl6pPr>
            <a:lvl7pPr algn="ctr">
              <a:defRPr sz="2250" b="0">
                <a:solidFill>
                  <a:srgbClr val="183F31"/>
                </a:solidFill>
                <a:latin typeface="Times New Roman"/>
                <a:ea typeface="Times New Roman"/>
                <a:cs typeface="Times New Roman"/>
              </a:defRPr>
            </a:lvl7pPr>
            <a:lvl8pPr algn="ctr">
              <a:defRPr sz="2250" b="0">
                <a:solidFill>
                  <a:srgbClr val="183F31"/>
                </a:solidFill>
                <a:latin typeface="Times New Roman"/>
                <a:ea typeface="Times New Roman"/>
                <a:cs typeface="Times New Roman"/>
              </a:defRPr>
            </a:lvl8pPr>
            <a:lvl9pPr algn="ctr">
              <a:defRPr sz="2250" b="0">
                <a:solidFill>
                  <a:srgbClr val="183F31"/>
                </a:solidFill>
                <a:latin typeface="Times New Roman"/>
                <a:ea typeface="Times New Roman"/>
                <a:cs typeface="Times New Roman"/>
              </a:defRPr>
            </a:lvl9pPr>
          </a:lstStyle>
          <a:p xmlns:a="http://schemas.openxmlformats.org/drawingml/2006/main">
            <a:pPr algn="ctr">
              <a:defRPr sz="2250" b="0">
                <a:solidFill>
                  <a:srgbClr val="183F31"/>
                </a:solidFill>
                <a:latin typeface="Times New Roman"/>
                <a:ea typeface="Times New Roman"/>
                <a:cs typeface="Times New Roman"/>
              </a:defRPr>
            </a:pPr>
            <a:r>
              <a:rPr sz="2250" b="0">
                <a:solidFill>
                  <a:srgbClr val="183F31"/>
                </a:solidFill>
                <a:latin typeface="Times New Roman"/>
                <a:ea typeface="Times New Roman"/>
                <a:cs typeface="Times New Roman"/>
              </a:rPr>
              <a:t>Período termosensible</a:t>
            </a:r>
          </a:p>
        </p:txBody>
      </p:sp>
      <p:sp>
        <p:nvSpPr>
          <p:cNvPr id="7" name="">
            <a:extLst xmlns:a="http://schemas.openxmlformats.org/drawingml/2006/main">
              <a:ext uri="{FF2B5EF4-FFF2-40B4-BE49-F238E27FC236}">
                <a16:creationId xmlns:a16="http://schemas.microsoft.com/office/drawing/2014/main" id="{3A79A531-2CFE-4339-B852-19EFEDCBA5C0}"/>
              </a:ext>
            </a:extLst>
          </p:cNvPr>
          <p:cNvSpPr>
            <a:spLocks xmlns:a="http://schemas.openxmlformats.org/drawingml/2006/main" noGrp="1"/>
          </p:cNvSpPr>
          <p:nvPr/>
        </p:nvSpPr>
        <p:spPr>
          <a:xfrm xmlns:a="http://schemas.openxmlformats.org/drawingml/2006/main">
            <a:off x="8248650" y="2038350"/>
            <a:ext cx="3333750" cy="971550"/>
          </a:xfrm>
          <a:prstGeom xmlns:a="http://schemas.openxmlformats.org/drawingml/2006/main" prst="rect">
            <a:avLst/>
          </a:prstGeom>
          <a:solidFill xmlns:a="http://schemas.openxmlformats.org/drawingml/2006/main">
            <a:srgbClr val="FFFFFF"/>
          </a:solidFill>
          <a:ln xmlns:a="http://schemas.openxmlformats.org/drawingml/2006/main" w="14288">
            <a:solidFill>
              <a:srgbClr val="41745A"/>
            </a:solidFill>
            <a:prstDash val="solid"/>
          </a:ln>
        </p:spPr>
        <p:txBody>
          <a:bodyPr xmlns:a="http://schemas.openxmlformats.org/drawingml/2006/main" wrap="square" lIns="114300" tIns="114300" rIns="114300" bIns="114300" anchor="ctr">
            <a:noAutofit/>
          </a:bodyPr>
          <a:lstStyle xmlns:a="http://schemas.openxmlformats.org/drawingml/2006/main">
            <a:defPPr algn="ctr">
              <a:defRPr sz="2250" b="0">
                <a:solidFill>
                  <a:srgbClr val="183F31"/>
                </a:solidFill>
                <a:latin typeface="Times New Roman"/>
                <a:ea typeface="Times New Roman"/>
                <a:cs typeface="Times New Roman"/>
              </a:defRPr>
            </a:defPPr>
            <a:lvl1pPr algn="ctr">
              <a:defRPr sz="2250" b="0">
                <a:solidFill>
                  <a:srgbClr val="183F31"/>
                </a:solidFill>
                <a:latin typeface="Times New Roman"/>
                <a:ea typeface="Times New Roman"/>
                <a:cs typeface="Times New Roman"/>
              </a:defRPr>
            </a:lvl1pPr>
            <a:lvl2pPr algn="ctr">
              <a:defRPr sz="2250" b="0">
                <a:solidFill>
                  <a:srgbClr val="183F31"/>
                </a:solidFill>
                <a:latin typeface="Times New Roman"/>
                <a:ea typeface="Times New Roman"/>
                <a:cs typeface="Times New Roman"/>
              </a:defRPr>
            </a:lvl2pPr>
            <a:lvl3pPr algn="ctr">
              <a:defRPr sz="2250" b="0">
                <a:solidFill>
                  <a:srgbClr val="183F31"/>
                </a:solidFill>
                <a:latin typeface="Times New Roman"/>
                <a:ea typeface="Times New Roman"/>
                <a:cs typeface="Times New Roman"/>
              </a:defRPr>
            </a:lvl3pPr>
            <a:lvl4pPr algn="ctr">
              <a:defRPr sz="2250" b="0">
                <a:solidFill>
                  <a:srgbClr val="183F31"/>
                </a:solidFill>
                <a:latin typeface="Times New Roman"/>
                <a:ea typeface="Times New Roman"/>
                <a:cs typeface="Times New Roman"/>
              </a:defRPr>
            </a:lvl4pPr>
            <a:lvl5pPr algn="ctr">
              <a:defRPr sz="2250" b="0">
                <a:solidFill>
                  <a:srgbClr val="183F31"/>
                </a:solidFill>
                <a:latin typeface="Times New Roman"/>
                <a:ea typeface="Times New Roman"/>
                <a:cs typeface="Times New Roman"/>
              </a:defRPr>
            </a:lvl5pPr>
            <a:lvl6pPr algn="ctr">
              <a:defRPr sz="2250" b="0">
                <a:solidFill>
                  <a:srgbClr val="183F31"/>
                </a:solidFill>
                <a:latin typeface="Times New Roman"/>
                <a:ea typeface="Times New Roman"/>
                <a:cs typeface="Times New Roman"/>
              </a:defRPr>
            </a:lvl6pPr>
            <a:lvl7pPr algn="ctr">
              <a:defRPr sz="2250" b="0">
                <a:solidFill>
                  <a:srgbClr val="183F31"/>
                </a:solidFill>
                <a:latin typeface="Times New Roman"/>
                <a:ea typeface="Times New Roman"/>
                <a:cs typeface="Times New Roman"/>
              </a:defRPr>
            </a:lvl7pPr>
            <a:lvl8pPr algn="ctr">
              <a:defRPr sz="2250" b="0">
                <a:solidFill>
                  <a:srgbClr val="183F31"/>
                </a:solidFill>
                <a:latin typeface="Times New Roman"/>
                <a:ea typeface="Times New Roman"/>
                <a:cs typeface="Times New Roman"/>
              </a:defRPr>
            </a:lvl8pPr>
            <a:lvl9pPr algn="ctr">
              <a:defRPr sz="2250" b="0">
                <a:solidFill>
                  <a:srgbClr val="183F31"/>
                </a:solidFill>
                <a:latin typeface="Times New Roman"/>
                <a:ea typeface="Times New Roman"/>
                <a:cs typeface="Times New Roman"/>
              </a:defRPr>
            </a:lvl9pPr>
          </a:lstStyle>
          <a:p xmlns:a="http://schemas.openxmlformats.org/drawingml/2006/main">
            <a:pPr algn="ctr">
              <a:defRPr sz="2250" b="0">
                <a:solidFill>
                  <a:srgbClr val="183F31"/>
                </a:solidFill>
                <a:latin typeface="Times New Roman"/>
                <a:ea typeface="Times New Roman"/>
                <a:cs typeface="Times New Roman"/>
              </a:defRPr>
            </a:pPr>
            <a:r>
              <a:rPr sz="2250" b="0">
                <a:solidFill>
                  <a:srgbClr val="183F31"/>
                </a:solidFill>
                <a:latin typeface="Times New Roman"/>
                <a:ea typeface="Times New Roman"/>
                <a:cs typeface="Times New Roman"/>
              </a:rPr>
              <a:t>Vía gonadal</a:t>
            </a:r>
          </a:p>
        </p:txBody>
      </p:sp>
      <p:sp>
        <p:nvSpPr>
          <p:cNvPr id="10" name="text-9">
            <a:extLst xmlns:a="http://schemas.openxmlformats.org/drawingml/2006/main">
              <a:ext uri="{FF2B5EF4-FFF2-40B4-BE49-F238E27FC236}">
                <a16:creationId xmlns:a16="http://schemas.microsoft.com/office/drawing/2014/main" id="{728E4F03-519C-41B6-BCA4-22237071393F}"/>
              </a:ext>
            </a:extLst>
          </p:cNvPr>
          <p:cNvSpPr>
            <a:spLocks xmlns:a="http://schemas.openxmlformats.org/drawingml/2006/main" noGrp="1"/>
          </p:cNvSpPr>
          <p:nvPr/>
        </p:nvSpPr>
        <p:spPr>
          <a:xfrm xmlns:a="http://schemas.openxmlformats.org/drawingml/2006/main">
            <a:off x="609600" y="3705225"/>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41745A"/>
                </a:solidFill>
                <a:latin typeface="Times New Roman"/>
                <a:ea typeface="Times New Roman"/>
                <a:cs typeface="Times New Roman"/>
              </a:defRPr>
            </a:defPPr>
            <a:lvl1pPr algn="l">
              <a:defRPr sz="2250" b="1">
                <a:solidFill>
                  <a:srgbClr val="41745A"/>
                </a:solidFill>
                <a:latin typeface="Times New Roman"/>
                <a:ea typeface="Times New Roman"/>
                <a:cs typeface="Times New Roman"/>
              </a:defRPr>
            </a:lvl1pPr>
            <a:lvl2pPr algn="l">
              <a:defRPr sz="2250" b="1">
                <a:solidFill>
                  <a:srgbClr val="41745A"/>
                </a:solidFill>
                <a:latin typeface="Times New Roman"/>
                <a:ea typeface="Times New Roman"/>
                <a:cs typeface="Times New Roman"/>
              </a:defRPr>
            </a:lvl2pPr>
            <a:lvl3pPr algn="l">
              <a:defRPr sz="2250" b="1">
                <a:solidFill>
                  <a:srgbClr val="41745A"/>
                </a:solidFill>
                <a:latin typeface="Times New Roman"/>
                <a:ea typeface="Times New Roman"/>
                <a:cs typeface="Times New Roman"/>
              </a:defRPr>
            </a:lvl3pPr>
            <a:lvl4pPr algn="l">
              <a:defRPr sz="2250" b="1">
                <a:solidFill>
                  <a:srgbClr val="41745A"/>
                </a:solidFill>
                <a:latin typeface="Times New Roman"/>
                <a:ea typeface="Times New Roman"/>
                <a:cs typeface="Times New Roman"/>
              </a:defRPr>
            </a:lvl4pPr>
            <a:lvl5pPr algn="l">
              <a:defRPr sz="2250" b="1">
                <a:solidFill>
                  <a:srgbClr val="41745A"/>
                </a:solidFill>
                <a:latin typeface="Times New Roman"/>
                <a:ea typeface="Times New Roman"/>
                <a:cs typeface="Times New Roman"/>
              </a:defRPr>
            </a:lvl5pPr>
            <a:lvl6pPr algn="l">
              <a:defRPr sz="2250" b="1">
                <a:solidFill>
                  <a:srgbClr val="41745A"/>
                </a:solidFill>
                <a:latin typeface="Times New Roman"/>
                <a:ea typeface="Times New Roman"/>
                <a:cs typeface="Times New Roman"/>
              </a:defRPr>
            </a:lvl6pPr>
            <a:lvl7pPr algn="l">
              <a:defRPr sz="2250" b="1">
                <a:solidFill>
                  <a:srgbClr val="41745A"/>
                </a:solidFill>
                <a:latin typeface="Times New Roman"/>
                <a:ea typeface="Times New Roman"/>
                <a:cs typeface="Times New Roman"/>
              </a:defRPr>
            </a:lvl7pPr>
            <a:lvl8pPr algn="l">
              <a:defRPr sz="2250" b="1">
                <a:solidFill>
                  <a:srgbClr val="41745A"/>
                </a:solidFill>
                <a:latin typeface="Times New Roman"/>
                <a:ea typeface="Times New Roman"/>
                <a:cs typeface="Times New Roman"/>
              </a:defRPr>
            </a:lvl8pPr>
            <a:lvl9pPr algn="l">
              <a:defRPr sz="2250" b="1">
                <a:solidFill>
                  <a:srgbClr val="41745A"/>
                </a:solidFill>
                <a:latin typeface="Times New Roman"/>
                <a:ea typeface="Times New Roman"/>
                <a:cs typeface="Times New Roman"/>
              </a:defRPr>
            </a:lvl9pPr>
          </a:lstStyle>
          <a:p xmlns:a="http://schemas.openxmlformats.org/drawingml/2006/main">
            <a:pPr algn="l">
              <a:defRPr sz="2250" b="1">
                <a:solidFill>
                  <a:srgbClr val="41745A"/>
                </a:solidFill>
                <a:latin typeface="Times New Roman"/>
                <a:ea typeface="Times New Roman"/>
                <a:cs typeface="Times New Roman"/>
              </a:defRPr>
            </a:pPr>
            <a:r>
              <a:rPr sz="2250" b="1">
                <a:solidFill>
                  <a:srgbClr val="41745A"/>
                </a:solidFill>
                <a:latin typeface="Times New Roman"/>
                <a:ea typeface="Times New Roman"/>
                <a:cs typeface="Times New Roman"/>
              </a:rPr>
              <a:t>Patrón específico de cada especie</a:t>
            </a:r>
          </a:p>
        </p:txBody>
      </p:sp>
      <p:sp>
        <p:nvSpPr>
          <p:cNvPr id="11" name="text-10">
            <a:extLst xmlns:a="http://schemas.openxmlformats.org/drawingml/2006/main">
              <a:ext uri="{FF2B5EF4-FFF2-40B4-BE49-F238E27FC236}">
                <a16:creationId xmlns:a16="http://schemas.microsoft.com/office/drawing/2014/main" id="{23F81D8D-8E8D-43EC-B89C-74ED3910783D}"/>
              </a:ext>
            </a:extLst>
          </p:cNvPr>
          <p:cNvSpPr>
            <a:spLocks xmlns:a="http://schemas.openxmlformats.org/drawingml/2006/main" noGrp="1"/>
          </p:cNvSpPr>
          <p:nvPr/>
        </p:nvSpPr>
        <p:spPr>
          <a:xfrm xmlns:a="http://schemas.openxmlformats.org/drawingml/2006/main">
            <a:off x="609600" y="4162425"/>
            <a:ext cx="10972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202520"/>
                </a:solidFill>
                <a:latin typeface="Times New Roman"/>
                <a:ea typeface="Times New Roman"/>
                <a:cs typeface="Times New Roman"/>
              </a:defRPr>
            </a:defPPr>
            <a:lvl1pPr algn="l">
              <a:defRPr sz="2100">
                <a:solidFill>
                  <a:srgbClr val="202520"/>
                </a:solidFill>
                <a:latin typeface="Times New Roman"/>
                <a:ea typeface="Times New Roman"/>
                <a:cs typeface="Times New Roman"/>
              </a:defRPr>
            </a:lvl1pPr>
            <a:lvl2pPr algn="l">
              <a:defRPr sz="2100">
                <a:solidFill>
                  <a:srgbClr val="202520"/>
                </a:solidFill>
                <a:latin typeface="Times New Roman"/>
                <a:ea typeface="Times New Roman"/>
                <a:cs typeface="Times New Roman"/>
              </a:defRPr>
            </a:lvl2pPr>
            <a:lvl3pPr algn="l">
              <a:defRPr sz="2100">
                <a:solidFill>
                  <a:srgbClr val="202520"/>
                </a:solidFill>
                <a:latin typeface="Times New Roman"/>
                <a:ea typeface="Times New Roman"/>
                <a:cs typeface="Times New Roman"/>
              </a:defRPr>
            </a:lvl3pPr>
            <a:lvl4pPr algn="l">
              <a:defRPr sz="2100">
                <a:solidFill>
                  <a:srgbClr val="202520"/>
                </a:solidFill>
                <a:latin typeface="Times New Roman"/>
                <a:ea typeface="Times New Roman"/>
                <a:cs typeface="Times New Roman"/>
              </a:defRPr>
            </a:lvl4pPr>
            <a:lvl5pPr algn="l">
              <a:defRPr sz="2100">
                <a:solidFill>
                  <a:srgbClr val="202520"/>
                </a:solidFill>
                <a:latin typeface="Times New Roman"/>
                <a:ea typeface="Times New Roman"/>
                <a:cs typeface="Times New Roman"/>
              </a:defRPr>
            </a:lvl5pPr>
            <a:lvl6pPr algn="l">
              <a:defRPr sz="2100">
                <a:solidFill>
                  <a:srgbClr val="202520"/>
                </a:solidFill>
                <a:latin typeface="Times New Roman"/>
                <a:ea typeface="Times New Roman"/>
                <a:cs typeface="Times New Roman"/>
              </a:defRPr>
            </a:lvl6pPr>
            <a:lvl7pPr algn="l">
              <a:defRPr sz="2100">
                <a:solidFill>
                  <a:srgbClr val="202520"/>
                </a:solidFill>
                <a:latin typeface="Times New Roman"/>
                <a:ea typeface="Times New Roman"/>
                <a:cs typeface="Times New Roman"/>
              </a:defRPr>
            </a:lvl7pPr>
            <a:lvl8pPr algn="l">
              <a:defRPr sz="2100">
                <a:solidFill>
                  <a:srgbClr val="202520"/>
                </a:solidFill>
                <a:latin typeface="Times New Roman"/>
                <a:ea typeface="Times New Roman"/>
                <a:cs typeface="Times New Roman"/>
              </a:defRPr>
            </a:lvl8pPr>
            <a:lvl9pPr algn="l">
              <a:defRPr sz="2100">
                <a:solidFill>
                  <a:srgbClr val="202520"/>
                </a:solidFill>
                <a:latin typeface="Times New Roman"/>
                <a:ea typeface="Times New Roman"/>
                <a:cs typeface="Times New Roman"/>
              </a:defRPr>
            </a:lvl9pPr>
          </a:lstStyle>
          <a:p xmlns:a="http://schemas.openxmlformats.org/drawingml/2006/main">
            <a:pPr algn="l">
              <a:defRPr sz="2100">
                <a:solidFill>
                  <a:srgbClr val="202520"/>
                </a:solidFill>
                <a:latin typeface="Times New Roman"/>
                <a:ea typeface="Times New Roman"/>
                <a:cs typeface="Times New Roman"/>
              </a:defRPr>
            </a:pPr>
            <a:r>
              <a:rPr sz="2100">
                <a:solidFill>
                  <a:srgbClr val="202520"/>
                </a:solidFill>
                <a:latin typeface="Times New Roman"/>
                <a:ea typeface="Times New Roman"/>
                <a:cs typeface="Times New Roman"/>
              </a:rPr>
              <a:t>Los rangos térmicos que favorecen machos o hembras varían.</a:t>
            </a:r>
          </a:p>
        </p:txBody>
      </p:sp>
      <p:sp>
        <p:nvSpPr>
          <p:cNvPr id="12" name="text-11">
            <a:extLst xmlns:a="http://schemas.openxmlformats.org/drawingml/2006/main">
              <a:ext uri="{FF2B5EF4-FFF2-40B4-BE49-F238E27FC236}">
                <a16:creationId xmlns:a16="http://schemas.microsoft.com/office/drawing/2014/main" id="{0539331D-7220-4F46-8F78-F854113BCBF5}"/>
              </a:ext>
            </a:extLst>
          </p:cNvPr>
          <p:cNvSpPr>
            <a:spLocks xmlns:a="http://schemas.openxmlformats.org/drawingml/2006/main" noGrp="1"/>
          </p:cNvSpPr>
          <p:nvPr/>
        </p:nvSpPr>
        <p:spPr>
          <a:xfrm xmlns:a="http://schemas.openxmlformats.org/drawingml/2006/main">
            <a:off x="609600" y="5038725"/>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41745A"/>
                </a:solidFill>
                <a:latin typeface="Times New Roman"/>
                <a:ea typeface="Times New Roman"/>
                <a:cs typeface="Times New Roman"/>
              </a:defRPr>
            </a:defPPr>
            <a:lvl1pPr algn="l">
              <a:defRPr sz="2250" b="1">
                <a:solidFill>
                  <a:srgbClr val="41745A"/>
                </a:solidFill>
                <a:latin typeface="Times New Roman"/>
                <a:ea typeface="Times New Roman"/>
                <a:cs typeface="Times New Roman"/>
              </a:defRPr>
            </a:lvl1pPr>
            <a:lvl2pPr algn="l">
              <a:defRPr sz="2250" b="1">
                <a:solidFill>
                  <a:srgbClr val="41745A"/>
                </a:solidFill>
                <a:latin typeface="Times New Roman"/>
                <a:ea typeface="Times New Roman"/>
                <a:cs typeface="Times New Roman"/>
              </a:defRPr>
            </a:lvl2pPr>
            <a:lvl3pPr algn="l">
              <a:defRPr sz="2250" b="1">
                <a:solidFill>
                  <a:srgbClr val="41745A"/>
                </a:solidFill>
                <a:latin typeface="Times New Roman"/>
                <a:ea typeface="Times New Roman"/>
                <a:cs typeface="Times New Roman"/>
              </a:defRPr>
            </a:lvl3pPr>
            <a:lvl4pPr algn="l">
              <a:defRPr sz="2250" b="1">
                <a:solidFill>
                  <a:srgbClr val="41745A"/>
                </a:solidFill>
                <a:latin typeface="Times New Roman"/>
                <a:ea typeface="Times New Roman"/>
                <a:cs typeface="Times New Roman"/>
              </a:defRPr>
            </a:lvl4pPr>
            <a:lvl5pPr algn="l">
              <a:defRPr sz="2250" b="1">
                <a:solidFill>
                  <a:srgbClr val="41745A"/>
                </a:solidFill>
                <a:latin typeface="Times New Roman"/>
                <a:ea typeface="Times New Roman"/>
                <a:cs typeface="Times New Roman"/>
              </a:defRPr>
            </a:lvl5pPr>
            <a:lvl6pPr algn="l">
              <a:defRPr sz="2250" b="1">
                <a:solidFill>
                  <a:srgbClr val="41745A"/>
                </a:solidFill>
                <a:latin typeface="Times New Roman"/>
                <a:ea typeface="Times New Roman"/>
                <a:cs typeface="Times New Roman"/>
              </a:defRPr>
            </a:lvl6pPr>
            <a:lvl7pPr algn="l">
              <a:defRPr sz="2250" b="1">
                <a:solidFill>
                  <a:srgbClr val="41745A"/>
                </a:solidFill>
                <a:latin typeface="Times New Roman"/>
                <a:ea typeface="Times New Roman"/>
                <a:cs typeface="Times New Roman"/>
              </a:defRPr>
            </a:lvl7pPr>
            <a:lvl8pPr algn="l">
              <a:defRPr sz="2250" b="1">
                <a:solidFill>
                  <a:srgbClr val="41745A"/>
                </a:solidFill>
                <a:latin typeface="Times New Roman"/>
                <a:ea typeface="Times New Roman"/>
                <a:cs typeface="Times New Roman"/>
              </a:defRPr>
            </a:lvl8pPr>
            <a:lvl9pPr algn="l">
              <a:defRPr sz="2250" b="1">
                <a:solidFill>
                  <a:srgbClr val="41745A"/>
                </a:solidFill>
                <a:latin typeface="Times New Roman"/>
                <a:ea typeface="Times New Roman"/>
                <a:cs typeface="Times New Roman"/>
              </a:defRPr>
            </a:lvl9pPr>
          </a:lstStyle>
          <a:p xmlns:a="http://schemas.openxmlformats.org/drawingml/2006/main">
            <a:pPr algn="l">
              <a:defRPr sz="2250" b="1">
                <a:solidFill>
                  <a:srgbClr val="41745A"/>
                </a:solidFill>
                <a:latin typeface="Times New Roman"/>
                <a:ea typeface="Times New Roman"/>
                <a:cs typeface="Times New Roman"/>
              </a:defRPr>
            </a:pPr>
            <a:r>
              <a:rPr sz="2250" b="1">
                <a:solidFill>
                  <a:srgbClr val="41745A"/>
                </a:solidFill>
                <a:latin typeface="Times New Roman"/>
                <a:ea typeface="Times New Roman"/>
                <a:cs typeface="Times New Roman"/>
              </a:rPr>
              <a:t>Alcance</a:t>
            </a:r>
          </a:p>
        </p:txBody>
      </p:sp>
      <p:sp>
        <p:nvSpPr>
          <p:cNvPr id="13" name="text-12">
            <a:extLst xmlns:a="http://schemas.openxmlformats.org/drawingml/2006/main">
              <a:ext uri="{FF2B5EF4-FFF2-40B4-BE49-F238E27FC236}">
                <a16:creationId xmlns:a16="http://schemas.microsoft.com/office/drawing/2014/main" id="{D6B24F1E-ED02-4758-9D80-BDB10990315B}"/>
              </a:ext>
            </a:extLst>
          </p:cNvPr>
          <p:cNvSpPr>
            <a:spLocks xmlns:a="http://schemas.openxmlformats.org/drawingml/2006/main" noGrp="1"/>
          </p:cNvSpPr>
          <p:nvPr/>
        </p:nvSpPr>
        <p:spPr>
          <a:xfrm xmlns:a="http://schemas.openxmlformats.org/drawingml/2006/main">
            <a:off x="609600" y="5495925"/>
            <a:ext cx="10972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202520"/>
                </a:solidFill>
                <a:latin typeface="Times New Roman"/>
                <a:ea typeface="Times New Roman"/>
                <a:cs typeface="Times New Roman"/>
              </a:defRPr>
            </a:defPPr>
            <a:lvl1pPr algn="l">
              <a:defRPr sz="2100">
                <a:solidFill>
                  <a:srgbClr val="202520"/>
                </a:solidFill>
                <a:latin typeface="Times New Roman"/>
                <a:ea typeface="Times New Roman"/>
                <a:cs typeface="Times New Roman"/>
              </a:defRPr>
            </a:lvl1pPr>
            <a:lvl2pPr algn="l">
              <a:defRPr sz="2100">
                <a:solidFill>
                  <a:srgbClr val="202520"/>
                </a:solidFill>
                <a:latin typeface="Times New Roman"/>
                <a:ea typeface="Times New Roman"/>
                <a:cs typeface="Times New Roman"/>
              </a:defRPr>
            </a:lvl2pPr>
            <a:lvl3pPr algn="l">
              <a:defRPr sz="2100">
                <a:solidFill>
                  <a:srgbClr val="202520"/>
                </a:solidFill>
                <a:latin typeface="Times New Roman"/>
                <a:ea typeface="Times New Roman"/>
                <a:cs typeface="Times New Roman"/>
              </a:defRPr>
            </a:lvl3pPr>
            <a:lvl4pPr algn="l">
              <a:defRPr sz="2100">
                <a:solidFill>
                  <a:srgbClr val="202520"/>
                </a:solidFill>
                <a:latin typeface="Times New Roman"/>
                <a:ea typeface="Times New Roman"/>
                <a:cs typeface="Times New Roman"/>
              </a:defRPr>
            </a:lvl4pPr>
            <a:lvl5pPr algn="l">
              <a:defRPr sz="2100">
                <a:solidFill>
                  <a:srgbClr val="202520"/>
                </a:solidFill>
                <a:latin typeface="Times New Roman"/>
                <a:ea typeface="Times New Roman"/>
                <a:cs typeface="Times New Roman"/>
              </a:defRPr>
            </a:lvl5pPr>
            <a:lvl6pPr algn="l">
              <a:defRPr sz="2100">
                <a:solidFill>
                  <a:srgbClr val="202520"/>
                </a:solidFill>
                <a:latin typeface="Times New Roman"/>
                <a:ea typeface="Times New Roman"/>
                <a:cs typeface="Times New Roman"/>
              </a:defRPr>
            </a:lvl6pPr>
            <a:lvl7pPr algn="l">
              <a:defRPr sz="2100">
                <a:solidFill>
                  <a:srgbClr val="202520"/>
                </a:solidFill>
                <a:latin typeface="Times New Roman"/>
                <a:ea typeface="Times New Roman"/>
                <a:cs typeface="Times New Roman"/>
              </a:defRPr>
            </a:lvl7pPr>
            <a:lvl8pPr algn="l">
              <a:defRPr sz="2100">
                <a:solidFill>
                  <a:srgbClr val="202520"/>
                </a:solidFill>
                <a:latin typeface="Times New Roman"/>
                <a:ea typeface="Times New Roman"/>
                <a:cs typeface="Times New Roman"/>
              </a:defRPr>
            </a:lvl8pPr>
            <a:lvl9pPr algn="l">
              <a:defRPr sz="2100">
                <a:solidFill>
                  <a:srgbClr val="202520"/>
                </a:solidFill>
                <a:latin typeface="Times New Roman"/>
                <a:ea typeface="Times New Roman"/>
                <a:cs typeface="Times New Roman"/>
              </a:defRPr>
            </a:lvl9pPr>
          </a:lstStyle>
          <a:p xmlns:a="http://schemas.openxmlformats.org/drawingml/2006/main">
            <a:pPr algn="l">
              <a:defRPr sz="2100">
                <a:solidFill>
                  <a:srgbClr val="202520"/>
                </a:solidFill>
                <a:latin typeface="Times New Roman"/>
                <a:ea typeface="Times New Roman"/>
                <a:cs typeface="Times New Roman"/>
              </a:defRPr>
            </a:pPr>
            <a:r>
              <a:rPr sz="2100">
                <a:solidFill>
                  <a:srgbClr val="202520"/>
                </a:solidFill>
                <a:latin typeface="Times New Roman"/>
                <a:ea typeface="Times New Roman"/>
                <a:cs typeface="Times New Roman"/>
              </a:rPr>
              <a:t>Se presenta en varias tortugas y cocodrilianos, no en todos los reptiles.</a:t>
            </a:r>
          </a:p>
        </p:txBody>
      </p:sp>
    </p:spTree>
    <p:extLst>
      <p:ext uri="{BB962C8B-B14F-4D97-AF65-F5344CB8AC3E}">
        <p14:creationId xmlns:p14="http://schemas.microsoft.com/office/powerpoint/2010/main" val="1763038336"/>
      </p:ext>
    </p:extLst>
  </p:cSld>
</p:sld>
</file>

<file path=ppt/slides/slide14.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sp>
        <p:nvSpPr>
          <p:cNvPr id="11" name="title">
            <a:extLst xmlns:a="http://schemas.openxmlformats.org/drawingml/2006/main">
              <a:ext uri="{FF2B5EF4-FFF2-40B4-BE49-F238E27FC236}">
                <a16:creationId xmlns:a16="http://schemas.microsoft.com/office/drawing/2014/main" id="{B9BBFECD-FB9C-445A-9F2C-17AAADD4F022}"/>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Diversidad de sistemas en peces</a:t>
            </a:r>
          </a:p>
        </p:txBody>
      </p:sp>
      <p:sp>
        <p:nvSpPr>
          <p:cNvPr id="2" name="">
            <a:extLst xmlns:a="http://schemas.openxmlformats.org/drawingml/2006/main">
              <a:ext uri="{FF2B5EF4-FFF2-40B4-BE49-F238E27FC236}">
                <a16:creationId xmlns:a16="http://schemas.microsoft.com/office/drawing/2014/main" id="{65F6A19C-9E95-45AE-8362-2F8FCC05501D}"/>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90A8C959-8044-424B-8D72-0CFA1098255C}"/>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14</a:t>
            </a:r>
          </a:p>
        </p:txBody>
      </p:sp>
      <p:sp>
        <p:nvSpPr>
          <p:cNvPr id="4" name="references">
            <a:extLst xmlns:a="http://schemas.openxmlformats.org/drawingml/2006/main">
              <a:ext uri="{FF2B5EF4-FFF2-40B4-BE49-F238E27FC236}">
                <a16:creationId xmlns:a16="http://schemas.microsoft.com/office/drawing/2014/main" id="{74EC60E9-4379-4A40-8DEA-1F113821F153}"/>
              </a:ext>
            </a:extLst>
          </p:cNvPr>
          <p:cNvSpPr>
            <a:spLocks xmlns:a="http://schemas.openxmlformats.org/drawingml/2006/main" noGrp="1"/>
          </p:cNvSpPr>
          <p:nvPr/>
        </p:nvSpPr>
        <p:spPr>
          <a:xfrm xmlns:a="http://schemas.openxmlformats.org/drawingml/2006/main">
            <a:off x="609600" y="6419850"/>
            <a:ext cx="10382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a:solidFill>
                  <a:srgbClr val="41745A"/>
                </a:solidFill>
                <a:latin typeface="Times New Roman"/>
                <a:ea typeface="Times New Roman"/>
                <a:cs typeface="Times New Roman"/>
              </a:defRPr>
            </a:defPPr>
            <a:lvl1pPr algn="l">
              <a:defRPr sz="1350">
                <a:solidFill>
                  <a:srgbClr val="41745A"/>
                </a:solidFill>
                <a:latin typeface="Times New Roman"/>
                <a:ea typeface="Times New Roman"/>
                <a:cs typeface="Times New Roman"/>
              </a:defRPr>
            </a:lvl1pPr>
            <a:lvl2pPr algn="l">
              <a:defRPr sz="1350">
                <a:solidFill>
                  <a:srgbClr val="41745A"/>
                </a:solidFill>
                <a:latin typeface="Times New Roman"/>
                <a:ea typeface="Times New Roman"/>
                <a:cs typeface="Times New Roman"/>
              </a:defRPr>
            </a:lvl2pPr>
            <a:lvl3pPr algn="l">
              <a:defRPr sz="1350">
                <a:solidFill>
                  <a:srgbClr val="41745A"/>
                </a:solidFill>
                <a:latin typeface="Times New Roman"/>
                <a:ea typeface="Times New Roman"/>
                <a:cs typeface="Times New Roman"/>
              </a:defRPr>
            </a:lvl3pPr>
            <a:lvl4pPr algn="l">
              <a:defRPr sz="1350">
                <a:solidFill>
                  <a:srgbClr val="41745A"/>
                </a:solidFill>
                <a:latin typeface="Times New Roman"/>
                <a:ea typeface="Times New Roman"/>
                <a:cs typeface="Times New Roman"/>
              </a:defRPr>
            </a:lvl4pPr>
            <a:lvl5pPr algn="l">
              <a:defRPr sz="1350">
                <a:solidFill>
                  <a:srgbClr val="41745A"/>
                </a:solidFill>
                <a:latin typeface="Times New Roman"/>
                <a:ea typeface="Times New Roman"/>
                <a:cs typeface="Times New Roman"/>
              </a:defRPr>
            </a:lvl5pPr>
            <a:lvl6pPr algn="l">
              <a:defRPr sz="1350">
                <a:solidFill>
                  <a:srgbClr val="41745A"/>
                </a:solidFill>
                <a:latin typeface="Times New Roman"/>
                <a:ea typeface="Times New Roman"/>
                <a:cs typeface="Times New Roman"/>
              </a:defRPr>
            </a:lvl6pPr>
            <a:lvl7pPr algn="l">
              <a:defRPr sz="1350">
                <a:solidFill>
                  <a:srgbClr val="41745A"/>
                </a:solidFill>
                <a:latin typeface="Times New Roman"/>
                <a:ea typeface="Times New Roman"/>
                <a:cs typeface="Times New Roman"/>
              </a:defRPr>
            </a:lvl7pPr>
            <a:lvl8pPr algn="l">
              <a:defRPr sz="1350">
                <a:solidFill>
                  <a:srgbClr val="41745A"/>
                </a:solidFill>
                <a:latin typeface="Times New Roman"/>
                <a:ea typeface="Times New Roman"/>
                <a:cs typeface="Times New Roman"/>
              </a:defRPr>
            </a:lvl8pPr>
            <a:lvl9pPr algn="l">
              <a:defRPr sz="1350">
                <a:solidFill>
                  <a:srgbClr val="41745A"/>
                </a:solidFill>
                <a:latin typeface="Times New Roman"/>
                <a:ea typeface="Times New Roman"/>
                <a:cs typeface="Times New Roman"/>
              </a:defRPr>
            </a:lvl9pPr>
          </a:lstStyle>
          <a:p xmlns:a="http://schemas.openxmlformats.org/drawingml/2006/main">
            <a:pPr algn="l">
              <a:defRPr sz="1350">
                <a:solidFill>
                  <a:srgbClr val="41745A"/>
                </a:solidFill>
                <a:latin typeface="Times New Roman"/>
                <a:ea typeface="Times New Roman"/>
                <a:cs typeface="Times New Roman"/>
              </a:defRPr>
            </a:pPr>
            <a:r>
              <a:rPr sz="1350">
                <a:solidFill>
                  <a:srgbClr val="41745A"/>
                </a:solidFill>
                <a:latin typeface="Times New Roman"/>
                <a:ea typeface="Times New Roman"/>
                <a:cs typeface="Times New Roman"/>
              </a:rPr>
              <a:t>Fuentes: [4] [9]</a:t>
            </a:r>
          </a:p>
        </p:txBody>
      </p:sp>
      <p:sp>
        <p:nvSpPr>
          <p:cNvPr id="5" name="text-4">
            <a:extLst xmlns:a="http://schemas.openxmlformats.org/drawingml/2006/main">
              <a:ext uri="{FF2B5EF4-FFF2-40B4-BE49-F238E27FC236}">
                <a16:creationId xmlns:a16="http://schemas.microsoft.com/office/drawing/2014/main" id="{8B11818E-F373-42CF-8964-D24AF9E7095C}"/>
              </a:ext>
            </a:extLst>
          </p:cNvPr>
          <p:cNvSpPr>
            <a:spLocks xmlns:a="http://schemas.openxmlformats.org/drawingml/2006/main" noGrp="1"/>
          </p:cNvSpPr>
          <p:nvPr/>
        </p:nvSpPr>
        <p:spPr>
          <a:xfrm xmlns:a="http://schemas.openxmlformats.org/drawingml/2006/main">
            <a:off x="609600" y="1876425"/>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41745A"/>
                </a:solidFill>
                <a:latin typeface="Times New Roman"/>
                <a:ea typeface="Times New Roman"/>
                <a:cs typeface="Times New Roman"/>
              </a:defRPr>
            </a:defPPr>
            <a:lvl1pPr algn="l">
              <a:defRPr sz="2250" b="1">
                <a:solidFill>
                  <a:srgbClr val="41745A"/>
                </a:solidFill>
                <a:latin typeface="Times New Roman"/>
                <a:ea typeface="Times New Roman"/>
                <a:cs typeface="Times New Roman"/>
              </a:defRPr>
            </a:lvl1pPr>
            <a:lvl2pPr algn="l">
              <a:defRPr sz="2250" b="1">
                <a:solidFill>
                  <a:srgbClr val="41745A"/>
                </a:solidFill>
                <a:latin typeface="Times New Roman"/>
                <a:ea typeface="Times New Roman"/>
                <a:cs typeface="Times New Roman"/>
              </a:defRPr>
            </a:lvl2pPr>
            <a:lvl3pPr algn="l">
              <a:defRPr sz="2250" b="1">
                <a:solidFill>
                  <a:srgbClr val="41745A"/>
                </a:solidFill>
                <a:latin typeface="Times New Roman"/>
                <a:ea typeface="Times New Roman"/>
                <a:cs typeface="Times New Roman"/>
              </a:defRPr>
            </a:lvl3pPr>
            <a:lvl4pPr algn="l">
              <a:defRPr sz="2250" b="1">
                <a:solidFill>
                  <a:srgbClr val="41745A"/>
                </a:solidFill>
                <a:latin typeface="Times New Roman"/>
                <a:ea typeface="Times New Roman"/>
                <a:cs typeface="Times New Roman"/>
              </a:defRPr>
            </a:lvl4pPr>
            <a:lvl5pPr algn="l">
              <a:defRPr sz="2250" b="1">
                <a:solidFill>
                  <a:srgbClr val="41745A"/>
                </a:solidFill>
                <a:latin typeface="Times New Roman"/>
                <a:ea typeface="Times New Roman"/>
                <a:cs typeface="Times New Roman"/>
              </a:defRPr>
            </a:lvl5pPr>
            <a:lvl6pPr algn="l">
              <a:defRPr sz="2250" b="1">
                <a:solidFill>
                  <a:srgbClr val="41745A"/>
                </a:solidFill>
                <a:latin typeface="Times New Roman"/>
                <a:ea typeface="Times New Roman"/>
                <a:cs typeface="Times New Roman"/>
              </a:defRPr>
            </a:lvl6pPr>
            <a:lvl7pPr algn="l">
              <a:defRPr sz="2250" b="1">
                <a:solidFill>
                  <a:srgbClr val="41745A"/>
                </a:solidFill>
                <a:latin typeface="Times New Roman"/>
                <a:ea typeface="Times New Roman"/>
                <a:cs typeface="Times New Roman"/>
              </a:defRPr>
            </a:lvl7pPr>
            <a:lvl8pPr algn="l">
              <a:defRPr sz="2250" b="1">
                <a:solidFill>
                  <a:srgbClr val="41745A"/>
                </a:solidFill>
                <a:latin typeface="Times New Roman"/>
                <a:ea typeface="Times New Roman"/>
                <a:cs typeface="Times New Roman"/>
              </a:defRPr>
            </a:lvl8pPr>
            <a:lvl9pPr algn="l">
              <a:defRPr sz="2250" b="1">
                <a:solidFill>
                  <a:srgbClr val="41745A"/>
                </a:solidFill>
                <a:latin typeface="Times New Roman"/>
                <a:ea typeface="Times New Roman"/>
                <a:cs typeface="Times New Roman"/>
              </a:defRPr>
            </a:lvl9pPr>
          </a:lstStyle>
          <a:p xmlns:a="http://schemas.openxmlformats.org/drawingml/2006/main">
            <a:pPr algn="l">
              <a:defRPr sz="2250" b="1">
                <a:solidFill>
                  <a:srgbClr val="41745A"/>
                </a:solidFill>
                <a:latin typeface="Times New Roman"/>
                <a:ea typeface="Times New Roman"/>
                <a:cs typeface="Times New Roman"/>
              </a:defRPr>
            </a:pPr>
            <a:r>
              <a:rPr sz="2250" b="1">
                <a:solidFill>
                  <a:srgbClr val="41745A"/>
                </a:solidFill>
                <a:latin typeface="Times New Roman"/>
                <a:ea typeface="Times New Roman"/>
                <a:cs typeface="Times New Roman"/>
              </a:rPr>
              <a:t>Determinación inicial</a:t>
            </a:r>
          </a:p>
        </p:txBody>
      </p:sp>
      <p:sp>
        <p:nvSpPr>
          <p:cNvPr id="6" name="text-5">
            <a:extLst xmlns:a="http://schemas.openxmlformats.org/drawingml/2006/main">
              <a:ext uri="{FF2B5EF4-FFF2-40B4-BE49-F238E27FC236}">
                <a16:creationId xmlns:a16="http://schemas.microsoft.com/office/drawing/2014/main" id="{FCB2B916-C7B3-4BCF-AA5C-34BEA4D63465}"/>
              </a:ext>
            </a:extLst>
          </p:cNvPr>
          <p:cNvSpPr>
            <a:spLocks xmlns:a="http://schemas.openxmlformats.org/drawingml/2006/main" noGrp="1"/>
          </p:cNvSpPr>
          <p:nvPr/>
        </p:nvSpPr>
        <p:spPr>
          <a:xfrm xmlns:a="http://schemas.openxmlformats.org/drawingml/2006/main">
            <a:off x="609600" y="2333625"/>
            <a:ext cx="10972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202520"/>
                </a:solidFill>
                <a:latin typeface="Times New Roman"/>
                <a:ea typeface="Times New Roman"/>
                <a:cs typeface="Times New Roman"/>
              </a:defRPr>
            </a:defPPr>
            <a:lvl1pPr algn="l">
              <a:defRPr sz="2100">
                <a:solidFill>
                  <a:srgbClr val="202520"/>
                </a:solidFill>
                <a:latin typeface="Times New Roman"/>
                <a:ea typeface="Times New Roman"/>
                <a:cs typeface="Times New Roman"/>
              </a:defRPr>
            </a:lvl1pPr>
            <a:lvl2pPr algn="l">
              <a:defRPr sz="2100">
                <a:solidFill>
                  <a:srgbClr val="202520"/>
                </a:solidFill>
                <a:latin typeface="Times New Roman"/>
                <a:ea typeface="Times New Roman"/>
                <a:cs typeface="Times New Roman"/>
              </a:defRPr>
            </a:lvl2pPr>
            <a:lvl3pPr algn="l">
              <a:defRPr sz="2100">
                <a:solidFill>
                  <a:srgbClr val="202520"/>
                </a:solidFill>
                <a:latin typeface="Times New Roman"/>
                <a:ea typeface="Times New Roman"/>
                <a:cs typeface="Times New Roman"/>
              </a:defRPr>
            </a:lvl3pPr>
            <a:lvl4pPr algn="l">
              <a:defRPr sz="2100">
                <a:solidFill>
                  <a:srgbClr val="202520"/>
                </a:solidFill>
                <a:latin typeface="Times New Roman"/>
                <a:ea typeface="Times New Roman"/>
                <a:cs typeface="Times New Roman"/>
              </a:defRPr>
            </a:lvl4pPr>
            <a:lvl5pPr algn="l">
              <a:defRPr sz="2100">
                <a:solidFill>
                  <a:srgbClr val="202520"/>
                </a:solidFill>
                <a:latin typeface="Times New Roman"/>
                <a:ea typeface="Times New Roman"/>
                <a:cs typeface="Times New Roman"/>
              </a:defRPr>
            </a:lvl5pPr>
            <a:lvl6pPr algn="l">
              <a:defRPr sz="2100">
                <a:solidFill>
                  <a:srgbClr val="202520"/>
                </a:solidFill>
                <a:latin typeface="Times New Roman"/>
                <a:ea typeface="Times New Roman"/>
                <a:cs typeface="Times New Roman"/>
              </a:defRPr>
            </a:lvl6pPr>
            <a:lvl7pPr algn="l">
              <a:defRPr sz="2100">
                <a:solidFill>
                  <a:srgbClr val="202520"/>
                </a:solidFill>
                <a:latin typeface="Times New Roman"/>
                <a:ea typeface="Times New Roman"/>
                <a:cs typeface="Times New Roman"/>
              </a:defRPr>
            </a:lvl7pPr>
            <a:lvl8pPr algn="l">
              <a:defRPr sz="2100">
                <a:solidFill>
                  <a:srgbClr val="202520"/>
                </a:solidFill>
                <a:latin typeface="Times New Roman"/>
                <a:ea typeface="Times New Roman"/>
                <a:cs typeface="Times New Roman"/>
              </a:defRPr>
            </a:lvl8pPr>
            <a:lvl9pPr algn="l">
              <a:defRPr sz="2100">
                <a:solidFill>
                  <a:srgbClr val="202520"/>
                </a:solidFill>
                <a:latin typeface="Times New Roman"/>
                <a:ea typeface="Times New Roman"/>
                <a:cs typeface="Times New Roman"/>
              </a:defRPr>
            </a:lvl9pPr>
          </a:lstStyle>
          <a:p xmlns:a="http://schemas.openxmlformats.org/drawingml/2006/main">
            <a:pPr algn="l">
              <a:defRPr sz="2100">
                <a:solidFill>
                  <a:srgbClr val="202520"/>
                </a:solidFill>
                <a:latin typeface="Times New Roman"/>
                <a:ea typeface="Times New Roman"/>
                <a:cs typeface="Times New Roman"/>
              </a:defRPr>
            </a:pPr>
            <a:r>
              <a:rPr sz="2100">
                <a:solidFill>
                  <a:srgbClr val="202520"/>
                </a:solidFill>
                <a:latin typeface="Times New Roman"/>
                <a:ea typeface="Times New Roman"/>
                <a:cs typeface="Times New Roman"/>
              </a:rPr>
              <a:t>Sistemas genéticos, poligénicos y ambientales según la especie.</a:t>
            </a:r>
          </a:p>
        </p:txBody>
      </p:sp>
      <p:sp>
        <p:nvSpPr>
          <p:cNvPr id="7" name="text-6">
            <a:extLst xmlns:a="http://schemas.openxmlformats.org/drawingml/2006/main">
              <a:ext uri="{FF2B5EF4-FFF2-40B4-BE49-F238E27FC236}">
                <a16:creationId xmlns:a16="http://schemas.microsoft.com/office/drawing/2014/main" id="{30C22CCB-7485-4373-A71E-7CDD97F15C62}"/>
              </a:ext>
            </a:extLst>
          </p:cNvPr>
          <p:cNvSpPr>
            <a:spLocks xmlns:a="http://schemas.openxmlformats.org/drawingml/2006/main" noGrp="1"/>
          </p:cNvSpPr>
          <p:nvPr/>
        </p:nvSpPr>
        <p:spPr>
          <a:xfrm xmlns:a="http://schemas.openxmlformats.org/drawingml/2006/main">
            <a:off x="609600" y="3333750"/>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41745A"/>
                </a:solidFill>
                <a:latin typeface="Times New Roman"/>
                <a:ea typeface="Times New Roman"/>
                <a:cs typeface="Times New Roman"/>
              </a:defRPr>
            </a:defPPr>
            <a:lvl1pPr algn="l">
              <a:defRPr sz="2250" b="1">
                <a:solidFill>
                  <a:srgbClr val="41745A"/>
                </a:solidFill>
                <a:latin typeface="Times New Roman"/>
                <a:ea typeface="Times New Roman"/>
                <a:cs typeface="Times New Roman"/>
              </a:defRPr>
            </a:lvl1pPr>
            <a:lvl2pPr algn="l">
              <a:defRPr sz="2250" b="1">
                <a:solidFill>
                  <a:srgbClr val="41745A"/>
                </a:solidFill>
                <a:latin typeface="Times New Roman"/>
                <a:ea typeface="Times New Roman"/>
                <a:cs typeface="Times New Roman"/>
              </a:defRPr>
            </a:lvl2pPr>
            <a:lvl3pPr algn="l">
              <a:defRPr sz="2250" b="1">
                <a:solidFill>
                  <a:srgbClr val="41745A"/>
                </a:solidFill>
                <a:latin typeface="Times New Roman"/>
                <a:ea typeface="Times New Roman"/>
                <a:cs typeface="Times New Roman"/>
              </a:defRPr>
            </a:lvl3pPr>
            <a:lvl4pPr algn="l">
              <a:defRPr sz="2250" b="1">
                <a:solidFill>
                  <a:srgbClr val="41745A"/>
                </a:solidFill>
                <a:latin typeface="Times New Roman"/>
                <a:ea typeface="Times New Roman"/>
                <a:cs typeface="Times New Roman"/>
              </a:defRPr>
            </a:lvl4pPr>
            <a:lvl5pPr algn="l">
              <a:defRPr sz="2250" b="1">
                <a:solidFill>
                  <a:srgbClr val="41745A"/>
                </a:solidFill>
                <a:latin typeface="Times New Roman"/>
                <a:ea typeface="Times New Roman"/>
                <a:cs typeface="Times New Roman"/>
              </a:defRPr>
            </a:lvl5pPr>
            <a:lvl6pPr algn="l">
              <a:defRPr sz="2250" b="1">
                <a:solidFill>
                  <a:srgbClr val="41745A"/>
                </a:solidFill>
                <a:latin typeface="Times New Roman"/>
                <a:ea typeface="Times New Roman"/>
                <a:cs typeface="Times New Roman"/>
              </a:defRPr>
            </a:lvl6pPr>
            <a:lvl7pPr algn="l">
              <a:defRPr sz="2250" b="1">
                <a:solidFill>
                  <a:srgbClr val="41745A"/>
                </a:solidFill>
                <a:latin typeface="Times New Roman"/>
                <a:ea typeface="Times New Roman"/>
                <a:cs typeface="Times New Roman"/>
              </a:defRPr>
            </a:lvl7pPr>
            <a:lvl8pPr algn="l">
              <a:defRPr sz="2250" b="1">
                <a:solidFill>
                  <a:srgbClr val="41745A"/>
                </a:solidFill>
                <a:latin typeface="Times New Roman"/>
                <a:ea typeface="Times New Roman"/>
                <a:cs typeface="Times New Roman"/>
              </a:defRPr>
            </a:lvl8pPr>
            <a:lvl9pPr algn="l">
              <a:defRPr sz="2250" b="1">
                <a:solidFill>
                  <a:srgbClr val="41745A"/>
                </a:solidFill>
                <a:latin typeface="Times New Roman"/>
                <a:ea typeface="Times New Roman"/>
                <a:cs typeface="Times New Roman"/>
              </a:defRPr>
            </a:lvl9pPr>
          </a:lstStyle>
          <a:p xmlns:a="http://schemas.openxmlformats.org/drawingml/2006/main">
            <a:pPr algn="l">
              <a:defRPr sz="2250" b="1">
                <a:solidFill>
                  <a:srgbClr val="41745A"/>
                </a:solidFill>
                <a:latin typeface="Times New Roman"/>
                <a:ea typeface="Times New Roman"/>
                <a:cs typeface="Times New Roman"/>
              </a:defRPr>
            </a:pPr>
            <a:r>
              <a:rPr sz="2250" b="1">
                <a:solidFill>
                  <a:srgbClr val="41745A"/>
                </a:solidFill>
                <a:latin typeface="Times New Roman"/>
                <a:ea typeface="Times New Roman"/>
                <a:cs typeface="Times New Roman"/>
              </a:rPr>
              <a:t>Cambio de sexo en algunas especies</a:t>
            </a:r>
          </a:p>
        </p:txBody>
      </p:sp>
      <p:sp>
        <p:nvSpPr>
          <p:cNvPr id="8" name="text-7">
            <a:extLst xmlns:a="http://schemas.openxmlformats.org/drawingml/2006/main">
              <a:ext uri="{FF2B5EF4-FFF2-40B4-BE49-F238E27FC236}">
                <a16:creationId xmlns:a16="http://schemas.microsoft.com/office/drawing/2014/main" id="{18DB44CF-8E7A-4447-AB46-BF8044BFF23C}"/>
              </a:ext>
            </a:extLst>
          </p:cNvPr>
          <p:cNvSpPr>
            <a:spLocks xmlns:a="http://schemas.openxmlformats.org/drawingml/2006/main" noGrp="1"/>
          </p:cNvSpPr>
          <p:nvPr/>
        </p:nvSpPr>
        <p:spPr>
          <a:xfrm xmlns:a="http://schemas.openxmlformats.org/drawingml/2006/main">
            <a:off x="609600" y="3790950"/>
            <a:ext cx="10972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202520"/>
                </a:solidFill>
                <a:latin typeface="Times New Roman"/>
                <a:ea typeface="Times New Roman"/>
                <a:cs typeface="Times New Roman"/>
              </a:defRPr>
            </a:defPPr>
            <a:lvl1pPr algn="l">
              <a:defRPr sz="2100">
                <a:solidFill>
                  <a:srgbClr val="202520"/>
                </a:solidFill>
                <a:latin typeface="Times New Roman"/>
                <a:ea typeface="Times New Roman"/>
                <a:cs typeface="Times New Roman"/>
              </a:defRPr>
            </a:lvl1pPr>
            <a:lvl2pPr algn="l">
              <a:defRPr sz="2100">
                <a:solidFill>
                  <a:srgbClr val="202520"/>
                </a:solidFill>
                <a:latin typeface="Times New Roman"/>
                <a:ea typeface="Times New Roman"/>
                <a:cs typeface="Times New Roman"/>
              </a:defRPr>
            </a:lvl2pPr>
            <a:lvl3pPr algn="l">
              <a:defRPr sz="2100">
                <a:solidFill>
                  <a:srgbClr val="202520"/>
                </a:solidFill>
                <a:latin typeface="Times New Roman"/>
                <a:ea typeface="Times New Roman"/>
                <a:cs typeface="Times New Roman"/>
              </a:defRPr>
            </a:lvl3pPr>
            <a:lvl4pPr algn="l">
              <a:defRPr sz="2100">
                <a:solidFill>
                  <a:srgbClr val="202520"/>
                </a:solidFill>
                <a:latin typeface="Times New Roman"/>
                <a:ea typeface="Times New Roman"/>
                <a:cs typeface="Times New Roman"/>
              </a:defRPr>
            </a:lvl4pPr>
            <a:lvl5pPr algn="l">
              <a:defRPr sz="2100">
                <a:solidFill>
                  <a:srgbClr val="202520"/>
                </a:solidFill>
                <a:latin typeface="Times New Roman"/>
                <a:ea typeface="Times New Roman"/>
                <a:cs typeface="Times New Roman"/>
              </a:defRPr>
            </a:lvl5pPr>
            <a:lvl6pPr algn="l">
              <a:defRPr sz="2100">
                <a:solidFill>
                  <a:srgbClr val="202520"/>
                </a:solidFill>
                <a:latin typeface="Times New Roman"/>
                <a:ea typeface="Times New Roman"/>
                <a:cs typeface="Times New Roman"/>
              </a:defRPr>
            </a:lvl6pPr>
            <a:lvl7pPr algn="l">
              <a:defRPr sz="2100">
                <a:solidFill>
                  <a:srgbClr val="202520"/>
                </a:solidFill>
                <a:latin typeface="Times New Roman"/>
                <a:ea typeface="Times New Roman"/>
                <a:cs typeface="Times New Roman"/>
              </a:defRPr>
            </a:lvl7pPr>
            <a:lvl8pPr algn="l">
              <a:defRPr sz="2100">
                <a:solidFill>
                  <a:srgbClr val="202520"/>
                </a:solidFill>
                <a:latin typeface="Times New Roman"/>
                <a:ea typeface="Times New Roman"/>
                <a:cs typeface="Times New Roman"/>
              </a:defRPr>
            </a:lvl8pPr>
            <a:lvl9pPr algn="l">
              <a:defRPr sz="2100">
                <a:solidFill>
                  <a:srgbClr val="202520"/>
                </a:solidFill>
                <a:latin typeface="Times New Roman"/>
                <a:ea typeface="Times New Roman"/>
                <a:cs typeface="Times New Roman"/>
              </a:defRPr>
            </a:lvl9pPr>
          </a:lstStyle>
          <a:p xmlns:a="http://schemas.openxmlformats.org/drawingml/2006/main">
            <a:pPr algn="l">
              <a:defRPr sz="2100">
                <a:solidFill>
                  <a:srgbClr val="202520"/>
                </a:solidFill>
                <a:latin typeface="Times New Roman"/>
                <a:ea typeface="Times New Roman"/>
                <a:cs typeface="Times New Roman"/>
              </a:defRPr>
            </a:pPr>
            <a:r>
              <a:rPr sz="2100">
                <a:solidFill>
                  <a:srgbClr val="202520"/>
                </a:solidFill>
                <a:latin typeface="Times New Roman"/>
                <a:ea typeface="Times New Roman"/>
                <a:cs typeface="Times New Roman"/>
              </a:rPr>
              <a:t>Protoginia: hembra primero. Protandria: macho primero.</a:t>
            </a:r>
          </a:p>
        </p:txBody>
      </p:sp>
      <p:sp>
        <p:nvSpPr>
          <p:cNvPr id="9" name="text-8">
            <a:extLst xmlns:a="http://schemas.openxmlformats.org/drawingml/2006/main">
              <a:ext uri="{FF2B5EF4-FFF2-40B4-BE49-F238E27FC236}">
                <a16:creationId xmlns:a16="http://schemas.microsoft.com/office/drawing/2014/main" id="{7139C185-801E-48E9-BDCA-6248AB9C3324}"/>
              </a:ext>
            </a:extLst>
          </p:cNvPr>
          <p:cNvSpPr>
            <a:spLocks xmlns:a="http://schemas.openxmlformats.org/drawingml/2006/main" noGrp="1"/>
          </p:cNvSpPr>
          <p:nvPr/>
        </p:nvSpPr>
        <p:spPr>
          <a:xfrm xmlns:a="http://schemas.openxmlformats.org/drawingml/2006/main">
            <a:off x="609600" y="4791075"/>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41745A"/>
                </a:solidFill>
                <a:latin typeface="Times New Roman"/>
                <a:ea typeface="Times New Roman"/>
                <a:cs typeface="Times New Roman"/>
              </a:defRPr>
            </a:defPPr>
            <a:lvl1pPr algn="l">
              <a:defRPr sz="2250" b="1">
                <a:solidFill>
                  <a:srgbClr val="41745A"/>
                </a:solidFill>
                <a:latin typeface="Times New Roman"/>
                <a:ea typeface="Times New Roman"/>
                <a:cs typeface="Times New Roman"/>
              </a:defRPr>
            </a:lvl1pPr>
            <a:lvl2pPr algn="l">
              <a:defRPr sz="2250" b="1">
                <a:solidFill>
                  <a:srgbClr val="41745A"/>
                </a:solidFill>
                <a:latin typeface="Times New Roman"/>
                <a:ea typeface="Times New Roman"/>
                <a:cs typeface="Times New Roman"/>
              </a:defRPr>
            </a:lvl2pPr>
            <a:lvl3pPr algn="l">
              <a:defRPr sz="2250" b="1">
                <a:solidFill>
                  <a:srgbClr val="41745A"/>
                </a:solidFill>
                <a:latin typeface="Times New Roman"/>
                <a:ea typeface="Times New Roman"/>
                <a:cs typeface="Times New Roman"/>
              </a:defRPr>
            </a:lvl3pPr>
            <a:lvl4pPr algn="l">
              <a:defRPr sz="2250" b="1">
                <a:solidFill>
                  <a:srgbClr val="41745A"/>
                </a:solidFill>
                <a:latin typeface="Times New Roman"/>
                <a:ea typeface="Times New Roman"/>
                <a:cs typeface="Times New Roman"/>
              </a:defRPr>
            </a:lvl4pPr>
            <a:lvl5pPr algn="l">
              <a:defRPr sz="2250" b="1">
                <a:solidFill>
                  <a:srgbClr val="41745A"/>
                </a:solidFill>
                <a:latin typeface="Times New Roman"/>
                <a:ea typeface="Times New Roman"/>
                <a:cs typeface="Times New Roman"/>
              </a:defRPr>
            </a:lvl5pPr>
            <a:lvl6pPr algn="l">
              <a:defRPr sz="2250" b="1">
                <a:solidFill>
                  <a:srgbClr val="41745A"/>
                </a:solidFill>
                <a:latin typeface="Times New Roman"/>
                <a:ea typeface="Times New Roman"/>
                <a:cs typeface="Times New Roman"/>
              </a:defRPr>
            </a:lvl6pPr>
            <a:lvl7pPr algn="l">
              <a:defRPr sz="2250" b="1">
                <a:solidFill>
                  <a:srgbClr val="41745A"/>
                </a:solidFill>
                <a:latin typeface="Times New Roman"/>
                <a:ea typeface="Times New Roman"/>
                <a:cs typeface="Times New Roman"/>
              </a:defRPr>
            </a:lvl7pPr>
            <a:lvl8pPr algn="l">
              <a:defRPr sz="2250" b="1">
                <a:solidFill>
                  <a:srgbClr val="41745A"/>
                </a:solidFill>
                <a:latin typeface="Times New Roman"/>
                <a:ea typeface="Times New Roman"/>
                <a:cs typeface="Times New Roman"/>
              </a:defRPr>
            </a:lvl8pPr>
            <a:lvl9pPr algn="l">
              <a:defRPr sz="2250" b="1">
                <a:solidFill>
                  <a:srgbClr val="41745A"/>
                </a:solidFill>
                <a:latin typeface="Times New Roman"/>
                <a:ea typeface="Times New Roman"/>
                <a:cs typeface="Times New Roman"/>
              </a:defRPr>
            </a:lvl9pPr>
          </a:lstStyle>
          <a:p xmlns:a="http://schemas.openxmlformats.org/drawingml/2006/main">
            <a:pPr algn="l">
              <a:defRPr sz="2250" b="1">
                <a:solidFill>
                  <a:srgbClr val="41745A"/>
                </a:solidFill>
                <a:latin typeface="Times New Roman"/>
                <a:ea typeface="Times New Roman"/>
                <a:cs typeface="Times New Roman"/>
              </a:defRPr>
            </a:pPr>
            <a:r>
              <a:rPr sz="2250" b="1">
                <a:solidFill>
                  <a:srgbClr val="41745A"/>
                </a:solidFill>
                <a:latin typeface="Times New Roman"/>
                <a:ea typeface="Times New Roman"/>
                <a:cs typeface="Times New Roman"/>
              </a:rPr>
              <a:t>Aplicación</a:t>
            </a:r>
          </a:p>
        </p:txBody>
      </p:sp>
      <p:sp>
        <p:nvSpPr>
          <p:cNvPr id="10" name="text-9">
            <a:extLst xmlns:a="http://schemas.openxmlformats.org/drawingml/2006/main">
              <a:ext uri="{FF2B5EF4-FFF2-40B4-BE49-F238E27FC236}">
                <a16:creationId xmlns:a16="http://schemas.microsoft.com/office/drawing/2014/main" id="{ADB37775-FDD6-46C1-855C-65439CFA6E74}"/>
              </a:ext>
            </a:extLst>
          </p:cNvPr>
          <p:cNvSpPr>
            <a:spLocks xmlns:a="http://schemas.openxmlformats.org/drawingml/2006/main" noGrp="1"/>
          </p:cNvSpPr>
          <p:nvPr/>
        </p:nvSpPr>
        <p:spPr>
          <a:xfrm xmlns:a="http://schemas.openxmlformats.org/drawingml/2006/main">
            <a:off x="609600" y="5248275"/>
            <a:ext cx="10972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202520"/>
                </a:solidFill>
                <a:latin typeface="Times New Roman"/>
                <a:ea typeface="Times New Roman"/>
                <a:cs typeface="Times New Roman"/>
              </a:defRPr>
            </a:defPPr>
            <a:lvl1pPr algn="l">
              <a:defRPr sz="2100">
                <a:solidFill>
                  <a:srgbClr val="202520"/>
                </a:solidFill>
                <a:latin typeface="Times New Roman"/>
                <a:ea typeface="Times New Roman"/>
                <a:cs typeface="Times New Roman"/>
              </a:defRPr>
            </a:lvl1pPr>
            <a:lvl2pPr algn="l">
              <a:defRPr sz="2100">
                <a:solidFill>
                  <a:srgbClr val="202520"/>
                </a:solidFill>
                <a:latin typeface="Times New Roman"/>
                <a:ea typeface="Times New Roman"/>
                <a:cs typeface="Times New Roman"/>
              </a:defRPr>
            </a:lvl2pPr>
            <a:lvl3pPr algn="l">
              <a:defRPr sz="2100">
                <a:solidFill>
                  <a:srgbClr val="202520"/>
                </a:solidFill>
                <a:latin typeface="Times New Roman"/>
                <a:ea typeface="Times New Roman"/>
                <a:cs typeface="Times New Roman"/>
              </a:defRPr>
            </a:lvl3pPr>
            <a:lvl4pPr algn="l">
              <a:defRPr sz="2100">
                <a:solidFill>
                  <a:srgbClr val="202520"/>
                </a:solidFill>
                <a:latin typeface="Times New Roman"/>
                <a:ea typeface="Times New Roman"/>
                <a:cs typeface="Times New Roman"/>
              </a:defRPr>
            </a:lvl4pPr>
            <a:lvl5pPr algn="l">
              <a:defRPr sz="2100">
                <a:solidFill>
                  <a:srgbClr val="202520"/>
                </a:solidFill>
                <a:latin typeface="Times New Roman"/>
                <a:ea typeface="Times New Roman"/>
                <a:cs typeface="Times New Roman"/>
              </a:defRPr>
            </a:lvl5pPr>
            <a:lvl6pPr algn="l">
              <a:defRPr sz="2100">
                <a:solidFill>
                  <a:srgbClr val="202520"/>
                </a:solidFill>
                <a:latin typeface="Times New Roman"/>
                <a:ea typeface="Times New Roman"/>
                <a:cs typeface="Times New Roman"/>
              </a:defRPr>
            </a:lvl6pPr>
            <a:lvl7pPr algn="l">
              <a:defRPr sz="2100">
                <a:solidFill>
                  <a:srgbClr val="202520"/>
                </a:solidFill>
                <a:latin typeface="Times New Roman"/>
                <a:ea typeface="Times New Roman"/>
                <a:cs typeface="Times New Roman"/>
              </a:defRPr>
            </a:lvl7pPr>
            <a:lvl8pPr algn="l">
              <a:defRPr sz="2100">
                <a:solidFill>
                  <a:srgbClr val="202520"/>
                </a:solidFill>
                <a:latin typeface="Times New Roman"/>
                <a:ea typeface="Times New Roman"/>
                <a:cs typeface="Times New Roman"/>
              </a:defRPr>
            </a:lvl8pPr>
            <a:lvl9pPr algn="l">
              <a:defRPr sz="2100">
                <a:solidFill>
                  <a:srgbClr val="202520"/>
                </a:solidFill>
                <a:latin typeface="Times New Roman"/>
                <a:ea typeface="Times New Roman"/>
                <a:cs typeface="Times New Roman"/>
              </a:defRPr>
            </a:lvl9pPr>
          </a:lstStyle>
          <a:p xmlns:a="http://schemas.openxmlformats.org/drawingml/2006/main">
            <a:pPr algn="l">
              <a:defRPr sz="2100">
                <a:solidFill>
                  <a:srgbClr val="202520"/>
                </a:solidFill>
                <a:latin typeface="Times New Roman"/>
                <a:ea typeface="Times New Roman"/>
                <a:cs typeface="Times New Roman"/>
              </a:defRPr>
            </a:pPr>
            <a:r>
              <a:rPr sz="2100">
                <a:solidFill>
                  <a:srgbClr val="202520"/>
                </a:solidFill>
                <a:latin typeface="Times New Roman"/>
                <a:ea typeface="Times New Roman"/>
                <a:cs typeface="Times New Roman"/>
              </a:rPr>
              <a:t>El manejo reproductivo debe basarse en la biología de cada especie.</a:t>
            </a:r>
          </a:p>
        </p:txBody>
      </p:sp>
    </p:spTree>
    <p:extLst>
      <p:ext uri="{BB962C8B-B14F-4D97-AF65-F5344CB8AC3E}">
        <p14:creationId xmlns:p14="http://schemas.microsoft.com/office/powerpoint/2010/main" val="2134668627"/>
      </p:ext>
    </p:extLst>
  </p:cSld>
</p:sld>
</file>

<file path=ppt/slides/slide15.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sp>
        <p:nvSpPr>
          <p:cNvPr id="11" name="title">
            <a:extLst xmlns:a="http://schemas.openxmlformats.org/drawingml/2006/main">
              <a:ext uri="{FF2B5EF4-FFF2-40B4-BE49-F238E27FC236}">
                <a16:creationId xmlns:a16="http://schemas.microsoft.com/office/drawing/2014/main" id="{12DE3E29-2605-41FC-B16A-6F788FF44605}"/>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Freemartinismo en bovinos</a:t>
            </a:r>
          </a:p>
        </p:txBody>
      </p:sp>
      <p:sp>
        <p:nvSpPr>
          <p:cNvPr id="2" name="">
            <a:extLst xmlns:a="http://schemas.openxmlformats.org/drawingml/2006/main">
              <a:ext uri="{FF2B5EF4-FFF2-40B4-BE49-F238E27FC236}">
                <a16:creationId xmlns:a16="http://schemas.microsoft.com/office/drawing/2014/main" id="{B1B68C4C-A3C3-4071-B2F1-FD9AB11ED2FB}"/>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D2DA8C11-653F-4E40-B2DD-919F556EB8AD}"/>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15</a:t>
            </a:r>
          </a:p>
        </p:txBody>
      </p:sp>
      <p:sp>
        <p:nvSpPr>
          <p:cNvPr id="4" name="references">
            <a:extLst xmlns:a="http://schemas.openxmlformats.org/drawingml/2006/main">
              <a:ext uri="{FF2B5EF4-FFF2-40B4-BE49-F238E27FC236}">
                <a16:creationId xmlns:a16="http://schemas.microsoft.com/office/drawing/2014/main" id="{FC003F3D-EC15-4759-B864-C4C673962F5A}"/>
              </a:ext>
            </a:extLst>
          </p:cNvPr>
          <p:cNvSpPr>
            <a:spLocks xmlns:a="http://schemas.openxmlformats.org/drawingml/2006/main" noGrp="1"/>
          </p:cNvSpPr>
          <p:nvPr/>
        </p:nvSpPr>
        <p:spPr>
          <a:xfrm xmlns:a="http://schemas.openxmlformats.org/drawingml/2006/main">
            <a:off x="609600" y="6419850"/>
            <a:ext cx="10382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a:solidFill>
                  <a:srgbClr val="41745A"/>
                </a:solidFill>
                <a:latin typeface="Times New Roman"/>
                <a:ea typeface="Times New Roman"/>
                <a:cs typeface="Times New Roman"/>
              </a:defRPr>
            </a:defPPr>
            <a:lvl1pPr algn="l">
              <a:defRPr sz="1350">
                <a:solidFill>
                  <a:srgbClr val="41745A"/>
                </a:solidFill>
                <a:latin typeface="Times New Roman"/>
                <a:ea typeface="Times New Roman"/>
                <a:cs typeface="Times New Roman"/>
              </a:defRPr>
            </a:lvl1pPr>
            <a:lvl2pPr algn="l">
              <a:defRPr sz="1350">
                <a:solidFill>
                  <a:srgbClr val="41745A"/>
                </a:solidFill>
                <a:latin typeface="Times New Roman"/>
                <a:ea typeface="Times New Roman"/>
                <a:cs typeface="Times New Roman"/>
              </a:defRPr>
            </a:lvl2pPr>
            <a:lvl3pPr algn="l">
              <a:defRPr sz="1350">
                <a:solidFill>
                  <a:srgbClr val="41745A"/>
                </a:solidFill>
                <a:latin typeface="Times New Roman"/>
                <a:ea typeface="Times New Roman"/>
                <a:cs typeface="Times New Roman"/>
              </a:defRPr>
            </a:lvl3pPr>
            <a:lvl4pPr algn="l">
              <a:defRPr sz="1350">
                <a:solidFill>
                  <a:srgbClr val="41745A"/>
                </a:solidFill>
                <a:latin typeface="Times New Roman"/>
                <a:ea typeface="Times New Roman"/>
                <a:cs typeface="Times New Roman"/>
              </a:defRPr>
            </a:lvl4pPr>
            <a:lvl5pPr algn="l">
              <a:defRPr sz="1350">
                <a:solidFill>
                  <a:srgbClr val="41745A"/>
                </a:solidFill>
                <a:latin typeface="Times New Roman"/>
                <a:ea typeface="Times New Roman"/>
                <a:cs typeface="Times New Roman"/>
              </a:defRPr>
            </a:lvl5pPr>
            <a:lvl6pPr algn="l">
              <a:defRPr sz="1350">
                <a:solidFill>
                  <a:srgbClr val="41745A"/>
                </a:solidFill>
                <a:latin typeface="Times New Roman"/>
                <a:ea typeface="Times New Roman"/>
                <a:cs typeface="Times New Roman"/>
              </a:defRPr>
            </a:lvl6pPr>
            <a:lvl7pPr algn="l">
              <a:defRPr sz="1350">
                <a:solidFill>
                  <a:srgbClr val="41745A"/>
                </a:solidFill>
                <a:latin typeface="Times New Roman"/>
                <a:ea typeface="Times New Roman"/>
                <a:cs typeface="Times New Roman"/>
              </a:defRPr>
            </a:lvl7pPr>
            <a:lvl8pPr algn="l">
              <a:defRPr sz="1350">
                <a:solidFill>
                  <a:srgbClr val="41745A"/>
                </a:solidFill>
                <a:latin typeface="Times New Roman"/>
                <a:ea typeface="Times New Roman"/>
                <a:cs typeface="Times New Roman"/>
              </a:defRPr>
            </a:lvl8pPr>
            <a:lvl9pPr algn="l">
              <a:defRPr sz="1350">
                <a:solidFill>
                  <a:srgbClr val="41745A"/>
                </a:solidFill>
                <a:latin typeface="Times New Roman"/>
                <a:ea typeface="Times New Roman"/>
                <a:cs typeface="Times New Roman"/>
              </a:defRPr>
            </a:lvl9pPr>
          </a:lstStyle>
          <a:p xmlns:a="http://schemas.openxmlformats.org/drawingml/2006/main">
            <a:pPr algn="l">
              <a:defRPr sz="1350">
                <a:solidFill>
                  <a:srgbClr val="41745A"/>
                </a:solidFill>
                <a:latin typeface="Times New Roman"/>
                <a:ea typeface="Times New Roman"/>
                <a:cs typeface="Times New Roman"/>
              </a:defRPr>
            </a:pPr>
            <a:r>
              <a:rPr sz="1350">
                <a:solidFill>
                  <a:srgbClr val="41745A"/>
                </a:solidFill>
                <a:latin typeface="Times New Roman"/>
                <a:ea typeface="Times New Roman"/>
                <a:cs typeface="Times New Roman"/>
              </a:rPr>
              <a:t>Fuentes: [10]</a:t>
            </a:r>
          </a:p>
        </p:txBody>
      </p:sp>
      <p:pic>
        <p:nvPicPr>
          <p:cNvPr id="5" name="">
            <a:extLst xmlns:a="http://schemas.openxmlformats.org/drawingml/2006/main">
              <a:ext uri="{FF2B5EF4-FFF2-40B4-BE49-F238E27FC236}">
                <a16:creationId xmlns:a16="http://schemas.microsoft.com/office/drawing/2014/main" id="{1109D2E6-A9FA-4116-88A5-F8B8DCC35C69}"/>
              </a:ext>
            </a:extLst>
          </p:cNvPr>
          <p:cNvPicPr>
            <a:picLocks xmlns:a="http://schemas.openxmlformats.org/drawingml/2006/main" noChangeAspect="1"/>
          </p:cNvPicPr>
          <p:nvPr/>
        </p:nvPicPr>
        <p:blipFill>
          <a:blip xmlns:r="http://schemas.openxmlformats.org/officeDocument/2006/relationships" xmlns:a="http://schemas.openxmlformats.org/drawingml/2006/main" r:embed="R65ba7f52f15c4777"/>
          <a:stretch xmlns:a="http://schemas.openxmlformats.org/drawingml/2006/main"/>
        </p:blipFill>
        <p:spPr>
          <a:xfrm xmlns:a="http://schemas.openxmlformats.org/drawingml/2006/main">
            <a:off x="609600" y="1838664"/>
            <a:ext cx="5972175" cy="3799796"/>
          </a:xfrm>
          <a:prstGeom xmlns:a="http://schemas.openxmlformats.org/drawingml/2006/main" prst="rect">
            <a:avLst/>
          </a:prstGeom>
        </p:spPr>
      </p:pic>
      <p:sp>
        <p:nvSpPr>
          <p:cNvPr id="6" name="text-4">
            <a:extLst xmlns:a="http://schemas.openxmlformats.org/drawingml/2006/main">
              <a:ext uri="{FF2B5EF4-FFF2-40B4-BE49-F238E27FC236}">
                <a16:creationId xmlns:a16="http://schemas.microsoft.com/office/drawing/2014/main" id="{29997776-C47B-4AC6-BE74-585551495B1E}"/>
              </a:ext>
            </a:extLst>
          </p:cNvPr>
          <p:cNvSpPr>
            <a:spLocks xmlns:a="http://schemas.openxmlformats.org/drawingml/2006/main" noGrp="1"/>
          </p:cNvSpPr>
          <p:nvPr/>
        </p:nvSpPr>
        <p:spPr>
          <a:xfrm xmlns:a="http://schemas.openxmlformats.org/drawingml/2006/main">
            <a:off x="7086600" y="1885950"/>
            <a:ext cx="4381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41745A"/>
                </a:solidFill>
                <a:latin typeface="Times New Roman"/>
                <a:ea typeface="Times New Roman"/>
                <a:cs typeface="Times New Roman"/>
              </a:defRPr>
            </a:defPPr>
            <a:lvl1pPr algn="l">
              <a:defRPr sz="2325" b="1">
                <a:solidFill>
                  <a:srgbClr val="41745A"/>
                </a:solidFill>
                <a:latin typeface="Times New Roman"/>
                <a:ea typeface="Times New Roman"/>
                <a:cs typeface="Times New Roman"/>
              </a:defRPr>
            </a:lvl1pPr>
            <a:lvl2pPr algn="l">
              <a:defRPr sz="2325" b="1">
                <a:solidFill>
                  <a:srgbClr val="41745A"/>
                </a:solidFill>
                <a:latin typeface="Times New Roman"/>
                <a:ea typeface="Times New Roman"/>
                <a:cs typeface="Times New Roman"/>
              </a:defRPr>
            </a:lvl2pPr>
            <a:lvl3pPr algn="l">
              <a:defRPr sz="2325" b="1">
                <a:solidFill>
                  <a:srgbClr val="41745A"/>
                </a:solidFill>
                <a:latin typeface="Times New Roman"/>
                <a:ea typeface="Times New Roman"/>
                <a:cs typeface="Times New Roman"/>
              </a:defRPr>
            </a:lvl3pPr>
            <a:lvl4pPr algn="l">
              <a:defRPr sz="2325" b="1">
                <a:solidFill>
                  <a:srgbClr val="41745A"/>
                </a:solidFill>
                <a:latin typeface="Times New Roman"/>
                <a:ea typeface="Times New Roman"/>
                <a:cs typeface="Times New Roman"/>
              </a:defRPr>
            </a:lvl4pPr>
            <a:lvl5pPr algn="l">
              <a:defRPr sz="2325" b="1">
                <a:solidFill>
                  <a:srgbClr val="41745A"/>
                </a:solidFill>
                <a:latin typeface="Times New Roman"/>
                <a:ea typeface="Times New Roman"/>
                <a:cs typeface="Times New Roman"/>
              </a:defRPr>
            </a:lvl5pPr>
            <a:lvl6pPr algn="l">
              <a:defRPr sz="2325" b="1">
                <a:solidFill>
                  <a:srgbClr val="41745A"/>
                </a:solidFill>
                <a:latin typeface="Times New Roman"/>
                <a:ea typeface="Times New Roman"/>
                <a:cs typeface="Times New Roman"/>
              </a:defRPr>
            </a:lvl6pPr>
            <a:lvl7pPr algn="l">
              <a:defRPr sz="2325" b="1">
                <a:solidFill>
                  <a:srgbClr val="41745A"/>
                </a:solidFill>
                <a:latin typeface="Times New Roman"/>
                <a:ea typeface="Times New Roman"/>
                <a:cs typeface="Times New Roman"/>
              </a:defRPr>
            </a:lvl7pPr>
            <a:lvl8pPr algn="l">
              <a:defRPr sz="2325" b="1">
                <a:solidFill>
                  <a:srgbClr val="41745A"/>
                </a:solidFill>
                <a:latin typeface="Times New Roman"/>
                <a:ea typeface="Times New Roman"/>
                <a:cs typeface="Times New Roman"/>
              </a:defRPr>
            </a:lvl8pPr>
            <a:lvl9pPr algn="l">
              <a:defRPr sz="2325" b="1">
                <a:solidFill>
                  <a:srgbClr val="41745A"/>
                </a:solidFill>
                <a:latin typeface="Times New Roman"/>
                <a:ea typeface="Times New Roman"/>
                <a:cs typeface="Times New Roman"/>
              </a:defRPr>
            </a:lvl9pPr>
          </a:lstStyle>
          <a:p xmlns:a="http://schemas.openxmlformats.org/drawingml/2006/main">
            <a:pPr algn="l">
              <a:defRPr sz="2325" b="1">
                <a:solidFill>
                  <a:srgbClr val="41745A"/>
                </a:solidFill>
                <a:latin typeface="Times New Roman"/>
                <a:ea typeface="Times New Roman"/>
                <a:cs typeface="Times New Roman"/>
              </a:defRPr>
            </a:pPr>
            <a:r>
              <a:rPr sz="2325" b="1">
                <a:solidFill>
                  <a:srgbClr val="41745A"/>
                </a:solidFill>
                <a:latin typeface="Times New Roman"/>
                <a:ea typeface="Times New Roman"/>
                <a:cs typeface="Times New Roman"/>
              </a:rPr>
              <a:t>Anastomosis placentaria</a:t>
            </a:r>
          </a:p>
        </p:txBody>
      </p:sp>
      <p:sp>
        <p:nvSpPr>
          <p:cNvPr id="7" name="text-5">
            <a:extLst xmlns:a="http://schemas.openxmlformats.org/drawingml/2006/main">
              <a:ext uri="{FF2B5EF4-FFF2-40B4-BE49-F238E27FC236}">
                <a16:creationId xmlns:a16="http://schemas.microsoft.com/office/drawing/2014/main" id="{77EB45EE-1120-4487-8985-4DB3F58FC230}"/>
              </a:ext>
            </a:extLst>
          </p:cNvPr>
          <p:cNvSpPr>
            <a:spLocks xmlns:a="http://schemas.openxmlformats.org/drawingml/2006/main" noGrp="1"/>
          </p:cNvSpPr>
          <p:nvPr/>
        </p:nvSpPr>
        <p:spPr>
          <a:xfrm xmlns:a="http://schemas.openxmlformats.org/drawingml/2006/main">
            <a:off x="7086600" y="2476500"/>
            <a:ext cx="43815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202520"/>
                </a:solidFill>
                <a:latin typeface="Times New Roman"/>
                <a:ea typeface="Times New Roman"/>
                <a:cs typeface="Times New Roman"/>
              </a:defRPr>
            </a:defPPr>
            <a:lvl1pPr algn="l">
              <a:defRPr sz="2100">
                <a:solidFill>
                  <a:srgbClr val="202520"/>
                </a:solidFill>
                <a:latin typeface="Times New Roman"/>
                <a:ea typeface="Times New Roman"/>
                <a:cs typeface="Times New Roman"/>
              </a:defRPr>
            </a:lvl1pPr>
            <a:lvl2pPr algn="l">
              <a:defRPr sz="2100">
                <a:solidFill>
                  <a:srgbClr val="202520"/>
                </a:solidFill>
                <a:latin typeface="Times New Roman"/>
                <a:ea typeface="Times New Roman"/>
                <a:cs typeface="Times New Roman"/>
              </a:defRPr>
            </a:lvl2pPr>
            <a:lvl3pPr algn="l">
              <a:defRPr sz="2100">
                <a:solidFill>
                  <a:srgbClr val="202520"/>
                </a:solidFill>
                <a:latin typeface="Times New Roman"/>
                <a:ea typeface="Times New Roman"/>
                <a:cs typeface="Times New Roman"/>
              </a:defRPr>
            </a:lvl3pPr>
            <a:lvl4pPr algn="l">
              <a:defRPr sz="2100">
                <a:solidFill>
                  <a:srgbClr val="202520"/>
                </a:solidFill>
                <a:latin typeface="Times New Roman"/>
                <a:ea typeface="Times New Roman"/>
                <a:cs typeface="Times New Roman"/>
              </a:defRPr>
            </a:lvl4pPr>
            <a:lvl5pPr algn="l">
              <a:defRPr sz="2100">
                <a:solidFill>
                  <a:srgbClr val="202520"/>
                </a:solidFill>
                <a:latin typeface="Times New Roman"/>
                <a:ea typeface="Times New Roman"/>
                <a:cs typeface="Times New Roman"/>
              </a:defRPr>
            </a:lvl5pPr>
            <a:lvl6pPr algn="l">
              <a:defRPr sz="2100">
                <a:solidFill>
                  <a:srgbClr val="202520"/>
                </a:solidFill>
                <a:latin typeface="Times New Roman"/>
                <a:ea typeface="Times New Roman"/>
                <a:cs typeface="Times New Roman"/>
              </a:defRPr>
            </a:lvl6pPr>
            <a:lvl7pPr algn="l">
              <a:defRPr sz="2100">
                <a:solidFill>
                  <a:srgbClr val="202520"/>
                </a:solidFill>
                <a:latin typeface="Times New Roman"/>
                <a:ea typeface="Times New Roman"/>
                <a:cs typeface="Times New Roman"/>
              </a:defRPr>
            </a:lvl7pPr>
            <a:lvl8pPr algn="l">
              <a:defRPr sz="2100">
                <a:solidFill>
                  <a:srgbClr val="202520"/>
                </a:solidFill>
                <a:latin typeface="Times New Roman"/>
                <a:ea typeface="Times New Roman"/>
                <a:cs typeface="Times New Roman"/>
              </a:defRPr>
            </a:lvl8pPr>
            <a:lvl9pPr algn="l">
              <a:defRPr sz="2100">
                <a:solidFill>
                  <a:srgbClr val="202520"/>
                </a:solidFill>
                <a:latin typeface="Times New Roman"/>
                <a:ea typeface="Times New Roman"/>
                <a:cs typeface="Times New Roman"/>
              </a:defRPr>
            </a:lvl9pPr>
          </a:lstStyle>
          <a:p xmlns:a="http://schemas.openxmlformats.org/drawingml/2006/main">
            <a:pPr algn="l">
              <a:defRPr sz="2100">
                <a:solidFill>
                  <a:srgbClr val="202520"/>
                </a:solidFill>
                <a:latin typeface="Times New Roman"/>
                <a:ea typeface="Times New Roman"/>
                <a:cs typeface="Times New Roman"/>
              </a:defRPr>
            </a:pPr>
            <a:r>
              <a:rPr sz="2100">
                <a:solidFill>
                  <a:srgbClr val="202520"/>
                </a:solidFill>
                <a:latin typeface="Times New Roman"/>
                <a:ea typeface="Times New Roman"/>
                <a:cs typeface="Times New Roman"/>
              </a:rPr>
              <a:t>Intercambio de células y señales entre fetos de distinto sexo.</a:t>
            </a:r>
          </a:p>
        </p:txBody>
      </p:sp>
      <p:sp>
        <p:nvSpPr>
          <p:cNvPr id="8" name="text-6">
            <a:extLst xmlns:a="http://schemas.openxmlformats.org/drawingml/2006/main">
              <a:ext uri="{FF2B5EF4-FFF2-40B4-BE49-F238E27FC236}">
                <a16:creationId xmlns:a16="http://schemas.microsoft.com/office/drawing/2014/main" id="{ABA469F6-6BCF-4EA9-942C-B673BB7CEF39}"/>
              </a:ext>
            </a:extLst>
          </p:cNvPr>
          <p:cNvSpPr>
            <a:spLocks xmlns:a="http://schemas.openxmlformats.org/drawingml/2006/main" noGrp="1"/>
          </p:cNvSpPr>
          <p:nvPr/>
        </p:nvSpPr>
        <p:spPr>
          <a:xfrm xmlns:a="http://schemas.openxmlformats.org/drawingml/2006/main">
            <a:off x="7086600" y="3886200"/>
            <a:ext cx="4381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41745A"/>
                </a:solidFill>
                <a:latin typeface="Times New Roman"/>
                <a:ea typeface="Times New Roman"/>
                <a:cs typeface="Times New Roman"/>
              </a:defRPr>
            </a:defPPr>
            <a:lvl1pPr algn="l">
              <a:defRPr sz="2325" b="1">
                <a:solidFill>
                  <a:srgbClr val="41745A"/>
                </a:solidFill>
                <a:latin typeface="Times New Roman"/>
                <a:ea typeface="Times New Roman"/>
                <a:cs typeface="Times New Roman"/>
              </a:defRPr>
            </a:lvl1pPr>
            <a:lvl2pPr algn="l">
              <a:defRPr sz="2325" b="1">
                <a:solidFill>
                  <a:srgbClr val="41745A"/>
                </a:solidFill>
                <a:latin typeface="Times New Roman"/>
                <a:ea typeface="Times New Roman"/>
                <a:cs typeface="Times New Roman"/>
              </a:defRPr>
            </a:lvl2pPr>
            <a:lvl3pPr algn="l">
              <a:defRPr sz="2325" b="1">
                <a:solidFill>
                  <a:srgbClr val="41745A"/>
                </a:solidFill>
                <a:latin typeface="Times New Roman"/>
                <a:ea typeface="Times New Roman"/>
                <a:cs typeface="Times New Roman"/>
              </a:defRPr>
            </a:lvl3pPr>
            <a:lvl4pPr algn="l">
              <a:defRPr sz="2325" b="1">
                <a:solidFill>
                  <a:srgbClr val="41745A"/>
                </a:solidFill>
                <a:latin typeface="Times New Roman"/>
                <a:ea typeface="Times New Roman"/>
                <a:cs typeface="Times New Roman"/>
              </a:defRPr>
            </a:lvl4pPr>
            <a:lvl5pPr algn="l">
              <a:defRPr sz="2325" b="1">
                <a:solidFill>
                  <a:srgbClr val="41745A"/>
                </a:solidFill>
                <a:latin typeface="Times New Roman"/>
                <a:ea typeface="Times New Roman"/>
                <a:cs typeface="Times New Roman"/>
              </a:defRPr>
            </a:lvl5pPr>
            <a:lvl6pPr algn="l">
              <a:defRPr sz="2325" b="1">
                <a:solidFill>
                  <a:srgbClr val="41745A"/>
                </a:solidFill>
                <a:latin typeface="Times New Roman"/>
                <a:ea typeface="Times New Roman"/>
                <a:cs typeface="Times New Roman"/>
              </a:defRPr>
            </a:lvl6pPr>
            <a:lvl7pPr algn="l">
              <a:defRPr sz="2325" b="1">
                <a:solidFill>
                  <a:srgbClr val="41745A"/>
                </a:solidFill>
                <a:latin typeface="Times New Roman"/>
                <a:ea typeface="Times New Roman"/>
                <a:cs typeface="Times New Roman"/>
              </a:defRPr>
            </a:lvl7pPr>
            <a:lvl8pPr algn="l">
              <a:defRPr sz="2325" b="1">
                <a:solidFill>
                  <a:srgbClr val="41745A"/>
                </a:solidFill>
                <a:latin typeface="Times New Roman"/>
                <a:ea typeface="Times New Roman"/>
                <a:cs typeface="Times New Roman"/>
              </a:defRPr>
            </a:lvl8pPr>
            <a:lvl9pPr algn="l">
              <a:defRPr sz="2325" b="1">
                <a:solidFill>
                  <a:srgbClr val="41745A"/>
                </a:solidFill>
                <a:latin typeface="Times New Roman"/>
                <a:ea typeface="Times New Roman"/>
                <a:cs typeface="Times New Roman"/>
              </a:defRPr>
            </a:lvl9pPr>
          </a:lstStyle>
          <a:p xmlns:a="http://schemas.openxmlformats.org/drawingml/2006/main">
            <a:pPr algn="l">
              <a:defRPr sz="2325" b="1">
                <a:solidFill>
                  <a:srgbClr val="41745A"/>
                </a:solidFill>
                <a:latin typeface="Times New Roman"/>
                <a:ea typeface="Times New Roman"/>
                <a:cs typeface="Times New Roman"/>
              </a:defRPr>
            </a:pPr>
            <a:r>
              <a:rPr sz="2325" b="1">
                <a:solidFill>
                  <a:srgbClr val="41745A"/>
                </a:solidFill>
                <a:latin typeface="Times New Roman"/>
                <a:ea typeface="Times New Roman"/>
                <a:cs typeface="Times New Roman"/>
              </a:rPr>
              <a:t>Quimerismo sanguíneo</a:t>
            </a:r>
          </a:p>
        </p:txBody>
      </p:sp>
      <p:sp>
        <p:nvSpPr>
          <p:cNvPr id="9" name="text-7">
            <a:extLst xmlns:a="http://schemas.openxmlformats.org/drawingml/2006/main">
              <a:ext uri="{FF2B5EF4-FFF2-40B4-BE49-F238E27FC236}">
                <a16:creationId xmlns:a16="http://schemas.microsoft.com/office/drawing/2014/main" id="{6414EB54-DE89-420B-8C4F-1B36DE2D2E52}"/>
              </a:ext>
            </a:extLst>
          </p:cNvPr>
          <p:cNvSpPr>
            <a:spLocks xmlns:a="http://schemas.openxmlformats.org/drawingml/2006/main" noGrp="1"/>
          </p:cNvSpPr>
          <p:nvPr/>
        </p:nvSpPr>
        <p:spPr>
          <a:xfrm xmlns:a="http://schemas.openxmlformats.org/drawingml/2006/main">
            <a:off x="7086600" y="4448175"/>
            <a:ext cx="4381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202520"/>
                </a:solidFill>
                <a:latin typeface="Times New Roman"/>
                <a:ea typeface="Times New Roman"/>
                <a:cs typeface="Times New Roman"/>
              </a:defRPr>
            </a:defPPr>
            <a:lvl1pPr algn="l">
              <a:defRPr sz="2100">
                <a:solidFill>
                  <a:srgbClr val="202520"/>
                </a:solidFill>
                <a:latin typeface="Times New Roman"/>
                <a:ea typeface="Times New Roman"/>
                <a:cs typeface="Times New Roman"/>
              </a:defRPr>
            </a:lvl1pPr>
            <a:lvl2pPr algn="l">
              <a:defRPr sz="2100">
                <a:solidFill>
                  <a:srgbClr val="202520"/>
                </a:solidFill>
                <a:latin typeface="Times New Roman"/>
                <a:ea typeface="Times New Roman"/>
                <a:cs typeface="Times New Roman"/>
              </a:defRPr>
            </a:lvl2pPr>
            <a:lvl3pPr algn="l">
              <a:defRPr sz="2100">
                <a:solidFill>
                  <a:srgbClr val="202520"/>
                </a:solidFill>
                <a:latin typeface="Times New Roman"/>
                <a:ea typeface="Times New Roman"/>
                <a:cs typeface="Times New Roman"/>
              </a:defRPr>
            </a:lvl3pPr>
            <a:lvl4pPr algn="l">
              <a:defRPr sz="2100">
                <a:solidFill>
                  <a:srgbClr val="202520"/>
                </a:solidFill>
                <a:latin typeface="Times New Roman"/>
                <a:ea typeface="Times New Roman"/>
                <a:cs typeface="Times New Roman"/>
              </a:defRPr>
            </a:lvl4pPr>
            <a:lvl5pPr algn="l">
              <a:defRPr sz="2100">
                <a:solidFill>
                  <a:srgbClr val="202520"/>
                </a:solidFill>
                <a:latin typeface="Times New Roman"/>
                <a:ea typeface="Times New Roman"/>
                <a:cs typeface="Times New Roman"/>
              </a:defRPr>
            </a:lvl5pPr>
            <a:lvl6pPr algn="l">
              <a:defRPr sz="2100">
                <a:solidFill>
                  <a:srgbClr val="202520"/>
                </a:solidFill>
                <a:latin typeface="Times New Roman"/>
                <a:ea typeface="Times New Roman"/>
                <a:cs typeface="Times New Roman"/>
              </a:defRPr>
            </a:lvl6pPr>
            <a:lvl7pPr algn="l">
              <a:defRPr sz="2100">
                <a:solidFill>
                  <a:srgbClr val="202520"/>
                </a:solidFill>
                <a:latin typeface="Times New Roman"/>
                <a:ea typeface="Times New Roman"/>
                <a:cs typeface="Times New Roman"/>
              </a:defRPr>
            </a:lvl7pPr>
            <a:lvl8pPr algn="l">
              <a:defRPr sz="2100">
                <a:solidFill>
                  <a:srgbClr val="202520"/>
                </a:solidFill>
                <a:latin typeface="Times New Roman"/>
                <a:ea typeface="Times New Roman"/>
                <a:cs typeface="Times New Roman"/>
              </a:defRPr>
            </a:lvl8pPr>
            <a:lvl9pPr algn="l">
              <a:defRPr sz="2100">
                <a:solidFill>
                  <a:srgbClr val="202520"/>
                </a:solidFill>
                <a:latin typeface="Times New Roman"/>
                <a:ea typeface="Times New Roman"/>
                <a:cs typeface="Times New Roman"/>
              </a:defRPr>
            </a:lvl9pPr>
          </a:lstStyle>
          <a:p xmlns:a="http://schemas.openxmlformats.org/drawingml/2006/main">
            <a:pPr algn="l">
              <a:defRPr sz="2100">
                <a:solidFill>
                  <a:srgbClr val="202520"/>
                </a:solidFill>
                <a:latin typeface="Times New Roman"/>
                <a:ea typeface="Times New Roman"/>
                <a:cs typeface="Times New Roman"/>
              </a:defRPr>
            </a:pPr>
            <a:r>
              <a:rPr sz="2100">
                <a:solidFill>
                  <a:srgbClr val="202520"/>
                </a:solidFill>
                <a:latin typeface="Times New Roman"/>
                <a:ea typeface="Times New Roman"/>
                <a:cs typeface="Times New Roman"/>
              </a:rPr>
              <a:t>XX/XY. Alteración reproductiva e infertilidad frecuente.</a:t>
            </a:r>
          </a:p>
        </p:txBody>
      </p:sp>
      <p:sp>
        <p:nvSpPr>
          <p:cNvPr id="10" name="text-8">
            <a:extLst xmlns:a="http://schemas.openxmlformats.org/drawingml/2006/main">
              <a:ext uri="{FF2B5EF4-FFF2-40B4-BE49-F238E27FC236}">
                <a16:creationId xmlns:a16="http://schemas.microsoft.com/office/drawing/2014/main" id="{F2FE07AC-C922-4BDE-A365-EC294F957EC3}"/>
              </a:ext>
            </a:extLst>
          </p:cNvPr>
          <p:cNvSpPr>
            <a:spLocks xmlns:a="http://schemas.openxmlformats.org/drawingml/2006/main" noGrp="1"/>
          </p:cNvSpPr>
          <p:nvPr/>
        </p:nvSpPr>
        <p:spPr>
          <a:xfrm xmlns:a="http://schemas.openxmlformats.org/drawingml/2006/main">
            <a:off x="609600" y="5810250"/>
            <a:ext cx="5715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a:solidFill>
                  <a:srgbClr val="41745A"/>
                </a:solidFill>
                <a:latin typeface="Times New Roman"/>
                <a:ea typeface="Times New Roman"/>
                <a:cs typeface="Times New Roman"/>
              </a:defRPr>
            </a:defPPr>
            <a:lvl1pPr algn="l">
              <a:defRPr sz="1575">
                <a:solidFill>
                  <a:srgbClr val="41745A"/>
                </a:solidFill>
                <a:latin typeface="Times New Roman"/>
                <a:ea typeface="Times New Roman"/>
                <a:cs typeface="Times New Roman"/>
              </a:defRPr>
            </a:lvl1pPr>
            <a:lvl2pPr algn="l">
              <a:defRPr sz="1575">
                <a:solidFill>
                  <a:srgbClr val="41745A"/>
                </a:solidFill>
                <a:latin typeface="Times New Roman"/>
                <a:ea typeface="Times New Roman"/>
                <a:cs typeface="Times New Roman"/>
              </a:defRPr>
            </a:lvl2pPr>
            <a:lvl3pPr algn="l">
              <a:defRPr sz="1575">
                <a:solidFill>
                  <a:srgbClr val="41745A"/>
                </a:solidFill>
                <a:latin typeface="Times New Roman"/>
                <a:ea typeface="Times New Roman"/>
                <a:cs typeface="Times New Roman"/>
              </a:defRPr>
            </a:lvl3pPr>
            <a:lvl4pPr algn="l">
              <a:defRPr sz="1575">
                <a:solidFill>
                  <a:srgbClr val="41745A"/>
                </a:solidFill>
                <a:latin typeface="Times New Roman"/>
                <a:ea typeface="Times New Roman"/>
                <a:cs typeface="Times New Roman"/>
              </a:defRPr>
            </a:lvl4pPr>
            <a:lvl5pPr algn="l">
              <a:defRPr sz="1575">
                <a:solidFill>
                  <a:srgbClr val="41745A"/>
                </a:solidFill>
                <a:latin typeface="Times New Roman"/>
                <a:ea typeface="Times New Roman"/>
                <a:cs typeface="Times New Roman"/>
              </a:defRPr>
            </a:lvl5pPr>
            <a:lvl6pPr algn="l">
              <a:defRPr sz="1575">
                <a:solidFill>
                  <a:srgbClr val="41745A"/>
                </a:solidFill>
                <a:latin typeface="Times New Roman"/>
                <a:ea typeface="Times New Roman"/>
                <a:cs typeface="Times New Roman"/>
              </a:defRPr>
            </a:lvl6pPr>
            <a:lvl7pPr algn="l">
              <a:defRPr sz="1575">
                <a:solidFill>
                  <a:srgbClr val="41745A"/>
                </a:solidFill>
                <a:latin typeface="Times New Roman"/>
                <a:ea typeface="Times New Roman"/>
                <a:cs typeface="Times New Roman"/>
              </a:defRPr>
            </a:lvl7pPr>
            <a:lvl8pPr algn="l">
              <a:defRPr sz="1575">
                <a:solidFill>
                  <a:srgbClr val="41745A"/>
                </a:solidFill>
                <a:latin typeface="Times New Roman"/>
                <a:ea typeface="Times New Roman"/>
                <a:cs typeface="Times New Roman"/>
              </a:defRPr>
            </a:lvl8pPr>
            <a:lvl9pPr algn="l">
              <a:defRPr sz="1575">
                <a:solidFill>
                  <a:srgbClr val="41745A"/>
                </a:solidFill>
                <a:latin typeface="Times New Roman"/>
                <a:ea typeface="Times New Roman"/>
                <a:cs typeface="Times New Roman"/>
              </a:defRPr>
            </a:lvl9pPr>
          </a:lstStyle>
          <a:p xmlns:a="http://schemas.openxmlformats.org/drawingml/2006/main">
            <a:pPr algn="l">
              <a:defRPr sz="1575">
                <a:solidFill>
                  <a:srgbClr val="41745A"/>
                </a:solidFill>
                <a:latin typeface="Times New Roman"/>
                <a:ea typeface="Times New Roman"/>
                <a:cs typeface="Times New Roman"/>
              </a:defRPr>
            </a:pPr>
            <a:r>
              <a:rPr sz="1575">
                <a:solidFill>
                  <a:srgbClr val="41745A"/>
                </a:solidFill>
                <a:latin typeface="Times New Roman"/>
                <a:ea typeface="Times New Roman"/>
                <a:cs typeface="Times New Roman"/>
              </a:rPr>
              <a:t>Figura 5. UNAM, 2021 [1].</a:t>
            </a:r>
          </a:p>
        </p:txBody>
      </p:sp>
    </p:spTree>
    <p:extLst>
      <p:ext uri="{BB962C8B-B14F-4D97-AF65-F5344CB8AC3E}">
        <p14:creationId xmlns:p14="http://schemas.microsoft.com/office/powerpoint/2010/main" val="1176726943"/>
      </p:ext>
    </p:extLst>
  </p:cSld>
</p:sld>
</file>

<file path=ppt/slides/slide16.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BA8A4584-EFFB-48E5-852A-162ED42E623C}"/>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Diferencias del desarrollo sexual</a:t>
            </a:r>
          </a:p>
        </p:txBody>
      </p:sp>
      <p:sp>
        <p:nvSpPr>
          <p:cNvPr id="2" name="">
            <a:extLst xmlns:a="http://schemas.openxmlformats.org/drawingml/2006/main">
              <a:ext uri="{FF2B5EF4-FFF2-40B4-BE49-F238E27FC236}">
                <a16:creationId xmlns:a16="http://schemas.microsoft.com/office/drawing/2014/main" id="{868AB914-774C-45C0-AAD5-A1B71064C658}"/>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E7D44366-E5D7-4223-942C-C1EBECE094B8}"/>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16</a:t>
            </a:r>
          </a:p>
        </p:txBody>
      </p:sp>
      <p:sp>
        <p:nvSpPr>
          <p:cNvPr id="4" name="references">
            <a:extLst xmlns:a="http://schemas.openxmlformats.org/drawingml/2006/main">
              <a:ext uri="{FF2B5EF4-FFF2-40B4-BE49-F238E27FC236}">
                <a16:creationId xmlns:a16="http://schemas.microsoft.com/office/drawing/2014/main" id="{E9C4A3A7-374D-4ACC-BABC-2F3F8B2B4613}"/>
              </a:ext>
            </a:extLst>
          </p:cNvPr>
          <p:cNvSpPr>
            <a:spLocks xmlns:a="http://schemas.openxmlformats.org/drawingml/2006/main" noGrp="1"/>
          </p:cNvSpPr>
          <p:nvPr/>
        </p:nvSpPr>
        <p:spPr>
          <a:xfrm xmlns:a="http://schemas.openxmlformats.org/drawingml/2006/main">
            <a:off x="609600" y="6419850"/>
            <a:ext cx="10382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a:solidFill>
                  <a:srgbClr val="41745A"/>
                </a:solidFill>
                <a:latin typeface="Times New Roman"/>
                <a:ea typeface="Times New Roman"/>
                <a:cs typeface="Times New Roman"/>
              </a:defRPr>
            </a:defPPr>
            <a:lvl1pPr algn="l">
              <a:defRPr sz="1350">
                <a:solidFill>
                  <a:srgbClr val="41745A"/>
                </a:solidFill>
                <a:latin typeface="Times New Roman"/>
                <a:ea typeface="Times New Roman"/>
                <a:cs typeface="Times New Roman"/>
              </a:defRPr>
            </a:lvl1pPr>
            <a:lvl2pPr algn="l">
              <a:defRPr sz="1350">
                <a:solidFill>
                  <a:srgbClr val="41745A"/>
                </a:solidFill>
                <a:latin typeface="Times New Roman"/>
                <a:ea typeface="Times New Roman"/>
                <a:cs typeface="Times New Roman"/>
              </a:defRPr>
            </a:lvl2pPr>
            <a:lvl3pPr algn="l">
              <a:defRPr sz="1350">
                <a:solidFill>
                  <a:srgbClr val="41745A"/>
                </a:solidFill>
                <a:latin typeface="Times New Roman"/>
                <a:ea typeface="Times New Roman"/>
                <a:cs typeface="Times New Roman"/>
              </a:defRPr>
            </a:lvl3pPr>
            <a:lvl4pPr algn="l">
              <a:defRPr sz="1350">
                <a:solidFill>
                  <a:srgbClr val="41745A"/>
                </a:solidFill>
                <a:latin typeface="Times New Roman"/>
                <a:ea typeface="Times New Roman"/>
                <a:cs typeface="Times New Roman"/>
              </a:defRPr>
            </a:lvl4pPr>
            <a:lvl5pPr algn="l">
              <a:defRPr sz="1350">
                <a:solidFill>
                  <a:srgbClr val="41745A"/>
                </a:solidFill>
                <a:latin typeface="Times New Roman"/>
                <a:ea typeface="Times New Roman"/>
                <a:cs typeface="Times New Roman"/>
              </a:defRPr>
            </a:lvl5pPr>
            <a:lvl6pPr algn="l">
              <a:defRPr sz="1350">
                <a:solidFill>
                  <a:srgbClr val="41745A"/>
                </a:solidFill>
                <a:latin typeface="Times New Roman"/>
                <a:ea typeface="Times New Roman"/>
                <a:cs typeface="Times New Roman"/>
              </a:defRPr>
            </a:lvl6pPr>
            <a:lvl7pPr algn="l">
              <a:defRPr sz="1350">
                <a:solidFill>
                  <a:srgbClr val="41745A"/>
                </a:solidFill>
                <a:latin typeface="Times New Roman"/>
                <a:ea typeface="Times New Roman"/>
                <a:cs typeface="Times New Roman"/>
              </a:defRPr>
            </a:lvl7pPr>
            <a:lvl8pPr algn="l">
              <a:defRPr sz="1350">
                <a:solidFill>
                  <a:srgbClr val="41745A"/>
                </a:solidFill>
                <a:latin typeface="Times New Roman"/>
                <a:ea typeface="Times New Roman"/>
                <a:cs typeface="Times New Roman"/>
              </a:defRPr>
            </a:lvl8pPr>
            <a:lvl9pPr algn="l">
              <a:defRPr sz="1350">
                <a:solidFill>
                  <a:srgbClr val="41745A"/>
                </a:solidFill>
                <a:latin typeface="Times New Roman"/>
                <a:ea typeface="Times New Roman"/>
                <a:cs typeface="Times New Roman"/>
              </a:defRPr>
            </a:lvl9pPr>
          </a:lstStyle>
          <a:p xmlns:a="http://schemas.openxmlformats.org/drawingml/2006/main">
            <a:pPr algn="l">
              <a:defRPr sz="1350">
                <a:solidFill>
                  <a:srgbClr val="41745A"/>
                </a:solidFill>
                <a:latin typeface="Times New Roman"/>
                <a:ea typeface="Times New Roman"/>
                <a:cs typeface="Times New Roman"/>
              </a:defRPr>
            </a:pPr>
            <a:r>
              <a:rPr sz="1350">
                <a:solidFill>
                  <a:srgbClr val="41745A"/>
                </a:solidFill>
                <a:latin typeface="Times New Roman"/>
                <a:ea typeface="Times New Roman"/>
                <a:cs typeface="Times New Roman"/>
              </a:rPr>
              <a:t>Fuentes: [2] [11]</a:t>
            </a:r>
          </a:p>
        </p:txBody>
      </p:sp>
      <p:graphicFrame>
        <p:nvGraphicFramePr>
          <p:cNvPr id="5" name="">
            <a:extLst xmlns:a="http://schemas.openxmlformats.org/drawingml/2006/main">
              <a:ext uri="{FF2B5EF4-FFF2-40B4-BE49-F238E27FC236}">
                <a16:creationId xmlns:a16="http://schemas.microsoft.com/office/drawing/2014/main" id="{2EDF745A-AD89-4BDD-9C3B-978E3D7FA207}"/>
              </a:ext>
            </a:extLst>
          </p:cNvPr>
          <p:cNvGraphicFramePr/>
          <p:nvPr/>
        </p:nvGraphicFramePr>
        <p:xfrm>
          <a:off xmlns:a="http://schemas.openxmlformats.org/drawingml/2006/main" x="609600" y="2000250"/>
          <a:ext xmlns:a="http://schemas.openxmlformats.org/drawingml/2006/main" cx="10972800" cy="3305175"/>
        </p:xfrm>
        <a:graphic xmlns:a="http://schemas.openxmlformats.org/drawingml/2006/main">
          <a:graphicData uri="http://schemas.openxmlformats.org/drawingml/2006/table">
            <a:tbl>
              <a:tblPr firstRow="1" bandRow="0"/>
              <a:tblGrid>
                <a:gridCol w="2381250"/>
                <a:gridCol w="4476750"/>
                <a:gridCol w="4114800"/>
              </a:tblGrid>
              <a:tr h="826294">
                <a:tc>
                  <a:txBody>
                    <a:bodyPr wrap="square" lIns="95250" tIns="95250" rIns="95250" bIns="95250">
                      <a:noAutofit/>
                    </a:bodyPr>
                    <a:lstStyle/>
                    <a:p>
                      <a:pPr algn="l"/>
                      <a:r>
                        <a:rPr sz="2025" b="1">
                          <a:solidFill>
                            <a:srgbClr val="FFFFFF"/>
                          </a:solidFill>
                          <a:latin typeface="Times New Roman"/>
                          <a:ea typeface="Times New Roman"/>
                          <a:cs typeface="Times New Roman"/>
                        </a:rPr>
                        <a:t>Nivel</a:t>
                      </a:r>
                    </a:p>
                  </a:txBody>
                  <a:tcPr marL="91440" marR="91440" marT="45720" marB="45720" anchor="ctr">
                    <a:lnL w="9525">
                      <a:solidFill>
                        <a:srgbClr val="D5DED3"/>
                      </a:solidFill>
                      <a:prstDash val="solid"/>
                    </a:lnL>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c>
                  <a:txBody>
                    <a:bodyPr wrap="square" lIns="95250" tIns="95250" rIns="95250" bIns="95250">
                      <a:noAutofit/>
                    </a:bodyPr>
                    <a:lstStyle/>
                    <a:p>
                      <a:pPr algn="l"/>
                      <a:r>
                        <a:rPr sz="2025" b="1">
                          <a:solidFill>
                            <a:srgbClr val="FFFFFF"/>
                          </a:solidFill>
                          <a:latin typeface="Times New Roman"/>
                          <a:ea typeface="Times New Roman"/>
                          <a:cs typeface="Times New Roman"/>
                        </a:rPr>
                        <a:t>Posible alteración</a:t>
                      </a:r>
                    </a:p>
                  </a:txBody>
                  <a:tcPr marL="91440" marR="91440" marT="45720" marB="45720" anchor="ctr">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c>
                  <a:txBody>
                    <a:bodyPr wrap="square" lIns="95250" tIns="95250" rIns="95250" bIns="95250">
                      <a:noAutofit/>
                    </a:bodyPr>
                    <a:lstStyle/>
                    <a:p>
                      <a:pPr algn="l"/>
                      <a:r>
                        <a:rPr sz="2025" b="1">
                          <a:solidFill>
                            <a:srgbClr val="FFFFFF"/>
                          </a:solidFill>
                          <a:latin typeface="Times New Roman"/>
                          <a:ea typeface="Times New Roman"/>
                          <a:cs typeface="Times New Roman"/>
                        </a:rPr>
                        <a:t>Evaluación orientativa</a:t>
                      </a:r>
                    </a:p>
                  </a:txBody>
                  <a:tcPr marL="91440" marR="91440" marT="45720" marB="45720" anchor="ctr">
                    <a:lnR w="9525">
                      <a:solidFill>
                        <a:srgbClr val="D5DED3"/>
                      </a:solidFill>
                      <a:prstDash val="solid"/>
                    </a:lnR>
                    <a:lnT w="9525">
                      <a:solidFill>
                        <a:srgbClr val="D5DED3"/>
                      </a:solidFill>
                      <a:prstDash val="solid"/>
                    </a:lnT>
                    <a:lnB w="9525">
                      <a:solidFill>
                        <a:srgbClr val="D5DED3"/>
                      </a:solidFill>
                      <a:prstDash val="solid"/>
                    </a:lnB>
                    <a:solidFill>
                      <a:srgbClr val="183F31"/>
                    </a:solidFill>
                  </a:tcPr>
                </a:tc>
              </a:tr>
              <a:tr h="826294">
                <a:tc>
                  <a:txBody>
                    <a:bodyPr wrap="square" lIns="95250" tIns="95250" rIns="95250" bIns="95250">
                      <a:noAutofit/>
                    </a:bodyPr>
                    <a:lstStyle/>
                    <a:p>
                      <a:pPr algn="l"/>
                      <a:r>
                        <a:rPr sz="2025" b="0">
                          <a:solidFill>
                            <a:srgbClr val="202520"/>
                          </a:solidFill>
                          <a:latin typeface="Times New Roman"/>
                          <a:ea typeface="Times New Roman"/>
                          <a:cs typeface="Times New Roman"/>
                        </a:rPr>
                        <a:t>Cromosómico</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Número o estructura cromosómica</a:t>
                      </a:r>
                    </a:p>
                  </a:txBody>
                  <a:tcPr marL="91440" marR="91440" marT="45720" marB="45720" anchor="ctr">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Cariotipo y pruebas moleculares</a:t>
                      </a:r>
                    </a:p>
                  </a:txBody>
                  <a:tcPr marL="91440" marR="91440" marT="45720" marB="45720" anchor="ctr">
                    <a:lnR w="9525">
                      <a:solidFill>
                        <a:srgbClr val="D5DED3"/>
                      </a:solidFill>
                      <a:prstDash val="solid"/>
                    </a:lnR>
                    <a:lnB w="9525">
                      <a:solidFill>
                        <a:srgbClr val="D5DED3"/>
                      </a:solidFill>
                      <a:prstDash val="solid"/>
                    </a:lnB>
                    <a:solidFill>
                      <a:srgbClr val="FFFFFF"/>
                    </a:solidFill>
                  </a:tcPr>
                </a:tc>
              </a:tr>
              <a:tr h="826294">
                <a:tc>
                  <a:txBody>
                    <a:bodyPr wrap="square" lIns="95250" tIns="95250" rIns="95250" bIns="95250">
                      <a:noAutofit/>
                    </a:bodyPr>
                    <a:lstStyle/>
                    <a:p>
                      <a:pPr algn="l"/>
                      <a:r>
                        <a:rPr sz="2025" b="0">
                          <a:solidFill>
                            <a:srgbClr val="202520"/>
                          </a:solidFill>
                          <a:latin typeface="Times New Roman"/>
                          <a:ea typeface="Times New Roman"/>
                          <a:cs typeface="Times New Roman"/>
                        </a:rPr>
                        <a:t>Gonadal</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Diferenciación testicular u ovárica</a:t>
                      </a:r>
                    </a:p>
                  </a:txBody>
                  <a:tcPr marL="91440" marR="91440" marT="45720" marB="45720" anchor="ctr">
                    <a:lnR w="9525">
                      <a:solidFill>
                        <a:srgbClr val="D5DED3"/>
                      </a:solidFill>
                      <a:prstDash val="solid"/>
                    </a:lnR>
                    <a:lnB w="9525">
                      <a:solidFill>
                        <a:srgbClr val="D5DED3"/>
                      </a:solidFill>
                      <a:prstDash val="solid"/>
                    </a:lnB>
                    <a:solidFill>
                      <a:srgbClr val="F0F5E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Imagen e histología cuando proceda</a:t>
                      </a:r>
                    </a:p>
                  </a:txBody>
                  <a:tcPr marL="91440" marR="91440" marT="45720" marB="45720" anchor="ctr">
                    <a:lnR w="9525">
                      <a:solidFill>
                        <a:srgbClr val="D5DED3"/>
                      </a:solidFill>
                      <a:prstDash val="solid"/>
                    </a:lnR>
                    <a:lnB w="9525">
                      <a:solidFill>
                        <a:srgbClr val="D5DED3"/>
                      </a:solidFill>
                      <a:prstDash val="solid"/>
                    </a:lnB>
                    <a:solidFill>
                      <a:srgbClr val="F0F5EF"/>
                    </a:solidFill>
                  </a:tcPr>
                </a:tc>
              </a:tr>
              <a:tr h="826294">
                <a:tc>
                  <a:txBody>
                    <a:bodyPr wrap="square" lIns="95250" tIns="95250" rIns="95250" bIns="95250">
                      <a:noAutofit/>
                    </a:bodyPr>
                    <a:lstStyle/>
                    <a:p>
                      <a:pPr algn="l"/>
                      <a:r>
                        <a:rPr sz="2025" b="0">
                          <a:solidFill>
                            <a:srgbClr val="202520"/>
                          </a:solidFill>
                          <a:latin typeface="Times New Roman"/>
                          <a:ea typeface="Times New Roman"/>
                          <a:cs typeface="Times New Roman"/>
                        </a:rPr>
                        <a:t>Hormonal y anatómico</a:t>
                      </a:r>
                    </a:p>
                  </a:txBody>
                  <a:tcPr marL="91440" marR="91440" marT="45720" marB="45720" anchor="ctr">
                    <a:lnL w="9525">
                      <a:solidFill>
                        <a:srgbClr val="D5DED3"/>
                      </a:solidFill>
                      <a:prstDash val="solid"/>
                    </a:lnL>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Producción o respuesta a hormonas</a:t>
                      </a:r>
                    </a:p>
                  </a:txBody>
                  <a:tcPr marL="91440" marR="91440" marT="45720" marB="45720" anchor="ctr">
                    <a:lnR w="9525">
                      <a:solidFill>
                        <a:srgbClr val="D5DED3"/>
                      </a:solidFill>
                      <a:prstDash val="solid"/>
                    </a:lnR>
                    <a:lnB w="9525">
                      <a:solidFill>
                        <a:srgbClr val="D5DED3"/>
                      </a:solidFill>
                      <a:prstDash val="solid"/>
                    </a:lnB>
                    <a:solidFill>
                      <a:srgbClr val="FFFFFF"/>
                    </a:solidFill>
                  </a:tcPr>
                </a:tc>
                <a:tc>
                  <a:txBody>
                    <a:bodyPr wrap="square" lIns="95250" tIns="95250" rIns="95250" bIns="95250">
                      <a:noAutofit/>
                    </a:bodyPr>
                    <a:lstStyle/>
                    <a:p>
                      <a:pPr algn="l"/>
                      <a:r>
                        <a:rPr sz="2025" b="0">
                          <a:solidFill>
                            <a:srgbClr val="202520"/>
                          </a:solidFill>
                          <a:latin typeface="Times New Roman"/>
                          <a:ea typeface="Times New Roman"/>
                          <a:cs typeface="Times New Roman"/>
                        </a:rPr>
                        <a:t>Exploración, hormonas y genética</a:t>
                      </a:r>
                    </a:p>
                  </a:txBody>
                  <a:tcPr marL="91440" marR="91440" marT="45720" marB="45720" anchor="ctr">
                    <a:lnR w="9525">
                      <a:solidFill>
                        <a:srgbClr val="D5DED3"/>
                      </a:solidFill>
                      <a:prstDash val="solid"/>
                    </a:lnR>
                    <a:lnB w="9525">
                      <a:solidFill>
                        <a:srgbClr val="D5DED3"/>
                      </a:solidFill>
                      <a:prstDash val="solid"/>
                    </a:lnB>
                    <a:solidFill>
                      <a:srgbClr val="FFFFFF"/>
                    </a:solidFill>
                  </a:tcPr>
                </a:tc>
              </a:tr>
            </a:tbl>
          </a:graphicData>
        </a:graphic>
      </p:graphicFrame>
      <p:sp>
        <p:nvSpPr>
          <p:cNvPr id="6" name="text-4">
            <a:extLst xmlns:a="http://schemas.openxmlformats.org/drawingml/2006/main">
              <a:ext uri="{FF2B5EF4-FFF2-40B4-BE49-F238E27FC236}">
                <a16:creationId xmlns:a16="http://schemas.microsoft.com/office/drawing/2014/main" id="{A463A956-6833-4E0C-BB11-A30816996EAF}"/>
              </a:ext>
            </a:extLst>
          </p:cNvPr>
          <p:cNvSpPr>
            <a:spLocks xmlns:a="http://schemas.openxmlformats.org/drawingml/2006/main" noGrp="1"/>
          </p:cNvSpPr>
          <p:nvPr/>
        </p:nvSpPr>
        <p:spPr>
          <a:xfrm xmlns:a="http://schemas.openxmlformats.org/drawingml/2006/main">
            <a:off x="609600" y="5705475"/>
            <a:ext cx="10972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41745A"/>
                </a:solidFill>
                <a:latin typeface="Times New Roman"/>
                <a:ea typeface="Times New Roman"/>
                <a:cs typeface="Times New Roman"/>
              </a:defRPr>
            </a:defPPr>
            <a:lvl1pPr algn="l">
              <a:defRPr sz="2400" b="1">
                <a:solidFill>
                  <a:srgbClr val="41745A"/>
                </a:solidFill>
                <a:latin typeface="Times New Roman"/>
                <a:ea typeface="Times New Roman"/>
                <a:cs typeface="Times New Roman"/>
              </a:defRPr>
            </a:lvl1pPr>
            <a:lvl2pPr algn="l">
              <a:defRPr sz="2400" b="1">
                <a:solidFill>
                  <a:srgbClr val="41745A"/>
                </a:solidFill>
                <a:latin typeface="Times New Roman"/>
                <a:ea typeface="Times New Roman"/>
                <a:cs typeface="Times New Roman"/>
              </a:defRPr>
            </a:lvl2pPr>
            <a:lvl3pPr algn="l">
              <a:defRPr sz="2400" b="1">
                <a:solidFill>
                  <a:srgbClr val="41745A"/>
                </a:solidFill>
                <a:latin typeface="Times New Roman"/>
                <a:ea typeface="Times New Roman"/>
                <a:cs typeface="Times New Roman"/>
              </a:defRPr>
            </a:lvl3pPr>
            <a:lvl4pPr algn="l">
              <a:defRPr sz="2400" b="1">
                <a:solidFill>
                  <a:srgbClr val="41745A"/>
                </a:solidFill>
                <a:latin typeface="Times New Roman"/>
                <a:ea typeface="Times New Roman"/>
                <a:cs typeface="Times New Roman"/>
              </a:defRPr>
            </a:lvl4pPr>
            <a:lvl5pPr algn="l">
              <a:defRPr sz="2400" b="1">
                <a:solidFill>
                  <a:srgbClr val="41745A"/>
                </a:solidFill>
                <a:latin typeface="Times New Roman"/>
                <a:ea typeface="Times New Roman"/>
                <a:cs typeface="Times New Roman"/>
              </a:defRPr>
            </a:lvl5pPr>
            <a:lvl6pPr algn="l">
              <a:defRPr sz="2400" b="1">
                <a:solidFill>
                  <a:srgbClr val="41745A"/>
                </a:solidFill>
                <a:latin typeface="Times New Roman"/>
                <a:ea typeface="Times New Roman"/>
                <a:cs typeface="Times New Roman"/>
              </a:defRPr>
            </a:lvl6pPr>
            <a:lvl7pPr algn="l">
              <a:defRPr sz="2400" b="1">
                <a:solidFill>
                  <a:srgbClr val="41745A"/>
                </a:solidFill>
                <a:latin typeface="Times New Roman"/>
                <a:ea typeface="Times New Roman"/>
                <a:cs typeface="Times New Roman"/>
              </a:defRPr>
            </a:lvl7pPr>
            <a:lvl8pPr algn="l">
              <a:defRPr sz="2400" b="1">
                <a:solidFill>
                  <a:srgbClr val="41745A"/>
                </a:solidFill>
                <a:latin typeface="Times New Roman"/>
                <a:ea typeface="Times New Roman"/>
                <a:cs typeface="Times New Roman"/>
              </a:defRPr>
            </a:lvl8pPr>
            <a:lvl9pPr algn="l">
              <a:defRPr sz="2400" b="1">
                <a:solidFill>
                  <a:srgbClr val="41745A"/>
                </a:solidFill>
                <a:latin typeface="Times New Roman"/>
                <a:ea typeface="Times New Roman"/>
                <a:cs typeface="Times New Roman"/>
              </a:defRPr>
            </a:lvl9pPr>
          </a:lstStyle>
          <a:p xmlns:a="http://schemas.openxmlformats.org/drawingml/2006/main">
            <a:pPr algn="l">
              <a:defRPr sz="2400" b="1">
                <a:solidFill>
                  <a:srgbClr val="41745A"/>
                </a:solidFill>
                <a:latin typeface="Times New Roman"/>
                <a:ea typeface="Times New Roman"/>
                <a:cs typeface="Times New Roman"/>
              </a:defRPr>
            </a:pPr>
            <a:r>
              <a:rPr sz="2400" b="1">
                <a:solidFill>
                  <a:srgbClr val="41745A"/>
                </a:solidFill>
                <a:latin typeface="Times New Roman"/>
                <a:ea typeface="Times New Roman"/>
                <a:cs typeface="Times New Roman"/>
              </a:rPr>
              <a:t>El diagnóstico integra cromosomas, gónadas y fenotipo.</a:t>
            </a:r>
          </a:p>
        </p:txBody>
      </p:sp>
    </p:spTree>
    <p:extLst>
      <p:ext uri="{BB962C8B-B14F-4D97-AF65-F5344CB8AC3E}">
        <p14:creationId xmlns:p14="http://schemas.microsoft.com/office/powerpoint/2010/main" val="1739126940"/>
      </p:ext>
    </p:extLst>
  </p:cSld>
</p:sld>
</file>

<file path=ppt/slides/slide17.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sp>
        <p:nvSpPr>
          <p:cNvPr id="11" name="title">
            <a:extLst xmlns:a="http://schemas.openxmlformats.org/drawingml/2006/main">
              <a:ext uri="{FF2B5EF4-FFF2-40B4-BE49-F238E27FC236}">
                <a16:creationId xmlns:a16="http://schemas.microsoft.com/office/drawing/2014/main" id="{0ED723C2-CCB7-49BF-BFB2-C3CF5F87F6CA}"/>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Aplicaciones en Medicina Veterinaria</a:t>
            </a:r>
          </a:p>
        </p:txBody>
      </p:sp>
      <p:sp>
        <p:nvSpPr>
          <p:cNvPr id="2" name="">
            <a:extLst xmlns:a="http://schemas.openxmlformats.org/drawingml/2006/main">
              <a:ext uri="{FF2B5EF4-FFF2-40B4-BE49-F238E27FC236}">
                <a16:creationId xmlns:a16="http://schemas.microsoft.com/office/drawing/2014/main" id="{18D62A04-4CAF-422C-A2CD-171A503B2C89}"/>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BD3A9E29-AAB0-42FC-B902-BCC6C84DB957}"/>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17</a:t>
            </a:r>
          </a:p>
        </p:txBody>
      </p:sp>
      <p:sp>
        <p:nvSpPr>
          <p:cNvPr id="4" name="references">
            <a:extLst xmlns:a="http://schemas.openxmlformats.org/drawingml/2006/main">
              <a:ext uri="{FF2B5EF4-FFF2-40B4-BE49-F238E27FC236}">
                <a16:creationId xmlns:a16="http://schemas.microsoft.com/office/drawing/2014/main" id="{68FEE273-7EA0-4279-8D6F-30C7D672D5AF}"/>
              </a:ext>
            </a:extLst>
          </p:cNvPr>
          <p:cNvSpPr>
            <a:spLocks xmlns:a="http://schemas.openxmlformats.org/drawingml/2006/main" noGrp="1"/>
          </p:cNvSpPr>
          <p:nvPr/>
        </p:nvSpPr>
        <p:spPr>
          <a:xfrm xmlns:a="http://schemas.openxmlformats.org/drawingml/2006/main">
            <a:off x="609600" y="6419850"/>
            <a:ext cx="10382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a:solidFill>
                  <a:srgbClr val="41745A"/>
                </a:solidFill>
                <a:latin typeface="Times New Roman"/>
                <a:ea typeface="Times New Roman"/>
                <a:cs typeface="Times New Roman"/>
              </a:defRPr>
            </a:defPPr>
            <a:lvl1pPr algn="l">
              <a:defRPr sz="1350">
                <a:solidFill>
                  <a:srgbClr val="41745A"/>
                </a:solidFill>
                <a:latin typeface="Times New Roman"/>
                <a:ea typeface="Times New Roman"/>
                <a:cs typeface="Times New Roman"/>
              </a:defRPr>
            </a:lvl1pPr>
            <a:lvl2pPr algn="l">
              <a:defRPr sz="1350">
                <a:solidFill>
                  <a:srgbClr val="41745A"/>
                </a:solidFill>
                <a:latin typeface="Times New Roman"/>
                <a:ea typeface="Times New Roman"/>
                <a:cs typeface="Times New Roman"/>
              </a:defRPr>
            </a:lvl2pPr>
            <a:lvl3pPr algn="l">
              <a:defRPr sz="1350">
                <a:solidFill>
                  <a:srgbClr val="41745A"/>
                </a:solidFill>
                <a:latin typeface="Times New Roman"/>
                <a:ea typeface="Times New Roman"/>
                <a:cs typeface="Times New Roman"/>
              </a:defRPr>
            </a:lvl3pPr>
            <a:lvl4pPr algn="l">
              <a:defRPr sz="1350">
                <a:solidFill>
                  <a:srgbClr val="41745A"/>
                </a:solidFill>
                <a:latin typeface="Times New Roman"/>
                <a:ea typeface="Times New Roman"/>
                <a:cs typeface="Times New Roman"/>
              </a:defRPr>
            </a:lvl4pPr>
            <a:lvl5pPr algn="l">
              <a:defRPr sz="1350">
                <a:solidFill>
                  <a:srgbClr val="41745A"/>
                </a:solidFill>
                <a:latin typeface="Times New Roman"/>
                <a:ea typeface="Times New Roman"/>
                <a:cs typeface="Times New Roman"/>
              </a:defRPr>
            </a:lvl5pPr>
            <a:lvl6pPr algn="l">
              <a:defRPr sz="1350">
                <a:solidFill>
                  <a:srgbClr val="41745A"/>
                </a:solidFill>
                <a:latin typeface="Times New Roman"/>
                <a:ea typeface="Times New Roman"/>
                <a:cs typeface="Times New Roman"/>
              </a:defRPr>
            </a:lvl6pPr>
            <a:lvl7pPr algn="l">
              <a:defRPr sz="1350">
                <a:solidFill>
                  <a:srgbClr val="41745A"/>
                </a:solidFill>
                <a:latin typeface="Times New Roman"/>
                <a:ea typeface="Times New Roman"/>
                <a:cs typeface="Times New Roman"/>
              </a:defRPr>
            </a:lvl7pPr>
            <a:lvl8pPr algn="l">
              <a:defRPr sz="1350">
                <a:solidFill>
                  <a:srgbClr val="41745A"/>
                </a:solidFill>
                <a:latin typeface="Times New Roman"/>
                <a:ea typeface="Times New Roman"/>
                <a:cs typeface="Times New Roman"/>
              </a:defRPr>
            </a:lvl8pPr>
            <a:lvl9pPr algn="l">
              <a:defRPr sz="1350">
                <a:solidFill>
                  <a:srgbClr val="41745A"/>
                </a:solidFill>
                <a:latin typeface="Times New Roman"/>
                <a:ea typeface="Times New Roman"/>
                <a:cs typeface="Times New Roman"/>
              </a:defRPr>
            </a:lvl9pPr>
          </a:lstStyle>
          <a:p xmlns:a="http://schemas.openxmlformats.org/drawingml/2006/main">
            <a:pPr algn="l">
              <a:defRPr sz="1350">
                <a:solidFill>
                  <a:srgbClr val="41745A"/>
                </a:solidFill>
                <a:latin typeface="Times New Roman"/>
                <a:ea typeface="Times New Roman"/>
                <a:cs typeface="Times New Roman"/>
              </a:defRPr>
            </a:pPr>
            <a:r>
              <a:rPr sz="1350">
                <a:solidFill>
                  <a:srgbClr val="41745A"/>
                </a:solidFill>
                <a:latin typeface="Times New Roman"/>
                <a:ea typeface="Times New Roman"/>
                <a:cs typeface="Times New Roman"/>
              </a:rPr>
              <a:t>Fuentes: [10] [4] [7] [11]</a:t>
            </a:r>
          </a:p>
        </p:txBody>
      </p:sp>
      <p:sp>
        <p:nvSpPr>
          <p:cNvPr id="5" name="text-4">
            <a:extLst xmlns:a="http://schemas.openxmlformats.org/drawingml/2006/main">
              <a:ext uri="{FF2B5EF4-FFF2-40B4-BE49-F238E27FC236}">
                <a16:creationId xmlns:a16="http://schemas.microsoft.com/office/drawing/2014/main" id="{7009FB78-12D8-487D-B9B7-F1B948E185C5}"/>
              </a:ext>
            </a:extLst>
          </p:cNvPr>
          <p:cNvSpPr>
            <a:spLocks xmlns:a="http://schemas.openxmlformats.org/drawingml/2006/main" noGrp="1"/>
          </p:cNvSpPr>
          <p:nvPr/>
        </p:nvSpPr>
        <p:spPr>
          <a:xfrm xmlns:a="http://schemas.openxmlformats.org/drawingml/2006/main">
            <a:off x="609600" y="1828800"/>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41745A"/>
                </a:solidFill>
                <a:latin typeface="Times New Roman"/>
                <a:ea typeface="Times New Roman"/>
                <a:cs typeface="Times New Roman"/>
              </a:defRPr>
            </a:defPPr>
            <a:lvl1pPr algn="l">
              <a:defRPr sz="2250" b="1">
                <a:solidFill>
                  <a:srgbClr val="41745A"/>
                </a:solidFill>
                <a:latin typeface="Times New Roman"/>
                <a:ea typeface="Times New Roman"/>
                <a:cs typeface="Times New Roman"/>
              </a:defRPr>
            </a:lvl1pPr>
            <a:lvl2pPr algn="l">
              <a:defRPr sz="2250" b="1">
                <a:solidFill>
                  <a:srgbClr val="41745A"/>
                </a:solidFill>
                <a:latin typeface="Times New Roman"/>
                <a:ea typeface="Times New Roman"/>
                <a:cs typeface="Times New Roman"/>
              </a:defRPr>
            </a:lvl2pPr>
            <a:lvl3pPr algn="l">
              <a:defRPr sz="2250" b="1">
                <a:solidFill>
                  <a:srgbClr val="41745A"/>
                </a:solidFill>
                <a:latin typeface="Times New Roman"/>
                <a:ea typeface="Times New Roman"/>
                <a:cs typeface="Times New Roman"/>
              </a:defRPr>
            </a:lvl3pPr>
            <a:lvl4pPr algn="l">
              <a:defRPr sz="2250" b="1">
                <a:solidFill>
                  <a:srgbClr val="41745A"/>
                </a:solidFill>
                <a:latin typeface="Times New Roman"/>
                <a:ea typeface="Times New Roman"/>
                <a:cs typeface="Times New Roman"/>
              </a:defRPr>
            </a:lvl4pPr>
            <a:lvl5pPr algn="l">
              <a:defRPr sz="2250" b="1">
                <a:solidFill>
                  <a:srgbClr val="41745A"/>
                </a:solidFill>
                <a:latin typeface="Times New Roman"/>
                <a:ea typeface="Times New Roman"/>
                <a:cs typeface="Times New Roman"/>
              </a:defRPr>
            </a:lvl5pPr>
            <a:lvl6pPr algn="l">
              <a:defRPr sz="2250" b="1">
                <a:solidFill>
                  <a:srgbClr val="41745A"/>
                </a:solidFill>
                <a:latin typeface="Times New Roman"/>
                <a:ea typeface="Times New Roman"/>
                <a:cs typeface="Times New Roman"/>
              </a:defRPr>
            </a:lvl6pPr>
            <a:lvl7pPr algn="l">
              <a:defRPr sz="2250" b="1">
                <a:solidFill>
                  <a:srgbClr val="41745A"/>
                </a:solidFill>
                <a:latin typeface="Times New Roman"/>
                <a:ea typeface="Times New Roman"/>
                <a:cs typeface="Times New Roman"/>
              </a:defRPr>
            </a:lvl7pPr>
            <a:lvl8pPr algn="l">
              <a:defRPr sz="2250" b="1">
                <a:solidFill>
                  <a:srgbClr val="41745A"/>
                </a:solidFill>
                <a:latin typeface="Times New Roman"/>
                <a:ea typeface="Times New Roman"/>
                <a:cs typeface="Times New Roman"/>
              </a:defRPr>
            </a:lvl8pPr>
            <a:lvl9pPr algn="l">
              <a:defRPr sz="2250" b="1">
                <a:solidFill>
                  <a:srgbClr val="41745A"/>
                </a:solidFill>
                <a:latin typeface="Times New Roman"/>
                <a:ea typeface="Times New Roman"/>
                <a:cs typeface="Times New Roman"/>
              </a:defRPr>
            </a:lvl9pPr>
          </a:lstStyle>
          <a:p xmlns:a="http://schemas.openxmlformats.org/drawingml/2006/main">
            <a:pPr algn="l">
              <a:defRPr sz="2250" b="1">
                <a:solidFill>
                  <a:srgbClr val="41745A"/>
                </a:solidFill>
                <a:latin typeface="Times New Roman"/>
                <a:ea typeface="Times New Roman"/>
                <a:cs typeface="Times New Roman"/>
              </a:defRPr>
            </a:pPr>
            <a:r>
              <a:rPr sz="2250" b="1">
                <a:solidFill>
                  <a:srgbClr val="41745A"/>
                </a:solidFill>
                <a:latin typeface="Times New Roman"/>
                <a:ea typeface="Times New Roman"/>
                <a:cs typeface="Times New Roman"/>
              </a:rPr>
              <a:t>Reproducción bovina</a:t>
            </a:r>
          </a:p>
        </p:txBody>
      </p:sp>
      <p:sp>
        <p:nvSpPr>
          <p:cNvPr id="6" name="text-5">
            <a:extLst xmlns:a="http://schemas.openxmlformats.org/drawingml/2006/main">
              <a:ext uri="{FF2B5EF4-FFF2-40B4-BE49-F238E27FC236}">
                <a16:creationId xmlns:a16="http://schemas.microsoft.com/office/drawing/2014/main" id="{47C03914-5B3C-41BA-ABE1-6317CACA186A}"/>
              </a:ext>
            </a:extLst>
          </p:cNvPr>
          <p:cNvSpPr>
            <a:spLocks xmlns:a="http://schemas.openxmlformats.org/drawingml/2006/main" noGrp="1"/>
          </p:cNvSpPr>
          <p:nvPr/>
        </p:nvSpPr>
        <p:spPr>
          <a:xfrm xmlns:a="http://schemas.openxmlformats.org/drawingml/2006/main">
            <a:off x="609600" y="2286000"/>
            <a:ext cx="10972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202520"/>
                </a:solidFill>
                <a:latin typeface="Times New Roman"/>
                <a:ea typeface="Times New Roman"/>
                <a:cs typeface="Times New Roman"/>
              </a:defRPr>
            </a:defPPr>
            <a:lvl1pPr algn="l">
              <a:defRPr sz="2100">
                <a:solidFill>
                  <a:srgbClr val="202520"/>
                </a:solidFill>
                <a:latin typeface="Times New Roman"/>
                <a:ea typeface="Times New Roman"/>
                <a:cs typeface="Times New Roman"/>
              </a:defRPr>
            </a:lvl1pPr>
            <a:lvl2pPr algn="l">
              <a:defRPr sz="2100">
                <a:solidFill>
                  <a:srgbClr val="202520"/>
                </a:solidFill>
                <a:latin typeface="Times New Roman"/>
                <a:ea typeface="Times New Roman"/>
                <a:cs typeface="Times New Roman"/>
              </a:defRPr>
            </a:lvl2pPr>
            <a:lvl3pPr algn="l">
              <a:defRPr sz="2100">
                <a:solidFill>
                  <a:srgbClr val="202520"/>
                </a:solidFill>
                <a:latin typeface="Times New Roman"/>
                <a:ea typeface="Times New Roman"/>
                <a:cs typeface="Times New Roman"/>
              </a:defRPr>
            </a:lvl3pPr>
            <a:lvl4pPr algn="l">
              <a:defRPr sz="2100">
                <a:solidFill>
                  <a:srgbClr val="202520"/>
                </a:solidFill>
                <a:latin typeface="Times New Roman"/>
                <a:ea typeface="Times New Roman"/>
                <a:cs typeface="Times New Roman"/>
              </a:defRPr>
            </a:lvl4pPr>
            <a:lvl5pPr algn="l">
              <a:defRPr sz="2100">
                <a:solidFill>
                  <a:srgbClr val="202520"/>
                </a:solidFill>
                <a:latin typeface="Times New Roman"/>
                <a:ea typeface="Times New Roman"/>
                <a:cs typeface="Times New Roman"/>
              </a:defRPr>
            </a:lvl5pPr>
            <a:lvl6pPr algn="l">
              <a:defRPr sz="2100">
                <a:solidFill>
                  <a:srgbClr val="202520"/>
                </a:solidFill>
                <a:latin typeface="Times New Roman"/>
                <a:ea typeface="Times New Roman"/>
                <a:cs typeface="Times New Roman"/>
              </a:defRPr>
            </a:lvl6pPr>
            <a:lvl7pPr algn="l">
              <a:defRPr sz="2100">
                <a:solidFill>
                  <a:srgbClr val="202520"/>
                </a:solidFill>
                <a:latin typeface="Times New Roman"/>
                <a:ea typeface="Times New Roman"/>
                <a:cs typeface="Times New Roman"/>
              </a:defRPr>
            </a:lvl7pPr>
            <a:lvl8pPr algn="l">
              <a:defRPr sz="2100">
                <a:solidFill>
                  <a:srgbClr val="202520"/>
                </a:solidFill>
                <a:latin typeface="Times New Roman"/>
                <a:ea typeface="Times New Roman"/>
                <a:cs typeface="Times New Roman"/>
              </a:defRPr>
            </a:lvl8pPr>
            <a:lvl9pPr algn="l">
              <a:defRPr sz="2100">
                <a:solidFill>
                  <a:srgbClr val="202520"/>
                </a:solidFill>
                <a:latin typeface="Times New Roman"/>
                <a:ea typeface="Times New Roman"/>
                <a:cs typeface="Times New Roman"/>
              </a:defRPr>
            </a:lvl9pPr>
          </a:lstStyle>
          <a:p xmlns:a="http://schemas.openxmlformats.org/drawingml/2006/main">
            <a:pPr algn="l">
              <a:defRPr sz="2100">
                <a:solidFill>
                  <a:srgbClr val="202520"/>
                </a:solidFill>
                <a:latin typeface="Times New Roman"/>
                <a:ea typeface="Times New Roman"/>
                <a:cs typeface="Times New Roman"/>
              </a:defRPr>
            </a:pPr>
            <a:r>
              <a:rPr sz="2100">
                <a:solidFill>
                  <a:srgbClr val="202520"/>
                </a:solidFill>
                <a:latin typeface="Times New Roman"/>
                <a:ea typeface="Times New Roman"/>
                <a:cs typeface="Times New Roman"/>
              </a:rPr>
              <a:t>Evaluación del freemartinismo y de hembras de reemplazo.</a:t>
            </a:r>
          </a:p>
        </p:txBody>
      </p:sp>
      <p:sp>
        <p:nvSpPr>
          <p:cNvPr id="7" name="text-6">
            <a:extLst xmlns:a="http://schemas.openxmlformats.org/drawingml/2006/main">
              <a:ext uri="{FF2B5EF4-FFF2-40B4-BE49-F238E27FC236}">
                <a16:creationId xmlns:a16="http://schemas.microsoft.com/office/drawing/2014/main" id="{27691244-88A0-4F79-B496-772BC0B2EE26}"/>
              </a:ext>
            </a:extLst>
          </p:cNvPr>
          <p:cNvSpPr>
            <a:spLocks xmlns:a="http://schemas.openxmlformats.org/drawingml/2006/main" noGrp="1"/>
          </p:cNvSpPr>
          <p:nvPr/>
        </p:nvSpPr>
        <p:spPr>
          <a:xfrm xmlns:a="http://schemas.openxmlformats.org/drawingml/2006/main">
            <a:off x="609600" y="3286125"/>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41745A"/>
                </a:solidFill>
                <a:latin typeface="Times New Roman"/>
                <a:ea typeface="Times New Roman"/>
                <a:cs typeface="Times New Roman"/>
              </a:defRPr>
            </a:defPPr>
            <a:lvl1pPr algn="l">
              <a:defRPr sz="2250" b="1">
                <a:solidFill>
                  <a:srgbClr val="41745A"/>
                </a:solidFill>
                <a:latin typeface="Times New Roman"/>
                <a:ea typeface="Times New Roman"/>
                <a:cs typeface="Times New Roman"/>
              </a:defRPr>
            </a:lvl1pPr>
            <a:lvl2pPr algn="l">
              <a:defRPr sz="2250" b="1">
                <a:solidFill>
                  <a:srgbClr val="41745A"/>
                </a:solidFill>
                <a:latin typeface="Times New Roman"/>
                <a:ea typeface="Times New Roman"/>
                <a:cs typeface="Times New Roman"/>
              </a:defRPr>
            </a:lvl2pPr>
            <a:lvl3pPr algn="l">
              <a:defRPr sz="2250" b="1">
                <a:solidFill>
                  <a:srgbClr val="41745A"/>
                </a:solidFill>
                <a:latin typeface="Times New Roman"/>
                <a:ea typeface="Times New Roman"/>
                <a:cs typeface="Times New Roman"/>
              </a:defRPr>
            </a:lvl3pPr>
            <a:lvl4pPr algn="l">
              <a:defRPr sz="2250" b="1">
                <a:solidFill>
                  <a:srgbClr val="41745A"/>
                </a:solidFill>
                <a:latin typeface="Times New Roman"/>
                <a:ea typeface="Times New Roman"/>
                <a:cs typeface="Times New Roman"/>
              </a:defRPr>
            </a:lvl4pPr>
            <a:lvl5pPr algn="l">
              <a:defRPr sz="2250" b="1">
                <a:solidFill>
                  <a:srgbClr val="41745A"/>
                </a:solidFill>
                <a:latin typeface="Times New Roman"/>
                <a:ea typeface="Times New Roman"/>
                <a:cs typeface="Times New Roman"/>
              </a:defRPr>
            </a:lvl5pPr>
            <a:lvl6pPr algn="l">
              <a:defRPr sz="2250" b="1">
                <a:solidFill>
                  <a:srgbClr val="41745A"/>
                </a:solidFill>
                <a:latin typeface="Times New Roman"/>
                <a:ea typeface="Times New Roman"/>
                <a:cs typeface="Times New Roman"/>
              </a:defRPr>
            </a:lvl6pPr>
            <a:lvl7pPr algn="l">
              <a:defRPr sz="2250" b="1">
                <a:solidFill>
                  <a:srgbClr val="41745A"/>
                </a:solidFill>
                <a:latin typeface="Times New Roman"/>
                <a:ea typeface="Times New Roman"/>
                <a:cs typeface="Times New Roman"/>
              </a:defRPr>
            </a:lvl7pPr>
            <a:lvl8pPr algn="l">
              <a:defRPr sz="2250" b="1">
                <a:solidFill>
                  <a:srgbClr val="41745A"/>
                </a:solidFill>
                <a:latin typeface="Times New Roman"/>
                <a:ea typeface="Times New Roman"/>
                <a:cs typeface="Times New Roman"/>
              </a:defRPr>
            </a:lvl8pPr>
            <a:lvl9pPr algn="l">
              <a:defRPr sz="2250" b="1">
                <a:solidFill>
                  <a:srgbClr val="41745A"/>
                </a:solidFill>
                <a:latin typeface="Times New Roman"/>
                <a:ea typeface="Times New Roman"/>
                <a:cs typeface="Times New Roman"/>
              </a:defRPr>
            </a:lvl9pPr>
          </a:lstStyle>
          <a:p xmlns:a="http://schemas.openxmlformats.org/drawingml/2006/main">
            <a:pPr algn="l">
              <a:defRPr sz="2250" b="1">
                <a:solidFill>
                  <a:srgbClr val="41745A"/>
                </a:solidFill>
                <a:latin typeface="Times New Roman"/>
                <a:ea typeface="Times New Roman"/>
                <a:cs typeface="Times New Roman"/>
              </a:defRPr>
            </a:pPr>
            <a:r>
              <a:rPr sz="2250" b="1">
                <a:solidFill>
                  <a:srgbClr val="41745A"/>
                </a:solidFill>
                <a:latin typeface="Times New Roman"/>
                <a:ea typeface="Times New Roman"/>
                <a:cs typeface="Times New Roman"/>
              </a:rPr>
              <a:t>Acuicultura y conservación</a:t>
            </a:r>
          </a:p>
        </p:txBody>
      </p:sp>
      <p:sp>
        <p:nvSpPr>
          <p:cNvPr id="8" name="text-7">
            <a:extLst xmlns:a="http://schemas.openxmlformats.org/drawingml/2006/main">
              <a:ext uri="{FF2B5EF4-FFF2-40B4-BE49-F238E27FC236}">
                <a16:creationId xmlns:a16="http://schemas.microsoft.com/office/drawing/2014/main" id="{C954B1B8-C6CE-4F6F-A0AB-F48E3E55A945}"/>
              </a:ext>
            </a:extLst>
          </p:cNvPr>
          <p:cNvSpPr>
            <a:spLocks xmlns:a="http://schemas.openxmlformats.org/drawingml/2006/main" noGrp="1"/>
          </p:cNvSpPr>
          <p:nvPr/>
        </p:nvSpPr>
        <p:spPr>
          <a:xfrm xmlns:a="http://schemas.openxmlformats.org/drawingml/2006/main">
            <a:off x="609600" y="3743325"/>
            <a:ext cx="10972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202520"/>
                </a:solidFill>
                <a:latin typeface="Times New Roman"/>
                <a:ea typeface="Times New Roman"/>
                <a:cs typeface="Times New Roman"/>
              </a:defRPr>
            </a:defPPr>
            <a:lvl1pPr algn="l">
              <a:defRPr sz="2100">
                <a:solidFill>
                  <a:srgbClr val="202520"/>
                </a:solidFill>
                <a:latin typeface="Times New Roman"/>
                <a:ea typeface="Times New Roman"/>
                <a:cs typeface="Times New Roman"/>
              </a:defRPr>
            </a:lvl1pPr>
            <a:lvl2pPr algn="l">
              <a:defRPr sz="2100">
                <a:solidFill>
                  <a:srgbClr val="202520"/>
                </a:solidFill>
                <a:latin typeface="Times New Roman"/>
                <a:ea typeface="Times New Roman"/>
                <a:cs typeface="Times New Roman"/>
              </a:defRPr>
            </a:lvl2pPr>
            <a:lvl3pPr algn="l">
              <a:defRPr sz="2100">
                <a:solidFill>
                  <a:srgbClr val="202520"/>
                </a:solidFill>
                <a:latin typeface="Times New Roman"/>
                <a:ea typeface="Times New Roman"/>
                <a:cs typeface="Times New Roman"/>
              </a:defRPr>
            </a:lvl3pPr>
            <a:lvl4pPr algn="l">
              <a:defRPr sz="2100">
                <a:solidFill>
                  <a:srgbClr val="202520"/>
                </a:solidFill>
                <a:latin typeface="Times New Roman"/>
                <a:ea typeface="Times New Roman"/>
                <a:cs typeface="Times New Roman"/>
              </a:defRPr>
            </a:lvl4pPr>
            <a:lvl5pPr algn="l">
              <a:defRPr sz="2100">
                <a:solidFill>
                  <a:srgbClr val="202520"/>
                </a:solidFill>
                <a:latin typeface="Times New Roman"/>
                <a:ea typeface="Times New Roman"/>
                <a:cs typeface="Times New Roman"/>
              </a:defRPr>
            </a:lvl5pPr>
            <a:lvl6pPr algn="l">
              <a:defRPr sz="2100">
                <a:solidFill>
                  <a:srgbClr val="202520"/>
                </a:solidFill>
                <a:latin typeface="Times New Roman"/>
                <a:ea typeface="Times New Roman"/>
                <a:cs typeface="Times New Roman"/>
              </a:defRPr>
            </a:lvl6pPr>
            <a:lvl7pPr algn="l">
              <a:defRPr sz="2100">
                <a:solidFill>
                  <a:srgbClr val="202520"/>
                </a:solidFill>
                <a:latin typeface="Times New Roman"/>
                <a:ea typeface="Times New Roman"/>
                <a:cs typeface="Times New Roman"/>
              </a:defRPr>
            </a:lvl7pPr>
            <a:lvl8pPr algn="l">
              <a:defRPr sz="2100">
                <a:solidFill>
                  <a:srgbClr val="202520"/>
                </a:solidFill>
                <a:latin typeface="Times New Roman"/>
                <a:ea typeface="Times New Roman"/>
                <a:cs typeface="Times New Roman"/>
              </a:defRPr>
            </a:lvl8pPr>
            <a:lvl9pPr algn="l">
              <a:defRPr sz="2100">
                <a:solidFill>
                  <a:srgbClr val="202520"/>
                </a:solidFill>
                <a:latin typeface="Times New Roman"/>
                <a:ea typeface="Times New Roman"/>
                <a:cs typeface="Times New Roman"/>
              </a:defRPr>
            </a:lvl9pPr>
          </a:lstStyle>
          <a:p xmlns:a="http://schemas.openxmlformats.org/drawingml/2006/main">
            <a:pPr algn="l">
              <a:defRPr sz="2100">
                <a:solidFill>
                  <a:srgbClr val="202520"/>
                </a:solidFill>
                <a:latin typeface="Times New Roman"/>
                <a:ea typeface="Times New Roman"/>
                <a:cs typeface="Times New Roman"/>
              </a:defRPr>
            </a:pPr>
            <a:r>
              <a:rPr sz="2100">
                <a:solidFill>
                  <a:srgbClr val="202520"/>
                </a:solidFill>
                <a:latin typeface="Times New Roman"/>
                <a:ea typeface="Times New Roman"/>
                <a:cs typeface="Times New Roman"/>
              </a:rPr>
              <a:t>Control de incubación y manejo de reproductores según la especie.</a:t>
            </a:r>
          </a:p>
        </p:txBody>
      </p:sp>
      <p:sp>
        <p:nvSpPr>
          <p:cNvPr id="9" name="text-8">
            <a:extLst xmlns:a="http://schemas.openxmlformats.org/drawingml/2006/main">
              <a:ext uri="{FF2B5EF4-FFF2-40B4-BE49-F238E27FC236}">
                <a16:creationId xmlns:a16="http://schemas.microsoft.com/office/drawing/2014/main" id="{996F0BC8-6C95-42ED-8C30-75B7DAA98FE3}"/>
              </a:ext>
            </a:extLst>
          </p:cNvPr>
          <p:cNvSpPr>
            <a:spLocks xmlns:a="http://schemas.openxmlformats.org/drawingml/2006/main" noGrp="1"/>
          </p:cNvSpPr>
          <p:nvPr/>
        </p:nvSpPr>
        <p:spPr>
          <a:xfrm xmlns:a="http://schemas.openxmlformats.org/drawingml/2006/main">
            <a:off x="609600" y="4743450"/>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41745A"/>
                </a:solidFill>
                <a:latin typeface="Times New Roman"/>
                <a:ea typeface="Times New Roman"/>
                <a:cs typeface="Times New Roman"/>
              </a:defRPr>
            </a:defPPr>
            <a:lvl1pPr algn="l">
              <a:defRPr sz="2250" b="1">
                <a:solidFill>
                  <a:srgbClr val="41745A"/>
                </a:solidFill>
                <a:latin typeface="Times New Roman"/>
                <a:ea typeface="Times New Roman"/>
                <a:cs typeface="Times New Roman"/>
              </a:defRPr>
            </a:lvl1pPr>
            <a:lvl2pPr algn="l">
              <a:defRPr sz="2250" b="1">
                <a:solidFill>
                  <a:srgbClr val="41745A"/>
                </a:solidFill>
                <a:latin typeface="Times New Roman"/>
                <a:ea typeface="Times New Roman"/>
                <a:cs typeface="Times New Roman"/>
              </a:defRPr>
            </a:lvl2pPr>
            <a:lvl3pPr algn="l">
              <a:defRPr sz="2250" b="1">
                <a:solidFill>
                  <a:srgbClr val="41745A"/>
                </a:solidFill>
                <a:latin typeface="Times New Roman"/>
                <a:ea typeface="Times New Roman"/>
                <a:cs typeface="Times New Roman"/>
              </a:defRPr>
            </a:lvl3pPr>
            <a:lvl4pPr algn="l">
              <a:defRPr sz="2250" b="1">
                <a:solidFill>
                  <a:srgbClr val="41745A"/>
                </a:solidFill>
                <a:latin typeface="Times New Roman"/>
                <a:ea typeface="Times New Roman"/>
                <a:cs typeface="Times New Roman"/>
              </a:defRPr>
            </a:lvl4pPr>
            <a:lvl5pPr algn="l">
              <a:defRPr sz="2250" b="1">
                <a:solidFill>
                  <a:srgbClr val="41745A"/>
                </a:solidFill>
                <a:latin typeface="Times New Roman"/>
                <a:ea typeface="Times New Roman"/>
                <a:cs typeface="Times New Roman"/>
              </a:defRPr>
            </a:lvl5pPr>
            <a:lvl6pPr algn="l">
              <a:defRPr sz="2250" b="1">
                <a:solidFill>
                  <a:srgbClr val="41745A"/>
                </a:solidFill>
                <a:latin typeface="Times New Roman"/>
                <a:ea typeface="Times New Roman"/>
                <a:cs typeface="Times New Roman"/>
              </a:defRPr>
            </a:lvl6pPr>
            <a:lvl7pPr algn="l">
              <a:defRPr sz="2250" b="1">
                <a:solidFill>
                  <a:srgbClr val="41745A"/>
                </a:solidFill>
                <a:latin typeface="Times New Roman"/>
                <a:ea typeface="Times New Roman"/>
                <a:cs typeface="Times New Roman"/>
              </a:defRPr>
            </a:lvl7pPr>
            <a:lvl8pPr algn="l">
              <a:defRPr sz="2250" b="1">
                <a:solidFill>
                  <a:srgbClr val="41745A"/>
                </a:solidFill>
                <a:latin typeface="Times New Roman"/>
                <a:ea typeface="Times New Roman"/>
                <a:cs typeface="Times New Roman"/>
              </a:defRPr>
            </a:lvl8pPr>
            <a:lvl9pPr algn="l">
              <a:defRPr sz="2250" b="1">
                <a:solidFill>
                  <a:srgbClr val="41745A"/>
                </a:solidFill>
                <a:latin typeface="Times New Roman"/>
                <a:ea typeface="Times New Roman"/>
                <a:cs typeface="Times New Roman"/>
              </a:defRPr>
            </a:lvl9pPr>
          </a:lstStyle>
          <a:p xmlns:a="http://schemas.openxmlformats.org/drawingml/2006/main">
            <a:pPr algn="l">
              <a:defRPr sz="2250" b="1">
                <a:solidFill>
                  <a:srgbClr val="41745A"/>
                </a:solidFill>
                <a:latin typeface="Times New Roman"/>
                <a:ea typeface="Times New Roman"/>
                <a:cs typeface="Times New Roman"/>
              </a:defRPr>
            </a:pPr>
            <a:r>
              <a:rPr sz="2250" b="1">
                <a:solidFill>
                  <a:srgbClr val="41745A"/>
                </a:solidFill>
                <a:latin typeface="Times New Roman"/>
                <a:ea typeface="Times New Roman"/>
                <a:cs typeface="Times New Roman"/>
              </a:rPr>
              <a:t>Diagnóstico</a:t>
            </a:r>
          </a:p>
        </p:txBody>
      </p:sp>
      <p:sp>
        <p:nvSpPr>
          <p:cNvPr id="10" name="text-9">
            <a:extLst xmlns:a="http://schemas.openxmlformats.org/drawingml/2006/main">
              <a:ext uri="{FF2B5EF4-FFF2-40B4-BE49-F238E27FC236}">
                <a16:creationId xmlns:a16="http://schemas.microsoft.com/office/drawing/2014/main" id="{D97D0784-063F-4108-8361-28350F5150DE}"/>
              </a:ext>
            </a:extLst>
          </p:cNvPr>
          <p:cNvSpPr>
            <a:spLocks xmlns:a="http://schemas.openxmlformats.org/drawingml/2006/main" noGrp="1"/>
          </p:cNvSpPr>
          <p:nvPr/>
        </p:nvSpPr>
        <p:spPr>
          <a:xfrm xmlns:a="http://schemas.openxmlformats.org/drawingml/2006/main">
            <a:off x="609600" y="5200650"/>
            <a:ext cx="10972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202520"/>
                </a:solidFill>
                <a:latin typeface="Times New Roman"/>
                <a:ea typeface="Times New Roman"/>
                <a:cs typeface="Times New Roman"/>
              </a:defRPr>
            </a:defPPr>
            <a:lvl1pPr algn="l">
              <a:defRPr sz="2100">
                <a:solidFill>
                  <a:srgbClr val="202520"/>
                </a:solidFill>
                <a:latin typeface="Times New Roman"/>
                <a:ea typeface="Times New Roman"/>
                <a:cs typeface="Times New Roman"/>
              </a:defRPr>
            </a:lvl1pPr>
            <a:lvl2pPr algn="l">
              <a:defRPr sz="2100">
                <a:solidFill>
                  <a:srgbClr val="202520"/>
                </a:solidFill>
                <a:latin typeface="Times New Roman"/>
                <a:ea typeface="Times New Roman"/>
                <a:cs typeface="Times New Roman"/>
              </a:defRPr>
            </a:lvl2pPr>
            <a:lvl3pPr algn="l">
              <a:defRPr sz="2100">
                <a:solidFill>
                  <a:srgbClr val="202520"/>
                </a:solidFill>
                <a:latin typeface="Times New Roman"/>
                <a:ea typeface="Times New Roman"/>
                <a:cs typeface="Times New Roman"/>
              </a:defRPr>
            </a:lvl3pPr>
            <a:lvl4pPr algn="l">
              <a:defRPr sz="2100">
                <a:solidFill>
                  <a:srgbClr val="202520"/>
                </a:solidFill>
                <a:latin typeface="Times New Roman"/>
                <a:ea typeface="Times New Roman"/>
                <a:cs typeface="Times New Roman"/>
              </a:defRPr>
            </a:lvl4pPr>
            <a:lvl5pPr algn="l">
              <a:defRPr sz="2100">
                <a:solidFill>
                  <a:srgbClr val="202520"/>
                </a:solidFill>
                <a:latin typeface="Times New Roman"/>
                <a:ea typeface="Times New Roman"/>
                <a:cs typeface="Times New Roman"/>
              </a:defRPr>
            </a:lvl5pPr>
            <a:lvl6pPr algn="l">
              <a:defRPr sz="2100">
                <a:solidFill>
                  <a:srgbClr val="202520"/>
                </a:solidFill>
                <a:latin typeface="Times New Roman"/>
                <a:ea typeface="Times New Roman"/>
                <a:cs typeface="Times New Roman"/>
              </a:defRPr>
            </a:lvl6pPr>
            <a:lvl7pPr algn="l">
              <a:defRPr sz="2100">
                <a:solidFill>
                  <a:srgbClr val="202520"/>
                </a:solidFill>
                <a:latin typeface="Times New Roman"/>
                <a:ea typeface="Times New Roman"/>
                <a:cs typeface="Times New Roman"/>
              </a:defRPr>
            </a:lvl7pPr>
            <a:lvl8pPr algn="l">
              <a:defRPr sz="2100">
                <a:solidFill>
                  <a:srgbClr val="202520"/>
                </a:solidFill>
                <a:latin typeface="Times New Roman"/>
                <a:ea typeface="Times New Roman"/>
                <a:cs typeface="Times New Roman"/>
              </a:defRPr>
            </a:lvl8pPr>
            <a:lvl9pPr algn="l">
              <a:defRPr sz="2100">
                <a:solidFill>
                  <a:srgbClr val="202520"/>
                </a:solidFill>
                <a:latin typeface="Times New Roman"/>
                <a:ea typeface="Times New Roman"/>
                <a:cs typeface="Times New Roman"/>
              </a:defRPr>
            </a:lvl9pPr>
          </a:lstStyle>
          <a:p xmlns:a="http://schemas.openxmlformats.org/drawingml/2006/main">
            <a:pPr algn="l">
              <a:defRPr sz="2100">
                <a:solidFill>
                  <a:srgbClr val="202520"/>
                </a:solidFill>
                <a:latin typeface="Times New Roman"/>
                <a:ea typeface="Times New Roman"/>
                <a:cs typeface="Times New Roman"/>
              </a:defRPr>
            </a:pPr>
            <a:r>
              <a:rPr sz="2100">
                <a:solidFill>
                  <a:srgbClr val="202520"/>
                </a:solidFill>
                <a:latin typeface="Times New Roman"/>
                <a:ea typeface="Times New Roman"/>
                <a:cs typeface="Times New Roman"/>
              </a:rPr>
              <a:t>Interpretación conjunta del cariotipo, la gónada y el aparato reproductor.</a:t>
            </a:r>
          </a:p>
        </p:txBody>
      </p:sp>
    </p:spTree>
    <p:extLst>
      <p:ext uri="{BB962C8B-B14F-4D97-AF65-F5344CB8AC3E}">
        <p14:creationId xmlns:p14="http://schemas.microsoft.com/office/powerpoint/2010/main" val="1313076017"/>
      </p:ext>
    </p:extLst>
  </p:cSld>
</p:sld>
</file>

<file path=ppt/slides/slide18.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sp>
        <p:nvSpPr>
          <p:cNvPr id="13" name="title">
            <a:extLst xmlns:a="http://schemas.openxmlformats.org/drawingml/2006/main">
              <a:ext uri="{FF2B5EF4-FFF2-40B4-BE49-F238E27FC236}">
                <a16:creationId xmlns:a16="http://schemas.microsoft.com/office/drawing/2014/main" id="{C5488100-CC80-477F-9975-463B0CC4BC74}"/>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Conclusiones</a:t>
            </a:r>
          </a:p>
        </p:txBody>
      </p:sp>
      <p:sp>
        <p:nvSpPr>
          <p:cNvPr id="2" name="">
            <a:extLst xmlns:a="http://schemas.openxmlformats.org/drawingml/2006/main">
              <a:ext uri="{FF2B5EF4-FFF2-40B4-BE49-F238E27FC236}">
                <a16:creationId xmlns:a16="http://schemas.microsoft.com/office/drawing/2014/main" id="{FDDA0DA2-0DA9-42DD-A71C-AD22C327427A}"/>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D3140F19-4CD6-4582-BDDF-68120D6B51CA}"/>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18</a:t>
            </a:r>
          </a:p>
        </p:txBody>
      </p:sp>
      <p:sp>
        <p:nvSpPr>
          <p:cNvPr id="4" name="references">
            <a:extLst xmlns:a="http://schemas.openxmlformats.org/drawingml/2006/main">
              <a:ext uri="{FF2B5EF4-FFF2-40B4-BE49-F238E27FC236}">
                <a16:creationId xmlns:a16="http://schemas.microsoft.com/office/drawing/2014/main" id="{7BF4EA18-7B92-4C38-84A2-236A4D6B8DBA}"/>
              </a:ext>
            </a:extLst>
          </p:cNvPr>
          <p:cNvSpPr>
            <a:spLocks xmlns:a="http://schemas.openxmlformats.org/drawingml/2006/main" noGrp="1"/>
          </p:cNvSpPr>
          <p:nvPr/>
        </p:nvSpPr>
        <p:spPr>
          <a:xfrm xmlns:a="http://schemas.openxmlformats.org/drawingml/2006/main">
            <a:off x="609600" y="6419850"/>
            <a:ext cx="10382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a:solidFill>
                  <a:srgbClr val="41745A"/>
                </a:solidFill>
                <a:latin typeface="Times New Roman"/>
                <a:ea typeface="Times New Roman"/>
                <a:cs typeface="Times New Roman"/>
              </a:defRPr>
            </a:defPPr>
            <a:lvl1pPr algn="l">
              <a:defRPr sz="1350">
                <a:solidFill>
                  <a:srgbClr val="41745A"/>
                </a:solidFill>
                <a:latin typeface="Times New Roman"/>
                <a:ea typeface="Times New Roman"/>
                <a:cs typeface="Times New Roman"/>
              </a:defRPr>
            </a:lvl1pPr>
            <a:lvl2pPr algn="l">
              <a:defRPr sz="1350">
                <a:solidFill>
                  <a:srgbClr val="41745A"/>
                </a:solidFill>
                <a:latin typeface="Times New Roman"/>
                <a:ea typeface="Times New Roman"/>
                <a:cs typeface="Times New Roman"/>
              </a:defRPr>
            </a:lvl2pPr>
            <a:lvl3pPr algn="l">
              <a:defRPr sz="1350">
                <a:solidFill>
                  <a:srgbClr val="41745A"/>
                </a:solidFill>
                <a:latin typeface="Times New Roman"/>
                <a:ea typeface="Times New Roman"/>
                <a:cs typeface="Times New Roman"/>
              </a:defRPr>
            </a:lvl3pPr>
            <a:lvl4pPr algn="l">
              <a:defRPr sz="1350">
                <a:solidFill>
                  <a:srgbClr val="41745A"/>
                </a:solidFill>
                <a:latin typeface="Times New Roman"/>
                <a:ea typeface="Times New Roman"/>
                <a:cs typeface="Times New Roman"/>
              </a:defRPr>
            </a:lvl4pPr>
            <a:lvl5pPr algn="l">
              <a:defRPr sz="1350">
                <a:solidFill>
                  <a:srgbClr val="41745A"/>
                </a:solidFill>
                <a:latin typeface="Times New Roman"/>
                <a:ea typeface="Times New Roman"/>
                <a:cs typeface="Times New Roman"/>
              </a:defRPr>
            </a:lvl5pPr>
            <a:lvl6pPr algn="l">
              <a:defRPr sz="1350">
                <a:solidFill>
                  <a:srgbClr val="41745A"/>
                </a:solidFill>
                <a:latin typeface="Times New Roman"/>
                <a:ea typeface="Times New Roman"/>
                <a:cs typeface="Times New Roman"/>
              </a:defRPr>
            </a:lvl6pPr>
            <a:lvl7pPr algn="l">
              <a:defRPr sz="1350">
                <a:solidFill>
                  <a:srgbClr val="41745A"/>
                </a:solidFill>
                <a:latin typeface="Times New Roman"/>
                <a:ea typeface="Times New Roman"/>
                <a:cs typeface="Times New Roman"/>
              </a:defRPr>
            </a:lvl7pPr>
            <a:lvl8pPr algn="l">
              <a:defRPr sz="1350">
                <a:solidFill>
                  <a:srgbClr val="41745A"/>
                </a:solidFill>
                <a:latin typeface="Times New Roman"/>
                <a:ea typeface="Times New Roman"/>
                <a:cs typeface="Times New Roman"/>
              </a:defRPr>
            </a:lvl8pPr>
            <a:lvl9pPr algn="l">
              <a:defRPr sz="1350">
                <a:solidFill>
                  <a:srgbClr val="41745A"/>
                </a:solidFill>
                <a:latin typeface="Times New Roman"/>
                <a:ea typeface="Times New Roman"/>
                <a:cs typeface="Times New Roman"/>
              </a:defRPr>
            </a:lvl9pPr>
          </a:lstStyle>
          <a:p xmlns:a="http://schemas.openxmlformats.org/drawingml/2006/main">
            <a:pPr algn="l">
              <a:defRPr sz="1350">
                <a:solidFill>
                  <a:srgbClr val="41745A"/>
                </a:solidFill>
                <a:latin typeface="Times New Roman"/>
                <a:ea typeface="Times New Roman"/>
                <a:cs typeface="Times New Roman"/>
              </a:defRPr>
            </a:pPr>
            <a:r>
              <a:rPr sz="1350">
                <a:solidFill>
                  <a:srgbClr val="41745A"/>
                </a:solidFill>
                <a:latin typeface="Times New Roman"/>
                <a:ea typeface="Times New Roman"/>
                <a:cs typeface="Times New Roman"/>
              </a:rPr>
              <a:t>Fuentes: [1] [4] [3] [7]</a:t>
            </a:r>
          </a:p>
        </p:txBody>
      </p:sp>
      <p:sp>
        <p:nvSpPr>
          <p:cNvPr id="5" name="text-4">
            <a:extLst xmlns:a="http://schemas.openxmlformats.org/drawingml/2006/main">
              <a:ext uri="{FF2B5EF4-FFF2-40B4-BE49-F238E27FC236}">
                <a16:creationId xmlns:a16="http://schemas.microsoft.com/office/drawing/2014/main" id="{3972A986-4CB8-4A9E-A7FB-2D01099745C9}"/>
              </a:ext>
            </a:extLst>
          </p:cNvPr>
          <p:cNvSpPr>
            <a:spLocks xmlns:a="http://schemas.openxmlformats.org/drawingml/2006/main" noGrp="1"/>
          </p:cNvSpPr>
          <p:nvPr/>
        </p:nvSpPr>
        <p:spPr>
          <a:xfrm xmlns:a="http://schemas.openxmlformats.org/drawingml/2006/main">
            <a:off x="647700" y="186690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000" b="1">
                <a:solidFill>
                  <a:srgbClr val="41745A"/>
                </a:solidFill>
                <a:latin typeface="Times New Roman"/>
                <a:ea typeface="Times New Roman"/>
                <a:cs typeface="Times New Roman"/>
              </a:defRPr>
            </a:defPPr>
            <a:lvl1pPr algn="l">
              <a:defRPr sz="3000" b="1">
                <a:solidFill>
                  <a:srgbClr val="41745A"/>
                </a:solidFill>
                <a:latin typeface="Times New Roman"/>
                <a:ea typeface="Times New Roman"/>
                <a:cs typeface="Times New Roman"/>
              </a:defRPr>
            </a:lvl1pPr>
            <a:lvl2pPr algn="l">
              <a:defRPr sz="3000" b="1">
                <a:solidFill>
                  <a:srgbClr val="41745A"/>
                </a:solidFill>
                <a:latin typeface="Times New Roman"/>
                <a:ea typeface="Times New Roman"/>
                <a:cs typeface="Times New Roman"/>
              </a:defRPr>
            </a:lvl2pPr>
            <a:lvl3pPr algn="l">
              <a:defRPr sz="3000" b="1">
                <a:solidFill>
                  <a:srgbClr val="41745A"/>
                </a:solidFill>
                <a:latin typeface="Times New Roman"/>
                <a:ea typeface="Times New Roman"/>
                <a:cs typeface="Times New Roman"/>
              </a:defRPr>
            </a:lvl3pPr>
            <a:lvl4pPr algn="l">
              <a:defRPr sz="3000" b="1">
                <a:solidFill>
                  <a:srgbClr val="41745A"/>
                </a:solidFill>
                <a:latin typeface="Times New Roman"/>
                <a:ea typeface="Times New Roman"/>
                <a:cs typeface="Times New Roman"/>
              </a:defRPr>
            </a:lvl4pPr>
            <a:lvl5pPr algn="l">
              <a:defRPr sz="3000" b="1">
                <a:solidFill>
                  <a:srgbClr val="41745A"/>
                </a:solidFill>
                <a:latin typeface="Times New Roman"/>
                <a:ea typeface="Times New Roman"/>
                <a:cs typeface="Times New Roman"/>
              </a:defRPr>
            </a:lvl5pPr>
            <a:lvl6pPr algn="l">
              <a:defRPr sz="3000" b="1">
                <a:solidFill>
                  <a:srgbClr val="41745A"/>
                </a:solidFill>
                <a:latin typeface="Times New Roman"/>
                <a:ea typeface="Times New Roman"/>
                <a:cs typeface="Times New Roman"/>
              </a:defRPr>
            </a:lvl6pPr>
            <a:lvl7pPr algn="l">
              <a:defRPr sz="3000" b="1">
                <a:solidFill>
                  <a:srgbClr val="41745A"/>
                </a:solidFill>
                <a:latin typeface="Times New Roman"/>
                <a:ea typeface="Times New Roman"/>
                <a:cs typeface="Times New Roman"/>
              </a:defRPr>
            </a:lvl7pPr>
            <a:lvl8pPr algn="l">
              <a:defRPr sz="3000" b="1">
                <a:solidFill>
                  <a:srgbClr val="41745A"/>
                </a:solidFill>
                <a:latin typeface="Times New Roman"/>
                <a:ea typeface="Times New Roman"/>
                <a:cs typeface="Times New Roman"/>
              </a:defRPr>
            </a:lvl8pPr>
            <a:lvl9pPr algn="l">
              <a:defRPr sz="3000" b="1">
                <a:solidFill>
                  <a:srgbClr val="41745A"/>
                </a:solidFill>
                <a:latin typeface="Times New Roman"/>
                <a:ea typeface="Times New Roman"/>
                <a:cs typeface="Times New Roman"/>
              </a:defRPr>
            </a:lvl9pPr>
          </a:lstStyle>
          <a:p xmlns:a="http://schemas.openxmlformats.org/drawingml/2006/main">
            <a:pPr algn="l">
              <a:defRPr sz="3000" b="1">
                <a:solidFill>
                  <a:srgbClr val="41745A"/>
                </a:solidFill>
                <a:latin typeface="Times New Roman"/>
                <a:ea typeface="Times New Roman"/>
                <a:cs typeface="Times New Roman"/>
              </a:defRPr>
            </a:pPr>
            <a:r>
              <a:rPr sz="3000" b="1">
                <a:solidFill>
                  <a:srgbClr val="41745A"/>
                </a:solidFill>
                <a:latin typeface="Times New Roman"/>
                <a:ea typeface="Times New Roman"/>
                <a:cs typeface="Times New Roman"/>
              </a:rPr>
              <a:t>1</a:t>
            </a:r>
          </a:p>
        </p:txBody>
      </p:sp>
      <p:sp>
        <p:nvSpPr>
          <p:cNvPr id="6" name="text-5">
            <a:extLst xmlns:a="http://schemas.openxmlformats.org/drawingml/2006/main">
              <a:ext uri="{FF2B5EF4-FFF2-40B4-BE49-F238E27FC236}">
                <a16:creationId xmlns:a16="http://schemas.microsoft.com/office/drawing/2014/main" id="{A8A1EB23-1C62-40B7-B8AE-696BB08CBBC2}"/>
              </a:ext>
            </a:extLst>
          </p:cNvPr>
          <p:cNvSpPr>
            <a:spLocks xmlns:a="http://schemas.openxmlformats.org/drawingml/2006/main" noGrp="1"/>
          </p:cNvSpPr>
          <p:nvPr/>
        </p:nvSpPr>
        <p:spPr>
          <a:xfrm xmlns:a="http://schemas.openxmlformats.org/drawingml/2006/main">
            <a:off x="1447800" y="1895475"/>
            <a:ext cx="10001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a:solidFill>
                  <a:srgbClr val="183F31"/>
                </a:solidFill>
                <a:latin typeface="Times New Roman"/>
                <a:ea typeface="Times New Roman"/>
                <a:cs typeface="Times New Roman"/>
              </a:defRPr>
            </a:defPPr>
            <a:lvl1pPr algn="l">
              <a:defRPr sz="2400">
                <a:solidFill>
                  <a:srgbClr val="183F31"/>
                </a:solidFill>
                <a:latin typeface="Times New Roman"/>
                <a:ea typeface="Times New Roman"/>
                <a:cs typeface="Times New Roman"/>
              </a:defRPr>
            </a:lvl1pPr>
            <a:lvl2pPr algn="l">
              <a:defRPr sz="2400">
                <a:solidFill>
                  <a:srgbClr val="183F31"/>
                </a:solidFill>
                <a:latin typeface="Times New Roman"/>
                <a:ea typeface="Times New Roman"/>
                <a:cs typeface="Times New Roman"/>
              </a:defRPr>
            </a:lvl2pPr>
            <a:lvl3pPr algn="l">
              <a:defRPr sz="2400">
                <a:solidFill>
                  <a:srgbClr val="183F31"/>
                </a:solidFill>
                <a:latin typeface="Times New Roman"/>
                <a:ea typeface="Times New Roman"/>
                <a:cs typeface="Times New Roman"/>
              </a:defRPr>
            </a:lvl3pPr>
            <a:lvl4pPr algn="l">
              <a:defRPr sz="2400">
                <a:solidFill>
                  <a:srgbClr val="183F31"/>
                </a:solidFill>
                <a:latin typeface="Times New Roman"/>
                <a:ea typeface="Times New Roman"/>
                <a:cs typeface="Times New Roman"/>
              </a:defRPr>
            </a:lvl4pPr>
            <a:lvl5pPr algn="l">
              <a:defRPr sz="2400">
                <a:solidFill>
                  <a:srgbClr val="183F31"/>
                </a:solidFill>
                <a:latin typeface="Times New Roman"/>
                <a:ea typeface="Times New Roman"/>
                <a:cs typeface="Times New Roman"/>
              </a:defRPr>
            </a:lvl5pPr>
            <a:lvl6pPr algn="l">
              <a:defRPr sz="2400">
                <a:solidFill>
                  <a:srgbClr val="183F31"/>
                </a:solidFill>
                <a:latin typeface="Times New Roman"/>
                <a:ea typeface="Times New Roman"/>
                <a:cs typeface="Times New Roman"/>
              </a:defRPr>
            </a:lvl6pPr>
            <a:lvl7pPr algn="l">
              <a:defRPr sz="2400">
                <a:solidFill>
                  <a:srgbClr val="183F31"/>
                </a:solidFill>
                <a:latin typeface="Times New Roman"/>
                <a:ea typeface="Times New Roman"/>
                <a:cs typeface="Times New Roman"/>
              </a:defRPr>
            </a:lvl7pPr>
            <a:lvl8pPr algn="l">
              <a:defRPr sz="2400">
                <a:solidFill>
                  <a:srgbClr val="183F31"/>
                </a:solidFill>
                <a:latin typeface="Times New Roman"/>
                <a:ea typeface="Times New Roman"/>
                <a:cs typeface="Times New Roman"/>
              </a:defRPr>
            </a:lvl8pPr>
            <a:lvl9pPr algn="l">
              <a:defRPr sz="2400">
                <a:solidFill>
                  <a:srgbClr val="183F31"/>
                </a:solidFill>
                <a:latin typeface="Times New Roman"/>
                <a:ea typeface="Times New Roman"/>
                <a:cs typeface="Times New Roman"/>
              </a:defRPr>
            </a:lvl9pPr>
          </a:lstStyle>
          <a:p xmlns:a="http://schemas.openxmlformats.org/drawingml/2006/main">
            <a:pPr algn="l">
              <a:defRPr sz="2400">
                <a:solidFill>
                  <a:srgbClr val="183F31"/>
                </a:solidFill>
                <a:latin typeface="Times New Roman"/>
                <a:ea typeface="Times New Roman"/>
                <a:cs typeface="Times New Roman"/>
              </a:defRPr>
            </a:pPr>
            <a:r>
              <a:rPr sz="2400">
                <a:solidFill>
                  <a:srgbClr val="183F31"/>
                </a:solidFill>
                <a:latin typeface="Times New Roman"/>
                <a:ea typeface="Times New Roman"/>
                <a:cs typeface="Times New Roman"/>
              </a:rPr>
              <a:t>Determinar el sexo y diferenciar los órganos son procesos relacionados.</a:t>
            </a:r>
          </a:p>
        </p:txBody>
      </p:sp>
      <p:sp>
        <p:nvSpPr>
          <p:cNvPr id="7" name="text-6">
            <a:extLst xmlns:a="http://schemas.openxmlformats.org/drawingml/2006/main">
              <a:ext uri="{FF2B5EF4-FFF2-40B4-BE49-F238E27FC236}">
                <a16:creationId xmlns:a16="http://schemas.microsoft.com/office/drawing/2014/main" id="{DE1318A1-72A4-4DB1-9887-BCA12A52C264}"/>
              </a:ext>
            </a:extLst>
          </p:cNvPr>
          <p:cNvSpPr>
            <a:spLocks xmlns:a="http://schemas.openxmlformats.org/drawingml/2006/main" noGrp="1"/>
          </p:cNvSpPr>
          <p:nvPr/>
        </p:nvSpPr>
        <p:spPr>
          <a:xfrm xmlns:a="http://schemas.openxmlformats.org/drawingml/2006/main">
            <a:off x="647700" y="2905125"/>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000" b="1">
                <a:solidFill>
                  <a:srgbClr val="41745A"/>
                </a:solidFill>
                <a:latin typeface="Times New Roman"/>
                <a:ea typeface="Times New Roman"/>
                <a:cs typeface="Times New Roman"/>
              </a:defRPr>
            </a:defPPr>
            <a:lvl1pPr algn="l">
              <a:defRPr sz="3000" b="1">
                <a:solidFill>
                  <a:srgbClr val="41745A"/>
                </a:solidFill>
                <a:latin typeface="Times New Roman"/>
                <a:ea typeface="Times New Roman"/>
                <a:cs typeface="Times New Roman"/>
              </a:defRPr>
            </a:lvl1pPr>
            <a:lvl2pPr algn="l">
              <a:defRPr sz="3000" b="1">
                <a:solidFill>
                  <a:srgbClr val="41745A"/>
                </a:solidFill>
                <a:latin typeface="Times New Roman"/>
                <a:ea typeface="Times New Roman"/>
                <a:cs typeface="Times New Roman"/>
              </a:defRPr>
            </a:lvl2pPr>
            <a:lvl3pPr algn="l">
              <a:defRPr sz="3000" b="1">
                <a:solidFill>
                  <a:srgbClr val="41745A"/>
                </a:solidFill>
                <a:latin typeface="Times New Roman"/>
                <a:ea typeface="Times New Roman"/>
                <a:cs typeface="Times New Roman"/>
              </a:defRPr>
            </a:lvl3pPr>
            <a:lvl4pPr algn="l">
              <a:defRPr sz="3000" b="1">
                <a:solidFill>
                  <a:srgbClr val="41745A"/>
                </a:solidFill>
                <a:latin typeface="Times New Roman"/>
                <a:ea typeface="Times New Roman"/>
                <a:cs typeface="Times New Roman"/>
              </a:defRPr>
            </a:lvl4pPr>
            <a:lvl5pPr algn="l">
              <a:defRPr sz="3000" b="1">
                <a:solidFill>
                  <a:srgbClr val="41745A"/>
                </a:solidFill>
                <a:latin typeface="Times New Roman"/>
                <a:ea typeface="Times New Roman"/>
                <a:cs typeface="Times New Roman"/>
              </a:defRPr>
            </a:lvl5pPr>
            <a:lvl6pPr algn="l">
              <a:defRPr sz="3000" b="1">
                <a:solidFill>
                  <a:srgbClr val="41745A"/>
                </a:solidFill>
                <a:latin typeface="Times New Roman"/>
                <a:ea typeface="Times New Roman"/>
                <a:cs typeface="Times New Roman"/>
              </a:defRPr>
            </a:lvl6pPr>
            <a:lvl7pPr algn="l">
              <a:defRPr sz="3000" b="1">
                <a:solidFill>
                  <a:srgbClr val="41745A"/>
                </a:solidFill>
                <a:latin typeface="Times New Roman"/>
                <a:ea typeface="Times New Roman"/>
                <a:cs typeface="Times New Roman"/>
              </a:defRPr>
            </a:lvl7pPr>
            <a:lvl8pPr algn="l">
              <a:defRPr sz="3000" b="1">
                <a:solidFill>
                  <a:srgbClr val="41745A"/>
                </a:solidFill>
                <a:latin typeface="Times New Roman"/>
                <a:ea typeface="Times New Roman"/>
                <a:cs typeface="Times New Roman"/>
              </a:defRPr>
            </a:lvl8pPr>
            <a:lvl9pPr algn="l">
              <a:defRPr sz="3000" b="1">
                <a:solidFill>
                  <a:srgbClr val="41745A"/>
                </a:solidFill>
                <a:latin typeface="Times New Roman"/>
                <a:ea typeface="Times New Roman"/>
                <a:cs typeface="Times New Roman"/>
              </a:defRPr>
            </a:lvl9pPr>
          </a:lstStyle>
          <a:p xmlns:a="http://schemas.openxmlformats.org/drawingml/2006/main">
            <a:pPr algn="l">
              <a:defRPr sz="3000" b="1">
                <a:solidFill>
                  <a:srgbClr val="41745A"/>
                </a:solidFill>
                <a:latin typeface="Times New Roman"/>
                <a:ea typeface="Times New Roman"/>
                <a:cs typeface="Times New Roman"/>
              </a:defRPr>
            </a:pPr>
            <a:r>
              <a:rPr sz="3000" b="1">
                <a:solidFill>
                  <a:srgbClr val="41745A"/>
                </a:solidFill>
                <a:latin typeface="Times New Roman"/>
                <a:ea typeface="Times New Roman"/>
                <a:cs typeface="Times New Roman"/>
              </a:rPr>
              <a:t>2</a:t>
            </a:r>
          </a:p>
        </p:txBody>
      </p:sp>
      <p:sp>
        <p:nvSpPr>
          <p:cNvPr id="8" name="text-7">
            <a:extLst xmlns:a="http://schemas.openxmlformats.org/drawingml/2006/main">
              <a:ext uri="{FF2B5EF4-FFF2-40B4-BE49-F238E27FC236}">
                <a16:creationId xmlns:a16="http://schemas.microsoft.com/office/drawing/2014/main" id="{C2D91E09-F95F-4444-936A-B5EAA699651C}"/>
              </a:ext>
            </a:extLst>
          </p:cNvPr>
          <p:cNvSpPr>
            <a:spLocks xmlns:a="http://schemas.openxmlformats.org/drawingml/2006/main" noGrp="1"/>
          </p:cNvSpPr>
          <p:nvPr/>
        </p:nvSpPr>
        <p:spPr>
          <a:xfrm xmlns:a="http://schemas.openxmlformats.org/drawingml/2006/main">
            <a:off x="1447800" y="2933700"/>
            <a:ext cx="10001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a:solidFill>
                  <a:srgbClr val="183F31"/>
                </a:solidFill>
                <a:latin typeface="Times New Roman"/>
                <a:ea typeface="Times New Roman"/>
                <a:cs typeface="Times New Roman"/>
              </a:defRPr>
            </a:defPPr>
            <a:lvl1pPr algn="l">
              <a:defRPr sz="2400">
                <a:solidFill>
                  <a:srgbClr val="183F31"/>
                </a:solidFill>
                <a:latin typeface="Times New Roman"/>
                <a:ea typeface="Times New Roman"/>
                <a:cs typeface="Times New Roman"/>
              </a:defRPr>
            </a:lvl1pPr>
            <a:lvl2pPr algn="l">
              <a:defRPr sz="2400">
                <a:solidFill>
                  <a:srgbClr val="183F31"/>
                </a:solidFill>
                <a:latin typeface="Times New Roman"/>
                <a:ea typeface="Times New Roman"/>
                <a:cs typeface="Times New Roman"/>
              </a:defRPr>
            </a:lvl2pPr>
            <a:lvl3pPr algn="l">
              <a:defRPr sz="2400">
                <a:solidFill>
                  <a:srgbClr val="183F31"/>
                </a:solidFill>
                <a:latin typeface="Times New Roman"/>
                <a:ea typeface="Times New Roman"/>
                <a:cs typeface="Times New Roman"/>
              </a:defRPr>
            </a:lvl3pPr>
            <a:lvl4pPr algn="l">
              <a:defRPr sz="2400">
                <a:solidFill>
                  <a:srgbClr val="183F31"/>
                </a:solidFill>
                <a:latin typeface="Times New Roman"/>
                <a:ea typeface="Times New Roman"/>
                <a:cs typeface="Times New Roman"/>
              </a:defRPr>
            </a:lvl4pPr>
            <a:lvl5pPr algn="l">
              <a:defRPr sz="2400">
                <a:solidFill>
                  <a:srgbClr val="183F31"/>
                </a:solidFill>
                <a:latin typeface="Times New Roman"/>
                <a:ea typeface="Times New Roman"/>
                <a:cs typeface="Times New Roman"/>
              </a:defRPr>
            </a:lvl5pPr>
            <a:lvl6pPr algn="l">
              <a:defRPr sz="2400">
                <a:solidFill>
                  <a:srgbClr val="183F31"/>
                </a:solidFill>
                <a:latin typeface="Times New Roman"/>
                <a:ea typeface="Times New Roman"/>
                <a:cs typeface="Times New Roman"/>
              </a:defRPr>
            </a:lvl6pPr>
            <a:lvl7pPr algn="l">
              <a:defRPr sz="2400">
                <a:solidFill>
                  <a:srgbClr val="183F31"/>
                </a:solidFill>
                <a:latin typeface="Times New Roman"/>
                <a:ea typeface="Times New Roman"/>
                <a:cs typeface="Times New Roman"/>
              </a:defRPr>
            </a:lvl7pPr>
            <a:lvl8pPr algn="l">
              <a:defRPr sz="2400">
                <a:solidFill>
                  <a:srgbClr val="183F31"/>
                </a:solidFill>
                <a:latin typeface="Times New Roman"/>
                <a:ea typeface="Times New Roman"/>
                <a:cs typeface="Times New Roman"/>
              </a:defRPr>
            </a:lvl8pPr>
            <a:lvl9pPr algn="l">
              <a:defRPr sz="2400">
                <a:solidFill>
                  <a:srgbClr val="183F31"/>
                </a:solidFill>
                <a:latin typeface="Times New Roman"/>
                <a:ea typeface="Times New Roman"/>
                <a:cs typeface="Times New Roman"/>
              </a:defRPr>
            </a:lvl9pPr>
          </a:lstStyle>
          <a:p xmlns:a="http://schemas.openxmlformats.org/drawingml/2006/main">
            <a:pPr algn="l">
              <a:defRPr sz="2400">
                <a:solidFill>
                  <a:srgbClr val="183F31"/>
                </a:solidFill>
                <a:latin typeface="Times New Roman"/>
                <a:ea typeface="Times New Roman"/>
                <a:cs typeface="Times New Roman"/>
              </a:defRPr>
            </a:pPr>
            <a:r>
              <a:rPr sz="2400">
                <a:solidFill>
                  <a:srgbClr val="183F31"/>
                </a:solidFill>
                <a:latin typeface="Times New Roman"/>
                <a:ea typeface="Times New Roman"/>
                <a:cs typeface="Times New Roman"/>
              </a:rPr>
              <a:t>Cada grupo animal requiere un modelo biológico específico.</a:t>
            </a:r>
          </a:p>
        </p:txBody>
      </p:sp>
      <p:sp>
        <p:nvSpPr>
          <p:cNvPr id="9" name="text-8">
            <a:extLst xmlns:a="http://schemas.openxmlformats.org/drawingml/2006/main">
              <a:ext uri="{FF2B5EF4-FFF2-40B4-BE49-F238E27FC236}">
                <a16:creationId xmlns:a16="http://schemas.microsoft.com/office/drawing/2014/main" id="{16868800-EAA6-4AE3-A42A-54ACB30551D9}"/>
              </a:ext>
            </a:extLst>
          </p:cNvPr>
          <p:cNvSpPr>
            <a:spLocks xmlns:a="http://schemas.openxmlformats.org/drawingml/2006/main" noGrp="1"/>
          </p:cNvSpPr>
          <p:nvPr/>
        </p:nvSpPr>
        <p:spPr>
          <a:xfrm xmlns:a="http://schemas.openxmlformats.org/drawingml/2006/main">
            <a:off x="647700" y="39433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000" b="1">
                <a:solidFill>
                  <a:srgbClr val="41745A"/>
                </a:solidFill>
                <a:latin typeface="Times New Roman"/>
                <a:ea typeface="Times New Roman"/>
                <a:cs typeface="Times New Roman"/>
              </a:defRPr>
            </a:defPPr>
            <a:lvl1pPr algn="l">
              <a:defRPr sz="3000" b="1">
                <a:solidFill>
                  <a:srgbClr val="41745A"/>
                </a:solidFill>
                <a:latin typeface="Times New Roman"/>
                <a:ea typeface="Times New Roman"/>
                <a:cs typeface="Times New Roman"/>
              </a:defRPr>
            </a:lvl1pPr>
            <a:lvl2pPr algn="l">
              <a:defRPr sz="3000" b="1">
                <a:solidFill>
                  <a:srgbClr val="41745A"/>
                </a:solidFill>
                <a:latin typeface="Times New Roman"/>
                <a:ea typeface="Times New Roman"/>
                <a:cs typeface="Times New Roman"/>
              </a:defRPr>
            </a:lvl2pPr>
            <a:lvl3pPr algn="l">
              <a:defRPr sz="3000" b="1">
                <a:solidFill>
                  <a:srgbClr val="41745A"/>
                </a:solidFill>
                <a:latin typeface="Times New Roman"/>
                <a:ea typeface="Times New Roman"/>
                <a:cs typeface="Times New Roman"/>
              </a:defRPr>
            </a:lvl3pPr>
            <a:lvl4pPr algn="l">
              <a:defRPr sz="3000" b="1">
                <a:solidFill>
                  <a:srgbClr val="41745A"/>
                </a:solidFill>
                <a:latin typeface="Times New Roman"/>
                <a:ea typeface="Times New Roman"/>
                <a:cs typeface="Times New Roman"/>
              </a:defRPr>
            </a:lvl4pPr>
            <a:lvl5pPr algn="l">
              <a:defRPr sz="3000" b="1">
                <a:solidFill>
                  <a:srgbClr val="41745A"/>
                </a:solidFill>
                <a:latin typeface="Times New Roman"/>
                <a:ea typeface="Times New Roman"/>
                <a:cs typeface="Times New Roman"/>
              </a:defRPr>
            </a:lvl5pPr>
            <a:lvl6pPr algn="l">
              <a:defRPr sz="3000" b="1">
                <a:solidFill>
                  <a:srgbClr val="41745A"/>
                </a:solidFill>
                <a:latin typeface="Times New Roman"/>
                <a:ea typeface="Times New Roman"/>
                <a:cs typeface="Times New Roman"/>
              </a:defRPr>
            </a:lvl6pPr>
            <a:lvl7pPr algn="l">
              <a:defRPr sz="3000" b="1">
                <a:solidFill>
                  <a:srgbClr val="41745A"/>
                </a:solidFill>
                <a:latin typeface="Times New Roman"/>
                <a:ea typeface="Times New Roman"/>
                <a:cs typeface="Times New Roman"/>
              </a:defRPr>
            </a:lvl7pPr>
            <a:lvl8pPr algn="l">
              <a:defRPr sz="3000" b="1">
                <a:solidFill>
                  <a:srgbClr val="41745A"/>
                </a:solidFill>
                <a:latin typeface="Times New Roman"/>
                <a:ea typeface="Times New Roman"/>
                <a:cs typeface="Times New Roman"/>
              </a:defRPr>
            </a:lvl8pPr>
            <a:lvl9pPr algn="l">
              <a:defRPr sz="3000" b="1">
                <a:solidFill>
                  <a:srgbClr val="41745A"/>
                </a:solidFill>
                <a:latin typeface="Times New Roman"/>
                <a:ea typeface="Times New Roman"/>
                <a:cs typeface="Times New Roman"/>
              </a:defRPr>
            </a:lvl9pPr>
          </a:lstStyle>
          <a:p xmlns:a="http://schemas.openxmlformats.org/drawingml/2006/main">
            <a:pPr algn="l">
              <a:defRPr sz="3000" b="1">
                <a:solidFill>
                  <a:srgbClr val="41745A"/>
                </a:solidFill>
                <a:latin typeface="Times New Roman"/>
                <a:ea typeface="Times New Roman"/>
                <a:cs typeface="Times New Roman"/>
              </a:defRPr>
            </a:pPr>
            <a:r>
              <a:rPr sz="3000" b="1">
                <a:solidFill>
                  <a:srgbClr val="41745A"/>
                </a:solidFill>
                <a:latin typeface="Times New Roman"/>
                <a:ea typeface="Times New Roman"/>
                <a:cs typeface="Times New Roman"/>
              </a:rPr>
              <a:t>3</a:t>
            </a:r>
          </a:p>
        </p:txBody>
      </p:sp>
      <p:sp>
        <p:nvSpPr>
          <p:cNvPr id="10" name="text-9">
            <a:extLst xmlns:a="http://schemas.openxmlformats.org/drawingml/2006/main">
              <a:ext uri="{FF2B5EF4-FFF2-40B4-BE49-F238E27FC236}">
                <a16:creationId xmlns:a16="http://schemas.microsoft.com/office/drawing/2014/main" id="{152E0771-5EA3-4B9F-AEF1-F19510FF02C9}"/>
              </a:ext>
            </a:extLst>
          </p:cNvPr>
          <p:cNvSpPr>
            <a:spLocks xmlns:a="http://schemas.openxmlformats.org/drawingml/2006/main" noGrp="1"/>
          </p:cNvSpPr>
          <p:nvPr/>
        </p:nvSpPr>
        <p:spPr>
          <a:xfrm xmlns:a="http://schemas.openxmlformats.org/drawingml/2006/main">
            <a:off x="1447800" y="3971925"/>
            <a:ext cx="10001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a:solidFill>
                  <a:srgbClr val="183F31"/>
                </a:solidFill>
                <a:latin typeface="Times New Roman"/>
                <a:ea typeface="Times New Roman"/>
                <a:cs typeface="Times New Roman"/>
              </a:defRPr>
            </a:defPPr>
            <a:lvl1pPr algn="l">
              <a:defRPr sz="2400">
                <a:solidFill>
                  <a:srgbClr val="183F31"/>
                </a:solidFill>
                <a:latin typeface="Times New Roman"/>
                <a:ea typeface="Times New Roman"/>
                <a:cs typeface="Times New Roman"/>
              </a:defRPr>
            </a:lvl1pPr>
            <a:lvl2pPr algn="l">
              <a:defRPr sz="2400">
                <a:solidFill>
                  <a:srgbClr val="183F31"/>
                </a:solidFill>
                <a:latin typeface="Times New Roman"/>
                <a:ea typeface="Times New Roman"/>
                <a:cs typeface="Times New Roman"/>
              </a:defRPr>
            </a:lvl2pPr>
            <a:lvl3pPr algn="l">
              <a:defRPr sz="2400">
                <a:solidFill>
                  <a:srgbClr val="183F31"/>
                </a:solidFill>
                <a:latin typeface="Times New Roman"/>
                <a:ea typeface="Times New Roman"/>
                <a:cs typeface="Times New Roman"/>
              </a:defRPr>
            </a:lvl3pPr>
            <a:lvl4pPr algn="l">
              <a:defRPr sz="2400">
                <a:solidFill>
                  <a:srgbClr val="183F31"/>
                </a:solidFill>
                <a:latin typeface="Times New Roman"/>
                <a:ea typeface="Times New Roman"/>
                <a:cs typeface="Times New Roman"/>
              </a:defRPr>
            </a:lvl4pPr>
            <a:lvl5pPr algn="l">
              <a:defRPr sz="2400">
                <a:solidFill>
                  <a:srgbClr val="183F31"/>
                </a:solidFill>
                <a:latin typeface="Times New Roman"/>
                <a:ea typeface="Times New Roman"/>
                <a:cs typeface="Times New Roman"/>
              </a:defRPr>
            </a:lvl5pPr>
            <a:lvl6pPr algn="l">
              <a:defRPr sz="2400">
                <a:solidFill>
                  <a:srgbClr val="183F31"/>
                </a:solidFill>
                <a:latin typeface="Times New Roman"/>
                <a:ea typeface="Times New Roman"/>
                <a:cs typeface="Times New Roman"/>
              </a:defRPr>
            </a:lvl6pPr>
            <a:lvl7pPr algn="l">
              <a:defRPr sz="2400">
                <a:solidFill>
                  <a:srgbClr val="183F31"/>
                </a:solidFill>
                <a:latin typeface="Times New Roman"/>
                <a:ea typeface="Times New Roman"/>
                <a:cs typeface="Times New Roman"/>
              </a:defRPr>
            </a:lvl7pPr>
            <a:lvl8pPr algn="l">
              <a:defRPr sz="2400">
                <a:solidFill>
                  <a:srgbClr val="183F31"/>
                </a:solidFill>
                <a:latin typeface="Times New Roman"/>
                <a:ea typeface="Times New Roman"/>
                <a:cs typeface="Times New Roman"/>
              </a:defRPr>
            </a:lvl8pPr>
            <a:lvl9pPr algn="l">
              <a:defRPr sz="2400">
                <a:solidFill>
                  <a:srgbClr val="183F31"/>
                </a:solidFill>
                <a:latin typeface="Times New Roman"/>
                <a:ea typeface="Times New Roman"/>
                <a:cs typeface="Times New Roman"/>
              </a:defRPr>
            </a:lvl9pPr>
          </a:lstStyle>
          <a:p xmlns:a="http://schemas.openxmlformats.org/drawingml/2006/main">
            <a:pPr algn="l">
              <a:defRPr sz="2400">
                <a:solidFill>
                  <a:srgbClr val="183F31"/>
                </a:solidFill>
                <a:latin typeface="Times New Roman"/>
                <a:ea typeface="Times New Roman"/>
                <a:cs typeface="Times New Roman"/>
              </a:defRPr>
            </a:pPr>
            <a:r>
              <a:rPr sz="2400">
                <a:solidFill>
                  <a:srgbClr val="183F31"/>
                </a:solidFill>
                <a:latin typeface="Times New Roman"/>
                <a:ea typeface="Times New Roman"/>
                <a:cs typeface="Times New Roman"/>
              </a:rPr>
              <a:t>Genes, hormonas y ambiente pueden intervenir en etapas diferentes.</a:t>
            </a:r>
          </a:p>
        </p:txBody>
      </p:sp>
      <p:sp>
        <p:nvSpPr>
          <p:cNvPr id="11" name="text-10">
            <a:extLst xmlns:a="http://schemas.openxmlformats.org/drawingml/2006/main">
              <a:ext uri="{FF2B5EF4-FFF2-40B4-BE49-F238E27FC236}">
                <a16:creationId xmlns:a16="http://schemas.microsoft.com/office/drawing/2014/main" id="{E7622D3C-3AE3-4833-BB81-B34ACCDED58C}"/>
              </a:ext>
            </a:extLst>
          </p:cNvPr>
          <p:cNvSpPr>
            <a:spLocks xmlns:a="http://schemas.openxmlformats.org/drawingml/2006/main" noGrp="1"/>
          </p:cNvSpPr>
          <p:nvPr/>
        </p:nvSpPr>
        <p:spPr>
          <a:xfrm xmlns:a="http://schemas.openxmlformats.org/drawingml/2006/main">
            <a:off x="647700" y="4981575"/>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000" b="1">
                <a:solidFill>
                  <a:srgbClr val="41745A"/>
                </a:solidFill>
                <a:latin typeface="Times New Roman"/>
                <a:ea typeface="Times New Roman"/>
                <a:cs typeface="Times New Roman"/>
              </a:defRPr>
            </a:defPPr>
            <a:lvl1pPr algn="l">
              <a:defRPr sz="3000" b="1">
                <a:solidFill>
                  <a:srgbClr val="41745A"/>
                </a:solidFill>
                <a:latin typeface="Times New Roman"/>
                <a:ea typeface="Times New Roman"/>
                <a:cs typeface="Times New Roman"/>
              </a:defRPr>
            </a:lvl1pPr>
            <a:lvl2pPr algn="l">
              <a:defRPr sz="3000" b="1">
                <a:solidFill>
                  <a:srgbClr val="41745A"/>
                </a:solidFill>
                <a:latin typeface="Times New Roman"/>
                <a:ea typeface="Times New Roman"/>
                <a:cs typeface="Times New Roman"/>
              </a:defRPr>
            </a:lvl2pPr>
            <a:lvl3pPr algn="l">
              <a:defRPr sz="3000" b="1">
                <a:solidFill>
                  <a:srgbClr val="41745A"/>
                </a:solidFill>
                <a:latin typeface="Times New Roman"/>
                <a:ea typeface="Times New Roman"/>
                <a:cs typeface="Times New Roman"/>
              </a:defRPr>
            </a:lvl3pPr>
            <a:lvl4pPr algn="l">
              <a:defRPr sz="3000" b="1">
                <a:solidFill>
                  <a:srgbClr val="41745A"/>
                </a:solidFill>
                <a:latin typeface="Times New Roman"/>
                <a:ea typeface="Times New Roman"/>
                <a:cs typeface="Times New Roman"/>
              </a:defRPr>
            </a:lvl4pPr>
            <a:lvl5pPr algn="l">
              <a:defRPr sz="3000" b="1">
                <a:solidFill>
                  <a:srgbClr val="41745A"/>
                </a:solidFill>
                <a:latin typeface="Times New Roman"/>
                <a:ea typeface="Times New Roman"/>
                <a:cs typeface="Times New Roman"/>
              </a:defRPr>
            </a:lvl5pPr>
            <a:lvl6pPr algn="l">
              <a:defRPr sz="3000" b="1">
                <a:solidFill>
                  <a:srgbClr val="41745A"/>
                </a:solidFill>
                <a:latin typeface="Times New Roman"/>
                <a:ea typeface="Times New Roman"/>
                <a:cs typeface="Times New Roman"/>
              </a:defRPr>
            </a:lvl6pPr>
            <a:lvl7pPr algn="l">
              <a:defRPr sz="3000" b="1">
                <a:solidFill>
                  <a:srgbClr val="41745A"/>
                </a:solidFill>
                <a:latin typeface="Times New Roman"/>
                <a:ea typeface="Times New Roman"/>
                <a:cs typeface="Times New Roman"/>
              </a:defRPr>
            </a:lvl7pPr>
            <a:lvl8pPr algn="l">
              <a:defRPr sz="3000" b="1">
                <a:solidFill>
                  <a:srgbClr val="41745A"/>
                </a:solidFill>
                <a:latin typeface="Times New Roman"/>
                <a:ea typeface="Times New Roman"/>
                <a:cs typeface="Times New Roman"/>
              </a:defRPr>
            </a:lvl8pPr>
            <a:lvl9pPr algn="l">
              <a:defRPr sz="3000" b="1">
                <a:solidFill>
                  <a:srgbClr val="41745A"/>
                </a:solidFill>
                <a:latin typeface="Times New Roman"/>
                <a:ea typeface="Times New Roman"/>
                <a:cs typeface="Times New Roman"/>
              </a:defRPr>
            </a:lvl9pPr>
          </a:lstStyle>
          <a:p xmlns:a="http://schemas.openxmlformats.org/drawingml/2006/main">
            <a:pPr algn="l">
              <a:defRPr sz="3000" b="1">
                <a:solidFill>
                  <a:srgbClr val="41745A"/>
                </a:solidFill>
                <a:latin typeface="Times New Roman"/>
                <a:ea typeface="Times New Roman"/>
                <a:cs typeface="Times New Roman"/>
              </a:defRPr>
            </a:pPr>
            <a:r>
              <a:rPr sz="3000" b="1">
                <a:solidFill>
                  <a:srgbClr val="41745A"/>
                </a:solidFill>
                <a:latin typeface="Times New Roman"/>
                <a:ea typeface="Times New Roman"/>
                <a:cs typeface="Times New Roman"/>
              </a:rPr>
              <a:t>4</a:t>
            </a:r>
          </a:p>
        </p:txBody>
      </p:sp>
      <p:sp>
        <p:nvSpPr>
          <p:cNvPr id="12" name="text-11">
            <a:extLst xmlns:a="http://schemas.openxmlformats.org/drawingml/2006/main">
              <a:ext uri="{FF2B5EF4-FFF2-40B4-BE49-F238E27FC236}">
                <a16:creationId xmlns:a16="http://schemas.microsoft.com/office/drawing/2014/main" id="{74EC12CE-BF19-41FB-BA02-E5689ED94E9F}"/>
              </a:ext>
            </a:extLst>
          </p:cNvPr>
          <p:cNvSpPr>
            <a:spLocks xmlns:a="http://schemas.openxmlformats.org/drawingml/2006/main" noGrp="1"/>
          </p:cNvSpPr>
          <p:nvPr/>
        </p:nvSpPr>
        <p:spPr>
          <a:xfrm xmlns:a="http://schemas.openxmlformats.org/drawingml/2006/main">
            <a:off x="1447800" y="5010150"/>
            <a:ext cx="10001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a:solidFill>
                  <a:srgbClr val="183F31"/>
                </a:solidFill>
                <a:latin typeface="Times New Roman"/>
                <a:ea typeface="Times New Roman"/>
                <a:cs typeface="Times New Roman"/>
              </a:defRPr>
            </a:defPPr>
            <a:lvl1pPr algn="l">
              <a:defRPr sz="2400">
                <a:solidFill>
                  <a:srgbClr val="183F31"/>
                </a:solidFill>
                <a:latin typeface="Times New Roman"/>
                <a:ea typeface="Times New Roman"/>
                <a:cs typeface="Times New Roman"/>
              </a:defRPr>
            </a:lvl1pPr>
            <a:lvl2pPr algn="l">
              <a:defRPr sz="2400">
                <a:solidFill>
                  <a:srgbClr val="183F31"/>
                </a:solidFill>
                <a:latin typeface="Times New Roman"/>
                <a:ea typeface="Times New Roman"/>
                <a:cs typeface="Times New Roman"/>
              </a:defRPr>
            </a:lvl2pPr>
            <a:lvl3pPr algn="l">
              <a:defRPr sz="2400">
                <a:solidFill>
                  <a:srgbClr val="183F31"/>
                </a:solidFill>
                <a:latin typeface="Times New Roman"/>
                <a:ea typeface="Times New Roman"/>
                <a:cs typeface="Times New Roman"/>
              </a:defRPr>
            </a:lvl3pPr>
            <a:lvl4pPr algn="l">
              <a:defRPr sz="2400">
                <a:solidFill>
                  <a:srgbClr val="183F31"/>
                </a:solidFill>
                <a:latin typeface="Times New Roman"/>
                <a:ea typeface="Times New Roman"/>
                <a:cs typeface="Times New Roman"/>
              </a:defRPr>
            </a:lvl4pPr>
            <a:lvl5pPr algn="l">
              <a:defRPr sz="2400">
                <a:solidFill>
                  <a:srgbClr val="183F31"/>
                </a:solidFill>
                <a:latin typeface="Times New Roman"/>
                <a:ea typeface="Times New Roman"/>
                <a:cs typeface="Times New Roman"/>
              </a:defRPr>
            </a:lvl5pPr>
            <a:lvl6pPr algn="l">
              <a:defRPr sz="2400">
                <a:solidFill>
                  <a:srgbClr val="183F31"/>
                </a:solidFill>
                <a:latin typeface="Times New Roman"/>
                <a:ea typeface="Times New Roman"/>
                <a:cs typeface="Times New Roman"/>
              </a:defRPr>
            </a:lvl6pPr>
            <a:lvl7pPr algn="l">
              <a:defRPr sz="2400">
                <a:solidFill>
                  <a:srgbClr val="183F31"/>
                </a:solidFill>
                <a:latin typeface="Times New Roman"/>
                <a:ea typeface="Times New Roman"/>
                <a:cs typeface="Times New Roman"/>
              </a:defRPr>
            </a:lvl7pPr>
            <a:lvl8pPr algn="l">
              <a:defRPr sz="2400">
                <a:solidFill>
                  <a:srgbClr val="183F31"/>
                </a:solidFill>
                <a:latin typeface="Times New Roman"/>
                <a:ea typeface="Times New Roman"/>
                <a:cs typeface="Times New Roman"/>
              </a:defRPr>
            </a:lvl8pPr>
            <a:lvl9pPr algn="l">
              <a:defRPr sz="2400">
                <a:solidFill>
                  <a:srgbClr val="183F31"/>
                </a:solidFill>
                <a:latin typeface="Times New Roman"/>
                <a:ea typeface="Times New Roman"/>
                <a:cs typeface="Times New Roman"/>
              </a:defRPr>
            </a:lvl9pPr>
          </a:lstStyle>
          <a:p xmlns:a="http://schemas.openxmlformats.org/drawingml/2006/main">
            <a:pPr algn="l">
              <a:defRPr sz="2400">
                <a:solidFill>
                  <a:srgbClr val="183F31"/>
                </a:solidFill>
                <a:latin typeface="Times New Roman"/>
                <a:ea typeface="Times New Roman"/>
                <a:cs typeface="Times New Roman"/>
              </a:defRPr>
            </a:pPr>
            <a:r>
              <a:rPr sz="2400">
                <a:solidFill>
                  <a:srgbClr val="183F31"/>
                </a:solidFill>
                <a:latin typeface="Times New Roman"/>
                <a:ea typeface="Times New Roman"/>
                <a:cs typeface="Times New Roman"/>
              </a:rPr>
              <a:t>La interpretación veterinaria integra desarrollo, anatomía y fertilidad.</a:t>
            </a:r>
          </a:p>
        </p:txBody>
      </p:sp>
    </p:spTree>
    <p:extLst>
      <p:ext uri="{BB962C8B-B14F-4D97-AF65-F5344CB8AC3E}">
        <p14:creationId xmlns:p14="http://schemas.microsoft.com/office/powerpoint/2010/main" val="701317887"/>
      </p:ext>
    </p:extLst>
  </p:cSld>
</p:sld>
</file>

<file path=ppt/slides/slide19.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BA1B1601-6BEF-4883-AF6B-4E707F267B71}"/>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Bibliografía · 1 de 2</a:t>
            </a:r>
          </a:p>
        </p:txBody>
      </p:sp>
      <p:sp>
        <p:nvSpPr>
          <p:cNvPr id="2" name="">
            <a:extLst xmlns:a="http://schemas.openxmlformats.org/drawingml/2006/main">
              <a:ext uri="{FF2B5EF4-FFF2-40B4-BE49-F238E27FC236}">
                <a16:creationId xmlns:a16="http://schemas.microsoft.com/office/drawing/2014/main" id="{124BD7FD-7712-4B13-81D2-67C074723FCB}"/>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FE80D5F6-362D-4A65-B3D1-5DE2B9DC01F1}"/>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19</a:t>
            </a:r>
          </a:p>
        </p:txBody>
      </p:sp>
      <p:sp>
        <p:nvSpPr>
          <p:cNvPr id="4" name="text-3">
            <a:extLst xmlns:a="http://schemas.openxmlformats.org/drawingml/2006/main">
              <a:ext uri="{FF2B5EF4-FFF2-40B4-BE49-F238E27FC236}">
                <a16:creationId xmlns:a16="http://schemas.microsoft.com/office/drawing/2014/main" id="{14D8B03B-1FB6-4144-9A3E-B528965B0B75}"/>
              </a:ext>
            </a:extLst>
          </p:cNvPr>
          <p:cNvSpPr>
            <a:spLocks xmlns:a="http://schemas.openxmlformats.org/drawingml/2006/main" noGrp="1"/>
          </p:cNvSpPr>
          <p:nvPr/>
        </p:nvSpPr>
        <p:spPr>
          <a:xfrm xmlns:a="http://schemas.openxmlformats.org/drawingml/2006/main">
            <a:off x="609600" y="1676400"/>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a:solidFill>
                  <a:srgbClr val="202520"/>
                </a:solidFill>
                <a:latin typeface="Times New Roman"/>
                <a:ea typeface="Times New Roman"/>
                <a:cs typeface="Times New Roman"/>
              </a:defRPr>
            </a:defPPr>
            <a:lvl1pPr algn="l">
              <a:defRPr sz="1650">
                <a:solidFill>
                  <a:srgbClr val="202520"/>
                </a:solidFill>
                <a:latin typeface="Times New Roman"/>
                <a:ea typeface="Times New Roman"/>
                <a:cs typeface="Times New Roman"/>
              </a:defRPr>
            </a:lvl1pPr>
            <a:lvl2pPr algn="l">
              <a:defRPr sz="1650">
                <a:solidFill>
                  <a:srgbClr val="202520"/>
                </a:solidFill>
                <a:latin typeface="Times New Roman"/>
                <a:ea typeface="Times New Roman"/>
                <a:cs typeface="Times New Roman"/>
              </a:defRPr>
            </a:lvl2pPr>
            <a:lvl3pPr algn="l">
              <a:defRPr sz="1650">
                <a:solidFill>
                  <a:srgbClr val="202520"/>
                </a:solidFill>
                <a:latin typeface="Times New Roman"/>
                <a:ea typeface="Times New Roman"/>
                <a:cs typeface="Times New Roman"/>
              </a:defRPr>
            </a:lvl3pPr>
            <a:lvl4pPr algn="l">
              <a:defRPr sz="1650">
                <a:solidFill>
                  <a:srgbClr val="202520"/>
                </a:solidFill>
                <a:latin typeface="Times New Roman"/>
                <a:ea typeface="Times New Roman"/>
                <a:cs typeface="Times New Roman"/>
              </a:defRPr>
            </a:lvl4pPr>
            <a:lvl5pPr algn="l">
              <a:defRPr sz="1650">
                <a:solidFill>
                  <a:srgbClr val="202520"/>
                </a:solidFill>
                <a:latin typeface="Times New Roman"/>
                <a:ea typeface="Times New Roman"/>
                <a:cs typeface="Times New Roman"/>
              </a:defRPr>
            </a:lvl5pPr>
            <a:lvl6pPr algn="l">
              <a:defRPr sz="1650">
                <a:solidFill>
                  <a:srgbClr val="202520"/>
                </a:solidFill>
                <a:latin typeface="Times New Roman"/>
                <a:ea typeface="Times New Roman"/>
                <a:cs typeface="Times New Roman"/>
              </a:defRPr>
            </a:lvl6pPr>
            <a:lvl7pPr algn="l">
              <a:defRPr sz="1650">
                <a:solidFill>
                  <a:srgbClr val="202520"/>
                </a:solidFill>
                <a:latin typeface="Times New Roman"/>
                <a:ea typeface="Times New Roman"/>
                <a:cs typeface="Times New Roman"/>
              </a:defRPr>
            </a:lvl7pPr>
            <a:lvl8pPr algn="l">
              <a:defRPr sz="1650">
                <a:solidFill>
                  <a:srgbClr val="202520"/>
                </a:solidFill>
                <a:latin typeface="Times New Roman"/>
                <a:ea typeface="Times New Roman"/>
                <a:cs typeface="Times New Roman"/>
              </a:defRPr>
            </a:lvl8pPr>
            <a:lvl9pPr algn="l">
              <a:defRPr sz="1650">
                <a:solidFill>
                  <a:srgbClr val="202520"/>
                </a:solidFill>
                <a:latin typeface="Times New Roman"/>
                <a:ea typeface="Times New Roman"/>
                <a:cs typeface="Times New Roman"/>
              </a:defRPr>
            </a:lvl9pPr>
          </a:lstStyle>
          <a:p xmlns:a="http://schemas.openxmlformats.org/drawingml/2006/main">
            <a:pPr algn="l">
              <a:defRPr sz="1650">
                <a:solidFill>
                  <a:srgbClr val="202520"/>
                </a:solidFill>
                <a:latin typeface="Times New Roman"/>
                <a:ea typeface="Times New Roman"/>
                <a:cs typeface="Times New Roman"/>
              </a:defRPr>
            </a:pPr>
            <a:r>
              <a:rPr sz="1650">
                <a:solidFill>
                  <a:srgbClr val="202520"/>
                </a:solidFill>
                <a:latin typeface="Times New Roman"/>
                <a:ea typeface="Times New Roman"/>
                <a:cs typeface="Times New Roman"/>
              </a:rPr>
              <a:t>[1] Díaz-Hernández V, Marquez Y, Merchant-Larios H. Desarrollo embrionario y diferenciación sexual. En: Reproducción de los animales domésticos. México: UNAM; 2021.</a:t>
            </a:r>
          </a:p>
        </p:txBody>
      </p:sp>
      <p:sp>
        <p:nvSpPr>
          <p:cNvPr id="5" name="text-4">
            <a:extLst xmlns:a="http://schemas.openxmlformats.org/drawingml/2006/main">
              <a:ext uri="{FF2B5EF4-FFF2-40B4-BE49-F238E27FC236}">
                <a16:creationId xmlns:a16="http://schemas.microsoft.com/office/drawing/2014/main" id="{B8ED9621-A271-4796-9015-1443CD19CA2D}"/>
              </a:ext>
            </a:extLst>
          </p:cNvPr>
          <p:cNvSpPr>
            <a:spLocks xmlns:a="http://schemas.openxmlformats.org/drawingml/2006/main" noGrp="1"/>
          </p:cNvSpPr>
          <p:nvPr/>
        </p:nvSpPr>
        <p:spPr>
          <a:xfrm xmlns:a="http://schemas.openxmlformats.org/drawingml/2006/main">
            <a:off x="609600" y="2438400"/>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a:solidFill>
                  <a:srgbClr val="202520"/>
                </a:solidFill>
                <a:latin typeface="Times New Roman"/>
                <a:ea typeface="Times New Roman"/>
                <a:cs typeface="Times New Roman"/>
              </a:defRPr>
            </a:defPPr>
            <a:lvl1pPr algn="l">
              <a:defRPr sz="1650">
                <a:solidFill>
                  <a:srgbClr val="202520"/>
                </a:solidFill>
                <a:latin typeface="Times New Roman"/>
                <a:ea typeface="Times New Roman"/>
                <a:cs typeface="Times New Roman"/>
              </a:defRPr>
            </a:lvl1pPr>
            <a:lvl2pPr algn="l">
              <a:defRPr sz="1650">
                <a:solidFill>
                  <a:srgbClr val="202520"/>
                </a:solidFill>
                <a:latin typeface="Times New Roman"/>
                <a:ea typeface="Times New Roman"/>
                <a:cs typeface="Times New Roman"/>
              </a:defRPr>
            </a:lvl2pPr>
            <a:lvl3pPr algn="l">
              <a:defRPr sz="1650">
                <a:solidFill>
                  <a:srgbClr val="202520"/>
                </a:solidFill>
                <a:latin typeface="Times New Roman"/>
                <a:ea typeface="Times New Roman"/>
                <a:cs typeface="Times New Roman"/>
              </a:defRPr>
            </a:lvl3pPr>
            <a:lvl4pPr algn="l">
              <a:defRPr sz="1650">
                <a:solidFill>
                  <a:srgbClr val="202520"/>
                </a:solidFill>
                <a:latin typeface="Times New Roman"/>
                <a:ea typeface="Times New Roman"/>
                <a:cs typeface="Times New Roman"/>
              </a:defRPr>
            </a:lvl4pPr>
            <a:lvl5pPr algn="l">
              <a:defRPr sz="1650">
                <a:solidFill>
                  <a:srgbClr val="202520"/>
                </a:solidFill>
                <a:latin typeface="Times New Roman"/>
                <a:ea typeface="Times New Roman"/>
                <a:cs typeface="Times New Roman"/>
              </a:defRPr>
            </a:lvl5pPr>
            <a:lvl6pPr algn="l">
              <a:defRPr sz="1650">
                <a:solidFill>
                  <a:srgbClr val="202520"/>
                </a:solidFill>
                <a:latin typeface="Times New Roman"/>
                <a:ea typeface="Times New Roman"/>
                <a:cs typeface="Times New Roman"/>
              </a:defRPr>
            </a:lvl6pPr>
            <a:lvl7pPr algn="l">
              <a:defRPr sz="1650">
                <a:solidFill>
                  <a:srgbClr val="202520"/>
                </a:solidFill>
                <a:latin typeface="Times New Roman"/>
                <a:ea typeface="Times New Roman"/>
                <a:cs typeface="Times New Roman"/>
              </a:defRPr>
            </a:lvl7pPr>
            <a:lvl8pPr algn="l">
              <a:defRPr sz="1650">
                <a:solidFill>
                  <a:srgbClr val="202520"/>
                </a:solidFill>
                <a:latin typeface="Times New Roman"/>
                <a:ea typeface="Times New Roman"/>
                <a:cs typeface="Times New Roman"/>
              </a:defRPr>
            </a:lvl8pPr>
            <a:lvl9pPr algn="l">
              <a:defRPr sz="1650">
                <a:solidFill>
                  <a:srgbClr val="202520"/>
                </a:solidFill>
                <a:latin typeface="Times New Roman"/>
                <a:ea typeface="Times New Roman"/>
                <a:cs typeface="Times New Roman"/>
              </a:defRPr>
            </a:lvl9pPr>
          </a:lstStyle>
          <a:p xmlns:a="http://schemas.openxmlformats.org/drawingml/2006/main">
            <a:pPr algn="l">
              <a:defRPr sz="1650">
                <a:solidFill>
                  <a:srgbClr val="202520"/>
                </a:solidFill>
                <a:latin typeface="Times New Roman"/>
                <a:ea typeface="Times New Roman"/>
                <a:cs typeface="Times New Roman"/>
              </a:defRPr>
            </a:pPr>
            <a:r>
              <a:rPr sz="1650">
                <a:solidFill>
                  <a:srgbClr val="202520"/>
                </a:solidFill>
                <a:latin typeface="Times New Roman"/>
                <a:ea typeface="Times New Roman"/>
                <a:cs typeface="Times New Roman"/>
              </a:rPr>
              <a:t>[2] Ridnik M, Schoenfelder S, Gonen N. Cis-Regulatory Control of Mammalian Sex Determination. Sex Dev. 2021;15(5-6):317-334.</a:t>
            </a:r>
          </a:p>
        </p:txBody>
      </p:sp>
      <p:sp>
        <p:nvSpPr>
          <p:cNvPr id="6" name="text-5">
            <a:extLst xmlns:a="http://schemas.openxmlformats.org/drawingml/2006/main">
              <a:ext uri="{FF2B5EF4-FFF2-40B4-BE49-F238E27FC236}">
                <a16:creationId xmlns:a16="http://schemas.microsoft.com/office/drawing/2014/main" id="{110246AF-3D6C-4286-98D3-B63FF4E426E3}"/>
              </a:ext>
            </a:extLst>
          </p:cNvPr>
          <p:cNvSpPr>
            <a:spLocks xmlns:a="http://schemas.openxmlformats.org/drawingml/2006/main" noGrp="1"/>
          </p:cNvSpPr>
          <p:nvPr/>
        </p:nvSpPr>
        <p:spPr>
          <a:xfrm xmlns:a="http://schemas.openxmlformats.org/drawingml/2006/main">
            <a:off x="609600" y="3200400"/>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a:solidFill>
                  <a:srgbClr val="202520"/>
                </a:solidFill>
                <a:latin typeface="Times New Roman"/>
                <a:ea typeface="Times New Roman"/>
                <a:cs typeface="Times New Roman"/>
              </a:defRPr>
            </a:defPPr>
            <a:lvl1pPr algn="l">
              <a:defRPr sz="1650">
                <a:solidFill>
                  <a:srgbClr val="202520"/>
                </a:solidFill>
                <a:latin typeface="Times New Roman"/>
                <a:ea typeface="Times New Roman"/>
                <a:cs typeface="Times New Roman"/>
              </a:defRPr>
            </a:lvl1pPr>
            <a:lvl2pPr algn="l">
              <a:defRPr sz="1650">
                <a:solidFill>
                  <a:srgbClr val="202520"/>
                </a:solidFill>
                <a:latin typeface="Times New Roman"/>
                <a:ea typeface="Times New Roman"/>
                <a:cs typeface="Times New Roman"/>
              </a:defRPr>
            </a:lvl2pPr>
            <a:lvl3pPr algn="l">
              <a:defRPr sz="1650">
                <a:solidFill>
                  <a:srgbClr val="202520"/>
                </a:solidFill>
                <a:latin typeface="Times New Roman"/>
                <a:ea typeface="Times New Roman"/>
                <a:cs typeface="Times New Roman"/>
              </a:defRPr>
            </a:lvl3pPr>
            <a:lvl4pPr algn="l">
              <a:defRPr sz="1650">
                <a:solidFill>
                  <a:srgbClr val="202520"/>
                </a:solidFill>
                <a:latin typeface="Times New Roman"/>
                <a:ea typeface="Times New Roman"/>
                <a:cs typeface="Times New Roman"/>
              </a:defRPr>
            </a:lvl4pPr>
            <a:lvl5pPr algn="l">
              <a:defRPr sz="1650">
                <a:solidFill>
                  <a:srgbClr val="202520"/>
                </a:solidFill>
                <a:latin typeface="Times New Roman"/>
                <a:ea typeface="Times New Roman"/>
                <a:cs typeface="Times New Roman"/>
              </a:defRPr>
            </a:lvl5pPr>
            <a:lvl6pPr algn="l">
              <a:defRPr sz="1650">
                <a:solidFill>
                  <a:srgbClr val="202520"/>
                </a:solidFill>
                <a:latin typeface="Times New Roman"/>
                <a:ea typeface="Times New Roman"/>
                <a:cs typeface="Times New Roman"/>
              </a:defRPr>
            </a:lvl6pPr>
            <a:lvl7pPr algn="l">
              <a:defRPr sz="1650">
                <a:solidFill>
                  <a:srgbClr val="202520"/>
                </a:solidFill>
                <a:latin typeface="Times New Roman"/>
                <a:ea typeface="Times New Roman"/>
                <a:cs typeface="Times New Roman"/>
              </a:defRPr>
            </a:lvl7pPr>
            <a:lvl8pPr algn="l">
              <a:defRPr sz="1650">
                <a:solidFill>
                  <a:srgbClr val="202520"/>
                </a:solidFill>
                <a:latin typeface="Times New Roman"/>
                <a:ea typeface="Times New Roman"/>
                <a:cs typeface="Times New Roman"/>
              </a:defRPr>
            </a:lvl8pPr>
            <a:lvl9pPr algn="l">
              <a:defRPr sz="1650">
                <a:solidFill>
                  <a:srgbClr val="202520"/>
                </a:solidFill>
                <a:latin typeface="Times New Roman"/>
                <a:ea typeface="Times New Roman"/>
                <a:cs typeface="Times New Roman"/>
              </a:defRPr>
            </a:lvl9pPr>
          </a:lstStyle>
          <a:p xmlns:a="http://schemas.openxmlformats.org/drawingml/2006/main">
            <a:pPr algn="l">
              <a:defRPr sz="1650">
                <a:solidFill>
                  <a:srgbClr val="202520"/>
                </a:solidFill>
                <a:latin typeface="Times New Roman"/>
                <a:ea typeface="Times New Roman"/>
                <a:cs typeface="Times New Roman"/>
              </a:defRPr>
            </a:pPr>
            <a:r>
              <a:rPr sz="1650">
                <a:solidFill>
                  <a:srgbClr val="202520"/>
                </a:solidFill>
                <a:latin typeface="Times New Roman"/>
                <a:ea typeface="Times New Roman"/>
                <a:cs typeface="Times New Roman"/>
              </a:rPr>
              <a:t>[3] Ioannidis J, et al. Primary sex determination in birds depends on DMRT1 dosage, but gonadal sex does not determine adult secondary sex characteristics. Proc Natl Acad Sci U S A. 2021;118(10):e2020909118.</a:t>
            </a:r>
          </a:p>
        </p:txBody>
      </p:sp>
      <p:sp>
        <p:nvSpPr>
          <p:cNvPr id="7" name="text-6">
            <a:extLst xmlns:a="http://schemas.openxmlformats.org/drawingml/2006/main">
              <a:ext uri="{FF2B5EF4-FFF2-40B4-BE49-F238E27FC236}">
                <a16:creationId xmlns:a16="http://schemas.microsoft.com/office/drawing/2014/main" id="{B85CDCC9-960B-4E53-AAD7-A8723957F2E6}"/>
              </a:ext>
            </a:extLst>
          </p:cNvPr>
          <p:cNvSpPr>
            <a:spLocks xmlns:a="http://schemas.openxmlformats.org/drawingml/2006/main" noGrp="1"/>
          </p:cNvSpPr>
          <p:nvPr/>
        </p:nvSpPr>
        <p:spPr>
          <a:xfrm xmlns:a="http://schemas.openxmlformats.org/drawingml/2006/main">
            <a:off x="609600" y="3962400"/>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a:solidFill>
                  <a:srgbClr val="202520"/>
                </a:solidFill>
                <a:latin typeface="Times New Roman"/>
                <a:ea typeface="Times New Roman"/>
                <a:cs typeface="Times New Roman"/>
              </a:defRPr>
            </a:defPPr>
            <a:lvl1pPr algn="l">
              <a:defRPr sz="1650">
                <a:solidFill>
                  <a:srgbClr val="202520"/>
                </a:solidFill>
                <a:latin typeface="Times New Roman"/>
                <a:ea typeface="Times New Roman"/>
                <a:cs typeface="Times New Roman"/>
              </a:defRPr>
            </a:lvl1pPr>
            <a:lvl2pPr algn="l">
              <a:defRPr sz="1650">
                <a:solidFill>
                  <a:srgbClr val="202520"/>
                </a:solidFill>
                <a:latin typeface="Times New Roman"/>
                <a:ea typeface="Times New Roman"/>
                <a:cs typeface="Times New Roman"/>
              </a:defRPr>
            </a:lvl2pPr>
            <a:lvl3pPr algn="l">
              <a:defRPr sz="1650">
                <a:solidFill>
                  <a:srgbClr val="202520"/>
                </a:solidFill>
                <a:latin typeface="Times New Roman"/>
                <a:ea typeface="Times New Roman"/>
                <a:cs typeface="Times New Roman"/>
              </a:defRPr>
            </a:lvl3pPr>
            <a:lvl4pPr algn="l">
              <a:defRPr sz="1650">
                <a:solidFill>
                  <a:srgbClr val="202520"/>
                </a:solidFill>
                <a:latin typeface="Times New Roman"/>
                <a:ea typeface="Times New Roman"/>
                <a:cs typeface="Times New Roman"/>
              </a:defRPr>
            </a:lvl4pPr>
            <a:lvl5pPr algn="l">
              <a:defRPr sz="1650">
                <a:solidFill>
                  <a:srgbClr val="202520"/>
                </a:solidFill>
                <a:latin typeface="Times New Roman"/>
                <a:ea typeface="Times New Roman"/>
                <a:cs typeface="Times New Roman"/>
              </a:defRPr>
            </a:lvl5pPr>
            <a:lvl6pPr algn="l">
              <a:defRPr sz="1650">
                <a:solidFill>
                  <a:srgbClr val="202520"/>
                </a:solidFill>
                <a:latin typeface="Times New Roman"/>
                <a:ea typeface="Times New Roman"/>
                <a:cs typeface="Times New Roman"/>
              </a:defRPr>
            </a:lvl6pPr>
            <a:lvl7pPr algn="l">
              <a:defRPr sz="1650">
                <a:solidFill>
                  <a:srgbClr val="202520"/>
                </a:solidFill>
                <a:latin typeface="Times New Roman"/>
                <a:ea typeface="Times New Roman"/>
                <a:cs typeface="Times New Roman"/>
              </a:defRPr>
            </a:lvl7pPr>
            <a:lvl8pPr algn="l">
              <a:defRPr sz="1650">
                <a:solidFill>
                  <a:srgbClr val="202520"/>
                </a:solidFill>
                <a:latin typeface="Times New Roman"/>
                <a:ea typeface="Times New Roman"/>
                <a:cs typeface="Times New Roman"/>
              </a:defRPr>
            </a:lvl8pPr>
            <a:lvl9pPr algn="l">
              <a:defRPr sz="1650">
                <a:solidFill>
                  <a:srgbClr val="202520"/>
                </a:solidFill>
                <a:latin typeface="Times New Roman"/>
                <a:ea typeface="Times New Roman"/>
                <a:cs typeface="Times New Roman"/>
              </a:defRPr>
            </a:lvl9pPr>
          </a:lstStyle>
          <a:p xmlns:a="http://schemas.openxmlformats.org/drawingml/2006/main">
            <a:pPr algn="l">
              <a:defRPr sz="1650">
                <a:solidFill>
                  <a:srgbClr val="202520"/>
                </a:solidFill>
                <a:latin typeface="Times New Roman"/>
                <a:ea typeface="Times New Roman"/>
                <a:cs typeface="Times New Roman"/>
              </a:defRPr>
            </a:pPr>
            <a:r>
              <a:rPr sz="1650">
                <a:solidFill>
                  <a:srgbClr val="202520"/>
                </a:solidFill>
                <a:latin typeface="Times New Roman"/>
                <a:ea typeface="Times New Roman"/>
                <a:cs typeface="Times New Roman"/>
              </a:rPr>
              <a:t>[4] Kitano J, Ansai S, Takehana Y, Yamamoto Y. Diversity and Convergence of Sex-Determination Mechanisms in Teleost Fish. Annu Rev Anim Biosci. 2024;12:233-259.</a:t>
            </a:r>
          </a:p>
        </p:txBody>
      </p:sp>
      <p:sp>
        <p:nvSpPr>
          <p:cNvPr id="8" name="text-7">
            <a:extLst xmlns:a="http://schemas.openxmlformats.org/drawingml/2006/main">
              <a:ext uri="{FF2B5EF4-FFF2-40B4-BE49-F238E27FC236}">
                <a16:creationId xmlns:a16="http://schemas.microsoft.com/office/drawing/2014/main" id="{47943237-45DE-42D4-B951-B0C3EFE4C388}"/>
              </a:ext>
            </a:extLst>
          </p:cNvPr>
          <p:cNvSpPr>
            <a:spLocks xmlns:a="http://schemas.openxmlformats.org/drawingml/2006/main" noGrp="1"/>
          </p:cNvSpPr>
          <p:nvPr/>
        </p:nvSpPr>
        <p:spPr>
          <a:xfrm xmlns:a="http://schemas.openxmlformats.org/drawingml/2006/main">
            <a:off x="609600" y="4724400"/>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a:solidFill>
                  <a:srgbClr val="202520"/>
                </a:solidFill>
                <a:latin typeface="Times New Roman"/>
                <a:ea typeface="Times New Roman"/>
                <a:cs typeface="Times New Roman"/>
              </a:defRPr>
            </a:defPPr>
            <a:lvl1pPr algn="l">
              <a:defRPr sz="1650">
                <a:solidFill>
                  <a:srgbClr val="202520"/>
                </a:solidFill>
                <a:latin typeface="Times New Roman"/>
                <a:ea typeface="Times New Roman"/>
                <a:cs typeface="Times New Roman"/>
              </a:defRPr>
            </a:lvl1pPr>
            <a:lvl2pPr algn="l">
              <a:defRPr sz="1650">
                <a:solidFill>
                  <a:srgbClr val="202520"/>
                </a:solidFill>
                <a:latin typeface="Times New Roman"/>
                <a:ea typeface="Times New Roman"/>
                <a:cs typeface="Times New Roman"/>
              </a:defRPr>
            </a:lvl2pPr>
            <a:lvl3pPr algn="l">
              <a:defRPr sz="1650">
                <a:solidFill>
                  <a:srgbClr val="202520"/>
                </a:solidFill>
                <a:latin typeface="Times New Roman"/>
                <a:ea typeface="Times New Roman"/>
                <a:cs typeface="Times New Roman"/>
              </a:defRPr>
            </a:lvl3pPr>
            <a:lvl4pPr algn="l">
              <a:defRPr sz="1650">
                <a:solidFill>
                  <a:srgbClr val="202520"/>
                </a:solidFill>
                <a:latin typeface="Times New Roman"/>
                <a:ea typeface="Times New Roman"/>
                <a:cs typeface="Times New Roman"/>
              </a:defRPr>
            </a:lvl4pPr>
            <a:lvl5pPr algn="l">
              <a:defRPr sz="1650">
                <a:solidFill>
                  <a:srgbClr val="202520"/>
                </a:solidFill>
                <a:latin typeface="Times New Roman"/>
                <a:ea typeface="Times New Roman"/>
                <a:cs typeface="Times New Roman"/>
              </a:defRPr>
            </a:lvl5pPr>
            <a:lvl6pPr algn="l">
              <a:defRPr sz="1650">
                <a:solidFill>
                  <a:srgbClr val="202520"/>
                </a:solidFill>
                <a:latin typeface="Times New Roman"/>
                <a:ea typeface="Times New Roman"/>
                <a:cs typeface="Times New Roman"/>
              </a:defRPr>
            </a:lvl6pPr>
            <a:lvl7pPr algn="l">
              <a:defRPr sz="1650">
                <a:solidFill>
                  <a:srgbClr val="202520"/>
                </a:solidFill>
                <a:latin typeface="Times New Roman"/>
                <a:ea typeface="Times New Roman"/>
                <a:cs typeface="Times New Roman"/>
              </a:defRPr>
            </a:lvl7pPr>
            <a:lvl8pPr algn="l">
              <a:defRPr sz="1650">
                <a:solidFill>
                  <a:srgbClr val="202520"/>
                </a:solidFill>
                <a:latin typeface="Times New Roman"/>
                <a:ea typeface="Times New Roman"/>
                <a:cs typeface="Times New Roman"/>
              </a:defRPr>
            </a:lvl8pPr>
            <a:lvl9pPr algn="l">
              <a:defRPr sz="1650">
                <a:solidFill>
                  <a:srgbClr val="202520"/>
                </a:solidFill>
                <a:latin typeface="Times New Roman"/>
                <a:ea typeface="Times New Roman"/>
                <a:cs typeface="Times New Roman"/>
              </a:defRPr>
            </a:lvl9pPr>
          </a:lstStyle>
          <a:p xmlns:a="http://schemas.openxmlformats.org/drawingml/2006/main">
            <a:pPr algn="l">
              <a:defRPr sz="1650">
                <a:solidFill>
                  <a:srgbClr val="202520"/>
                </a:solidFill>
                <a:latin typeface="Times New Roman"/>
                <a:ea typeface="Times New Roman"/>
                <a:cs typeface="Times New Roman"/>
              </a:defRPr>
            </a:pPr>
            <a:r>
              <a:rPr sz="1650">
                <a:solidFill>
                  <a:srgbClr val="202520"/>
                </a:solidFill>
                <a:latin typeface="Times New Roman"/>
                <a:ea typeface="Times New Roman"/>
                <a:cs typeface="Times New Roman"/>
              </a:rPr>
              <a:t>[5] Xie X, Zhang Y, Peng H, Deng Z. Sex Chromosome Dosage Compensation in Insects. Insects. 2025;16(2):160.</a:t>
            </a:r>
          </a:p>
        </p:txBody>
      </p:sp>
      <p:sp>
        <p:nvSpPr>
          <p:cNvPr id="9" name="text-8">
            <a:extLst xmlns:a="http://schemas.openxmlformats.org/drawingml/2006/main">
              <a:ext uri="{FF2B5EF4-FFF2-40B4-BE49-F238E27FC236}">
                <a16:creationId xmlns:a16="http://schemas.microsoft.com/office/drawing/2014/main" id="{6B865BE1-C720-411A-871A-92380CDF61EC}"/>
              </a:ext>
            </a:extLst>
          </p:cNvPr>
          <p:cNvSpPr>
            <a:spLocks xmlns:a="http://schemas.openxmlformats.org/drawingml/2006/main" noGrp="1"/>
          </p:cNvSpPr>
          <p:nvPr/>
        </p:nvSpPr>
        <p:spPr>
          <a:xfrm xmlns:a="http://schemas.openxmlformats.org/drawingml/2006/main">
            <a:off x="609600" y="5486400"/>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a:solidFill>
                  <a:srgbClr val="202520"/>
                </a:solidFill>
                <a:latin typeface="Times New Roman"/>
                <a:ea typeface="Times New Roman"/>
                <a:cs typeface="Times New Roman"/>
              </a:defRPr>
            </a:defPPr>
            <a:lvl1pPr algn="l">
              <a:defRPr sz="1650">
                <a:solidFill>
                  <a:srgbClr val="202520"/>
                </a:solidFill>
                <a:latin typeface="Times New Roman"/>
                <a:ea typeface="Times New Roman"/>
                <a:cs typeface="Times New Roman"/>
              </a:defRPr>
            </a:lvl1pPr>
            <a:lvl2pPr algn="l">
              <a:defRPr sz="1650">
                <a:solidFill>
                  <a:srgbClr val="202520"/>
                </a:solidFill>
                <a:latin typeface="Times New Roman"/>
                <a:ea typeface="Times New Roman"/>
                <a:cs typeface="Times New Roman"/>
              </a:defRPr>
            </a:lvl2pPr>
            <a:lvl3pPr algn="l">
              <a:defRPr sz="1650">
                <a:solidFill>
                  <a:srgbClr val="202520"/>
                </a:solidFill>
                <a:latin typeface="Times New Roman"/>
                <a:ea typeface="Times New Roman"/>
                <a:cs typeface="Times New Roman"/>
              </a:defRPr>
            </a:lvl3pPr>
            <a:lvl4pPr algn="l">
              <a:defRPr sz="1650">
                <a:solidFill>
                  <a:srgbClr val="202520"/>
                </a:solidFill>
                <a:latin typeface="Times New Roman"/>
                <a:ea typeface="Times New Roman"/>
                <a:cs typeface="Times New Roman"/>
              </a:defRPr>
            </a:lvl4pPr>
            <a:lvl5pPr algn="l">
              <a:defRPr sz="1650">
                <a:solidFill>
                  <a:srgbClr val="202520"/>
                </a:solidFill>
                <a:latin typeface="Times New Roman"/>
                <a:ea typeface="Times New Roman"/>
                <a:cs typeface="Times New Roman"/>
              </a:defRPr>
            </a:lvl5pPr>
            <a:lvl6pPr algn="l">
              <a:defRPr sz="1650">
                <a:solidFill>
                  <a:srgbClr val="202520"/>
                </a:solidFill>
                <a:latin typeface="Times New Roman"/>
                <a:ea typeface="Times New Roman"/>
                <a:cs typeface="Times New Roman"/>
              </a:defRPr>
            </a:lvl6pPr>
            <a:lvl7pPr algn="l">
              <a:defRPr sz="1650">
                <a:solidFill>
                  <a:srgbClr val="202520"/>
                </a:solidFill>
                <a:latin typeface="Times New Roman"/>
                <a:ea typeface="Times New Roman"/>
                <a:cs typeface="Times New Roman"/>
              </a:defRPr>
            </a:lvl7pPr>
            <a:lvl8pPr algn="l">
              <a:defRPr sz="1650">
                <a:solidFill>
                  <a:srgbClr val="202520"/>
                </a:solidFill>
                <a:latin typeface="Times New Roman"/>
                <a:ea typeface="Times New Roman"/>
                <a:cs typeface="Times New Roman"/>
              </a:defRPr>
            </a:lvl8pPr>
            <a:lvl9pPr algn="l">
              <a:defRPr sz="1650">
                <a:solidFill>
                  <a:srgbClr val="202520"/>
                </a:solidFill>
                <a:latin typeface="Times New Roman"/>
                <a:ea typeface="Times New Roman"/>
                <a:cs typeface="Times New Roman"/>
              </a:defRPr>
            </a:lvl9pPr>
          </a:lstStyle>
          <a:p xmlns:a="http://schemas.openxmlformats.org/drawingml/2006/main">
            <a:pPr algn="l">
              <a:defRPr sz="1650">
                <a:solidFill>
                  <a:srgbClr val="202520"/>
                </a:solidFill>
                <a:latin typeface="Times New Roman"/>
                <a:ea typeface="Times New Roman"/>
                <a:cs typeface="Times New Roman"/>
              </a:defRPr>
            </a:pPr>
            <a:r>
              <a:rPr sz="1650">
                <a:solidFill>
                  <a:srgbClr val="202520"/>
                </a:solidFill>
                <a:latin typeface="Times New Roman"/>
                <a:ea typeface="Times New Roman"/>
                <a:cs typeface="Times New Roman"/>
              </a:rPr>
              <a:t>[6] Seiler J, Beye M. Honeybees’ novel complementary sex-determining system: function and origin. Trends Genet. 2024;40(11):969-981.</a:t>
            </a:r>
          </a:p>
        </p:txBody>
      </p:sp>
    </p:spTree>
    <p:extLst>
      <p:ext uri="{BB962C8B-B14F-4D97-AF65-F5344CB8AC3E}">
        <p14:creationId xmlns:p14="http://schemas.microsoft.com/office/powerpoint/2010/main" val="780419217"/>
      </p:ext>
    </p:extLst>
  </p:cSld>
</p:sld>
</file>

<file path=ppt/slides/slide20.xml><?xml version="1.0" encoding="utf-8"?>
<p:sld xmlns:p="http://schemas.openxmlformats.org/presentationml/2006/main">
  <p:cSld>
    <p:bg>
      <p:bgPr>
        <a:solidFill xmlns:a="http://schemas.openxmlformats.org/drawingml/2006/main">
          <a:srgbClr val="FBFCF9"/>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2C0FA472-DCB9-458F-9FE2-A4ED5B44B9A3}"/>
              </a:ext>
            </a:extLst>
          </p:cNvPr>
          <p:cNvSpPr>
            <a:spLocks xmlns:a="http://schemas.openxmlformats.org/drawingml/2006/main" noGrp="1"/>
          </p:cNvSpPr>
          <p:nvPr/>
        </p:nvSpPr>
        <p:spPr>
          <a:xfrm xmlns:a="http://schemas.openxmlformats.org/drawingml/2006/main">
            <a:off x="609600" y="381000"/>
            <a:ext cx="10972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83F31"/>
                </a:solidFill>
                <a:latin typeface="Times New Roman"/>
                <a:ea typeface="Times New Roman"/>
                <a:cs typeface="Times New Roman"/>
              </a:defRPr>
            </a:defPPr>
            <a:lvl1pPr algn="l">
              <a:defRPr sz="3150" b="1">
                <a:solidFill>
                  <a:srgbClr val="183F31"/>
                </a:solidFill>
                <a:latin typeface="Times New Roman"/>
                <a:ea typeface="Times New Roman"/>
                <a:cs typeface="Times New Roman"/>
              </a:defRPr>
            </a:lvl1pPr>
            <a:lvl2pPr algn="l">
              <a:defRPr sz="3150" b="1">
                <a:solidFill>
                  <a:srgbClr val="183F31"/>
                </a:solidFill>
                <a:latin typeface="Times New Roman"/>
                <a:ea typeface="Times New Roman"/>
                <a:cs typeface="Times New Roman"/>
              </a:defRPr>
            </a:lvl2pPr>
            <a:lvl3pPr algn="l">
              <a:defRPr sz="3150" b="1">
                <a:solidFill>
                  <a:srgbClr val="183F31"/>
                </a:solidFill>
                <a:latin typeface="Times New Roman"/>
                <a:ea typeface="Times New Roman"/>
                <a:cs typeface="Times New Roman"/>
              </a:defRPr>
            </a:lvl3pPr>
            <a:lvl4pPr algn="l">
              <a:defRPr sz="3150" b="1">
                <a:solidFill>
                  <a:srgbClr val="183F31"/>
                </a:solidFill>
                <a:latin typeface="Times New Roman"/>
                <a:ea typeface="Times New Roman"/>
                <a:cs typeface="Times New Roman"/>
              </a:defRPr>
            </a:lvl4pPr>
            <a:lvl5pPr algn="l">
              <a:defRPr sz="3150" b="1">
                <a:solidFill>
                  <a:srgbClr val="183F31"/>
                </a:solidFill>
                <a:latin typeface="Times New Roman"/>
                <a:ea typeface="Times New Roman"/>
                <a:cs typeface="Times New Roman"/>
              </a:defRPr>
            </a:lvl5pPr>
            <a:lvl6pPr algn="l">
              <a:defRPr sz="3150" b="1">
                <a:solidFill>
                  <a:srgbClr val="183F31"/>
                </a:solidFill>
                <a:latin typeface="Times New Roman"/>
                <a:ea typeface="Times New Roman"/>
                <a:cs typeface="Times New Roman"/>
              </a:defRPr>
            </a:lvl6pPr>
            <a:lvl7pPr algn="l">
              <a:defRPr sz="3150" b="1">
                <a:solidFill>
                  <a:srgbClr val="183F31"/>
                </a:solidFill>
                <a:latin typeface="Times New Roman"/>
                <a:ea typeface="Times New Roman"/>
                <a:cs typeface="Times New Roman"/>
              </a:defRPr>
            </a:lvl7pPr>
            <a:lvl8pPr algn="l">
              <a:defRPr sz="3150" b="1">
                <a:solidFill>
                  <a:srgbClr val="183F31"/>
                </a:solidFill>
                <a:latin typeface="Times New Roman"/>
                <a:ea typeface="Times New Roman"/>
                <a:cs typeface="Times New Roman"/>
              </a:defRPr>
            </a:lvl8pPr>
            <a:lvl9pPr algn="l">
              <a:defRPr sz="3150" b="1">
                <a:solidFill>
                  <a:srgbClr val="183F31"/>
                </a:solidFill>
                <a:latin typeface="Times New Roman"/>
                <a:ea typeface="Times New Roman"/>
                <a:cs typeface="Times New Roman"/>
              </a:defRPr>
            </a:lvl9pPr>
          </a:lstStyle>
          <a:p xmlns:a="http://schemas.openxmlformats.org/drawingml/2006/main">
            <a:pPr algn="l">
              <a:defRPr sz="3150" b="1">
                <a:solidFill>
                  <a:srgbClr val="183F31"/>
                </a:solidFill>
                <a:latin typeface="Times New Roman"/>
                <a:ea typeface="Times New Roman"/>
                <a:cs typeface="Times New Roman"/>
              </a:defRPr>
            </a:pPr>
            <a:r>
              <a:rPr sz="3150" b="1">
                <a:solidFill>
                  <a:srgbClr val="183F31"/>
                </a:solidFill>
                <a:latin typeface="Times New Roman"/>
                <a:ea typeface="Times New Roman"/>
                <a:cs typeface="Times New Roman"/>
              </a:rPr>
              <a:t>Bibliografía · 2 de 2</a:t>
            </a:r>
          </a:p>
        </p:txBody>
      </p:sp>
      <p:sp>
        <p:nvSpPr>
          <p:cNvPr id="2" name="">
            <a:extLst xmlns:a="http://schemas.openxmlformats.org/drawingml/2006/main">
              <a:ext uri="{FF2B5EF4-FFF2-40B4-BE49-F238E27FC236}">
                <a16:creationId xmlns:a16="http://schemas.microsoft.com/office/drawing/2014/main" id="{7F8D5E94-A273-48F0-B629-524C7CCDD730}"/>
              </a:ext>
            </a:extLst>
          </p:cNvPr>
          <p:cNvSpPr>
            <a:spLocks xmlns:a="http://schemas.openxmlformats.org/drawingml/2006/main" noGrp="1"/>
          </p:cNvSpPr>
          <p:nvPr/>
        </p:nvSpPr>
        <p:spPr>
          <a:xfrm xmlns:a="http://schemas.openxmlformats.org/drawingml/2006/main">
            <a:off x="609600" y="1323975"/>
            <a:ext cx="10972800" cy="19050"/>
          </a:xfrm>
          <a:prstGeom xmlns:a="http://schemas.openxmlformats.org/drawingml/2006/main" prst="rect">
            <a:avLst/>
          </a:prstGeom>
          <a:solidFill xmlns:a="http://schemas.openxmlformats.org/drawingml/2006/main">
            <a:srgbClr val="A8C2AD"/>
          </a:solidFill>
          <a:ln xmlns:a="http://schemas.openxmlformats.org/drawingml/2006/main" w="0">
            <a:noFill/>
            <a:prstDash val="solid"/>
          </a:ln>
        </p:spPr>
      </p:sp>
      <p:sp>
        <p:nvSpPr>
          <p:cNvPr id="3" name="folio">
            <a:extLst xmlns:a="http://schemas.openxmlformats.org/drawingml/2006/main">
              <a:ext uri="{FF2B5EF4-FFF2-40B4-BE49-F238E27FC236}">
                <a16:creationId xmlns:a16="http://schemas.microsoft.com/office/drawing/2014/main" id="{FA909AC4-9BFD-4758-B337-BDA1C7D15B41}"/>
              </a:ext>
            </a:extLst>
          </p:cNvPr>
          <p:cNvSpPr>
            <a:spLocks xmlns:a="http://schemas.openxmlformats.org/drawingml/2006/main" noGrp="1"/>
          </p:cNvSpPr>
          <p:nvPr/>
        </p:nvSpPr>
        <p:spPr>
          <a:xfrm xmlns:a="http://schemas.openxmlformats.org/drawingml/2006/main">
            <a:off x="11258550" y="64198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a:solidFill>
                  <a:srgbClr val="41745A"/>
                </a:solidFill>
                <a:latin typeface="Times New Roman"/>
                <a:ea typeface="Times New Roman"/>
                <a:cs typeface="Times New Roman"/>
              </a:defRPr>
            </a:defPPr>
            <a:lvl1pPr algn="r">
              <a:defRPr sz="1500">
                <a:solidFill>
                  <a:srgbClr val="41745A"/>
                </a:solidFill>
                <a:latin typeface="Times New Roman"/>
                <a:ea typeface="Times New Roman"/>
                <a:cs typeface="Times New Roman"/>
              </a:defRPr>
            </a:lvl1pPr>
            <a:lvl2pPr algn="r">
              <a:defRPr sz="1500">
                <a:solidFill>
                  <a:srgbClr val="41745A"/>
                </a:solidFill>
                <a:latin typeface="Times New Roman"/>
                <a:ea typeface="Times New Roman"/>
                <a:cs typeface="Times New Roman"/>
              </a:defRPr>
            </a:lvl2pPr>
            <a:lvl3pPr algn="r">
              <a:defRPr sz="1500">
                <a:solidFill>
                  <a:srgbClr val="41745A"/>
                </a:solidFill>
                <a:latin typeface="Times New Roman"/>
                <a:ea typeface="Times New Roman"/>
                <a:cs typeface="Times New Roman"/>
              </a:defRPr>
            </a:lvl3pPr>
            <a:lvl4pPr algn="r">
              <a:defRPr sz="1500">
                <a:solidFill>
                  <a:srgbClr val="41745A"/>
                </a:solidFill>
                <a:latin typeface="Times New Roman"/>
                <a:ea typeface="Times New Roman"/>
                <a:cs typeface="Times New Roman"/>
              </a:defRPr>
            </a:lvl4pPr>
            <a:lvl5pPr algn="r">
              <a:defRPr sz="1500">
                <a:solidFill>
                  <a:srgbClr val="41745A"/>
                </a:solidFill>
                <a:latin typeface="Times New Roman"/>
                <a:ea typeface="Times New Roman"/>
                <a:cs typeface="Times New Roman"/>
              </a:defRPr>
            </a:lvl5pPr>
            <a:lvl6pPr algn="r">
              <a:defRPr sz="1500">
                <a:solidFill>
                  <a:srgbClr val="41745A"/>
                </a:solidFill>
                <a:latin typeface="Times New Roman"/>
                <a:ea typeface="Times New Roman"/>
                <a:cs typeface="Times New Roman"/>
              </a:defRPr>
            </a:lvl6pPr>
            <a:lvl7pPr algn="r">
              <a:defRPr sz="1500">
                <a:solidFill>
                  <a:srgbClr val="41745A"/>
                </a:solidFill>
                <a:latin typeface="Times New Roman"/>
                <a:ea typeface="Times New Roman"/>
                <a:cs typeface="Times New Roman"/>
              </a:defRPr>
            </a:lvl7pPr>
            <a:lvl8pPr algn="r">
              <a:defRPr sz="1500">
                <a:solidFill>
                  <a:srgbClr val="41745A"/>
                </a:solidFill>
                <a:latin typeface="Times New Roman"/>
                <a:ea typeface="Times New Roman"/>
                <a:cs typeface="Times New Roman"/>
              </a:defRPr>
            </a:lvl8pPr>
            <a:lvl9pPr algn="r">
              <a:defRPr sz="1500">
                <a:solidFill>
                  <a:srgbClr val="41745A"/>
                </a:solidFill>
                <a:latin typeface="Times New Roman"/>
                <a:ea typeface="Times New Roman"/>
                <a:cs typeface="Times New Roman"/>
              </a:defRPr>
            </a:lvl9pPr>
          </a:lstStyle>
          <a:p xmlns:a="http://schemas.openxmlformats.org/drawingml/2006/main">
            <a:pPr algn="r">
              <a:defRPr sz="1500">
                <a:solidFill>
                  <a:srgbClr val="41745A"/>
                </a:solidFill>
                <a:latin typeface="Times New Roman"/>
                <a:ea typeface="Times New Roman"/>
                <a:cs typeface="Times New Roman"/>
              </a:defRPr>
            </a:pPr>
            <a:r>
              <a:rPr sz="1500">
                <a:solidFill>
                  <a:srgbClr val="41745A"/>
                </a:solidFill>
                <a:latin typeface="Times New Roman"/>
                <a:ea typeface="Times New Roman"/>
                <a:cs typeface="Times New Roman"/>
              </a:rPr>
              <a:t>20</a:t>
            </a:r>
          </a:p>
        </p:txBody>
      </p:sp>
      <p:sp>
        <p:nvSpPr>
          <p:cNvPr id="4" name="text-3">
            <a:extLst xmlns:a="http://schemas.openxmlformats.org/drawingml/2006/main">
              <a:ext uri="{FF2B5EF4-FFF2-40B4-BE49-F238E27FC236}">
                <a16:creationId xmlns:a16="http://schemas.microsoft.com/office/drawing/2014/main" id="{61360BEF-656E-4B23-B61C-45374214051B}"/>
              </a:ext>
            </a:extLst>
          </p:cNvPr>
          <p:cNvSpPr>
            <a:spLocks xmlns:a="http://schemas.openxmlformats.org/drawingml/2006/main" noGrp="1"/>
          </p:cNvSpPr>
          <p:nvPr/>
        </p:nvSpPr>
        <p:spPr>
          <a:xfrm xmlns:a="http://schemas.openxmlformats.org/drawingml/2006/main">
            <a:off x="609600" y="1676400"/>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a:solidFill>
                  <a:srgbClr val="202520"/>
                </a:solidFill>
                <a:latin typeface="Times New Roman"/>
                <a:ea typeface="Times New Roman"/>
                <a:cs typeface="Times New Roman"/>
              </a:defRPr>
            </a:defPPr>
            <a:lvl1pPr algn="l">
              <a:defRPr sz="1650">
                <a:solidFill>
                  <a:srgbClr val="202520"/>
                </a:solidFill>
                <a:latin typeface="Times New Roman"/>
                <a:ea typeface="Times New Roman"/>
                <a:cs typeface="Times New Roman"/>
              </a:defRPr>
            </a:lvl1pPr>
            <a:lvl2pPr algn="l">
              <a:defRPr sz="1650">
                <a:solidFill>
                  <a:srgbClr val="202520"/>
                </a:solidFill>
                <a:latin typeface="Times New Roman"/>
                <a:ea typeface="Times New Roman"/>
                <a:cs typeface="Times New Roman"/>
              </a:defRPr>
            </a:lvl2pPr>
            <a:lvl3pPr algn="l">
              <a:defRPr sz="1650">
                <a:solidFill>
                  <a:srgbClr val="202520"/>
                </a:solidFill>
                <a:latin typeface="Times New Roman"/>
                <a:ea typeface="Times New Roman"/>
                <a:cs typeface="Times New Roman"/>
              </a:defRPr>
            </a:lvl3pPr>
            <a:lvl4pPr algn="l">
              <a:defRPr sz="1650">
                <a:solidFill>
                  <a:srgbClr val="202520"/>
                </a:solidFill>
                <a:latin typeface="Times New Roman"/>
                <a:ea typeface="Times New Roman"/>
                <a:cs typeface="Times New Roman"/>
              </a:defRPr>
            </a:lvl4pPr>
            <a:lvl5pPr algn="l">
              <a:defRPr sz="1650">
                <a:solidFill>
                  <a:srgbClr val="202520"/>
                </a:solidFill>
                <a:latin typeface="Times New Roman"/>
                <a:ea typeface="Times New Roman"/>
                <a:cs typeface="Times New Roman"/>
              </a:defRPr>
            </a:lvl5pPr>
            <a:lvl6pPr algn="l">
              <a:defRPr sz="1650">
                <a:solidFill>
                  <a:srgbClr val="202520"/>
                </a:solidFill>
                <a:latin typeface="Times New Roman"/>
                <a:ea typeface="Times New Roman"/>
                <a:cs typeface="Times New Roman"/>
              </a:defRPr>
            </a:lvl6pPr>
            <a:lvl7pPr algn="l">
              <a:defRPr sz="1650">
                <a:solidFill>
                  <a:srgbClr val="202520"/>
                </a:solidFill>
                <a:latin typeface="Times New Roman"/>
                <a:ea typeface="Times New Roman"/>
                <a:cs typeface="Times New Roman"/>
              </a:defRPr>
            </a:lvl7pPr>
            <a:lvl8pPr algn="l">
              <a:defRPr sz="1650">
                <a:solidFill>
                  <a:srgbClr val="202520"/>
                </a:solidFill>
                <a:latin typeface="Times New Roman"/>
                <a:ea typeface="Times New Roman"/>
                <a:cs typeface="Times New Roman"/>
              </a:defRPr>
            </a:lvl8pPr>
            <a:lvl9pPr algn="l">
              <a:defRPr sz="1650">
                <a:solidFill>
                  <a:srgbClr val="202520"/>
                </a:solidFill>
                <a:latin typeface="Times New Roman"/>
                <a:ea typeface="Times New Roman"/>
                <a:cs typeface="Times New Roman"/>
              </a:defRPr>
            </a:lvl9pPr>
          </a:lstStyle>
          <a:p xmlns:a="http://schemas.openxmlformats.org/drawingml/2006/main">
            <a:pPr algn="l">
              <a:defRPr sz="1650">
                <a:solidFill>
                  <a:srgbClr val="202520"/>
                </a:solidFill>
                <a:latin typeface="Times New Roman"/>
                <a:ea typeface="Times New Roman"/>
                <a:cs typeface="Times New Roman"/>
              </a:defRPr>
            </a:pPr>
            <a:r>
              <a:rPr sz="1650">
                <a:solidFill>
                  <a:srgbClr val="202520"/>
                </a:solidFill>
                <a:latin typeface="Times New Roman"/>
                <a:ea typeface="Times New Roman"/>
                <a:cs typeface="Times New Roman"/>
              </a:rPr>
              <a:t>[7] Akashi H, Hasui D, Ueda K, Ishikawa M, Takeda M, Miyagawa S. Understanding the role of environmental temperature on sex determination through comparative studies in reptiles and amphibians. J Exp Zool A Ecol Integr Physiol. 2024;341(1):48-59.</a:t>
            </a:r>
          </a:p>
        </p:txBody>
      </p:sp>
      <p:sp>
        <p:nvSpPr>
          <p:cNvPr id="5" name="text-4">
            <a:extLst xmlns:a="http://schemas.openxmlformats.org/drawingml/2006/main">
              <a:ext uri="{FF2B5EF4-FFF2-40B4-BE49-F238E27FC236}">
                <a16:creationId xmlns:a16="http://schemas.microsoft.com/office/drawing/2014/main" id="{27A0E256-1B78-4D34-9C01-049AB4003BA1}"/>
              </a:ext>
            </a:extLst>
          </p:cNvPr>
          <p:cNvSpPr>
            <a:spLocks xmlns:a="http://schemas.openxmlformats.org/drawingml/2006/main" noGrp="1"/>
          </p:cNvSpPr>
          <p:nvPr/>
        </p:nvSpPr>
        <p:spPr>
          <a:xfrm xmlns:a="http://schemas.openxmlformats.org/drawingml/2006/main">
            <a:off x="609600" y="2438400"/>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a:solidFill>
                  <a:srgbClr val="202520"/>
                </a:solidFill>
                <a:latin typeface="Times New Roman"/>
                <a:ea typeface="Times New Roman"/>
                <a:cs typeface="Times New Roman"/>
              </a:defRPr>
            </a:defPPr>
            <a:lvl1pPr algn="l">
              <a:defRPr sz="1650">
                <a:solidFill>
                  <a:srgbClr val="202520"/>
                </a:solidFill>
                <a:latin typeface="Times New Roman"/>
                <a:ea typeface="Times New Roman"/>
                <a:cs typeface="Times New Roman"/>
              </a:defRPr>
            </a:lvl1pPr>
            <a:lvl2pPr algn="l">
              <a:defRPr sz="1650">
                <a:solidFill>
                  <a:srgbClr val="202520"/>
                </a:solidFill>
                <a:latin typeface="Times New Roman"/>
                <a:ea typeface="Times New Roman"/>
                <a:cs typeface="Times New Roman"/>
              </a:defRPr>
            </a:lvl2pPr>
            <a:lvl3pPr algn="l">
              <a:defRPr sz="1650">
                <a:solidFill>
                  <a:srgbClr val="202520"/>
                </a:solidFill>
                <a:latin typeface="Times New Roman"/>
                <a:ea typeface="Times New Roman"/>
                <a:cs typeface="Times New Roman"/>
              </a:defRPr>
            </a:lvl3pPr>
            <a:lvl4pPr algn="l">
              <a:defRPr sz="1650">
                <a:solidFill>
                  <a:srgbClr val="202520"/>
                </a:solidFill>
                <a:latin typeface="Times New Roman"/>
                <a:ea typeface="Times New Roman"/>
                <a:cs typeface="Times New Roman"/>
              </a:defRPr>
            </a:lvl4pPr>
            <a:lvl5pPr algn="l">
              <a:defRPr sz="1650">
                <a:solidFill>
                  <a:srgbClr val="202520"/>
                </a:solidFill>
                <a:latin typeface="Times New Roman"/>
                <a:ea typeface="Times New Roman"/>
                <a:cs typeface="Times New Roman"/>
              </a:defRPr>
            </a:lvl5pPr>
            <a:lvl6pPr algn="l">
              <a:defRPr sz="1650">
                <a:solidFill>
                  <a:srgbClr val="202520"/>
                </a:solidFill>
                <a:latin typeface="Times New Roman"/>
                <a:ea typeface="Times New Roman"/>
                <a:cs typeface="Times New Roman"/>
              </a:defRPr>
            </a:lvl6pPr>
            <a:lvl7pPr algn="l">
              <a:defRPr sz="1650">
                <a:solidFill>
                  <a:srgbClr val="202520"/>
                </a:solidFill>
                <a:latin typeface="Times New Roman"/>
                <a:ea typeface="Times New Roman"/>
                <a:cs typeface="Times New Roman"/>
              </a:defRPr>
            </a:lvl7pPr>
            <a:lvl8pPr algn="l">
              <a:defRPr sz="1650">
                <a:solidFill>
                  <a:srgbClr val="202520"/>
                </a:solidFill>
                <a:latin typeface="Times New Roman"/>
                <a:ea typeface="Times New Roman"/>
                <a:cs typeface="Times New Roman"/>
              </a:defRPr>
            </a:lvl8pPr>
            <a:lvl9pPr algn="l">
              <a:defRPr sz="1650">
                <a:solidFill>
                  <a:srgbClr val="202520"/>
                </a:solidFill>
                <a:latin typeface="Times New Roman"/>
                <a:ea typeface="Times New Roman"/>
                <a:cs typeface="Times New Roman"/>
              </a:defRPr>
            </a:lvl9pPr>
          </a:lstStyle>
          <a:p xmlns:a="http://schemas.openxmlformats.org/drawingml/2006/main">
            <a:pPr algn="l">
              <a:defRPr sz="1650">
                <a:solidFill>
                  <a:srgbClr val="202520"/>
                </a:solidFill>
                <a:latin typeface="Times New Roman"/>
                <a:ea typeface="Times New Roman"/>
                <a:cs typeface="Times New Roman"/>
              </a:defRPr>
            </a:pPr>
            <a:r>
              <a:rPr sz="1650">
                <a:solidFill>
                  <a:srgbClr val="202520"/>
                </a:solidFill>
                <a:latin typeface="Times New Roman"/>
                <a:ea typeface="Times New Roman"/>
                <a:cs typeface="Times New Roman"/>
              </a:rPr>
              <a:t>[8] Nicol B, Estermann MA, Yao HHC, Mellouk N. Becoming female: Ovarian differentiation from an evolutionary perspective. Front Cell Dev Biol. 2022;10:944776.</a:t>
            </a:r>
          </a:p>
        </p:txBody>
      </p:sp>
      <p:sp>
        <p:nvSpPr>
          <p:cNvPr id="6" name="text-5">
            <a:extLst xmlns:a="http://schemas.openxmlformats.org/drawingml/2006/main">
              <a:ext uri="{FF2B5EF4-FFF2-40B4-BE49-F238E27FC236}">
                <a16:creationId xmlns:a16="http://schemas.microsoft.com/office/drawing/2014/main" id="{0FBEFBCA-1E06-4EB7-AAB2-08F8CB0056C4}"/>
              </a:ext>
            </a:extLst>
          </p:cNvPr>
          <p:cNvSpPr>
            <a:spLocks xmlns:a="http://schemas.openxmlformats.org/drawingml/2006/main" noGrp="1"/>
          </p:cNvSpPr>
          <p:nvPr/>
        </p:nvSpPr>
        <p:spPr>
          <a:xfrm xmlns:a="http://schemas.openxmlformats.org/drawingml/2006/main">
            <a:off x="609600" y="3200400"/>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a:solidFill>
                  <a:srgbClr val="202520"/>
                </a:solidFill>
                <a:latin typeface="Times New Roman"/>
                <a:ea typeface="Times New Roman"/>
                <a:cs typeface="Times New Roman"/>
              </a:defRPr>
            </a:defPPr>
            <a:lvl1pPr algn="l">
              <a:defRPr sz="1650">
                <a:solidFill>
                  <a:srgbClr val="202520"/>
                </a:solidFill>
                <a:latin typeface="Times New Roman"/>
                <a:ea typeface="Times New Roman"/>
                <a:cs typeface="Times New Roman"/>
              </a:defRPr>
            </a:lvl1pPr>
            <a:lvl2pPr algn="l">
              <a:defRPr sz="1650">
                <a:solidFill>
                  <a:srgbClr val="202520"/>
                </a:solidFill>
                <a:latin typeface="Times New Roman"/>
                <a:ea typeface="Times New Roman"/>
                <a:cs typeface="Times New Roman"/>
              </a:defRPr>
            </a:lvl2pPr>
            <a:lvl3pPr algn="l">
              <a:defRPr sz="1650">
                <a:solidFill>
                  <a:srgbClr val="202520"/>
                </a:solidFill>
                <a:latin typeface="Times New Roman"/>
                <a:ea typeface="Times New Roman"/>
                <a:cs typeface="Times New Roman"/>
              </a:defRPr>
            </a:lvl3pPr>
            <a:lvl4pPr algn="l">
              <a:defRPr sz="1650">
                <a:solidFill>
                  <a:srgbClr val="202520"/>
                </a:solidFill>
                <a:latin typeface="Times New Roman"/>
                <a:ea typeface="Times New Roman"/>
                <a:cs typeface="Times New Roman"/>
              </a:defRPr>
            </a:lvl4pPr>
            <a:lvl5pPr algn="l">
              <a:defRPr sz="1650">
                <a:solidFill>
                  <a:srgbClr val="202520"/>
                </a:solidFill>
                <a:latin typeface="Times New Roman"/>
                <a:ea typeface="Times New Roman"/>
                <a:cs typeface="Times New Roman"/>
              </a:defRPr>
            </a:lvl5pPr>
            <a:lvl6pPr algn="l">
              <a:defRPr sz="1650">
                <a:solidFill>
                  <a:srgbClr val="202520"/>
                </a:solidFill>
                <a:latin typeface="Times New Roman"/>
                <a:ea typeface="Times New Roman"/>
                <a:cs typeface="Times New Roman"/>
              </a:defRPr>
            </a:lvl6pPr>
            <a:lvl7pPr algn="l">
              <a:defRPr sz="1650">
                <a:solidFill>
                  <a:srgbClr val="202520"/>
                </a:solidFill>
                <a:latin typeface="Times New Roman"/>
                <a:ea typeface="Times New Roman"/>
                <a:cs typeface="Times New Roman"/>
              </a:defRPr>
            </a:lvl7pPr>
            <a:lvl8pPr algn="l">
              <a:defRPr sz="1650">
                <a:solidFill>
                  <a:srgbClr val="202520"/>
                </a:solidFill>
                <a:latin typeface="Times New Roman"/>
                <a:ea typeface="Times New Roman"/>
                <a:cs typeface="Times New Roman"/>
              </a:defRPr>
            </a:lvl8pPr>
            <a:lvl9pPr algn="l">
              <a:defRPr sz="1650">
                <a:solidFill>
                  <a:srgbClr val="202520"/>
                </a:solidFill>
                <a:latin typeface="Times New Roman"/>
                <a:ea typeface="Times New Roman"/>
                <a:cs typeface="Times New Roman"/>
              </a:defRPr>
            </a:lvl9pPr>
          </a:lstStyle>
          <a:p xmlns:a="http://schemas.openxmlformats.org/drawingml/2006/main">
            <a:pPr algn="l">
              <a:defRPr sz="1650">
                <a:solidFill>
                  <a:srgbClr val="202520"/>
                </a:solidFill>
                <a:latin typeface="Times New Roman"/>
                <a:ea typeface="Times New Roman"/>
                <a:cs typeface="Times New Roman"/>
              </a:defRPr>
            </a:pPr>
            <a:r>
              <a:rPr sz="1650">
                <a:solidFill>
                  <a:srgbClr val="202520"/>
                </a:solidFill>
                <a:latin typeface="Times New Roman"/>
                <a:ea typeface="Times New Roman"/>
                <a:cs typeface="Times New Roman"/>
              </a:rPr>
              <a:t>[9] Casas L, Saborido-Rey F. Environmental Cues and Mechanisms Underpinning Sex Change in Fish. Sex Dev. 2021;15(1-3):108-121.</a:t>
            </a:r>
          </a:p>
        </p:txBody>
      </p:sp>
      <p:sp>
        <p:nvSpPr>
          <p:cNvPr id="7" name="text-6">
            <a:extLst xmlns:a="http://schemas.openxmlformats.org/drawingml/2006/main">
              <a:ext uri="{FF2B5EF4-FFF2-40B4-BE49-F238E27FC236}">
                <a16:creationId xmlns:a16="http://schemas.microsoft.com/office/drawing/2014/main" id="{6CEBA08F-B8DD-4907-AC8C-0C71566F14C7}"/>
              </a:ext>
            </a:extLst>
          </p:cNvPr>
          <p:cNvSpPr>
            <a:spLocks xmlns:a="http://schemas.openxmlformats.org/drawingml/2006/main" noGrp="1"/>
          </p:cNvSpPr>
          <p:nvPr/>
        </p:nvSpPr>
        <p:spPr>
          <a:xfrm xmlns:a="http://schemas.openxmlformats.org/drawingml/2006/main">
            <a:off x="609600" y="3962400"/>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a:solidFill>
                  <a:srgbClr val="202520"/>
                </a:solidFill>
                <a:latin typeface="Times New Roman"/>
                <a:ea typeface="Times New Roman"/>
                <a:cs typeface="Times New Roman"/>
              </a:defRPr>
            </a:defPPr>
            <a:lvl1pPr algn="l">
              <a:defRPr sz="1650">
                <a:solidFill>
                  <a:srgbClr val="202520"/>
                </a:solidFill>
                <a:latin typeface="Times New Roman"/>
                <a:ea typeface="Times New Roman"/>
                <a:cs typeface="Times New Roman"/>
              </a:defRPr>
            </a:lvl1pPr>
            <a:lvl2pPr algn="l">
              <a:defRPr sz="1650">
                <a:solidFill>
                  <a:srgbClr val="202520"/>
                </a:solidFill>
                <a:latin typeface="Times New Roman"/>
                <a:ea typeface="Times New Roman"/>
                <a:cs typeface="Times New Roman"/>
              </a:defRPr>
            </a:lvl2pPr>
            <a:lvl3pPr algn="l">
              <a:defRPr sz="1650">
                <a:solidFill>
                  <a:srgbClr val="202520"/>
                </a:solidFill>
                <a:latin typeface="Times New Roman"/>
                <a:ea typeface="Times New Roman"/>
                <a:cs typeface="Times New Roman"/>
              </a:defRPr>
            </a:lvl3pPr>
            <a:lvl4pPr algn="l">
              <a:defRPr sz="1650">
                <a:solidFill>
                  <a:srgbClr val="202520"/>
                </a:solidFill>
                <a:latin typeface="Times New Roman"/>
                <a:ea typeface="Times New Roman"/>
                <a:cs typeface="Times New Roman"/>
              </a:defRPr>
            </a:lvl4pPr>
            <a:lvl5pPr algn="l">
              <a:defRPr sz="1650">
                <a:solidFill>
                  <a:srgbClr val="202520"/>
                </a:solidFill>
                <a:latin typeface="Times New Roman"/>
                <a:ea typeface="Times New Roman"/>
                <a:cs typeface="Times New Roman"/>
              </a:defRPr>
            </a:lvl5pPr>
            <a:lvl6pPr algn="l">
              <a:defRPr sz="1650">
                <a:solidFill>
                  <a:srgbClr val="202520"/>
                </a:solidFill>
                <a:latin typeface="Times New Roman"/>
                <a:ea typeface="Times New Roman"/>
                <a:cs typeface="Times New Roman"/>
              </a:defRPr>
            </a:lvl6pPr>
            <a:lvl7pPr algn="l">
              <a:defRPr sz="1650">
                <a:solidFill>
                  <a:srgbClr val="202520"/>
                </a:solidFill>
                <a:latin typeface="Times New Roman"/>
                <a:ea typeface="Times New Roman"/>
                <a:cs typeface="Times New Roman"/>
              </a:defRPr>
            </a:lvl7pPr>
            <a:lvl8pPr algn="l">
              <a:defRPr sz="1650">
                <a:solidFill>
                  <a:srgbClr val="202520"/>
                </a:solidFill>
                <a:latin typeface="Times New Roman"/>
                <a:ea typeface="Times New Roman"/>
                <a:cs typeface="Times New Roman"/>
              </a:defRPr>
            </a:lvl8pPr>
            <a:lvl9pPr algn="l">
              <a:defRPr sz="1650">
                <a:solidFill>
                  <a:srgbClr val="202520"/>
                </a:solidFill>
                <a:latin typeface="Times New Roman"/>
                <a:ea typeface="Times New Roman"/>
                <a:cs typeface="Times New Roman"/>
              </a:defRPr>
            </a:lvl9pPr>
          </a:lstStyle>
          <a:p xmlns:a="http://schemas.openxmlformats.org/drawingml/2006/main">
            <a:pPr algn="l">
              <a:defRPr sz="1650">
                <a:solidFill>
                  <a:srgbClr val="202520"/>
                </a:solidFill>
                <a:latin typeface="Times New Roman"/>
                <a:ea typeface="Times New Roman"/>
                <a:cs typeface="Times New Roman"/>
              </a:defRPr>
            </a:pPr>
            <a:r>
              <a:rPr sz="1650">
                <a:solidFill>
                  <a:srgbClr val="202520"/>
                </a:solidFill>
                <a:latin typeface="Times New Roman"/>
                <a:ea typeface="Times New Roman"/>
                <a:cs typeface="Times New Roman"/>
              </a:rPr>
              <a:t>[10] Padula AM. The freemartin syndrome: an update. Anim Reprod Sci. 2005;87(1-2):93-109.</a:t>
            </a:r>
          </a:p>
        </p:txBody>
      </p:sp>
      <p:sp>
        <p:nvSpPr>
          <p:cNvPr id="8" name="text-7">
            <a:extLst xmlns:a="http://schemas.openxmlformats.org/drawingml/2006/main">
              <a:ext uri="{FF2B5EF4-FFF2-40B4-BE49-F238E27FC236}">
                <a16:creationId xmlns:a16="http://schemas.microsoft.com/office/drawing/2014/main" id="{2994E069-9EE8-4B2B-8417-1BAD536C090A}"/>
              </a:ext>
            </a:extLst>
          </p:cNvPr>
          <p:cNvSpPr>
            <a:spLocks xmlns:a="http://schemas.openxmlformats.org/drawingml/2006/main" noGrp="1"/>
          </p:cNvSpPr>
          <p:nvPr/>
        </p:nvSpPr>
        <p:spPr>
          <a:xfrm xmlns:a="http://schemas.openxmlformats.org/drawingml/2006/main">
            <a:off x="609600" y="4724400"/>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a:solidFill>
                  <a:srgbClr val="202520"/>
                </a:solidFill>
                <a:latin typeface="Times New Roman"/>
                <a:ea typeface="Times New Roman"/>
                <a:cs typeface="Times New Roman"/>
              </a:defRPr>
            </a:defPPr>
            <a:lvl1pPr algn="l">
              <a:defRPr sz="1650">
                <a:solidFill>
                  <a:srgbClr val="202520"/>
                </a:solidFill>
                <a:latin typeface="Times New Roman"/>
                <a:ea typeface="Times New Roman"/>
                <a:cs typeface="Times New Roman"/>
              </a:defRPr>
            </a:lvl1pPr>
            <a:lvl2pPr algn="l">
              <a:defRPr sz="1650">
                <a:solidFill>
                  <a:srgbClr val="202520"/>
                </a:solidFill>
                <a:latin typeface="Times New Roman"/>
                <a:ea typeface="Times New Roman"/>
                <a:cs typeface="Times New Roman"/>
              </a:defRPr>
            </a:lvl2pPr>
            <a:lvl3pPr algn="l">
              <a:defRPr sz="1650">
                <a:solidFill>
                  <a:srgbClr val="202520"/>
                </a:solidFill>
                <a:latin typeface="Times New Roman"/>
                <a:ea typeface="Times New Roman"/>
                <a:cs typeface="Times New Roman"/>
              </a:defRPr>
            </a:lvl3pPr>
            <a:lvl4pPr algn="l">
              <a:defRPr sz="1650">
                <a:solidFill>
                  <a:srgbClr val="202520"/>
                </a:solidFill>
                <a:latin typeface="Times New Roman"/>
                <a:ea typeface="Times New Roman"/>
                <a:cs typeface="Times New Roman"/>
              </a:defRPr>
            </a:lvl4pPr>
            <a:lvl5pPr algn="l">
              <a:defRPr sz="1650">
                <a:solidFill>
                  <a:srgbClr val="202520"/>
                </a:solidFill>
                <a:latin typeface="Times New Roman"/>
                <a:ea typeface="Times New Roman"/>
                <a:cs typeface="Times New Roman"/>
              </a:defRPr>
            </a:lvl5pPr>
            <a:lvl6pPr algn="l">
              <a:defRPr sz="1650">
                <a:solidFill>
                  <a:srgbClr val="202520"/>
                </a:solidFill>
                <a:latin typeface="Times New Roman"/>
                <a:ea typeface="Times New Roman"/>
                <a:cs typeface="Times New Roman"/>
              </a:defRPr>
            </a:lvl6pPr>
            <a:lvl7pPr algn="l">
              <a:defRPr sz="1650">
                <a:solidFill>
                  <a:srgbClr val="202520"/>
                </a:solidFill>
                <a:latin typeface="Times New Roman"/>
                <a:ea typeface="Times New Roman"/>
                <a:cs typeface="Times New Roman"/>
              </a:defRPr>
            </a:lvl7pPr>
            <a:lvl8pPr algn="l">
              <a:defRPr sz="1650">
                <a:solidFill>
                  <a:srgbClr val="202520"/>
                </a:solidFill>
                <a:latin typeface="Times New Roman"/>
                <a:ea typeface="Times New Roman"/>
                <a:cs typeface="Times New Roman"/>
              </a:defRPr>
            </a:lvl8pPr>
            <a:lvl9pPr algn="l">
              <a:defRPr sz="1650">
                <a:solidFill>
                  <a:srgbClr val="202520"/>
                </a:solidFill>
                <a:latin typeface="Times New Roman"/>
                <a:ea typeface="Times New Roman"/>
                <a:cs typeface="Times New Roman"/>
              </a:defRPr>
            </a:lvl9pPr>
          </a:lstStyle>
          <a:p xmlns:a="http://schemas.openxmlformats.org/drawingml/2006/main">
            <a:pPr algn="l">
              <a:defRPr sz="1650">
                <a:solidFill>
                  <a:srgbClr val="202520"/>
                </a:solidFill>
                <a:latin typeface="Times New Roman"/>
                <a:ea typeface="Times New Roman"/>
                <a:cs typeface="Times New Roman"/>
              </a:defRPr>
            </a:pPr>
            <a:r>
              <a:rPr sz="1650">
                <a:solidFill>
                  <a:srgbClr val="202520"/>
                </a:solidFill>
                <a:latin typeface="Times New Roman"/>
                <a:ea typeface="Times New Roman"/>
                <a:cs typeface="Times New Roman"/>
              </a:rPr>
              <a:t>[11] Nowacka-Woszuk J, et al. Association between polymorphisms in the SOX9 region and canine disorder of sex development (78,XX; SRY-negative) revisited in a multibreed case-control study. PLoS One. 2019;14(6):e0218565.</a:t>
            </a:r>
          </a:p>
        </p:txBody>
      </p:sp>
    </p:spTree>
    <p:extLst>
      <p:ext uri="{BB962C8B-B14F-4D97-AF65-F5344CB8AC3E}">
        <p14:creationId xmlns:p14="http://schemas.microsoft.com/office/powerpoint/2010/main" val="77060309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2026-10-17T22:07:28.7970000Z</dcterms:created>
  <dcterms:modified xsi:type="dcterms:W3CDTF">2026-10-17T22:07:28.7980000Z</dcterms:modified>
</coreProperties>
</file>