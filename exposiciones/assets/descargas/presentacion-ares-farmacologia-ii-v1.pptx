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a2880d96b541f4" /><Relationship Type="http://schemas.openxmlformats.org/officeDocument/2006/relationships/extended-properties" Target="/docProps/app.xml" Id="R54863e30e99d4960" /><Relationship Type="http://schemas.openxmlformats.org/officeDocument/2006/relationships/officeDocument" Target="/ppt/presentation.xml" Id="Rac4c848228174c2c" /></Relationships>
</file>

<file path=ppt/presentation.xml><?xml version="1.0" encoding="utf-8"?>
<p:presentation xmlns:p="http://schemas.openxmlformats.org/presentationml/2006/main">
  <p:sldMasterIdLst>
    <p:sldMasterId xmlns:r="http://schemas.openxmlformats.org/officeDocument/2006/relationships" id="2147483648" r:id="R4539d27a7e7e4179"/>
  </p:sldMasterIdLst>
  <p:notesMasterIdLst>
    <p:notesMasterId xmlns:r="http://schemas.openxmlformats.org/officeDocument/2006/relationships" r:id="R7ffbec08afec45c2"/>
  </p:notesMasterIdLst>
  <p:sldIdLst>
    <p:sldId xmlns:r="http://schemas.openxmlformats.org/officeDocument/2006/relationships" id="256" r:id="R67492d2a61ca4a08"/>
    <p:sldId xmlns:r="http://schemas.openxmlformats.org/officeDocument/2006/relationships" id="257" r:id="Rc9e5c710564f46df"/>
    <p:sldId xmlns:r="http://schemas.openxmlformats.org/officeDocument/2006/relationships" id="258" r:id="R6e622480c74c4d00"/>
    <p:sldId xmlns:r="http://schemas.openxmlformats.org/officeDocument/2006/relationships" id="259" r:id="Rd5b5ab29576c41ad"/>
    <p:sldId xmlns:r="http://schemas.openxmlformats.org/officeDocument/2006/relationships" id="260" r:id="R61b408158c0c485e"/>
    <p:sldId xmlns:r="http://schemas.openxmlformats.org/officeDocument/2006/relationships" id="261" r:id="R3246bbdcd75d4bc0"/>
    <p:sldId xmlns:r="http://schemas.openxmlformats.org/officeDocument/2006/relationships" id="262" r:id="R4f665376f9874b1e"/>
    <p:sldId xmlns:r="http://schemas.openxmlformats.org/officeDocument/2006/relationships" id="263" r:id="Rf09472a85f5542a1"/>
    <p:sldId xmlns:r="http://schemas.openxmlformats.org/officeDocument/2006/relationships" id="264" r:id="Rcf2b4acafd244970"/>
    <p:sldId xmlns:r="http://schemas.openxmlformats.org/officeDocument/2006/relationships" id="265" r:id="R13e3b88629a24d1b"/>
    <p:sldId xmlns:r="http://schemas.openxmlformats.org/officeDocument/2006/relationships" id="266" r:id="R2b08dc3c71bc4d1b"/>
    <p:sldId xmlns:r="http://schemas.openxmlformats.org/officeDocument/2006/relationships" id="267" r:id="Rd7f58fe22ba44fb6"/>
    <p:sldId xmlns:r="http://schemas.openxmlformats.org/officeDocument/2006/relationships" id="268" r:id="R4d1870563d8b47ca"/>
    <p:sldId xmlns:r="http://schemas.openxmlformats.org/officeDocument/2006/relationships" id="269" r:id="Rf18dbc38d5f749f6"/>
    <p:sldId xmlns:r="http://schemas.openxmlformats.org/officeDocument/2006/relationships" id="270" r:id="R31ad677693734a37"/>
    <p:sldId xmlns:r="http://schemas.openxmlformats.org/officeDocument/2006/relationships" id="271" r:id="R5e01fe227ed941d9"/>
    <p:sldId xmlns:r="http://schemas.openxmlformats.org/officeDocument/2006/relationships" id="272" r:id="Rc5e7f215a2da49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cc28f4f3d249c1" /><Relationship Type="http://schemas.openxmlformats.org/officeDocument/2006/relationships/slideMaster" Target="/ppt/slideMasters/slideMaster1.xml" Id="R4539d27a7e7e4179" /><Relationship Type="http://schemas.openxmlformats.org/officeDocument/2006/relationships/notesMaster" Target="/ppt/notesMasters/notesMaster1.xml" Id="R7ffbec08afec45c2" /><Relationship Type="http://schemas.openxmlformats.org/officeDocument/2006/relationships/presProps" Target="/ppt/presProps.xml" Id="Ra8b0d5fcaff6497c" /><Relationship Type="http://schemas.openxmlformats.org/officeDocument/2006/relationships/tableStyles" Target="/ppt/tableStyles.xml" Id="R685fe5a3e2504bfc" /><Relationship Type="http://schemas.openxmlformats.org/officeDocument/2006/relationships/slide" Target="/ppt/slides/slide1.xml" Id="R67492d2a61ca4a08" /><Relationship Type="http://schemas.openxmlformats.org/officeDocument/2006/relationships/slide" Target="/ppt/slides/slide2.xml" Id="Rc9e5c710564f46df" /><Relationship Type="http://schemas.openxmlformats.org/officeDocument/2006/relationships/slide" Target="/ppt/slides/slide3.xml" Id="R6e622480c74c4d00" /><Relationship Type="http://schemas.openxmlformats.org/officeDocument/2006/relationships/slide" Target="/ppt/slides/slide4.xml" Id="Rd5b5ab29576c41ad" /><Relationship Type="http://schemas.openxmlformats.org/officeDocument/2006/relationships/slide" Target="/ppt/slides/slide5.xml" Id="R61b408158c0c485e" /><Relationship Type="http://schemas.openxmlformats.org/officeDocument/2006/relationships/slide" Target="/ppt/slides/slide6.xml" Id="R3246bbdcd75d4bc0" /><Relationship Type="http://schemas.openxmlformats.org/officeDocument/2006/relationships/slide" Target="/ppt/slides/slide7.xml" Id="R4f665376f9874b1e" /><Relationship Type="http://schemas.openxmlformats.org/officeDocument/2006/relationships/slide" Target="/ppt/slides/slide8.xml" Id="Rf09472a85f5542a1" /><Relationship Type="http://schemas.openxmlformats.org/officeDocument/2006/relationships/slide" Target="/ppt/slides/slide9.xml" Id="Rcf2b4acafd244970" /><Relationship Type="http://schemas.openxmlformats.org/officeDocument/2006/relationships/slide" Target="/ppt/slides/slide10.xml" Id="R13e3b88629a24d1b" /><Relationship Type="http://schemas.openxmlformats.org/officeDocument/2006/relationships/slide" Target="/ppt/slides/slide11.xml" Id="R2b08dc3c71bc4d1b" /><Relationship Type="http://schemas.openxmlformats.org/officeDocument/2006/relationships/slide" Target="/ppt/slides/slide12.xml" Id="Rd7f58fe22ba44fb6" /><Relationship Type="http://schemas.openxmlformats.org/officeDocument/2006/relationships/slide" Target="/ppt/slides/slide13.xml" Id="R4d1870563d8b47ca" /><Relationship Type="http://schemas.openxmlformats.org/officeDocument/2006/relationships/slide" Target="/ppt/slides/slide14.xml" Id="Rf18dbc38d5f749f6" /><Relationship Type="http://schemas.openxmlformats.org/officeDocument/2006/relationships/slide" Target="/ppt/slides/slide15.xml" Id="R31ad677693734a37" /><Relationship Type="http://schemas.openxmlformats.org/officeDocument/2006/relationships/slide" Target="/ppt/slides/slide16.xml" Id="R5e01fe227ed941d9" /><Relationship Type="http://schemas.openxmlformats.org/officeDocument/2006/relationships/slide" Target="/ppt/slides/slide17.xml" Id="Rc5e7f215a2da49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f0d80bcade49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090585becf4311" /><Relationship Type="http://schemas.openxmlformats.org/officeDocument/2006/relationships/notesMaster" Target="/ppt/notesMasters/notesMaster1.xml" Id="R0b2d4dffa99644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cd473a20454aec" /><Relationship Type="http://schemas.openxmlformats.org/officeDocument/2006/relationships/notesMaster" Target="/ppt/notesMasters/notesMaster1.xml" Id="Re909b6763f7047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8d3fd51ce84494" /><Relationship Type="http://schemas.openxmlformats.org/officeDocument/2006/relationships/notesMaster" Target="/ppt/notesMasters/notesMaster1.xml" Id="R6a104c550ef04d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70be6226cc46da" /><Relationship Type="http://schemas.openxmlformats.org/officeDocument/2006/relationships/notesMaster" Target="/ppt/notesMasters/notesMaster1.xml" Id="R5b0bbae2df9b4a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9451b412f24e01" /><Relationship Type="http://schemas.openxmlformats.org/officeDocument/2006/relationships/notesMaster" Target="/ppt/notesMasters/notesMaster1.xml" Id="R74c895523cae45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ff38e051084d0a" /><Relationship Type="http://schemas.openxmlformats.org/officeDocument/2006/relationships/notesMaster" Target="/ppt/notesMasters/notesMaster1.xml" Id="R953f46e71a4a40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aa13d10d904cbc" /><Relationship Type="http://schemas.openxmlformats.org/officeDocument/2006/relationships/notesMaster" Target="/ppt/notesMasters/notesMaster1.xml" Id="Ra0749e6c3e944a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021bde2c6b4ade" /><Relationship Type="http://schemas.openxmlformats.org/officeDocument/2006/relationships/notesMaster" Target="/ppt/notesMasters/notesMaster1.xml" Id="R48d73507656644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20abb9d94b4b3b" /><Relationship Type="http://schemas.openxmlformats.org/officeDocument/2006/relationships/notesMaster" Target="/ppt/notesMasters/notesMaster1.xml" Id="Rad6546d207014b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605933bd3740b2" /><Relationship Type="http://schemas.openxmlformats.org/officeDocument/2006/relationships/notesMaster" Target="/ppt/notesMasters/notesMaster1.xml" Id="Rbf02eadeb02343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83b3c5e1b64f31" /><Relationship Type="http://schemas.openxmlformats.org/officeDocument/2006/relationships/notesMaster" Target="/ppt/notesMasters/notesMaster1.xml" Id="R0f254c86c95740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aeb4c17a794a1c" /><Relationship Type="http://schemas.openxmlformats.org/officeDocument/2006/relationships/notesMaster" Target="/ppt/notesMasters/notesMaster1.xml" Id="Rc1f5667e206e43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696aa20d75471a" /><Relationship Type="http://schemas.openxmlformats.org/officeDocument/2006/relationships/notesMaster" Target="/ppt/notesMasters/notesMaster1.xml" Id="R480e34b69c2e49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a8dafe48f648fe" /><Relationship Type="http://schemas.openxmlformats.org/officeDocument/2006/relationships/notesMaster" Target="/ppt/notesMasters/notesMaster1.xml" Id="Re38d026fa0b94b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7ebe785e9a41d3" /><Relationship Type="http://schemas.openxmlformats.org/officeDocument/2006/relationships/notesMaster" Target="/ppt/notesMasters/notesMaster1.xml" Id="R064cf6e558304e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850a7f066e4d91" /><Relationship Type="http://schemas.openxmlformats.org/officeDocument/2006/relationships/notesMaster" Target="/ppt/notesMasters/notesMaster1.xml" Id="R6d574a21c1e744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bea4addddc4da0" /><Relationship Type="http://schemas.openxmlformats.org/officeDocument/2006/relationships/notesMaster" Target="/ppt/notesMasters/notesMaster1.xml" Id="R90e32ed677e74b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Ares es el caso clínico que organiza la exposición. El análisis integra los seis trabajos individuales y distingue lo documentado, lo reportado por el tutor y las inferencias. La fotografía actual no demuestra por sí sola resolución hematológica o parasitológica. Foto real aportada por el tutor.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peso basal de 21,60 kg corresponde al informe 028675, no a un pesaje necesariamente realizado al inicio de cada medicamento. La edad también corresponde a ese informe. Historia clínica fotografiada: dieta croquetas/comida casera, cambios dietéticos relatados y tres semanas de hematochezia/melena. T 38,8 °C, FC 120/min, FR 39/min, TLLC 2 s, mucosas rosas, fecha no legible. No fusionar estos datos con la práctica posterior de semiología. Objetivos específicos: interpretar laboratorio, explicar mecanismos, verificar cálculos y analizar evolución.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 presentan estas imágenes como una secuencia de mejoría. El tutor las identifica como tres tipos de heces antes del tratamiento. El aspecto oscuro no confirma melena por imagen y los tonos rojizos no sustituyen la valoración de sangre en heces. No hay escala fecal registrada ni fecha individual de cada foto. Fuente: fotografías originales del tutor.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laboratorio informa leucocitosis, desviación a la izquierda degenerativa y eosinofilia. Bandas mayores que segmentados (7,65 frente a 4,25 ×10⁹/L) sostienen esa descripción. Hb baja y CHCM baja requieren interpretación junto con hematocrito de 38%, frotis, reticulocitos y estado del hierro. Evitar diagnosticar anemia ferropénica confirmada. Fuente primaria: laboratorio 028675.</a:t>
            </a:r>
          </a:p>
          <a:p xmlns:a="http://schemas.openxmlformats.org/drawingml/2006/main">
            <a:r>
              <a:t/>
            </a:r>
          </a:p>
          <a:p xmlns:a="http://schemas.openxmlformats.org/drawingml/2006/main">
            <a:r>
              <a:t>Referencias Vancouver</a:t>
            </a:r>
          </a:p>
          <a:p xmlns:a="http://schemas.openxmlformats.org/drawingml/2006/main">
            <a:r>
              <a:t>1. Cornell University College of Veterinary Medicine. Iron panels. En: eClinpath [Internet]. Ithaca (NY): Cornell University [citado 21 oct 2026]. Disponible en: https://eclinpath.com/chemistry/iron-metabolism/iron-panel-summary/</a:t>
            </a:r>
          </a:p>
          <a:p xmlns:a="http://schemas.openxmlformats.org/drawingml/2006/main">
            <a:r>
              <a:t>https://eclinpath.com/chemistry/iron-metabolism/iron-panel-summary/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uroanálisis también debe considerarse: sin método de recolección ni cultivo no se confirma infección urinaria. No confundir bacteriuria con causa demostrada del síndrome digestivo. La elección antibiótica se discute retrospectivamente, no se prescribe una pauta nueva. Fuente primaria: laboratorio 028675.</a:t>
            </a:r>
          </a:p>
          <a:p xmlns:a="http://schemas.openxmlformats.org/drawingml/2006/main">
            <a:r>
              <a:t/>
            </a:r>
          </a:p>
          <a:p xmlns:a="http://schemas.openxmlformats.org/drawingml/2006/main">
            <a:r>
              <a:t>Referencias Vancouver</a:t>
            </a:r>
          </a:p>
          <a:p xmlns:a="http://schemas.openxmlformats.org/drawingml/2006/main">
            <a:r>
              <a:t>2. Jessen LR, Werner M, Singleton D, Prior C, Foroutan F, Ferran AA, et al. European Network for Optimization of Veterinary Antimicrobial Therapy (ENOVAT) guidelines for antimicrobial use in canine acute diarrhoea. Vet J. 2024;307:106208. doi:10.1016/j.tvjl.2024.106208. Disponible en: https://doi.org/10.1016/j.tvjl.2024.106208</a:t>
            </a:r>
          </a:p>
          <a:p xmlns:a="http://schemas.openxmlformats.org/drawingml/2006/main">
            <a:r>
              <a:t>https://doi.org/10.1016/j.tvjl.2024.106208</a:t>
            </a:r>
          </a:p>
          <a:p xmlns:a="http://schemas.openxmlformats.org/drawingml/2006/main">
            <a:r>
              <a:t/>
            </a:r>
          </a:p>
          <a:p xmlns:a="http://schemas.openxmlformats.org/drawingml/2006/main">
            <a:r>
              <a:t>3. Weese JS, Blondeau J, Boothe D, Guardabassi LG, Gumley N, Papich M, et al. International Society for Companion Animal Infectious Diseases (ISCAID) guidelines for the diagnosis and management of bacterial urinary tract infections in dogs and cats. Vet J. 2019;247:8–25. doi:10.1016/j.tvjl.2019.02.008.</a:t>
            </a:r>
          </a:p>
          <a:p xmlns:a="http://schemas.openxmlformats.org/drawingml/2006/main">
            <a:r>
              <a:t>https://doi.org/10.1016/j.tvjl.2019.02.008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intervalos proceden de la comunicación previa del tutor. No equivalen a una hoja diaria de administración firmada. El volumen de Relámpago y la presentación exacta del comprimido deben conciliarse. Las tablas de seguimiento mezclan mediciones reales y ejemplos. Sin identificación de celdas auténticas se excluyen sus series de los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esquema representa de forma simplificada la vía bacteriana del folato. SMX compite con PABA en la dihidropteroato sintasa, mientras TMP inhibe dihidrofolato reductasa. La asociación potencia la inhibición de síntesis de ácidos nucleicos. Son dos principios del reparto académico, pero una sola combinación administrada. Absorción oral y eliminación renal/hepática requieren considerar función orgánica. </a:t>
            </a:r>
          </a:p>
          <a:p xmlns:a="http://schemas.openxmlformats.org/drawingml/2006/main">
            <a:r>
              <a:t/>
            </a:r>
          </a:p>
          <a:p xmlns:a="http://schemas.openxmlformats.org/drawingml/2006/main">
            <a:r>
              <a:t>Referencias Vancouver</a:t>
            </a:r>
          </a:p>
          <a:p xmlns:a="http://schemas.openxmlformats.org/drawingml/2006/main">
            <a:r>
              <a:t>4. Plumb DC. Plumb's veterinary drug handbook. 6th ed. Stockholm (WI): PharmaVet; 2008. Disponible en: https://search.worldcat.org/es/title/Plumb%27s-veterinary-drug-handbook/oclc/440588470</a:t>
            </a:r>
          </a:p>
          <a:p xmlns:a="http://schemas.openxmlformats.org/drawingml/2006/main">
            <a:r>
              <a:t>https://search.worldcat.org/es/title/Plumb%27s-veterinary-drug-handbook/oclc/440588470</a:t>
            </a:r>
          </a:p>
          <a:p xmlns:a="http://schemas.openxmlformats.org/drawingml/2006/main">
            <a:r>
              <a:t/>
            </a:r>
          </a:p>
          <a:p xmlns:a="http://schemas.openxmlformats.org/drawingml/2006/main">
            <a:r>
              <a:t>5. Farbiopharma. Bactrivet Farbiovet: antibiótico suspensión oral [Internet]. Quito: Farbiopharma; s. f. [citado 21 oct 2026].</a:t>
            </a:r>
          </a:p>
          <a:p xmlns:a="http://schemas.openxmlformats.org/drawingml/2006/main">
            <a:r>
              <a:t>https://farbiopharma.com/wp-content/uploads/2023/01/F.T.-BACTRIVET-FARBIOVET-V0..pdf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Conversión aritmética retrospectiva a 21,60 kg: 3 mL × 80 mg/mL = 240 mg SMX; 3 mL × 16 mg/mL = 48 mg TMP; combinación 288 mg. Cada valor se divide por 21,60. No sumar dos veces una dosis de combinación. La diferencia de volumen frente al cálculo manuscrito es 0,24 mL. No implica cambiar hoy la pauta administrada. </a:t>
            </a:r>
          </a:p>
          <a:p xmlns:a="http://schemas.openxmlformats.org/drawingml/2006/main">
            <a:r>
              <a:t/>
            </a:r>
          </a:p>
          <a:p xmlns:a="http://schemas.openxmlformats.org/drawingml/2006/main">
            <a:r>
              <a:t>Referencias Vancouver</a:t>
            </a:r>
          </a:p>
          <a:p xmlns:a="http://schemas.openxmlformats.org/drawingml/2006/main">
            <a:r>
              <a:t>5. Farbiopharma. Bactrivet Farbiovet: antibiótico suspensión oral [Internet]. Quito: Farbiopharma; s. f. [citado 21 oct 2026].</a:t>
            </a:r>
          </a:p>
          <a:p xmlns:a="http://schemas.openxmlformats.org/drawingml/2006/main">
            <a:r>
              <a:t>https://farbiopharma.com/wp-content/uploads/2023/01/F.T.-BACTRIVET-FARBIOVET-V0..pdf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mecanismo requiere reducción del grupo nitro en organismos susceptibles. El fármaco se distribuye ampliamente y se metaboliza principalmente en hígado. La presentación aportada como METROZ-VET corresponde a suspensión 50 mg/mL y no prueba la concentración del comprimido administrado. La ficha de Carolina identifica Amibac 500 mg cada 12 h, mientras el tutor comunicó una tableta diaria. El cálculo con 500 mg es condicional. No se concluye giardiasis ni infección por anaerobios confirmada. </a:t>
            </a:r>
          </a:p>
          <a:p xmlns:a="http://schemas.openxmlformats.org/drawingml/2006/main">
            <a:r>
              <a:t/>
            </a:r>
          </a:p>
          <a:p xmlns:a="http://schemas.openxmlformats.org/drawingml/2006/main">
            <a:r>
              <a:t>Referencias Vancouver</a:t>
            </a:r>
          </a:p>
          <a:p xmlns:a="http://schemas.openxmlformats.org/drawingml/2006/main">
            <a:r>
              <a:t>4. Plumb DC. Plumb's veterinary drug handbook. 6th ed. Stockholm (WI): PharmaVet; 2008. Disponible en: https://search.worldcat.org/es/title/Plumb%27s-veterinary-drug-handbook/oclc/440588470</a:t>
            </a:r>
          </a:p>
          <a:p xmlns:a="http://schemas.openxmlformats.org/drawingml/2006/main">
            <a:r>
              <a:t>https://search.worldcat.org/es/title/Plumb%27s-veterinary-drug-handbook/oclc/440588470</a:t>
            </a:r>
          </a:p>
          <a:p xmlns:a="http://schemas.openxmlformats.org/drawingml/2006/main">
            <a:r>
              <a:t/>
            </a:r>
          </a:p>
          <a:p xmlns:a="http://schemas.openxmlformats.org/drawingml/2006/main">
            <a:r>
              <a:t>6. Aranda Pets. Amibac: metronidazol tabletas [Internet]. Experiencia Veterinaria; s. f. [citado 21 oct 2026].</a:t>
            </a:r>
          </a:p>
          <a:p xmlns:a="http://schemas.openxmlformats.org/drawingml/2006/main">
            <a:r>
              <a:t>https://www.experiencia.vet/Detail?id=4</a:t>
            </a:r>
          </a:p>
          <a:p xmlns:a="http://schemas.openxmlformats.org/drawingml/2006/main">
            <a:r>
              <a:t/>
            </a:r>
          </a:p>
          <a:p xmlns:a="http://schemas.openxmlformats.org/drawingml/2006/main">
            <a:r>
              <a:t>7. Tauro A, Beltran E, Cherubini GB, Coelho AT, Wessmann A, Driver CJ, et al. Metronidazole-induced neurotoxicity in 26 dogs. Aust Vet J. 2018;96(12):495–501.</a:t>
            </a:r>
          </a:p>
          <a:p xmlns:a="http://schemas.openxmlformats.org/drawingml/2006/main">
            <a:r>
              <a:t>https://doi.org/10.1111/avj.12772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cálculo proviene de la dosis de etiqueta de la suspensión 1 mL/5 kg. No se equiparan 100 mg de pamoato de pirantel con 100 mg de pirantel base. El praziquantel aporta 7 mg/kg en ese cálculo. La administración el 02/10 está reportada, pero no el volumen exacto ni repetición. No asignar especie parasitaria a partir de eosinofilia o fotos. </a:t>
            </a:r>
          </a:p>
          <a:p xmlns:a="http://schemas.openxmlformats.org/drawingml/2006/main">
            <a:r>
              <a:t/>
            </a:r>
          </a:p>
          <a:p xmlns:a="http://schemas.openxmlformats.org/drawingml/2006/main">
            <a:r>
              <a:t>Referencias Vancouver</a:t>
            </a:r>
          </a:p>
          <a:p xmlns:a="http://schemas.openxmlformats.org/drawingml/2006/main">
            <a:r>
              <a:t>4. Plumb DC. Plumb's veterinary drug handbook. 6th ed. Stockholm (WI): PharmaVet; 2008. Disponible en: https://search.worldcat.org/es/title/Plumb%27s-veterinary-drug-handbook/oclc/440588470</a:t>
            </a:r>
          </a:p>
          <a:p xmlns:a="http://schemas.openxmlformats.org/drawingml/2006/main">
            <a:r>
              <a:t>https://search.worldcat.org/es/title/Plumb%27s-veterinary-drug-handbook/oclc/440588470</a:t>
            </a:r>
          </a:p>
          <a:p xmlns:a="http://schemas.openxmlformats.org/drawingml/2006/main">
            <a:r>
              <a:t/>
            </a:r>
          </a:p>
          <a:p xmlns:a="http://schemas.openxmlformats.org/drawingml/2006/main">
            <a:r>
              <a:t>8. James Brown Pharma. Relámpago: antiparasitario interno [Internet]. Quito: James Brown Pharma; s. f. [citado 21 oct 2026].</a:t>
            </a:r>
          </a:p>
          <a:p xmlns:a="http://schemas.openxmlformats.org/drawingml/2006/main">
            <a:r>
              <a:t>https://jamesbrownpharma.com/producto/relampago/</a:t>
            </a:r>
          </a:p>
          <a:p xmlns:a="http://schemas.openxmlformats.org/drawingml/2006/main">
            <a:r>
              <a:t/>
            </a:r>
          </a:p>
          <a:p xmlns:a="http://schemas.openxmlformats.org/drawingml/2006/main">
            <a:r>
              <a:t>9. European Scientific Counsel Companion Animal Parasites. Control de vermes en perros y gatos. Guía ESCCAP 01. 6.ª ed. Malvern: ESCCAP; 2021 [citado 21 oct 2026]. Disponible en: https://www.esccap.es/wp-content/uploads/2022/03/ESCCAP-1-6ed.pdf</a:t>
            </a:r>
          </a:p>
          <a:p xmlns:a="http://schemas.openxmlformats.org/drawingml/2006/main">
            <a:r>
              <a:t>https://www.esccap.es/wp-content/uploads/2022/03/ESCCAP-1-6ed.pdf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ficha oficial de Apetomax declara buclizina 50 mg y sulfato ferroso 45 mg por 100 mL, además de vitaminas. En 7 mL hay 3,5 mg de buclizina y 3,15 mg de sulfato ferroso. La hidratación o equivalencia en hierro elemental de la sal no se especifica. No convertirlo a una dosis de hierro elemental ni concluir eficacia ferroterapéutica por la mejoría general. La buclizina puede modificar apetito y producir efectos antihistamínicos, por lo que la mejoría no se atribuye exclusivamente al hierro. </a:t>
            </a:r>
          </a:p>
          <a:p xmlns:a="http://schemas.openxmlformats.org/drawingml/2006/main">
            <a:r>
              <a:t/>
            </a:r>
          </a:p>
          <a:p xmlns:a="http://schemas.openxmlformats.org/drawingml/2006/main">
            <a:r>
              <a:t>Referencias Vancouver</a:t>
            </a:r>
          </a:p>
          <a:p xmlns:a="http://schemas.openxmlformats.org/drawingml/2006/main">
            <a:r>
              <a:t>1. Cornell University College of Veterinary Medicine. Iron panels. En: eClinpath [Internet]. Ithaca (NY): Cornell University [citado 21 oct 2026]. Disponible en: https://eclinpath.com/chemistry/iron-metabolism/iron-panel-summary/</a:t>
            </a:r>
          </a:p>
          <a:p xmlns:a="http://schemas.openxmlformats.org/drawingml/2006/main">
            <a:r>
              <a:t>https://eclinpath.com/chemistry/iron-metabolism/iron-panel-summary/</a:t>
            </a:r>
          </a:p>
          <a:p xmlns:a="http://schemas.openxmlformats.org/drawingml/2006/main">
            <a:r>
              <a:t/>
            </a:r>
          </a:p>
          <a:p xmlns:a="http://schemas.openxmlformats.org/drawingml/2006/main">
            <a:r>
              <a:t>10. Favetex. Apetomax: estimulante de apetito [Internet]. Guayaquil: Favetex; s. f. [citado 21 oct 2026].</a:t>
            </a:r>
          </a:p>
          <a:p xmlns:a="http://schemas.openxmlformats.org/drawingml/2006/main">
            <a:r>
              <a:t>https://favetex.com/wp-content/uploads/2026/04/Apetomax.pdf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ENOVAT restringe antibióticos en diarrea leve/moderada, pero su recomendación 4 contempla expresamente excepciones como desviación degenerativa a la izquierda. Ares presenta este patrón. No corresponde decir que era una diarrea simple con antibióticos necesariamente injustificados, ni afirmar sepsis sin evaluación clínica integral. El caso duraba unas tres semanas, así que tampoco se extrapola mecánicamente una guía de diarrea aguda. La evidencia de metronidazol incluye alteración de microbiota en perros sanos; no demuestra que Ares la haya desarrollado.</a:t>
            </a:r>
          </a:p>
          <a:p xmlns:a="http://schemas.openxmlformats.org/drawingml/2006/main">
            <a:r>
              <a:t/>
            </a:r>
          </a:p>
          <a:p xmlns:a="http://schemas.openxmlformats.org/drawingml/2006/main">
            <a:r>
              <a:t>Referencias Vancouver</a:t>
            </a:r>
          </a:p>
          <a:p xmlns:a="http://schemas.openxmlformats.org/drawingml/2006/main">
            <a:r>
              <a:t>2. Jessen LR, Werner M, Singleton D, Prior C, Foroutan F, Ferran AA, et al. European Network for Optimization of Veterinary Antimicrobial Therapy (ENOVAT) guidelines for antimicrobial use in canine acute diarrhoea. Vet J. 2024;307:106208. doi:10.1016/j.tvjl.2024.106208. Disponible en: https://doi.org/10.1016/j.tvjl.2024.106208</a:t>
            </a:r>
          </a:p>
          <a:p xmlns:a="http://schemas.openxmlformats.org/drawingml/2006/main">
            <a:r>
              <a:t>https://doi.org/10.1016/j.tvjl.2024.106208</a:t>
            </a:r>
          </a:p>
          <a:p xmlns:a="http://schemas.openxmlformats.org/drawingml/2006/main">
            <a:r>
              <a:t/>
            </a:r>
          </a:p>
          <a:p xmlns:a="http://schemas.openxmlformats.org/drawingml/2006/main">
            <a:r>
              <a:t>7. Tauro A, Beltran E, Cherubini GB, Coelho AT, Wessmann A, Driver CJ, et al. Metronidazole-induced neurotoxicity in 26 dogs. Aust Vet J. 2018;96(12):495–501.</a:t>
            </a:r>
          </a:p>
          <a:p xmlns:a="http://schemas.openxmlformats.org/drawingml/2006/main">
            <a:r>
              <a:t>https://doi.org/10.1111/avj.12772</a:t>
            </a:r>
          </a:p>
          <a:p xmlns:a="http://schemas.openxmlformats.org/drawingml/2006/main">
            <a:r>
              <a:t/>
            </a:r>
          </a:p>
          <a:p xmlns:a="http://schemas.openxmlformats.org/drawingml/2006/main">
            <a:r>
              <a:t>9. European Scientific Counsel Companion Animal Parasites. Control de vermes en perros y gatos. Guía ESCCAP 01. 6.ª ed. Malvern: ESCCAP; 2021 [citado 21 oct 2026]. Disponible en: https://www.esccap.es/wp-content/uploads/2022/03/ESCCAP-1-6ed.pdf</a:t>
            </a:r>
          </a:p>
          <a:p xmlns:a="http://schemas.openxmlformats.org/drawingml/2006/main">
            <a:r>
              <a:t>https://www.esccap.es/wp-content/uploads/2022/03/ESCCAP-1-6ed.pdf</a:t>
            </a:r>
          </a:p>
          <a:p xmlns:a="http://schemas.openxmlformats.org/drawingml/2006/main">
            <a:r>
              <a:t/>
            </a:r>
          </a:p>
          <a:p xmlns:a="http://schemas.openxmlformats.org/drawingml/2006/main">
            <a:r>
              <a:t>11. Ekstrand C, Hedlund M, Pelander L, Scahill K. Adverse events of trimetroprim-sulphonamide treatment of cats and dogs: a systematic review. Vet Res Commun. 2026;50:224. doi:10.1007/s11259-026-11143-1. Disponible en: https://doi.org/10.1007/s11259-026-11143-1</a:t>
            </a:r>
          </a:p>
          <a:p xmlns:a="http://schemas.openxmlformats.org/drawingml/2006/main">
            <a:r>
              <a:t>https://doi.org/10.1007/s11259-026-11143-1</a:t>
            </a:r>
          </a:p>
          <a:p xmlns:a="http://schemas.openxmlformats.org/drawingml/2006/main">
            <a:r>
              <a:t/>
            </a:r>
          </a:p>
          <a:p xmlns:a="http://schemas.openxmlformats.org/drawingml/2006/main">
            <a:r>
              <a:t>12. Pilla R, Gaschen FP, Barr JW, Olson E, Honneffer J, Guard BC, et al. Effects of metronidazole on the fecal microbiome and metabolome in healthy dogs. J Vet Intern Med. 2020;34(5):1853–1866. doi:10.1111/jvim.15871. Disponible en: https://doi.org/10.1111/jvim.15871</a:t>
            </a:r>
          </a:p>
          <a:p xmlns:a="http://schemas.openxmlformats.org/drawingml/2006/main">
            <a:r>
              <a:t>https://doi.org/10.1111/jvim.15871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Cálculo: 22 − 21,60 = 0,40 kg; 0,40/21,60 ×100 = 1,85185%. Es una diferencia pequeña y la comparabilidad depende de báscula, horario y condiciones no documentadas. El 100% expresa satisfacción o mejoría global referida por el tutor, no una escala validada ni erradicación microbiológica. No se dibuja una curva diaria porque no hay serie de pesajes auténtica.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conclusiones no atribuyen la recuperación a un fármaco específico ni confirman curación de una infección determinada. Mantener el reparto de principios: Robinson SMX, Kristhel TMP, Carolina metronidazol, Tiffany praziquantel, Samira pirantel, Jhon sulfato ferroso. Juan José Bajaña integra el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288 mg de combinación: 240 mg SMX + 48 mg TMP; 13,33 mg/kg por toma a 21,60 kg. 2. La sal incluye sulfato y puede incluir agua de hidratación; hace falta especificación para conocer hierro elemental. 3. Documenta mejoría global subjetiva del tutor; no confirma normalización hematológica ni eliminación de un agente.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Cornell University College of Veterinary Medicine. Iron panels. En: eClinpath [Internet]. Ithaca (NY): Cornell University [citado 21 oct 2026]. Disponible en: https://eclinpath.com/chemistry/iron-metabolism/iron-panel-summary/</a:t>
            </a:r>
          </a:p>
          <a:p xmlns:a="http://schemas.openxmlformats.org/drawingml/2006/main">
            <a:r>
              <a:t>https://eclinpath.com/chemistry/iron-metabolism/iron-panel-summary/</a:t>
            </a:r>
          </a:p>
          <a:p xmlns:a="http://schemas.openxmlformats.org/drawingml/2006/main">
            <a:r>
              <a:t/>
            </a:r>
          </a:p>
          <a:p xmlns:a="http://schemas.openxmlformats.org/drawingml/2006/main">
            <a:r>
              <a:t>2. Jessen LR, Werner M, Singleton D, Prior C, Foroutan F, Ferran AA, et al. European Network for Optimization of Veterinary Antimicrobial Therapy (ENOVAT) guidelines for antimicrobial use in canine acute diarrhoea. Vet J. 2024;307:106208. doi:10.1016/j.tvjl.2024.106208. Disponible en: https://doi.org/10.1016/j.tvjl.2024.106208</a:t>
            </a:r>
          </a:p>
          <a:p xmlns:a="http://schemas.openxmlformats.org/drawingml/2006/main">
            <a:r>
              <a:t>https://doi.org/10.1016/j.tvjl.2024.106208</a:t>
            </a:r>
          </a:p>
          <a:p xmlns:a="http://schemas.openxmlformats.org/drawingml/2006/main">
            <a:r>
              <a:t/>
            </a:r>
          </a:p>
          <a:p xmlns:a="http://schemas.openxmlformats.org/drawingml/2006/main">
            <a:r>
              <a:t>3. Weese JS, Blondeau J, Boothe D, Guardabassi LG, Gumley N, Papich M, et al. International Society for Companion Animal Infectious Diseases (ISCAID) guidelines for the diagnosis and management of bacterial urinary tract infections in dogs and cats. Vet J. 2019;247:8–25. doi:10.1016/j.tvjl.2019.02.008.</a:t>
            </a:r>
          </a:p>
          <a:p xmlns:a="http://schemas.openxmlformats.org/drawingml/2006/main">
            <a:r>
              <a:t>https://doi.org/10.1016/j.tvjl.2019.02.008</a:t>
            </a:r>
          </a:p>
          <a:p xmlns:a="http://schemas.openxmlformats.org/drawingml/2006/main">
            <a:r>
              <a:t/>
            </a:r>
          </a:p>
          <a:p xmlns:a="http://schemas.openxmlformats.org/drawingml/2006/main">
            <a:r>
              <a:t>4. Plumb DC. Plumb's veterinary drug handbook. 6th ed. Stockholm (WI): PharmaVet; 2008. Disponible en: https://search.worldcat.org/es/title/Plumb%27s-veterinary-drug-handbook/oclc/440588470</a:t>
            </a:r>
          </a:p>
          <a:p xmlns:a="http://schemas.openxmlformats.org/drawingml/2006/main">
            <a:r>
              <a:t>https://search.worldcat.org/es/title/Plumb%27s-veterinary-drug-handbook/oclc/440588470</a:t>
            </a:r>
          </a:p>
          <a:p xmlns:a="http://schemas.openxmlformats.org/drawingml/2006/main">
            <a:r>
              <a:t/>
            </a:r>
          </a:p>
          <a:p xmlns:a="http://schemas.openxmlformats.org/drawingml/2006/main">
            <a:r>
              <a:t>5. Farbiopharma. Bactrivet Farbiovet: antibiótico suspensión oral [Internet]. Quito: Farbiopharma; s. f. [citado 21 oct 2026].</a:t>
            </a:r>
          </a:p>
          <a:p xmlns:a="http://schemas.openxmlformats.org/drawingml/2006/main">
            <a:r>
              <a:t>https://farbiopharma.com/wp-content/uploads/2023/01/F.T.-BACTRIVET-FARBIOVET-V0..pdf</a:t>
            </a:r>
          </a:p>
          <a:p xmlns:a="http://schemas.openxmlformats.org/drawingml/2006/main">
            <a:r>
              <a:t/>
            </a:r>
          </a:p>
          <a:p xmlns:a="http://schemas.openxmlformats.org/drawingml/2006/main">
            <a:r>
              <a:t>6. Aranda Pets. Amibac: metronidazol tabletas [Internet]. Experiencia Veterinaria; s. f. [citado 21 oct 2026].</a:t>
            </a:r>
          </a:p>
          <a:p xmlns:a="http://schemas.openxmlformats.org/drawingml/2006/main">
            <a:r>
              <a:t>https://www.experiencia.vet/Detail?id=4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Tauro A, Beltran E, Cherubini GB, Coelho AT, Wessmann A, Driver CJ, et al. Metronidazole-induced neurotoxicity in 26 dogs. Aust Vet J. 2018;96(12):495–501.</a:t>
            </a:r>
          </a:p>
          <a:p xmlns:a="http://schemas.openxmlformats.org/drawingml/2006/main">
            <a:r>
              <a:t>https://doi.org/10.1111/avj.12772</a:t>
            </a:r>
          </a:p>
          <a:p xmlns:a="http://schemas.openxmlformats.org/drawingml/2006/main">
            <a:r>
              <a:t/>
            </a:r>
          </a:p>
          <a:p xmlns:a="http://schemas.openxmlformats.org/drawingml/2006/main">
            <a:r>
              <a:t>8. James Brown Pharma. Relámpago: antiparasitario interno [Internet]. Quito: James Brown Pharma; s. f. [citado 21 oct 2026].</a:t>
            </a:r>
          </a:p>
          <a:p xmlns:a="http://schemas.openxmlformats.org/drawingml/2006/main">
            <a:r>
              <a:t>https://jamesbrownpharma.com/producto/relampago/</a:t>
            </a:r>
          </a:p>
          <a:p xmlns:a="http://schemas.openxmlformats.org/drawingml/2006/main">
            <a:r>
              <a:t/>
            </a:r>
          </a:p>
          <a:p xmlns:a="http://schemas.openxmlformats.org/drawingml/2006/main">
            <a:r>
              <a:t>9. European Scientific Counsel Companion Animal Parasites. Control de vermes en perros y gatos. Guía ESCCAP 01. 6.ª ed. Malvern: ESCCAP; 2021 [citado 21 oct 2026]. Disponible en: https://www.esccap.es/wp-content/uploads/2022/03/ESCCAP-1-6ed.pdf</a:t>
            </a:r>
          </a:p>
          <a:p xmlns:a="http://schemas.openxmlformats.org/drawingml/2006/main">
            <a:r>
              <a:t>https://www.esccap.es/wp-content/uploads/2022/03/ESCCAP-1-6ed.pdf</a:t>
            </a:r>
          </a:p>
          <a:p xmlns:a="http://schemas.openxmlformats.org/drawingml/2006/main">
            <a:r>
              <a:t/>
            </a:r>
          </a:p>
          <a:p xmlns:a="http://schemas.openxmlformats.org/drawingml/2006/main">
            <a:r>
              <a:t>10. Favetex. Apetomax: estimulante de apetito [Internet]. Guayaquil: Favetex; s. f. [citado 21 oct 2026].</a:t>
            </a:r>
          </a:p>
          <a:p xmlns:a="http://schemas.openxmlformats.org/drawingml/2006/main">
            <a:r>
              <a:t>https://favetex.com/wp-content/uploads/2026/04/Apetomax.pdf</a:t>
            </a:r>
          </a:p>
          <a:p xmlns:a="http://schemas.openxmlformats.org/drawingml/2006/main">
            <a:r>
              <a:t/>
            </a:r>
          </a:p>
          <a:p xmlns:a="http://schemas.openxmlformats.org/drawingml/2006/main">
            <a:r>
              <a:t>11. Ekstrand C, Hedlund M, Pelander L, Scahill K. Adverse events of trimetroprim-sulphonamide treatment of cats and dogs: a systematic review. Vet Res Commun. 2026;50:224. doi:10.1007/s11259-026-11143-1. Disponible en: https://doi.org/10.1007/s11259-026-11143-1</a:t>
            </a:r>
          </a:p>
          <a:p xmlns:a="http://schemas.openxmlformats.org/drawingml/2006/main">
            <a:r>
              <a:t>https://doi.org/10.1007/s11259-026-11143-1</a:t>
            </a:r>
          </a:p>
          <a:p xmlns:a="http://schemas.openxmlformats.org/drawingml/2006/main">
            <a:r>
              <a:t/>
            </a:r>
          </a:p>
          <a:p xmlns:a="http://schemas.openxmlformats.org/drawingml/2006/main">
            <a:r>
              <a:t>12. Pilla R, Gaschen FP, Barr JW, Olson E, Honneffer J, Guard BC, et al. Effects of metronidazole on the fecal microbiome and metabolome in healthy dogs. J Vet Intern Med. 2020;34(5):1853–1866. doi:10.1111/jvim.15871. Disponible en: https://doi.org/10.1111/jvim.15871</a:t>
            </a:r>
          </a:p>
          <a:p xmlns:a="http://schemas.openxmlformats.org/drawingml/2006/main">
            <a:r>
              <a:t>https://doi.org/10.1111/jvim.15871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5e66ce80fc40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82cbe7a39243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fae6041d654c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68072c1a2847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4d55f0c4e74f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5d936abf9441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0895E-F3F0-4BCA-B0E0-9287EB22BF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7C36E0-F6D6-4ADD-AB8C-DED910B959A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BF3C57-BA35-4806-80AD-AB536C59AF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F2954F-426E-445B-B1FE-4617A08F30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685E74-13CA-49BB-AC8D-A7DD600B47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D6678F-3602-4736-AF31-655934BF08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429E5B-F5E5-4BA2-9647-3723112534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09AEF1-2D0A-46CB-9227-03683174C5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C39467-D69A-4D84-8878-EFC715A899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2EEE96-A2BC-46EE-AD6F-9600FC2D64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620fcb6ac94133" /><Relationship Type="http://schemas.openxmlformats.org/officeDocument/2006/relationships/slideLayout" Target="/ppt/slideLayouts/slideLayout1.xml" Id="R2dafc34d7cda4259" /><Relationship Type="http://schemas.openxmlformats.org/officeDocument/2006/relationships/slideLayout" Target="/ppt/slideLayouts/slideLayout2.xml" Id="R540c666ced644d38" /><Relationship Type="http://schemas.openxmlformats.org/officeDocument/2006/relationships/slideLayout" Target="/ppt/slideLayouts/slideLayout3.xml" Id="R9322c891779a4ccf" /><Relationship Type="http://schemas.openxmlformats.org/officeDocument/2006/relationships/slideLayout" Target="/ppt/slideLayouts/slideLayout4.xml" Id="R3226864644bf4330" /><Relationship Type="http://schemas.openxmlformats.org/officeDocument/2006/relationships/slideLayout" Target="/ppt/slideLayouts/slideLayout5.xml" Id="R77c2ab538a69418a" /><Relationship Type="http://schemas.openxmlformats.org/officeDocument/2006/relationships/slideLayout" Target="/ppt/slideLayouts/slideLayout6.xml" Id="R555fd55d99f64a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afc34d7cda4259"/>
    <p:sldLayoutId xmlns:r="http://schemas.openxmlformats.org/officeDocument/2006/relationships" id="2147483650" r:id="R540c666ced644d38"/>
    <p:sldLayoutId xmlns:r="http://schemas.openxmlformats.org/officeDocument/2006/relationships" id="2147483651" r:id="R9322c891779a4ccf"/>
    <p:sldLayoutId xmlns:r="http://schemas.openxmlformats.org/officeDocument/2006/relationships" id="2147483652" r:id="R3226864644bf4330"/>
    <p:sldLayoutId xmlns:r="http://schemas.openxmlformats.org/officeDocument/2006/relationships" id="2147483653" r:id="R77c2ab538a69418a"/>
    <p:sldLayoutId xmlns:r="http://schemas.openxmlformats.org/officeDocument/2006/relationships" id="2147483654" r:id="R555fd55d99f6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ae3b076ef04411" /><Relationship Type="http://schemas.openxmlformats.org/officeDocument/2006/relationships/image" Target="/ppt/media/image.png" Id="R97a30b7b0a8745e3" /><Relationship Type="http://schemas.openxmlformats.org/officeDocument/2006/relationships/notesSlide" Target="/ppt/notesSlides/notesSlide1.xml" Id="Rc5ef9aba1ead4b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c95c78b50440fd" /><Relationship Type="http://schemas.openxmlformats.org/officeDocument/2006/relationships/image" Target="/ppt/media/image2.png" Id="R12ff910348a64702" /><Relationship Type="http://schemas.openxmlformats.org/officeDocument/2006/relationships/notesSlide" Target="/ppt/notesSlides/notesSlide2.xml" Id="R8a230c5546ab42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8f4c0a8cc0428a" /><Relationship Type="http://schemas.openxmlformats.org/officeDocument/2006/relationships/image" Target="/ppt/media/image.jpeg" Id="Rc52a3c4bebbe48ed" /><Relationship Type="http://schemas.openxmlformats.org/officeDocument/2006/relationships/image" Target="/ppt/media/image2.jpeg" Id="R1197f02c17e34ed4" /><Relationship Type="http://schemas.openxmlformats.org/officeDocument/2006/relationships/image" Target="/ppt/media/image3.jpeg" Id="R28635751bc4b48ba" /><Relationship Type="http://schemas.openxmlformats.org/officeDocument/2006/relationships/notesSlide" Target="/ppt/notesSlides/notesSlide3.xml" Id="R00f18cc4e35446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b20c2f9ab34af2" /><Relationship Type="http://schemas.openxmlformats.org/officeDocument/2006/relationships/notesSlide" Target="/ppt/notesSlides/notesSlide4.xml" Id="R9af2eb1e26f94e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466940b7d94e22" /><Relationship Type="http://schemas.openxmlformats.org/officeDocument/2006/relationships/notesSlide" Target="/ppt/notesSlides/notesSlide5.xml" Id="Re209cda93e1642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28f8ece9e741cd" /><Relationship Type="http://schemas.openxmlformats.org/officeDocument/2006/relationships/notesSlide" Target="/ppt/notesSlides/notesSlide6.xml" Id="Rc0f7f164996e43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11bf5bef414899" /><Relationship Type="http://schemas.openxmlformats.org/officeDocument/2006/relationships/notesSlide" Target="/ppt/notesSlides/notesSlide7.xml" Id="R8019727e1cb242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5e76c2bead4935" /><Relationship Type="http://schemas.openxmlformats.org/officeDocument/2006/relationships/notesSlide" Target="/ppt/notesSlides/notesSlide8.xml" Id="R074543995b544d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b4f1e6547748aa" /><Relationship Type="http://schemas.openxmlformats.org/officeDocument/2006/relationships/notesSlide" Target="/ppt/notesSlides/notesSlide9.xml" Id="Rc93f1e2e9b754d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2e2d5d3ac3c4f91" /><Relationship Type="http://schemas.openxmlformats.org/officeDocument/2006/relationships/notesSlide" Target="/ppt/notesSlides/notesSlide10.xml" Id="Rdb2e1cc537144f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5cbe8f389b411e" /><Relationship Type="http://schemas.openxmlformats.org/officeDocument/2006/relationships/notesSlide" Target="/ppt/notesSlides/notesSlide11.xml" Id="Rf6ace773cf2846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be54cbaa2dc4765" /><Relationship Type="http://schemas.openxmlformats.org/officeDocument/2006/relationships/notesSlide" Target="/ppt/notesSlides/notesSlide12.xml" Id="R6d63726929ad4f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a01adcf90124e1c" /><Relationship Type="http://schemas.openxmlformats.org/officeDocument/2006/relationships/chart" Target="/ppt/slides/charts/chart1.xml" Id="R417413d1b3bd4c19" /><Relationship Type="http://schemas.openxmlformats.org/officeDocument/2006/relationships/notesSlide" Target="/ppt/notesSlides/notesSlide13.xml" Id="Rf6bf0467f4e544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ddd70bb91a24c2e" /><Relationship Type="http://schemas.openxmlformats.org/officeDocument/2006/relationships/notesSlide" Target="/ppt/notesSlides/notesSlide14.xml" Id="R7a6591d99ec84e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e51a90b49f48e2" /><Relationship Type="http://schemas.openxmlformats.org/officeDocument/2006/relationships/notesSlide" Target="/ppt/notesSlides/notesSlide15.xml" Id="Rf53a40543a2c45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c9a4d1d026e42d1" /><Relationship Type="http://schemas.openxmlformats.org/officeDocument/2006/relationships/hyperlink" Target="https://eclinpath.com/chemistry/iron-metabolism/iron-panel-summary/" TargetMode="External" Id="R49c7dc7635c74265" /><Relationship Type="http://schemas.openxmlformats.org/officeDocument/2006/relationships/hyperlink" Target="https://doi.org/10.1016/j.tvjl.2024.106208" TargetMode="External" Id="R6fbd6441618d465e" /><Relationship Type="http://schemas.openxmlformats.org/officeDocument/2006/relationships/hyperlink" Target="https://doi.org/10.1016/j.tvjl.2019.02.008" TargetMode="External" Id="Rfa57957775064722" /><Relationship Type="http://schemas.openxmlformats.org/officeDocument/2006/relationships/hyperlink" Target="https://search.worldcat.org/es/title/Plumb%27s-veterinary-drug-handbook/oclc/440588470" TargetMode="External" Id="R4574d04493de4821" /><Relationship Type="http://schemas.openxmlformats.org/officeDocument/2006/relationships/hyperlink" Target="https://farbiopharma.com/wp-content/uploads/2023/01/F.T.-BACTRIVET-FARBIOVET-V0..pdf" TargetMode="External" Id="R390e2b901a1e47b0" /><Relationship Type="http://schemas.openxmlformats.org/officeDocument/2006/relationships/hyperlink" Target="https://www.experiencia.vet/Detail?id=4" TargetMode="External" Id="R0943a2906b554727" /><Relationship Type="http://schemas.openxmlformats.org/officeDocument/2006/relationships/notesSlide" Target="/ppt/notesSlides/notesSlide16.xml" Id="Re8f56ca31b6a49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5c6f3fc8edd429a" /><Relationship Type="http://schemas.openxmlformats.org/officeDocument/2006/relationships/hyperlink" Target="https://doi.org/10.1111/avj.12772" TargetMode="External" Id="R1ef5a0660942443a" /><Relationship Type="http://schemas.openxmlformats.org/officeDocument/2006/relationships/hyperlink" Target="https://jamesbrownpharma.com/producto/relampago/" TargetMode="External" Id="R42f728d02a634990" /><Relationship Type="http://schemas.openxmlformats.org/officeDocument/2006/relationships/hyperlink" Target="https://www.esccap.es/wp-content/uploads/2022/03/ESCCAP-1-6ed.pdf" TargetMode="External" Id="R62129925dcef4596" /><Relationship Type="http://schemas.openxmlformats.org/officeDocument/2006/relationships/hyperlink" Target="https://favetex.com/wp-content/uploads/2026/04/Apetomax.pdf" TargetMode="External" Id="Rcc039b7128f440e3" /><Relationship Type="http://schemas.openxmlformats.org/officeDocument/2006/relationships/hyperlink" Target="https://doi.org/10.1007/s11259-026-11143-1" TargetMode="External" Id="Rd80029729a0d41ed" /><Relationship Type="http://schemas.openxmlformats.org/officeDocument/2006/relationships/hyperlink" Target="https://doi.org/10.1111/jvim.15871" TargetMode="External" Id="R4bf076a6129c4d08" /><Relationship Type="http://schemas.openxmlformats.org/officeDocument/2006/relationships/notesSlide" Target="/ppt/notesSlides/notesSlide17.xml" Id="Rd2bdadd8619845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5253A"/>
                </a:solidFill>
                <a:latin typeface="Times New Roman"/>
                <a:ea typeface="Times New Roman"/>
                <a:cs typeface="Times New Roman"/>
              </a:rPr>
              <a:t>Peso corporal en kg</a:t>
            </a:r>
          </a:p>
        </c:rich>
      </c:tx>
      <c:overlay val="0"/>
      <c:txPr>
        <a:bodyPr xmlns:a="http://schemas.openxmlformats.org/drawingml/2006/main" anchorCtr="1"/>
        <a:lstStyle xmlns:a="http://schemas.openxmlformats.org/drawingml/2006/main"/>
        <a:p xmlns:a="http://schemas.openxmlformats.org/drawingml/2006/main">
          <a:pPr>
            <a:defRPr sz="1800">
              <a:solidFill>
                <a:srgbClr val="15253A"/>
              </a:solidFill>
              <a:latin typeface="Times New Roman"/>
              <a:ea typeface="Times New Roman"/>
              <a:cs typeface="Times New Roman"/>
            </a:defRPr>
          </a:pPr>
        </a:p>
      </c:txPr>
    </c:title>
    <c:plotArea>
      <c:barChart>
        <c:barDir val="col"/>
        <c:varyColors val="0"/>
        <c:ser>
          <c:idx val="0"/>
          <c:order val="0"/>
          <c:tx>
            <c:v>Peso (kg)</c:v>
          </c:tx>
          <c:spPr>
            <a:solidFill xmlns:a="http://schemas.openxmlformats.org/drawingml/2006/main">
              <a:srgbClr val="226C9C"/>
            </a:solidFill>
          </c:spPr>
          <c:invertIfNegative val="0"/>
          <c:cat>
            <c:strRef>
              <c:f>'Chart Data'!$A$2:$A$3</c:f>
              <c:strCache>
                <c:ptCount val="2"/>
                <c:pt idx="0">
                  <c:v>Informe inicial</c:v>
                </c:pt>
                <c:pt idx="1">
                  <c:v>Peso final reportado</c:v>
                </c:pt>
              </c:strCache>
            </c:strRef>
          </c:cat>
          <c:val>
            <c:numRef>
              <c:f>'Chart Data'!$B$2:$B$3</c:f>
              <c:numCache>
                <c:formatCode>General</c:formatCode>
                <c:ptCount val="2"/>
                <c:pt idx="0">
                  <c:v>21.6</c:v>
                </c:pt>
                <c:pt idx="1">
                  <c:v>22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5253A"/>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E5"/>
            </a:solidFill>
            <a:prstDash val="solid"/>
          </a:ln>
        </c:spPr>
        <c:txPr>
          <a:bodyPr xmlns:a="http://schemas.openxmlformats.org/drawingml/2006/main" anchorCtr="1"/>
          <a:lstStyle xmlns:a="http://schemas.openxmlformats.org/drawingml/2006/main"/>
          <a:p xmlns:a="http://schemas.openxmlformats.org/drawingml/2006/main">
            <a:pPr>
              <a:defRPr sz="1575">
                <a:solidFill>
                  <a:srgbClr val="15253A"/>
                </a:solidFill>
                <a:latin typeface="Times New Roman"/>
                <a:ea typeface="Times New Roman"/>
                <a:cs typeface="Times New Roman"/>
              </a:defRPr>
            </a:pPr>
          </a:p>
        </c:txPr>
        <c:crossAx val="48672768"/>
      </c:catAx>
      <c:valAx>
        <c:axId val="48672768"/>
        <c:scaling>
          <c:orientation val="minMax"/>
          <c:max val="25"/>
          <c:min val="0"/>
        </c:scaling>
        <c:delete val="0"/>
        <c:axPos val="l"/>
        <c:majorGridlines>
          <c:spPr>
            <a:ln xmlns:a="http://schemas.openxmlformats.org/drawingml/2006/main" w="9525">
              <a:solidFill>
                <a:srgbClr val="D6DEE5"/>
              </a:solidFill>
              <a:prstDash val="solid"/>
            </a:ln>
          </c:spPr>
        </c:majorGridlines>
        <c:title>
          <c:tx>
            <c:rich>
              <a:bodyPr xmlns:a="http://schemas.openxmlformats.org/drawingml/2006/main"/>
              <a:lstStyle xmlns:a="http://schemas.openxmlformats.org/drawingml/2006/main"/>
              <a:p xmlns:a="http://schemas.openxmlformats.org/drawingml/2006/main">
                <a:r>
                  <a:rPr sz="1575">
                    <a:latin typeface="Times New Roman"/>
                    <a:ea typeface="Times New Roman"/>
                    <a:cs typeface="Times New Roman"/>
                  </a:rPr>
                  <a:t>kg</a:t>
                </a:r>
              </a:p>
            </c:rich>
          </c:tx>
          <c:overlay val="0"/>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6575"/>
                </a:solidFill>
                <a:latin typeface="Times New Roman"/>
                <a:ea typeface="Times New Roman"/>
                <a:cs typeface="Times New Roman"/>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D4C9B81-63C0-43A9-AEDC-2CFC45D0E87C}"/>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Farmacología clínica en Ares</a:t>
            </a:r>
          </a:p>
        </p:txBody>
      </p:sp>
      <p:sp>
        <p:nvSpPr>
          <p:cNvPr id="2" name="text-1">
            <a:extLst xmlns:a="http://schemas.openxmlformats.org/drawingml/2006/main">
              <a:ext uri="{FF2B5EF4-FFF2-40B4-BE49-F238E27FC236}">
                <a16:creationId xmlns:a16="http://schemas.microsoft.com/office/drawing/2014/main" id="{D2BC56D2-5A13-4BD4-BF51-02B2AAA8B58D}"/>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a:t>
            </a:r>
          </a:p>
        </p:txBody>
      </p:sp>
      <p:sp>
        <p:nvSpPr>
          <p:cNvPr id="3" name="text-2">
            <a:extLst xmlns:a="http://schemas.openxmlformats.org/drawingml/2006/main">
              <a:ext uri="{FF2B5EF4-FFF2-40B4-BE49-F238E27FC236}">
                <a16:creationId xmlns:a16="http://schemas.microsoft.com/office/drawing/2014/main" id="{B1C79B20-0D99-4FF8-83DC-5A04DE00B428}"/>
              </a:ext>
            </a:extLst>
          </p:cNvPr>
          <p:cNvSpPr>
            <a:spLocks xmlns:a="http://schemas.openxmlformats.org/drawingml/2006/main" noGrp="1"/>
          </p:cNvSpPr>
          <p:nvPr/>
        </p:nvSpPr>
        <p:spPr>
          <a:xfrm xmlns:a="http://schemas.openxmlformats.org/drawingml/2006/main">
            <a:off x="628650" y="1619250"/>
            <a:ext cx="595312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15253A"/>
                </a:solidFill>
                <a:latin typeface="Times New Roman"/>
                <a:ea typeface="Times New Roman"/>
                <a:cs typeface="Times New Roman"/>
              </a:defRPr>
            </a:defPPr>
            <a:lvl1pPr algn="l">
              <a:defRPr sz="3150" b="1">
                <a:solidFill>
                  <a:srgbClr val="15253A"/>
                </a:solidFill>
                <a:latin typeface="Times New Roman"/>
                <a:ea typeface="Times New Roman"/>
                <a:cs typeface="Times New Roman"/>
              </a:defRPr>
            </a:lvl1pPr>
            <a:lvl2pPr algn="l">
              <a:defRPr sz="3150" b="1">
                <a:solidFill>
                  <a:srgbClr val="15253A"/>
                </a:solidFill>
                <a:latin typeface="Times New Roman"/>
                <a:ea typeface="Times New Roman"/>
                <a:cs typeface="Times New Roman"/>
              </a:defRPr>
            </a:lvl2pPr>
            <a:lvl3pPr algn="l">
              <a:defRPr sz="3150" b="1">
                <a:solidFill>
                  <a:srgbClr val="15253A"/>
                </a:solidFill>
                <a:latin typeface="Times New Roman"/>
                <a:ea typeface="Times New Roman"/>
                <a:cs typeface="Times New Roman"/>
              </a:defRPr>
            </a:lvl3pPr>
            <a:lvl4pPr algn="l">
              <a:defRPr sz="3150" b="1">
                <a:solidFill>
                  <a:srgbClr val="15253A"/>
                </a:solidFill>
                <a:latin typeface="Times New Roman"/>
                <a:ea typeface="Times New Roman"/>
                <a:cs typeface="Times New Roman"/>
              </a:defRPr>
            </a:lvl4pPr>
            <a:lvl5pPr algn="l">
              <a:defRPr sz="3150" b="1">
                <a:solidFill>
                  <a:srgbClr val="15253A"/>
                </a:solidFill>
                <a:latin typeface="Times New Roman"/>
                <a:ea typeface="Times New Roman"/>
                <a:cs typeface="Times New Roman"/>
              </a:defRPr>
            </a:lvl5pPr>
            <a:lvl6pPr algn="l">
              <a:defRPr sz="3150" b="1">
                <a:solidFill>
                  <a:srgbClr val="15253A"/>
                </a:solidFill>
                <a:latin typeface="Times New Roman"/>
                <a:ea typeface="Times New Roman"/>
                <a:cs typeface="Times New Roman"/>
              </a:defRPr>
            </a:lvl6pPr>
            <a:lvl7pPr algn="l">
              <a:defRPr sz="3150" b="1">
                <a:solidFill>
                  <a:srgbClr val="15253A"/>
                </a:solidFill>
                <a:latin typeface="Times New Roman"/>
                <a:ea typeface="Times New Roman"/>
                <a:cs typeface="Times New Roman"/>
              </a:defRPr>
            </a:lvl7pPr>
            <a:lvl8pPr algn="l">
              <a:defRPr sz="3150" b="1">
                <a:solidFill>
                  <a:srgbClr val="15253A"/>
                </a:solidFill>
                <a:latin typeface="Times New Roman"/>
                <a:ea typeface="Times New Roman"/>
                <a:cs typeface="Times New Roman"/>
              </a:defRPr>
            </a:lvl8pPr>
            <a:lvl9pPr algn="l">
              <a:defRPr sz="3150" b="1">
                <a:solidFill>
                  <a:srgbClr val="15253A"/>
                </a:solidFill>
                <a:latin typeface="Times New Roman"/>
                <a:ea typeface="Times New Roman"/>
                <a:cs typeface="Times New Roman"/>
              </a:defRPr>
            </a:lvl9pPr>
          </a:lstStyle>
          <a:p xmlns:a="http://schemas.openxmlformats.org/drawingml/2006/main">
            <a:pPr algn="l">
              <a:defRPr sz="3150" b="1">
                <a:solidFill>
                  <a:srgbClr val="15253A"/>
                </a:solidFill>
                <a:latin typeface="Times New Roman"/>
                <a:ea typeface="Times New Roman"/>
                <a:cs typeface="Times New Roman"/>
              </a:defRPr>
            </a:pPr>
            <a:r>
              <a:rPr sz="3150" b="1">
                <a:solidFill>
                  <a:srgbClr val="15253A"/>
                </a:solidFill>
                <a:latin typeface="Times New Roman"/>
                <a:ea typeface="Times New Roman"/>
                <a:cs typeface="Times New Roman"/>
              </a:rPr>
              <a:t>Análisis de seis principios activos</a:t>
            </a:r>
          </a:p>
          <a:p xmlns:a="http://schemas.openxmlformats.org/drawingml/2006/main">
            <a:pPr algn="l">
              <a:defRPr sz="3150" b="1">
                <a:solidFill>
                  <a:srgbClr val="15253A"/>
                </a:solidFill>
                <a:latin typeface="Times New Roman"/>
                <a:ea typeface="Times New Roman"/>
                <a:cs typeface="Times New Roman"/>
              </a:defRPr>
            </a:pPr>
            <a:r>
              <a:rPr sz="3150" b="1">
                <a:solidFill>
                  <a:srgbClr val="15253A"/>
                </a:solidFill>
                <a:latin typeface="Times New Roman"/>
                <a:ea typeface="Times New Roman"/>
                <a:cs typeface="Times New Roman"/>
              </a:rPr>
              <a:t>en un caso digestivo canino</a:t>
            </a:r>
          </a:p>
        </p:txBody>
      </p:sp>
      <p:sp>
        <p:nvSpPr>
          <p:cNvPr id="4" name="text-3">
            <a:extLst xmlns:a="http://schemas.openxmlformats.org/drawingml/2006/main">
              <a:ext uri="{FF2B5EF4-FFF2-40B4-BE49-F238E27FC236}">
                <a16:creationId xmlns:a16="http://schemas.microsoft.com/office/drawing/2014/main" id="{DC2E8AA7-F9F6-4A9C-9DA7-BA1D8CAB4E16}"/>
              </a:ext>
            </a:extLst>
          </p:cNvPr>
          <p:cNvSpPr>
            <a:spLocks xmlns:a="http://schemas.openxmlformats.org/drawingml/2006/main" noGrp="1"/>
          </p:cNvSpPr>
          <p:nvPr/>
        </p:nvSpPr>
        <p:spPr>
          <a:xfrm xmlns:a="http://schemas.openxmlformats.org/drawingml/2006/main">
            <a:off x="628650" y="3476625"/>
            <a:ext cx="561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66575"/>
                </a:solidFill>
                <a:latin typeface="Times New Roman"/>
                <a:ea typeface="Times New Roman"/>
                <a:cs typeface="Times New Roman"/>
              </a:defRPr>
            </a:defPPr>
            <a:lvl1pPr algn="l">
              <a:defRPr sz="2025" b="0">
                <a:solidFill>
                  <a:srgbClr val="566575"/>
                </a:solidFill>
                <a:latin typeface="Times New Roman"/>
                <a:ea typeface="Times New Roman"/>
                <a:cs typeface="Times New Roman"/>
              </a:defRPr>
            </a:lvl1pPr>
            <a:lvl2pPr algn="l">
              <a:defRPr sz="2025" b="0">
                <a:solidFill>
                  <a:srgbClr val="566575"/>
                </a:solidFill>
                <a:latin typeface="Times New Roman"/>
                <a:ea typeface="Times New Roman"/>
                <a:cs typeface="Times New Roman"/>
              </a:defRPr>
            </a:lvl2pPr>
            <a:lvl3pPr algn="l">
              <a:defRPr sz="2025" b="0">
                <a:solidFill>
                  <a:srgbClr val="566575"/>
                </a:solidFill>
                <a:latin typeface="Times New Roman"/>
                <a:ea typeface="Times New Roman"/>
                <a:cs typeface="Times New Roman"/>
              </a:defRPr>
            </a:lvl3pPr>
            <a:lvl4pPr algn="l">
              <a:defRPr sz="2025" b="0">
                <a:solidFill>
                  <a:srgbClr val="566575"/>
                </a:solidFill>
                <a:latin typeface="Times New Roman"/>
                <a:ea typeface="Times New Roman"/>
                <a:cs typeface="Times New Roman"/>
              </a:defRPr>
            </a:lvl4pPr>
            <a:lvl5pPr algn="l">
              <a:defRPr sz="2025" b="0">
                <a:solidFill>
                  <a:srgbClr val="566575"/>
                </a:solidFill>
                <a:latin typeface="Times New Roman"/>
                <a:ea typeface="Times New Roman"/>
                <a:cs typeface="Times New Roman"/>
              </a:defRPr>
            </a:lvl5pPr>
            <a:lvl6pPr algn="l">
              <a:defRPr sz="2025" b="0">
                <a:solidFill>
                  <a:srgbClr val="566575"/>
                </a:solidFill>
                <a:latin typeface="Times New Roman"/>
                <a:ea typeface="Times New Roman"/>
                <a:cs typeface="Times New Roman"/>
              </a:defRPr>
            </a:lvl6pPr>
            <a:lvl7pPr algn="l">
              <a:defRPr sz="2025" b="0">
                <a:solidFill>
                  <a:srgbClr val="566575"/>
                </a:solidFill>
                <a:latin typeface="Times New Roman"/>
                <a:ea typeface="Times New Roman"/>
                <a:cs typeface="Times New Roman"/>
              </a:defRPr>
            </a:lvl7pPr>
            <a:lvl8pPr algn="l">
              <a:defRPr sz="2025" b="0">
                <a:solidFill>
                  <a:srgbClr val="566575"/>
                </a:solidFill>
                <a:latin typeface="Times New Roman"/>
                <a:ea typeface="Times New Roman"/>
                <a:cs typeface="Times New Roman"/>
              </a:defRPr>
            </a:lvl8pPr>
            <a:lvl9pPr algn="l">
              <a:defRPr sz="2025" b="0">
                <a:solidFill>
                  <a:srgbClr val="566575"/>
                </a:solidFill>
                <a:latin typeface="Times New Roman"/>
                <a:ea typeface="Times New Roman"/>
                <a:cs typeface="Times New Roman"/>
              </a:defRPr>
            </a:lvl9pPr>
          </a:lstStyle>
          <a:p xmlns:a="http://schemas.openxmlformats.org/drawingml/2006/main">
            <a:pPr algn="l">
              <a:defRPr sz="2025" b="0">
                <a:solidFill>
                  <a:srgbClr val="566575"/>
                </a:solidFill>
                <a:latin typeface="Times New Roman"/>
                <a:ea typeface="Times New Roman"/>
                <a:cs typeface="Times New Roman"/>
              </a:defRPr>
            </a:pPr>
            <a:r>
              <a:rPr sz="2025" b="0">
                <a:solidFill>
                  <a:srgbClr val="566575"/>
                </a:solidFill>
                <a:latin typeface="Times New Roman"/>
                <a:ea typeface="Times New Roman"/>
                <a:cs typeface="Times New Roman"/>
              </a:rPr>
              <a:t>Medicina Veterinaria · UTMACH</a:t>
            </a:r>
          </a:p>
          <a:p xmlns:a="http://schemas.openxmlformats.org/drawingml/2006/main">
            <a:pPr algn="l">
              <a:defRPr sz="2025" b="0">
                <a:solidFill>
                  <a:srgbClr val="566575"/>
                </a:solidFill>
                <a:latin typeface="Times New Roman"/>
                <a:ea typeface="Times New Roman"/>
                <a:cs typeface="Times New Roman"/>
              </a:defRPr>
            </a:pPr>
            <a:r>
              <a:rPr sz="2025" b="0">
                <a:solidFill>
                  <a:srgbClr val="566575"/>
                </a:solidFill>
                <a:latin typeface="Times New Roman"/>
                <a:ea typeface="Times New Roman"/>
                <a:cs typeface="Times New Roman"/>
              </a:rPr>
              <a:t>Farmacología II · Quinto A</a:t>
            </a:r>
          </a:p>
          <a:p xmlns:a="http://schemas.openxmlformats.org/drawingml/2006/main">
            <a:pPr algn="l">
              <a:defRPr sz="2025" b="0">
                <a:solidFill>
                  <a:srgbClr val="566575"/>
                </a:solidFill>
                <a:latin typeface="Times New Roman"/>
                <a:ea typeface="Times New Roman"/>
                <a:cs typeface="Times New Roman"/>
              </a:defRPr>
            </a:pPr>
            <a:r>
              <a:rPr sz="2025" b="0">
                <a:solidFill>
                  <a:srgbClr val="566575"/>
                </a:solidFill>
                <a:latin typeface="Times New Roman"/>
                <a:ea typeface="Times New Roman"/>
                <a:cs typeface="Times New Roman"/>
              </a:rPr>
              <a:t>Integración: Juan José Bajaña Chuno</a:t>
            </a:r>
          </a:p>
          <a:p xmlns:a="http://schemas.openxmlformats.org/drawingml/2006/main">
            <a:pPr algn="l">
              <a:defRPr sz="2025" b="0">
                <a:solidFill>
                  <a:srgbClr val="566575"/>
                </a:solidFill>
                <a:latin typeface="Times New Roman"/>
                <a:ea typeface="Times New Roman"/>
                <a:cs typeface="Times New Roman"/>
              </a:defRPr>
            </a:pPr>
            <a:r>
              <a:rPr sz="2025" b="0">
                <a:solidFill>
                  <a:srgbClr val="566575"/>
                </a:solidFill>
                <a:latin typeface="Times New Roman"/>
                <a:ea typeface="Times New Roman"/>
                <a:cs typeface="Times New Roman"/>
              </a:rPr>
              <a:t>Octubre de 2026</a:t>
            </a:r>
          </a:p>
        </p:txBody>
      </p:sp>
      <p:sp>
        <p:nvSpPr>
          <p:cNvPr id="5" name="text-4">
            <a:extLst xmlns:a="http://schemas.openxmlformats.org/drawingml/2006/main">
              <a:ext uri="{FF2B5EF4-FFF2-40B4-BE49-F238E27FC236}">
                <a16:creationId xmlns:a16="http://schemas.microsoft.com/office/drawing/2014/main" id="{699377AF-1663-4F11-88E4-03FC14A1A7E6}"/>
              </a:ext>
            </a:extLst>
          </p:cNvPr>
          <p:cNvSpPr>
            <a:spLocks xmlns:a="http://schemas.openxmlformats.org/drawingml/2006/main" noGrp="1"/>
          </p:cNvSpPr>
          <p:nvPr/>
        </p:nvSpPr>
        <p:spPr>
          <a:xfrm xmlns:a="http://schemas.openxmlformats.org/drawingml/2006/main">
            <a:off x="628650" y="5286375"/>
            <a:ext cx="561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0">
                <a:solidFill>
                  <a:srgbClr val="173A5E"/>
                </a:solidFill>
                <a:latin typeface="Times New Roman"/>
                <a:ea typeface="Times New Roman"/>
                <a:cs typeface="Times New Roman"/>
              </a:defRPr>
            </a:defPPr>
            <a:lvl1pPr algn="l">
              <a:defRPr sz="2175" b="0">
                <a:solidFill>
                  <a:srgbClr val="173A5E"/>
                </a:solidFill>
                <a:latin typeface="Times New Roman"/>
                <a:ea typeface="Times New Roman"/>
                <a:cs typeface="Times New Roman"/>
              </a:defRPr>
            </a:lvl1pPr>
            <a:lvl2pPr algn="l">
              <a:defRPr sz="2175" b="0">
                <a:solidFill>
                  <a:srgbClr val="173A5E"/>
                </a:solidFill>
                <a:latin typeface="Times New Roman"/>
                <a:ea typeface="Times New Roman"/>
                <a:cs typeface="Times New Roman"/>
              </a:defRPr>
            </a:lvl2pPr>
            <a:lvl3pPr algn="l">
              <a:defRPr sz="2175" b="0">
                <a:solidFill>
                  <a:srgbClr val="173A5E"/>
                </a:solidFill>
                <a:latin typeface="Times New Roman"/>
                <a:ea typeface="Times New Roman"/>
                <a:cs typeface="Times New Roman"/>
              </a:defRPr>
            </a:lvl3pPr>
            <a:lvl4pPr algn="l">
              <a:defRPr sz="2175" b="0">
                <a:solidFill>
                  <a:srgbClr val="173A5E"/>
                </a:solidFill>
                <a:latin typeface="Times New Roman"/>
                <a:ea typeface="Times New Roman"/>
                <a:cs typeface="Times New Roman"/>
              </a:defRPr>
            </a:lvl4pPr>
            <a:lvl5pPr algn="l">
              <a:defRPr sz="2175" b="0">
                <a:solidFill>
                  <a:srgbClr val="173A5E"/>
                </a:solidFill>
                <a:latin typeface="Times New Roman"/>
                <a:ea typeface="Times New Roman"/>
                <a:cs typeface="Times New Roman"/>
              </a:defRPr>
            </a:lvl5pPr>
            <a:lvl6pPr algn="l">
              <a:defRPr sz="2175" b="0">
                <a:solidFill>
                  <a:srgbClr val="173A5E"/>
                </a:solidFill>
                <a:latin typeface="Times New Roman"/>
                <a:ea typeface="Times New Roman"/>
                <a:cs typeface="Times New Roman"/>
              </a:defRPr>
            </a:lvl6pPr>
            <a:lvl7pPr algn="l">
              <a:defRPr sz="2175" b="0">
                <a:solidFill>
                  <a:srgbClr val="173A5E"/>
                </a:solidFill>
                <a:latin typeface="Times New Roman"/>
                <a:ea typeface="Times New Roman"/>
                <a:cs typeface="Times New Roman"/>
              </a:defRPr>
            </a:lvl7pPr>
            <a:lvl8pPr algn="l">
              <a:defRPr sz="2175" b="0">
                <a:solidFill>
                  <a:srgbClr val="173A5E"/>
                </a:solidFill>
                <a:latin typeface="Times New Roman"/>
                <a:ea typeface="Times New Roman"/>
                <a:cs typeface="Times New Roman"/>
              </a:defRPr>
            </a:lvl8pPr>
            <a:lvl9pPr algn="l">
              <a:defRPr sz="2175" b="0">
                <a:solidFill>
                  <a:srgbClr val="173A5E"/>
                </a:solidFill>
                <a:latin typeface="Times New Roman"/>
                <a:ea typeface="Times New Roman"/>
                <a:cs typeface="Times New Roman"/>
              </a:defRPr>
            </a:lvl9pPr>
          </a:lstStyle>
          <a:p xmlns:a="http://schemas.openxmlformats.org/drawingml/2006/main">
            <a:pPr algn="l">
              <a:defRPr sz="2175" b="0">
                <a:solidFill>
                  <a:srgbClr val="173A5E"/>
                </a:solidFill>
                <a:latin typeface="Times New Roman"/>
                <a:ea typeface="Times New Roman"/>
                <a:cs typeface="Times New Roman"/>
              </a:defRPr>
            </a:pPr>
            <a:r>
              <a:rPr sz="2175" b="0">
                <a:solidFill>
                  <a:srgbClr val="173A5E"/>
                </a:solidFill>
                <a:latin typeface="Times New Roman"/>
                <a:ea typeface="Times New Roman"/>
                <a:cs typeface="Times New Roman"/>
              </a:rPr>
              <a:t>Historia clínica, cálculo de dosis</a:t>
            </a:r>
          </a:p>
          <a:p xmlns:a="http://schemas.openxmlformats.org/drawingml/2006/main">
            <a:pPr algn="l">
              <a:defRPr sz="2175" b="0">
                <a:solidFill>
                  <a:srgbClr val="173A5E"/>
                </a:solidFill>
                <a:latin typeface="Times New Roman"/>
                <a:ea typeface="Times New Roman"/>
                <a:cs typeface="Times New Roman"/>
              </a:defRPr>
            </a:pPr>
            <a:r>
              <a:rPr sz="2175" b="0">
                <a:solidFill>
                  <a:srgbClr val="173A5E"/>
                </a:solidFill>
                <a:latin typeface="Times New Roman"/>
                <a:ea typeface="Times New Roman"/>
                <a:cs typeface="Times New Roman"/>
              </a:rPr>
              <a:t>y evaluación crítica del tratamiento</a:t>
            </a:r>
          </a:p>
        </p:txBody>
      </p:sp>
      <p:pic>
        <p:nvPicPr>
          <p:cNvPr id="6" name="">
            <a:extLst xmlns:a="http://schemas.openxmlformats.org/drawingml/2006/main">
              <a:ext uri="{FF2B5EF4-FFF2-40B4-BE49-F238E27FC236}">
                <a16:creationId xmlns:a16="http://schemas.microsoft.com/office/drawing/2014/main" id="{CB5378CF-B470-45AC-B95D-9D3379EE45D5}"/>
              </a:ext>
            </a:extLst>
          </p:cNvPr>
          <p:cNvPicPr>
            <a:picLocks xmlns:a="http://schemas.openxmlformats.org/drawingml/2006/main" noChangeAspect="1"/>
          </p:cNvPicPr>
          <p:nvPr/>
        </p:nvPicPr>
        <p:blipFill>
          <a:blip xmlns:r="http://schemas.openxmlformats.org/officeDocument/2006/relationships" xmlns:a="http://schemas.openxmlformats.org/drawingml/2006/main" r:embed="R97a30b7b0a8745e3"/>
          <a:stretch xmlns:a="http://schemas.openxmlformats.org/drawingml/2006/main"/>
        </p:blipFill>
        <p:spPr>
          <a:xfrm xmlns:a="http://schemas.openxmlformats.org/drawingml/2006/main">
            <a:off x="7451098" y="1181100"/>
            <a:ext cx="3385804" cy="4819650"/>
          </a:xfrm>
          <a:prstGeom xmlns:a="http://schemas.openxmlformats.org/drawingml/2006/main" prst="rect">
            <a:avLst/>
          </a:prstGeom>
        </p:spPr>
      </p:pic>
    </p:spTree>
    <p:extLst>
      <p:ext uri="{BB962C8B-B14F-4D97-AF65-F5344CB8AC3E}">
        <p14:creationId xmlns:p14="http://schemas.microsoft.com/office/powerpoint/2010/main" val="13477560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
            <a:extLst xmlns:a="http://schemas.openxmlformats.org/drawingml/2006/main">
              <a:ext uri="{FF2B5EF4-FFF2-40B4-BE49-F238E27FC236}">
                <a16:creationId xmlns:a16="http://schemas.microsoft.com/office/drawing/2014/main" id="{B7671929-7DAC-4F12-865F-1D338F150B1B}"/>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El paciente y los objetivos</a:t>
            </a:r>
          </a:p>
        </p:txBody>
      </p:sp>
      <p:sp>
        <p:nvSpPr>
          <p:cNvPr id="2" name="text-6">
            <a:extLst xmlns:a="http://schemas.openxmlformats.org/drawingml/2006/main">
              <a:ext uri="{FF2B5EF4-FFF2-40B4-BE49-F238E27FC236}">
                <a16:creationId xmlns:a16="http://schemas.microsoft.com/office/drawing/2014/main" id="{4A0A0B1D-8602-4E7E-83E7-B5C4B10EC6D6}"/>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Ares, canino mestizo macho, de 9 meses en el informe inicial</a:t>
            </a:r>
          </a:p>
        </p:txBody>
      </p:sp>
      <p:sp>
        <p:nvSpPr>
          <p:cNvPr id="3" name="text-7">
            <a:extLst xmlns:a="http://schemas.openxmlformats.org/drawingml/2006/main">
              <a:ext uri="{FF2B5EF4-FFF2-40B4-BE49-F238E27FC236}">
                <a16:creationId xmlns:a16="http://schemas.microsoft.com/office/drawing/2014/main" id="{7939AA45-FBAF-4984-9889-8E681A17CCB2}"/>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2</a:t>
            </a:r>
          </a:p>
        </p:txBody>
      </p:sp>
      <p:pic>
        <p:nvPicPr>
          <p:cNvPr id="4" name="">
            <a:extLst xmlns:a="http://schemas.openxmlformats.org/drawingml/2006/main">
              <a:ext uri="{FF2B5EF4-FFF2-40B4-BE49-F238E27FC236}">
                <a16:creationId xmlns:a16="http://schemas.microsoft.com/office/drawing/2014/main" id="{54050473-D78D-4ACF-A21E-A3EBD6EC208B}"/>
              </a:ext>
            </a:extLst>
          </p:cNvPr>
          <p:cNvPicPr>
            <a:picLocks xmlns:a="http://schemas.openxmlformats.org/drawingml/2006/main" noChangeAspect="1"/>
          </p:cNvPicPr>
          <p:nvPr/>
        </p:nvPicPr>
        <p:blipFill>
          <a:blip xmlns:r="http://schemas.openxmlformats.org/officeDocument/2006/relationships" xmlns:a="http://schemas.openxmlformats.org/drawingml/2006/main" r:embed="R12ff910348a64702"/>
          <a:stretch xmlns:a="http://schemas.openxmlformats.org/drawingml/2006/main"/>
        </p:blipFill>
        <p:spPr>
          <a:xfrm xmlns:a="http://schemas.openxmlformats.org/drawingml/2006/main">
            <a:off x="1062038" y="1809750"/>
            <a:ext cx="2943225" cy="3924300"/>
          </a:xfrm>
          <a:prstGeom xmlns:a="http://schemas.openxmlformats.org/drawingml/2006/main" prst="rect">
            <a:avLst/>
          </a:prstGeom>
        </p:spPr>
      </p:pic>
      <p:sp>
        <p:nvSpPr>
          <p:cNvPr id="5" name="text-8">
            <a:extLst xmlns:a="http://schemas.openxmlformats.org/drawingml/2006/main">
              <a:ext uri="{FF2B5EF4-FFF2-40B4-BE49-F238E27FC236}">
                <a16:creationId xmlns:a16="http://schemas.microsoft.com/office/drawing/2014/main" id="{52E06038-2C51-411D-91BE-EF76594735B8}"/>
              </a:ext>
            </a:extLst>
          </p:cNvPr>
          <p:cNvSpPr>
            <a:spLocks xmlns:a="http://schemas.openxmlformats.org/drawingml/2006/main" noGrp="1"/>
          </p:cNvSpPr>
          <p:nvPr/>
        </p:nvSpPr>
        <p:spPr>
          <a:xfrm xmlns:a="http://schemas.openxmlformats.org/drawingml/2006/main">
            <a:off x="4857750" y="18097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Motivo de estudio</a:t>
            </a:r>
          </a:p>
        </p:txBody>
      </p:sp>
      <p:sp>
        <p:nvSpPr>
          <p:cNvPr id="6" name="text-9">
            <a:extLst xmlns:a="http://schemas.openxmlformats.org/drawingml/2006/main">
              <a:ext uri="{FF2B5EF4-FFF2-40B4-BE49-F238E27FC236}">
                <a16:creationId xmlns:a16="http://schemas.microsoft.com/office/drawing/2014/main" id="{18CB80E1-B86B-4BD8-AD17-BE28B4943D8A}"/>
              </a:ext>
            </a:extLst>
          </p:cNvPr>
          <p:cNvSpPr>
            <a:spLocks xmlns:a="http://schemas.openxmlformats.org/drawingml/2006/main" noGrp="1"/>
          </p:cNvSpPr>
          <p:nvPr/>
        </p:nvSpPr>
        <p:spPr>
          <a:xfrm xmlns:a="http://schemas.openxmlformats.org/drawingml/2006/main">
            <a:off x="4857750" y="2295525"/>
            <a:ext cx="666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Diarrea, hematochezia y melena referidas durante unas tres semanas. Etiología sin confirmación.</a:t>
            </a:r>
          </a:p>
        </p:txBody>
      </p:sp>
      <p:sp>
        <p:nvSpPr>
          <p:cNvPr id="7" name="text-10">
            <a:extLst xmlns:a="http://schemas.openxmlformats.org/drawingml/2006/main">
              <a:ext uri="{FF2B5EF4-FFF2-40B4-BE49-F238E27FC236}">
                <a16:creationId xmlns:a16="http://schemas.microsoft.com/office/drawing/2014/main" id="{C41A8ABD-A0D1-40A7-837F-557E1E41DD85}"/>
              </a:ext>
            </a:extLst>
          </p:cNvPr>
          <p:cNvSpPr>
            <a:spLocks xmlns:a="http://schemas.openxmlformats.org/drawingml/2006/main" noGrp="1"/>
          </p:cNvSpPr>
          <p:nvPr/>
        </p:nvSpPr>
        <p:spPr>
          <a:xfrm xmlns:a="http://schemas.openxmlformats.org/drawingml/2006/main">
            <a:off x="4857750" y="33337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Objetivo general</a:t>
            </a:r>
          </a:p>
        </p:txBody>
      </p:sp>
      <p:sp>
        <p:nvSpPr>
          <p:cNvPr id="8" name="text-11">
            <a:extLst xmlns:a="http://schemas.openxmlformats.org/drawingml/2006/main">
              <a:ext uri="{FF2B5EF4-FFF2-40B4-BE49-F238E27FC236}">
                <a16:creationId xmlns:a16="http://schemas.microsoft.com/office/drawing/2014/main" id="{486CAD38-B03B-4457-B22D-AE194C4EB002}"/>
              </a:ext>
            </a:extLst>
          </p:cNvPr>
          <p:cNvSpPr>
            <a:spLocks xmlns:a="http://schemas.openxmlformats.org/drawingml/2006/main" noGrp="1"/>
          </p:cNvSpPr>
          <p:nvPr/>
        </p:nvSpPr>
        <p:spPr>
          <a:xfrm xmlns:a="http://schemas.openxmlformats.org/drawingml/2006/main">
            <a:off x="4857750" y="3819525"/>
            <a:ext cx="666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Relacionar los hallazgos con la acción, la dosificación y la seguridad de seis principios activos.</a:t>
            </a:r>
          </a:p>
        </p:txBody>
      </p:sp>
      <p:sp>
        <p:nvSpPr>
          <p:cNvPr id="9" name="text-12">
            <a:extLst xmlns:a="http://schemas.openxmlformats.org/drawingml/2006/main">
              <a:ext uri="{FF2B5EF4-FFF2-40B4-BE49-F238E27FC236}">
                <a16:creationId xmlns:a16="http://schemas.microsoft.com/office/drawing/2014/main" id="{1D381010-FB80-439C-921A-D35BE077092C}"/>
              </a:ext>
            </a:extLst>
          </p:cNvPr>
          <p:cNvSpPr>
            <a:spLocks xmlns:a="http://schemas.openxmlformats.org/drawingml/2006/main" noGrp="1"/>
          </p:cNvSpPr>
          <p:nvPr/>
        </p:nvSpPr>
        <p:spPr>
          <a:xfrm xmlns:a="http://schemas.openxmlformats.org/drawingml/2006/main">
            <a:off x="4857750" y="504825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226C9C"/>
                </a:solidFill>
                <a:latin typeface="Times New Roman"/>
                <a:ea typeface="Times New Roman"/>
                <a:cs typeface="Times New Roman"/>
              </a:defRPr>
            </a:defPPr>
            <a:lvl1pPr algn="l">
              <a:defRPr sz="2100" b="1">
                <a:solidFill>
                  <a:srgbClr val="226C9C"/>
                </a:solidFill>
                <a:latin typeface="Times New Roman"/>
                <a:ea typeface="Times New Roman"/>
                <a:cs typeface="Times New Roman"/>
              </a:defRPr>
            </a:lvl1pPr>
            <a:lvl2pPr algn="l">
              <a:defRPr sz="2100" b="1">
                <a:solidFill>
                  <a:srgbClr val="226C9C"/>
                </a:solidFill>
                <a:latin typeface="Times New Roman"/>
                <a:ea typeface="Times New Roman"/>
                <a:cs typeface="Times New Roman"/>
              </a:defRPr>
            </a:lvl2pPr>
            <a:lvl3pPr algn="l">
              <a:defRPr sz="2100" b="1">
                <a:solidFill>
                  <a:srgbClr val="226C9C"/>
                </a:solidFill>
                <a:latin typeface="Times New Roman"/>
                <a:ea typeface="Times New Roman"/>
                <a:cs typeface="Times New Roman"/>
              </a:defRPr>
            </a:lvl3pPr>
            <a:lvl4pPr algn="l">
              <a:defRPr sz="2100" b="1">
                <a:solidFill>
                  <a:srgbClr val="226C9C"/>
                </a:solidFill>
                <a:latin typeface="Times New Roman"/>
                <a:ea typeface="Times New Roman"/>
                <a:cs typeface="Times New Roman"/>
              </a:defRPr>
            </a:lvl4pPr>
            <a:lvl5pPr algn="l">
              <a:defRPr sz="2100" b="1">
                <a:solidFill>
                  <a:srgbClr val="226C9C"/>
                </a:solidFill>
                <a:latin typeface="Times New Roman"/>
                <a:ea typeface="Times New Roman"/>
                <a:cs typeface="Times New Roman"/>
              </a:defRPr>
            </a:lvl5pPr>
            <a:lvl6pPr algn="l">
              <a:defRPr sz="2100" b="1">
                <a:solidFill>
                  <a:srgbClr val="226C9C"/>
                </a:solidFill>
                <a:latin typeface="Times New Roman"/>
                <a:ea typeface="Times New Roman"/>
                <a:cs typeface="Times New Roman"/>
              </a:defRPr>
            </a:lvl6pPr>
            <a:lvl7pPr algn="l">
              <a:defRPr sz="2100" b="1">
                <a:solidFill>
                  <a:srgbClr val="226C9C"/>
                </a:solidFill>
                <a:latin typeface="Times New Roman"/>
                <a:ea typeface="Times New Roman"/>
                <a:cs typeface="Times New Roman"/>
              </a:defRPr>
            </a:lvl7pPr>
            <a:lvl8pPr algn="l">
              <a:defRPr sz="2100" b="1">
                <a:solidFill>
                  <a:srgbClr val="226C9C"/>
                </a:solidFill>
                <a:latin typeface="Times New Roman"/>
                <a:ea typeface="Times New Roman"/>
                <a:cs typeface="Times New Roman"/>
              </a:defRPr>
            </a:lvl8pPr>
            <a:lvl9pPr algn="l">
              <a:defRPr sz="2100" b="1">
                <a:solidFill>
                  <a:srgbClr val="226C9C"/>
                </a:solidFill>
                <a:latin typeface="Times New Roman"/>
                <a:ea typeface="Times New Roman"/>
                <a:cs typeface="Times New Roman"/>
              </a:defRPr>
            </a:lvl9pPr>
          </a:lstStyle>
          <a:p xmlns:a="http://schemas.openxmlformats.org/drawingml/2006/main">
            <a:pPr algn="l">
              <a:defRPr sz="2100" b="1">
                <a:solidFill>
                  <a:srgbClr val="226C9C"/>
                </a:solidFill>
                <a:latin typeface="Times New Roman"/>
                <a:ea typeface="Times New Roman"/>
                <a:cs typeface="Times New Roman"/>
              </a:defRPr>
            </a:pPr>
            <a:r>
              <a:rPr sz="2100" b="1">
                <a:solidFill>
                  <a:srgbClr val="226C9C"/>
                </a:solidFill>
                <a:latin typeface="Times New Roman"/>
                <a:ea typeface="Times New Roman"/>
                <a:cs typeface="Times New Roman"/>
              </a:rPr>
              <a:t>Historia fotografiada: 38,8 °C · FC 120/min</a:t>
            </a:r>
          </a:p>
          <a:p xmlns:a="http://schemas.openxmlformats.org/drawingml/2006/main">
            <a:pPr algn="l">
              <a:defRPr sz="2100" b="1">
                <a:solidFill>
                  <a:srgbClr val="226C9C"/>
                </a:solidFill>
                <a:latin typeface="Times New Roman"/>
                <a:ea typeface="Times New Roman"/>
                <a:cs typeface="Times New Roman"/>
              </a:defRPr>
            </a:pPr>
            <a:r>
              <a:rPr sz="2100" b="1">
                <a:solidFill>
                  <a:srgbClr val="226C9C"/>
                </a:solidFill>
                <a:latin typeface="Times New Roman"/>
                <a:ea typeface="Times New Roman"/>
                <a:cs typeface="Times New Roman"/>
              </a:rPr>
              <a:t>FR 39/min · TLLC 2 s · Fecha no legible</a:t>
            </a:r>
          </a:p>
        </p:txBody>
      </p:sp>
    </p:spTree>
    <p:extLst>
      <p:ext uri="{BB962C8B-B14F-4D97-AF65-F5344CB8AC3E}">
        <p14:creationId xmlns:p14="http://schemas.microsoft.com/office/powerpoint/2010/main" val="13583966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3">
            <a:extLst xmlns:a="http://schemas.openxmlformats.org/drawingml/2006/main">
              <a:ext uri="{FF2B5EF4-FFF2-40B4-BE49-F238E27FC236}">
                <a16:creationId xmlns:a16="http://schemas.microsoft.com/office/drawing/2014/main" id="{1D626D38-6487-4813-A936-7D626273833B}"/>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Tres aspectos de las heces antes del tratamiento</a:t>
            </a:r>
          </a:p>
        </p:txBody>
      </p:sp>
      <p:sp>
        <p:nvSpPr>
          <p:cNvPr id="2" name="text-14">
            <a:extLst xmlns:a="http://schemas.openxmlformats.org/drawingml/2006/main">
              <a:ext uri="{FF2B5EF4-FFF2-40B4-BE49-F238E27FC236}">
                <a16:creationId xmlns:a16="http://schemas.microsoft.com/office/drawing/2014/main" id="{E0DFD3B9-3E20-4DAB-993A-6909D1A1B935}"/>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Las tres fotografías pertenecen al periodo previo a la revisión y al tratamiento</a:t>
            </a:r>
          </a:p>
        </p:txBody>
      </p:sp>
      <p:sp>
        <p:nvSpPr>
          <p:cNvPr id="3" name="text-15">
            <a:extLst xmlns:a="http://schemas.openxmlformats.org/drawingml/2006/main">
              <a:ext uri="{FF2B5EF4-FFF2-40B4-BE49-F238E27FC236}">
                <a16:creationId xmlns:a16="http://schemas.microsoft.com/office/drawing/2014/main" id="{F022A10E-3972-47AC-99FA-FB061AF5F2C1}"/>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3</a:t>
            </a:r>
          </a:p>
        </p:txBody>
      </p:sp>
      <p:pic>
        <p:nvPicPr>
          <p:cNvPr id="4" name="">
            <a:extLst xmlns:a="http://schemas.openxmlformats.org/drawingml/2006/main">
              <a:ext uri="{FF2B5EF4-FFF2-40B4-BE49-F238E27FC236}">
                <a16:creationId xmlns:a16="http://schemas.microsoft.com/office/drawing/2014/main" id="{28B7C962-DB53-48B9-998D-A7382A69288E}"/>
              </a:ext>
            </a:extLst>
          </p:cNvPr>
          <p:cNvPicPr>
            <a:picLocks xmlns:a="http://schemas.openxmlformats.org/drawingml/2006/main" noChangeAspect="1"/>
          </p:cNvPicPr>
          <p:nvPr/>
        </p:nvPicPr>
        <p:blipFill>
          <a:blip xmlns:r="http://schemas.openxmlformats.org/officeDocument/2006/relationships" xmlns:a="http://schemas.openxmlformats.org/drawingml/2006/main" r:embed="Rc52a3c4bebbe48ed"/>
          <a:stretch xmlns:a="http://schemas.openxmlformats.org/drawingml/2006/main"/>
        </p:blipFill>
        <p:spPr>
          <a:xfrm xmlns:a="http://schemas.openxmlformats.org/drawingml/2006/main">
            <a:off x="628650" y="2025997"/>
            <a:ext cx="3476625" cy="2672655"/>
          </a:xfrm>
          <a:prstGeom xmlns:a="http://schemas.openxmlformats.org/drawingml/2006/main" prst="rect">
            <a:avLst/>
          </a:prstGeom>
        </p:spPr>
      </p:pic>
      <p:sp>
        <p:nvSpPr>
          <p:cNvPr id="5" name="text-16">
            <a:extLst xmlns:a="http://schemas.openxmlformats.org/drawingml/2006/main">
              <a:ext uri="{FF2B5EF4-FFF2-40B4-BE49-F238E27FC236}">
                <a16:creationId xmlns:a16="http://schemas.microsoft.com/office/drawing/2014/main" id="{7EE6AAEE-D468-4CD2-A22E-4AB1E12C67E3}"/>
              </a:ext>
            </a:extLst>
          </p:cNvPr>
          <p:cNvSpPr>
            <a:spLocks xmlns:a="http://schemas.openxmlformats.org/drawingml/2006/main" noGrp="1"/>
          </p:cNvSpPr>
          <p:nvPr/>
        </p:nvSpPr>
        <p:spPr>
          <a:xfrm xmlns:a="http://schemas.openxmlformats.org/drawingml/2006/main">
            <a:off x="628650" y="5019675"/>
            <a:ext cx="3476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253A"/>
                </a:solidFill>
                <a:latin typeface="Times New Roman"/>
                <a:ea typeface="Times New Roman"/>
                <a:cs typeface="Times New Roman"/>
              </a:defRPr>
            </a:defPPr>
            <a:lvl1pPr algn="l">
              <a:defRPr sz="1875" b="1">
                <a:solidFill>
                  <a:srgbClr val="15253A"/>
                </a:solidFill>
                <a:latin typeface="Times New Roman"/>
                <a:ea typeface="Times New Roman"/>
                <a:cs typeface="Times New Roman"/>
              </a:defRPr>
            </a:lvl1pPr>
            <a:lvl2pPr algn="l">
              <a:defRPr sz="1875" b="1">
                <a:solidFill>
                  <a:srgbClr val="15253A"/>
                </a:solidFill>
                <a:latin typeface="Times New Roman"/>
                <a:ea typeface="Times New Roman"/>
                <a:cs typeface="Times New Roman"/>
              </a:defRPr>
            </a:lvl2pPr>
            <a:lvl3pPr algn="l">
              <a:defRPr sz="1875" b="1">
                <a:solidFill>
                  <a:srgbClr val="15253A"/>
                </a:solidFill>
                <a:latin typeface="Times New Roman"/>
                <a:ea typeface="Times New Roman"/>
                <a:cs typeface="Times New Roman"/>
              </a:defRPr>
            </a:lvl3pPr>
            <a:lvl4pPr algn="l">
              <a:defRPr sz="1875" b="1">
                <a:solidFill>
                  <a:srgbClr val="15253A"/>
                </a:solidFill>
                <a:latin typeface="Times New Roman"/>
                <a:ea typeface="Times New Roman"/>
                <a:cs typeface="Times New Roman"/>
              </a:defRPr>
            </a:lvl4pPr>
            <a:lvl5pPr algn="l">
              <a:defRPr sz="1875" b="1">
                <a:solidFill>
                  <a:srgbClr val="15253A"/>
                </a:solidFill>
                <a:latin typeface="Times New Roman"/>
                <a:ea typeface="Times New Roman"/>
                <a:cs typeface="Times New Roman"/>
              </a:defRPr>
            </a:lvl5pPr>
            <a:lvl6pPr algn="l">
              <a:defRPr sz="1875" b="1">
                <a:solidFill>
                  <a:srgbClr val="15253A"/>
                </a:solidFill>
                <a:latin typeface="Times New Roman"/>
                <a:ea typeface="Times New Roman"/>
                <a:cs typeface="Times New Roman"/>
              </a:defRPr>
            </a:lvl6pPr>
            <a:lvl7pPr algn="l">
              <a:defRPr sz="1875" b="1">
                <a:solidFill>
                  <a:srgbClr val="15253A"/>
                </a:solidFill>
                <a:latin typeface="Times New Roman"/>
                <a:ea typeface="Times New Roman"/>
                <a:cs typeface="Times New Roman"/>
              </a:defRPr>
            </a:lvl7pPr>
            <a:lvl8pPr algn="l">
              <a:defRPr sz="1875" b="1">
                <a:solidFill>
                  <a:srgbClr val="15253A"/>
                </a:solidFill>
                <a:latin typeface="Times New Roman"/>
                <a:ea typeface="Times New Roman"/>
                <a:cs typeface="Times New Roman"/>
              </a:defRPr>
            </a:lvl8pPr>
            <a:lvl9pPr algn="l">
              <a:defRPr sz="1875" b="1">
                <a:solidFill>
                  <a:srgbClr val="15253A"/>
                </a:solidFill>
                <a:latin typeface="Times New Roman"/>
                <a:ea typeface="Times New Roman"/>
                <a:cs typeface="Times New Roman"/>
              </a:defRPr>
            </a:lvl9pPr>
          </a:lstStyle>
          <a:p xmlns:a="http://schemas.openxmlformats.org/drawingml/2006/main">
            <a:pPr algn="l">
              <a:defRPr sz="1875" b="1">
                <a:solidFill>
                  <a:srgbClr val="15253A"/>
                </a:solidFill>
                <a:latin typeface="Times New Roman"/>
                <a:ea typeface="Times New Roman"/>
                <a:cs typeface="Times New Roman"/>
              </a:defRPr>
            </a:pPr>
            <a:r>
              <a:rPr sz="1875" b="1">
                <a:solidFill>
                  <a:srgbClr val="15253A"/>
                </a:solidFill>
                <a:latin typeface="Times New Roman"/>
                <a:ea typeface="Times New Roman"/>
                <a:cs typeface="Times New Roman"/>
              </a:rPr>
              <a:t>Oscura, pastosa y poco formada</a:t>
            </a:r>
          </a:p>
        </p:txBody>
      </p:sp>
      <p:pic>
        <p:nvPicPr>
          <p:cNvPr id="6" name="">
            <a:extLst xmlns:a="http://schemas.openxmlformats.org/drawingml/2006/main">
              <a:ext uri="{FF2B5EF4-FFF2-40B4-BE49-F238E27FC236}">
                <a16:creationId xmlns:a16="http://schemas.microsoft.com/office/drawing/2014/main" id="{081B1703-4DD8-473C-B755-1270E3067D27}"/>
              </a:ext>
            </a:extLst>
          </p:cNvPr>
          <p:cNvPicPr>
            <a:picLocks xmlns:a="http://schemas.openxmlformats.org/drawingml/2006/main" noChangeAspect="1"/>
          </p:cNvPicPr>
          <p:nvPr/>
        </p:nvPicPr>
        <p:blipFill>
          <a:blip xmlns:r="http://schemas.openxmlformats.org/officeDocument/2006/relationships" xmlns:a="http://schemas.openxmlformats.org/drawingml/2006/main" r:embed="R1197f02c17e34ed4"/>
          <a:stretch xmlns:a="http://schemas.openxmlformats.org/drawingml/2006/main"/>
        </p:blipFill>
        <p:spPr>
          <a:xfrm xmlns:a="http://schemas.openxmlformats.org/drawingml/2006/main">
            <a:off x="4532878" y="1838325"/>
            <a:ext cx="3135770" cy="3048000"/>
          </a:xfrm>
          <a:prstGeom xmlns:a="http://schemas.openxmlformats.org/drawingml/2006/main" prst="rect">
            <a:avLst/>
          </a:prstGeom>
        </p:spPr>
      </p:pic>
      <p:sp>
        <p:nvSpPr>
          <p:cNvPr id="7" name="text-17">
            <a:extLst xmlns:a="http://schemas.openxmlformats.org/drawingml/2006/main">
              <a:ext uri="{FF2B5EF4-FFF2-40B4-BE49-F238E27FC236}">
                <a16:creationId xmlns:a16="http://schemas.microsoft.com/office/drawing/2014/main" id="{3F6217EF-064C-4BC7-97EC-B2228F9FE0E3}"/>
              </a:ext>
            </a:extLst>
          </p:cNvPr>
          <p:cNvSpPr>
            <a:spLocks xmlns:a="http://schemas.openxmlformats.org/drawingml/2006/main" noGrp="1"/>
          </p:cNvSpPr>
          <p:nvPr/>
        </p:nvSpPr>
        <p:spPr>
          <a:xfrm xmlns:a="http://schemas.openxmlformats.org/drawingml/2006/main">
            <a:off x="4362450" y="5019675"/>
            <a:ext cx="3476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253A"/>
                </a:solidFill>
                <a:latin typeface="Times New Roman"/>
                <a:ea typeface="Times New Roman"/>
                <a:cs typeface="Times New Roman"/>
              </a:defRPr>
            </a:defPPr>
            <a:lvl1pPr algn="l">
              <a:defRPr sz="1875" b="1">
                <a:solidFill>
                  <a:srgbClr val="15253A"/>
                </a:solidFill>
                <a:latin typeface="Times New Roman"/>
                <a:ea typeface="Times New Roman"/>
                <a:cs typeface="Times New Roman"/>
              </a:defRPr>
            </a:lvl1pPr>
            <a:lvl2pPr algn="l">
              <a:defRPr sz="1875" b="1">
                <a:solidFill>
                  <a:srgbClr val="15253A"/>
                </a:solidFill>
                <a:latin typeface="Times New Roman"/>
                <a:ea typeface="Times New Roman"/>
                <a:cs typeface="Times New Roman"/>
              </a:defRPr>
            </a:lvl2pPr>
            <a:lvl3pPr algn="l">
              <a:defRPr sz="1875" b="1">
                <a:solidFill>
                  <a:srgbClr val="15253A"/>
                </a:solidFill>
                <a:latin typeface="Times New Roman"/>
                <a:ea typeface="Times New Roman"/>
                <a:cs typeface="Times New Roman"/>
              </a:defRPr>
            </a:lvl3pPr>
            <a:lvl4pPr algn="l">
              <a:defRPr sz="1875" b="1">
                <a:solidFill>
                  <a:srgbClr val="15253A"/>
                </a:solidFill>
                <a:latin typeface="Times New Roman"/>
                <a:ea typeface="Times New Roman"/>
                <a:cs typeface="Times New Roman"/>
              </a:defRPr>
            </a:lvl4pPr>
            <a:lvl5pPr algn="l">
              <a:defRPr sz="1875" b="1">
                <a:solidFill>
                  <a:srgbClr val="15253A"/>
                </a:solidFill>
                <a:latin typeface="Times New Roman"/>
                <a:ea typeface="Times New Roman"/>
                <a:cs typeface="Times New Roman"/>
              </a:defRPr>
            </a:lvl5pPr>
            <a:lvl6pPr algn="l">
              <a:defRPr sz="1875" b="1">
                <a:solidFill>
                  <a:srgbClr val="15253A"/>
                </a:solidFill>
                <a:latin typeface="Times New Roman"/>
                <a:ea typeface="Times New Roman"/>
                <a:cs typeface="Times New Roman"/>
              </a:defRPr>
            </a:lvl6pPr>
            <a:lvl7pPr algn="l">
              <a:defRPr sz="1875" b="1">
                <a:solidFill>
                  <a:srgbClr val="15253A"/>
                </a:solidFill>
                <a:latin typeface="Times New Roman"/>
                <a:ea typeface="Times New Roman"/>
                <a:cs typeface="Times New Roman"/>
              </a:defRPr>
            </a:lvl7pPr>
            <a:lvl8pPr algn="l">
              <a:defRPr sz="1875" b="1">
                <a:solidFill>
                  <a:srgbClr val="15253A"/>
                </a:solidFill>
                <a:latin typeface="Times New Roman"/>
                <a:ea typeface="Times New Roman"/>
                <a:cs typeface="Times New Roman"/>
              </a:defRPr>
            </a:lvl8pPr>
            <a:lvl9pPr algn="l">
              <a:defRPr sz="1875" b="1">
                <a:solidFill>
                  <a:srgbClr val="15253A"/>
                </a:solidFill>
                <a:latin typeface="Times New Roman"/>
                <a:ea typeface="Times New Roman"/>
                <a:cs typeface="Times New Roman"/>
              </a:defRPr>
            </a:lvl9pPr>
          </a:lstStyle>
          <a:p xmlns:a="http://schemas.openxmlformats.org/drawingml/2006/main">
            <a:pPr algn="l">
              <a:defRPr sz="1875" b="1">
                <a:solidFill>
                  <a:srgbClr val="15253A"/>
                </a:solidFill>
                <a:latin typeface="Times New Roman"/>
                <a:ea typeface="Times New Roman"/>
                <a:cs typeface="Times New Roman"/>
              </a:defRPr>
            </a:pPr>
            <a:r>
              <a:rPr sz="1875" b="1">
                <a:solidFill>
                  <a:srgbClr val="15253A"/>
                </a:solidFill>
                <a:latin typeface="Times New Roman"/>
                <a:ea typeface="Times New Roman"/>
                <a:cs typeface="Times New Roman"/>
              </a:rPr>
              <a:t>Material semilíquido con tonalidad</a:t>
            </a:r>
          </a:p>
          <a:p xmlns:a="http://schemas.openxmlformats.org/drawingml/2006/main">
            <a:pPr algn="l">
              <a:defRPr sz="1875" b="1">
                <a:solidFill>
                  <a:srgbClr val="15253A"/>
                </a:solidFill>
                <a:latin typeface="Times New Roman"/>
                <a:ea typeface="Times New Roman"/>
                <a:cs typeface="Times New Roman"/>
              </a:defRPr>
            </a:pPr>
            <a:r>
              <a:rPr sz="1875" b="1">
                <a:solidFill>
                  <a:srgbClr val="15253A"/>
                </a:solidFill>
                <a:latin typeface="Times New Roman"/>
                <a:ea typeface="Times New Roman"/>
                <a:cs typeface="Times New Roman"/>
              </a:rPr>
              <a:t>rojiza y amarillenta</a:t>
            </a:r>
          </a:p>
        </p:txBody>
      </p:sp>
      <p:pic>
        <p:nvPicPr>
          <p:cNvPr id="8" name="">
            <a:extLst xmlns:a="http://schemas.openxmlformats.org/drawingml/2006/main">
              <a:ext uri="{FF2B5EF4-FFF2-40B4-BE49-F238E27FC236}">
                <a16:creationId xmlns:a16="http://schemas.microsoft.com/office/drawing/2014/main" id="{2526CFA9-1D7E-411D-8FA3-BBB496E7E097}"/>
              </a:ext>
            </a:extLst>
          </p:cNvPr>
          <p:cNvPicPr>
            <a:picLocks xmlns:a="http://schemas.openxmlformats.org/drawingml/2006/main" noChangeAspect="1"/>
          </p:cNvPicPr>
          <p:nvPr/>
        </p:nvPicPr>
        <p:blipFill>
          <a:blip xmlns:r="http://schemas.openxmlformats.org/officeDocument/2006/relationships" xmlns:a="http://schemas.openxmlformats.org/drawingml/2006/main" r:embed="R28635751bc4b48ba"/>
          <a:stretch xmlns:a="http://schemas.openxmlformats.org/drawingml/2006/main"/>
        </p:blipFill>
        <p:spPr>
          <a:xfrm xmlns:a="http://schemas.openxmlformats.org/drawingml/2006/main">
            <a:off x="8482013" y="1838325"/>
            <a:ext cx="2705100" cy="3048000"/>
          </a:xfrm>
          <a:prstGeom xmlns:a="http://schemas.openxmlformats.org/drawingml/2006/main" prst="rect">
            <a:avLst/>
          </a:prstGeom>
        </p:spPr>
      </p:pic>
      <p:sp>
        <p:nvSpPr>
          <p:cNvPr id="9" name="text-18">
            <a:extLst xmlns:a="http://schemas.openxmlformats.org/drawingml/2006/main">
              <a:ext uri="{FF2B5EF4-FFF2-40B4-BE49-F238E27FC236}">
                <a16:creationId xmlns:a16="http://schemas.microsoft.com/office/drawing/2014/main" id="{263CFD07-6DAF-4FF7-8888-7FEB6F5B18F7}"/>
              </a:ext>
            </a:extLst>
          </p:cNvPr>
          <p:cNvSpPr>
            <a:spLocks xmlns:a="http://schemas.openxmlformats.org/drawingml/2006/main" noGrp="1"/>
          </p:cNvSpPr>
          <p:nvPr/>
        </p:nvSpPr>
        <p:spPr>
          <a:xfrm xmlns:a="http://schemas.openxmlformats.org/drawingml/2006/main">
            <a:off x="8096250" y="5019675"/>
            <a:ext cx="3476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253A"/>
                </a:solidFill>
                <a:latin typeface="Times New Roman"/>
                <a:ea typeface="Times New Roman"/>
                <a:cs typeface="Times New Roman"/>
              </a:defRPr>
            </a:defPPr>
            <a:lvl1pPr algn="l">
              <a:defRPr sz="1875" b="1">
                <a:solidFill>
                  <a:srgbClr val="15253A"/>
                </a:solidFill>
                <a:latin typeface="Times New Roman"/>
                <a:ea typeface="Times New Roman"/>
                <a:cs typeface="Times New Roman"/>
              </a:defRPr>
            </a:lvl1pPr>
            <a:lvl2pPr algn="l">
              <a:defRPr sz="1875" b="1">
                <a:solidFill>
                  <a:srgbClr val="15253A"/>
                </a:solidFill>
                <a:latin typeface="Times New Roman"/>
                <a:ea typeface="Times New Roman"/>
                <a:cs typeface="Times New Roman"/>
              </a:defRPr>
            </a:lvl2pPr>
            <a:lvl3pPr algn="l">
              <a:defRPr sz="1875" b="1">
                <a:solidFill>
                  <a:srgbClr val="15253A"/>
                </a:solidFill>
                <a:latin typeface="Times New Roman"/>
                <a:ea typeface="Times New Roman"/>
                <a:cs typeface="Times New Roman"/>
              </a:defRPr>
            </a:lvl3pPr>
            <a:lvl4pPr algn="l">
              <a:defRPr sz="1875" b="1">
                <a:solidFill>
                  <a:srgbClr val="15253A"/>
                </a:solidFill>
                <a:latin typeface="Times New Roman"/>
                <a:ea typeface="Times New Roman"/>
                <a:cs typeface="Times New Roman"/>
              </a:defRPr>
            </a:lvl4pPr>
            <a:lvl5pPr algn="l">
              <a:defRPr sz="1875" b="1">
                <a:solidFill>
                  <a:srgbClr val="15253A"/>
                </a:solidFill>
                <a:latin typeface="Times New Roman"/>
                <a:ea typeface="Times New Roman"/>
                <a:cs typeface="Times New Roman"/>
              </a:defRPr>
            </a:lvl5pPr>
            <a:lvl6pPr algn="l">
              <a:defRPr sz="1875" b="1">
                <a:solidFill>
                  <a:srgbClr val="15253A"/>
                </a:solidFill>
                <a:latin typeface="Times New Roman"/>
                <a:ea typeface="Times New Roman"/>
                <a:cs typeface="Times New Roman"/>
              </a:defRPr>
            </a:lvl6pPr>
            <a:lvl7pPr algn="l">
              <a:defRPr sz="1875" b="1">
                <a:solidFill>
                  <a:srgbClr val="15253A"/>
                </a:solidFill>
                <a:latin typeface="Times New Roman"/>
                <a:ea typeface="Times New Roman"/>
                <a:cs typeface="Times New Roman"/>
              </a:defRPr>
            </a:lvl7pPr>
            <a:lvl8pPr algn="l">
              <a:defRPr sz="1875" b="1">
                <a:solidFill>
                  <a:srgbClr val="15253A"/>
                </a:solidFill>
                <a:latin typeface="Times New Roman"/>
                <a:ea typeface="Times New Roman"/>
                <a:cs typeface="Times New Roman"/>
              </a:defRPr>
            </a:lvl8pPr>
            <a:lvl9pPr algn="l">
              <a:defRPr sz="1875" b="1">
                <a:solidFill>
                  <a:srgbClr val="15253A"/>
                </a:solidFill>
                <a:latin typeface="Times New Roman"/>
                <a:ea typeface="Times New Roman"/>
                <a:cs typeface="Times New Roman"/>
              </a:defRPr>
            </a:lvl9pPr>
          </a:lstStyle>
          <a:p xmlns:a="http://schemas.openxmlformats.org/drawingml/2006/main">
            <a:pPr algn="l">
              <a:defRPr sz="1875" b="1">
                <a:solidFill>
                  <a:srgbClr val="15253A"/>
                </a:solidFill>
                <a:latin typeface="Times New Roman"/>
                <a:ea typeface="Times New Roman"/>
                <a:cs typeface="Times New Roman"/>
              </a:defRPr>
            </a:pPr>
            <a:r>
              <a:rPr sz="1875" b="1">
                <a:solidFill>
                  <a:srgbClr val="15253A"/>
                </a:solidFill>
                <a:latin typeface="Times New Roman"/>
                <a:ea typeface="Times New Roman"/>
                <a:cs typeface="Times New Roman"/>
              </a:rPr>
              <a:t>Porciones formadas de color</a:t>
            </a:r>
          </a:p>
          <a:p xmlns:a="http://schemas.openxmlformats.org/drawingml/2006/main">
            <a:pPr algn="l">
              <a:defRPr sz="1875" b="1">
                <a:solidFill>
                  <a:srgbClr val="15253A"/>
                </a:solidFill>
                <a:latin typeface="Times New Roman"/>
                <a:ea typeface="Times New Roman"/>
                <a:cs typeface="Times New Roman"/>
              </a:defRPr>
            </a:pPr>
            <a:r>
              <a:rPr sz="1875" b="1">
                <a:solidFill>
                  <a:srgbClr val="15253A"/>
                </a:solidFill>
                <a:latin typeface="Times New Roman"/>
                <a:ea typeface="Times New Roman"/>
                <a:cs typeface="Times New Roman"/>
              </a:rPr>
              <a:t>marrón y oscuro</a:t>
            </a:r>
          </a:p>
        </p:txBody>
      </p:sp>
      <p:sp>
        <p:nvSpPr>
          <p:cNvPr id="10" name="text-19">
            <a:extLst xmlns:a="http://schemas.openxmlformats.org/drawingml/2006/main">
              <a:ext uri="{FF2B5EF4-FFF2-40B4-BE49-F238E27FC236}">
                <a16:creationId xmlns:a16="http://schemas.microsoft.com/office/drawing/2014/main" id="{9A59832A-5DCA-4F1D-B7CD-07587379E52F}"/>
              </a:ext>
            </a:extLst>
          </p:cNvPr>
          <p:cNvSpPr>
            <a:spLocks xmlns:a="http://schemas.openxmlformats.org/drawingml/2006/main" noGrp="1"/>
          </p:cNvSpPr>
          <p:nvPr/>
        </p:nvSpPr>
        <p:spPr>
          <a:xfrm xmlns:a="http://schemas.openxmlformats.org/drawingml/2006/main">
            <a:off x="628650" y="5943600"/>
            <a:ext cx="1062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9E4D35"/>
                </a:solidFill>
                <a:latin typeface="Times New Roman"/>
                <a:ea typeface="Times New Roman"/>
                <a:cs typeface="Times New Roman"/>
              </a:defRPr>
            </a:defPPr>
            <a:lvl1pPr algn="l">
              <a:defRPr sz="1800" b="0">
                <a:solidFill>
                  <a:srgbClr val="9E4D35"/>
                </a:solidFill>
                <a:latin typeface="Times New Roman"/>
                <a:ea typeface="Times New Roman"/>
                <a:cs typeface="Times New Roman"/>
              </a:defRPr>
            </a:lvl1pPr>
            <a:lvl2pPr algn="l">
              <a:defRPr sz="1800" b="0">
                <a:solidFill>
                  <a:srgbClr val="9E4D35"/>
                </a:solidFill>
                <a:latin typeface="Times New Roman"/>
                <a:ea typeface="Times New Roman"/>
                <a:cs typeface="Times New Roman"/>
              </a:defRPr>
            </a:lvl2pPr>
            <a:lvl3pPr algn="l">
              <a:defRPr sz="1800" b="0">
                <a:solidFill>
                  <a:srgbClr val="9E4D35"/>
                </a:solidFill>
                <a:latin typeface="Times New Roman"/>
                <a:ea typeface="Times New Roman"/>
                <a:cs typeface="Times New Roman"/>
              </a:defRPr>
            </a:lvl3pPr>
            <a:lvl4pPr algn="l">
              <a:defRPr sz="1800" b="0">
                <a:solidFill>
                  <a:srgbClr val="9E4D35"/>
                </a:solidFill>
                <a:latin typeface="Times New Roman"/>
                <a:ea typeface="Times New Roman"/>
                <a:cs typeface="Times New Roman"/>
              </a:defRPr>
            </a:lvl4pPr>
            <a:lvl5pPr algn="l">
              <a:defRPr sz="1800" b="0">
                <a:solidFill>
                  <a:srgbClr val="9E4D35"/>
                </a:solidFill>
                <a:latin typeface="Times New Roman"/>
                <a:ea typeface="Times New Roman"/>
                <a:cs typeface="Times New Roman"/>
              </a:defRPr>
            </a:lvl5pPr>
            <a:lvl6pPr algn="l">
              <a:defRPr sz="1800" b="0">
                <a:solidFill>
                  <a:srgbClr val="9E4D35"/>
                </a:solidFill>
                <a:latin typeface="Times New Roman"/>
                <a:ea typeface="Times New Roman"/>
                <a:cs typeface="Times New Roman"/>
              </a:defRPr>
            </a:lvl6pPr>
            <a:lvl7pPr algn="l">
              <a:defRPr sz="1800" b="0">
                <a:solidFill>
                  <a:srgbClr val="9E4D35"/>
                </a:solidFill>
                <a:latin typeface="Times New Roman"/>
                <a:ea typeface="Times New Roman"/>
                <a:cs typeface="Times New Roman"/>
              </a:defRPr>
            </a:lvl7pPr>
            <a:lvl8pPr algn="l">
              <a:defRPr sz="1800" b="0">
                <a:solidFill>
                  <a:srgbClr val="9E4D35"/>
                </a:solidFill>
                <a:latin typeface="Times New Roman"/>
                <a:ea typeface="Times New Roman"/>
                <a:cs typeface="Times New Roman"/>
              </a:defRPr>
            </a:lvl8pPr>
            <a:lvl9pPr algn="l">
              <a:defRPr sz="1800" b="0">
                <a:solidFill>
                  <a:srgbClr val="9E4D35"/>
                </a:solidFill>
                <a:latin typeface="Times New Roman"/>
                <a:ea typeface="Times New Roman"/>
                <a:cs typeface="Times New Roman"/>
              </a:defRPr>
            </a:lvl9pPr>
          </a:lstStyle>
          <a:p xmlns:a="http://schemas.openxmlformats.org/drawingml/2006/main">
            <a:pPr algn="l">
              <a:defRPr sz="1800" b="0">
                <a:solidFill>
                  <a:srgbClr val="9E4D35"/>
                </a:solidFill>
                <a:latin typeface="Times New Roman"/>
                <a:ea typeface="Times New Roman"/>
                <a:cs typeface="Times New Roman"/>
              </a:defRPr>
            </a:pPr>
            <a:r>
              <a:rPr sz="1800" b="0">
                <a:solidFill>
                  <a:srgbClr val="9E4D35"/>
                </a:solidFill>
                <a:latin typeface="Times New Roman"/>
                <a:ea typeface="Times New Roman"/>
                <a:cs typeface="Times New Roman"/>
              </a:rPr>
              <a:t>El color y la consistencia orientan la descripción. La fotografía no identifica el agente causal.</a:t>
            </a:r>
          </a:p>
        </p:txBody>
      </p:sp>
    </p:spTree>
    <p:extLst>
      <p:ext uri="{BB962C8B-B14F-4D97-AF65-F5344CB8AC3E}">
        <p14:creationId xmlns:p14="http://schemas.microsoft.com/office/powerpoint/2010/main" val="17539199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0">
            <a:extLst xmlns:a="http://schemas.openxmlformats.org/drawingml/2006/main">
              <a:ext uri="{FF2B5EF4-FFF2-40B4-BE49-F238E27FC236}">
                <a16:creationId xmlns:a16="http://schemas.microsoft.com/office/drawing/2014/main" id="{22A52609-E325-4A08-BA31-C104CDF96772}"/>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Laboratorio inicial</a:t>
            </a:r>
          </a:p>
        </p:txBody>
      </p:sp>
      <p:sp>
        <p:nvSpPr>
          <p:cNvPr id="2" name="text-21">
            <a:extLst xmlns:a="http://schemas.openxmlformats.org/drawingml/2006/main">
              <a:ext uri="{FF2B5EF4-FFF2-40B4-BE49-F238E27FC236}">
                <a16:creationId xmlns:a16="http://schemas.microsoft.com/office/drawing/2014/main" id="{75881204-DEA6-437F-8613-2C08FAE636D0}"/>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Muestra del 24 de septiembre de 2026 · Informe 028675 del 25 de septiembre</a:t>
            </a:r>
          </a:p>
        </p:txBody>
      </p:sp>
      <p:sp>
        <p:nvSpPr>
          <p:cNvPr id="3" name="text-22">
            <a:extLst xmlns:a="http://schemas.openxmlformats.org/drawingml/2006/main">
              <a:ext uri="{FF2B5EF4-FFF2-40B4-BE49-F238E27FC236}">
                <a16:creationId xmlns:a16="http://schemas.microsoft.com/office/drawing/2014/main" id="{3AB180E1-F6F0-48A5-A77F-5D3D7E6610FC}"/>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4</a:t>
            </a:r>
          </a:p>
        </p:txBody>
      </p:sp>
      <p:graphicFrame>
        <p:nvGraphicFramePr>
          <p:cNvPr id="4" name="">
            <a:extLst xmlns:a="http://schemas.openxmlformats.org/drawingml/2006/main">
              <a:ext uri="{FF2B5EF4-FFF2-40B4-BE49-F238E27FC236}">
                <a16:creationId xmlns:a16="http://schemas.microsoft.com/office/drawing/2014/main" id="{DF7A4590-EB85-439E-98C6-7B14F352885C}"/>
              </a:ext>
            </a:extLst>
          </p:cNvPr>
          <p:cNvGraphicFramePr/>
          <p:nvPr/>
        </p:nvGraphicFramePr>
        <p:xfrm>
          <a:off xmlns:a="http://schemas.openxmlformats.org/drawingml/2006/main" x="628650" y="1762125"/>
          <a:ext xmlns:a="http://schemas.openxmlformats.org/drawingml/2006/main" cx="10934700" cy="3524250"/>
        </p:xfrm>
        <a:graphic xmlns:a="http://schemas.openxmlformats.org/drawingml/2006/main">
          <a:graphicData uri="http://schemas.openxmlformats.org/drawingml/2006/table">
            <a:tbl>
              <a:tblPr/>
              <a:tblGrid>
                <a:gridCol w="2952750"/>
                <a:gridCol w="2190750"/>
                <a:gridCol w="2095500"/>
                <a:gridCol w="3695700"/>
              </a:tblGrid>
              <a:tr h="503464">
                <a:tc>
                  <a:txBody>
                    <a:bodyPr lIns="95250" tIns="95250" rIns="95250" bIns="95250"/>
                    <a:lstStyle/>
                    <a:p>
                      <a:r>
                        <a:rPr sz="1875" b="1">
                          <a:solidFill>
                            <a:srgbClr val="FFFFFF"/>
                          </a:solidFill>
                          <a:latin typeface="Times New Roman"/>
                          <a:ea typeface="Times New Roman"/>
                          <a:cs typeface="Times New Roman"/>
                        </a:rPr>
                        <a:t>Hallazgo</a:t>
                      </a:r>
                    </a:p>
                  </a:txBody>
                  <a:tcPr marL="91440" marR="91440" marT="45720" marB="45720" anchor="ctr">
                    <a:lnL w="9525">
                      <a:solidFill>
                        <a:srgbClr val="D6DEE5"/>
                      </a:solidFill>
                      <a:prstDash val="solid"/>
                    </a:lnL>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Resultado</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Referencia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Lectura clínica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r>
              <a:tr h="503464">
                <a:tc>
                  <a:txBody>
                    <a:bodyPr lIns="95250" tIns="95250" rIns="95250" bIns="95250"/>
                    <a:lstStyle/>
                    <a:p>
                      <a:r>
                        <a:rPr sz="1875" b="0">
                          <a:solidFill>
                            <a:srgbClr val="15253A"/>
                          </a:solidFill>
                          <a:latin typeface="Times New Roman"/>
                          <a:ea typeface="Times New Roman"/>
                          <a:cs typeface="Times New Roman"/>
                        </a:rPr>
                        <a:t>Leucocitos</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21,25 ×10⁹/L</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6–18</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Leucocitosis</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503464">
                <a:tc>
                  <a:txBody>
                    <a:bodyPr lIns="95250" tIns="95250" rIns="95250" bIns="95250"/>
                    <a:lstStyle/>
                    <a:p>
                      <a:r>
                        <a:rPr sz="1875" b="0">
                          <a:solidFill>
                            <a:srgbClr val="15253A"/>
                          </a:solidFill>
                          <a:latin typeface="Times New Roman"/>
                          <a:ea typeface="Times New Roman"/>
                          <a:cs typeface="Times New Roman"/>
                        </a:rPr>
                        <a:t>Bandas absolutas</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7,65 ×10⁹/L</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0–0,30</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Desviación a la izquierda</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r h="503464">
                <a:tc>
                  <a:txBody>
                    <a:bodyPr lIns="95250" tIns="95250" rIns="95250" bIns="95250"/>
                    <a:lstStyle/>
                    <a:p>
                      <a:r>
                        <a:rPr sz="1875" b="0">
                          <a:solidFill>
                            <a:srgbClr val="15253A"/>
                          </a:solidFill>
                          <a:latin typeface="Times New Roman"/>
                          <a:ea typeface="Times New Roman"/>
                          <a:cs typeface="Times New Roman"/>
                        </a:rPr>
                        <a:t>Eosinófilos absolutos</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2,76 ×10⁹/L</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0,10–1,25</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Eosinofilia</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503464">
                <a:tc>
                  <a:txBody>
                    <a:bodyPr lIns="95250" tIns="95250" rIns="95250" bIns="95250"/>
                    <a:lstStyle/>
                    <a:p>
                      <a:r>
                        <a:rPr sz="1875" b="0">
                          <a:solidFill>
                            <a:srgbClr val="15253A"/>
                          </a:solidFill>
                          <a:latin typeface="Times New Roman"/>
                          <a:ea typeface="Times New Roman"/>
                          <a:cs typeface="Times New Roman"/>
                        </a:rPr>
                        <a:t>Hemoglobina</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113 g/L</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120–180</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Disminuida</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r h="503464">
                <a:tc>
                  <a:txBody>
                    <a:bodyPr lIns="95250" tIns="95250" rIns="95250" bIns="95250"/>
                    <a:lstStyle/>
                    <a:p>
                      <a:r>
                        <a:rPr sz="1875" b="0">
                          <a:solidFill>
                            <a:srgbClr val="15253A"/>
                          </a:solidFill>
                          <a:latin typeface="Times New Roman"/>
                          <a:ea typeface="Times New Roman"/>
                          <a:cs typeface="Times New Roman"/>
                        </a:rPr>
                        <a:t>Hematocrito</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38 %</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37–55</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Dentro del intervalo</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503464">
                <a:tc>
                  <a:txBody>
                    <a:bodyPr lIns="95250" tIns="95250" rIns="95250" bIns="95250"/>
                    <a:lstStyle/>
                    <a:p>
                      <a:r>
                        <a:rPr sz="1875" b="0">
                          <a:solidFill>
                            <a:srgbClr val="15253A"/>
                          </a:solidFill>
                          <a:latin typeface="Times New Roman"/>
                          <a:ea typeface="Times New Roman"/>
                          <a:cs typeface="Times New Roman"/>
                        </a:rPr>
                        <a:t>CHCM</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297,37 g/L</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320–360</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Hipocromía</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bl>
          </a:graphicData>
        </a:graphic>
      </p:graphicFrame>
      <p:sp>
        <p:nvSpPr>
          <p:cNvPr id="5" name="text-23">
            <a:extLst xmlns:a="http://schemas.openxmlformats.org/drawingml/2006/main">
              <a:ext uri="{FF2B5EF4-FFF2-40B4-BE49-F238E27FC236}">
                <a16:creationId xmlns:a16="http://schemas.microsoft.com/office/drawing/2014/main" id="{D095D4C2-78B4-40A7-B773-78C0F18357B8}"/>
              </a:ext>
            </a:extLst>
          </p:cNvPr>
          <p:cNvSpPr>
            <a:spLocks xmlns:a="http://schemas.openxmlformats.org/drawingml/2006/main" noGrp="1"/>
          </p:cNvSpPr>
          <p:nvPr/>
        </p:nvSpPr>
        <p:spPr>
          <a:xfrm xmlns:a="http://schemas.openxmlformats.org/drawingml/2006/main">
            <a:off x="628650" y="5553075"/>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9E4D35"/>
                </a:solidFill>
                <a:latin typeface="Times New Roman"/>
                <a:ea typeface="Times New Roman"/>
                <a:cs typeface="Times New Roman"/>
              </a:defRPr>
            </a:defPPr>
            <a:lvl1pPr algn="l">
              <a:defRPr sz="2025" b="1">
                <a:solidFill>
                  <a:srgbClr val="9E4D35"/>
                </a:solidFill>
                <a:latin typeface="Times New Roman"/>
                <a:ea typeface="Times New Roman"/>
                <a:cs typeface="Times New Roman"/>
              </a:defRPr>
            </a:lvl1pPr>
            <a:lvl2pPr algn="l">
              <a:defRPr sz="2025" b="1">
                <a:solidFill>
                  <a:srgbClr val="9E4D35"/>
                </a:solidFill>
                <a:latin typeface="Times New Roman"/>
                <a:ea typeface="Times New Roman"/>
                <a:cs typeface="Times New Roman"/>
              </a:defRPr>
            </a:lvl2pPr>
            <a:lvl3pPr algn="l">
              <a:defRPr sz="2025" b="1">
                <a:solidFill>
                  <a:srgbClr val="9E4D35"/>
                </a:solidFill>
                <a:latin typeface="Times New Roman"/>
                <a:ea typeface="Times New Roman"/>
                <a:cs typeface="Times New Roman"/>
              </a:defRPr>
            </a:lvl3pPr>
            <a:lvl4pPr algn="l">
              <a:defRPr sz="2025" b="1">
                <a:solidFill>
                  <a:srgbClr val="9E4D35"/>
                </a:solidFill>
                <a:latin typeface="Times New Roman"/>
                <a:ea typeface="Times New Roman"/>
                <a:cs typeface="Times New Roman"/>
              </a:defRPr>
            </a:lvl4pPr>
            <a:lvl5pPr algn="l">
              <a:defRPr sz="2025" b="1">
                <a:solidFill>
                  <a:srgbClr val="9E4D35"/>
                </a:solidFill>
                <a:latin typeface="Times New Roman"/>
                <a:ea typeface="Times New Roman"/>
                <a:cs typeface="Times New Roman"/>
              </a:defRPr>
            </a:lvl5pPr>
            <a:lvl6pPr algn="l">
              <a:defRPr sz="2025" b="1">
                <a:solidFill>
                  <a:srgbClr val="9E4D35"/>
                </a:solidFill>
                <a:latin typeface="Times New Roman"/>
                <a:ea typeface="Times New Roman"/>
                <a:cs typeface="Times New Roman"/>
              </a:defRPr>
            </a:lvl6pPr>
            <a:lvl7pPr algn="l">
              <a:defRPr sz="2025" b="1">
                <a:solidFill>
                  <a:srgbClr val="9E4D35"/>
                </a:solidFill>
                <a:latin typeface="Times New Roman"/>
                <a:ea typeface="Times New Roman"/>
                <a:cs typeface="Times New Roman"/>
              </a:defRPr>
            </a:lvl7pPr>
            <a:lvl8pPr algn="l">
              <a:defRPr sz="2025" b="1">
                <a:solidFill>
                  <a:srgbClr val="9E4D35"/>
                </a:solidFill>
                <a:latin typeface="Times New Roman"/>
                <a:ea typeface="Times New Roman"/>
                <a:cs typeface="Times New Roman"/>
              </a:defRPr>
            </a:lvl8pPr>
            <a:lvl9pPr algn="l">
              <a:defRPr sz="2025" b="1">
                <a:solidFill>
                  <a:srgbClr val="9E4D35"/>
                </a:solidFill>
                <a:latin typeface="Times New Roman"/>
                <a:ea typeface="Times New Roman"/>
                <a:cs typeface="Times New Roman"/>
              </a:defRPr>
            </a:lvl9pPr>
          </a:lstStyle>
          <a:p xmlns:a="http://schemas.openxmlformats.org/drawingml/2006/main">
            <a:pPr algn="l">
              <a:defRPr sz="2025" b="1">
                <a:solidFill>
                  <a:srgbClr val="9E4D35"/>
                </a:solidFill>
                <a:latin typeface="Times New Roman"/>
                <a:ea typeface="Times New Roman"/>
                <a:cs typeface="Times New Roman"/>
              </a:defRPr>
            </a:pPr>
            <a:r>
              <a:rPr sz="2025" b="1">
                <a:solidFill>
                  <a:srgbClr val="9E4D35"/>
                </a:solidFill>
                <a:latin typeface="Times New Roman"/>
                <a:ea typeface="Times New Roman"/>
                <a:cs typeface="Times New Roman"/>
              </a:rPr>
              <a:t>La inflamación es relevante. El hemograma no identifica una bacteria ni demuestra ferropenia.</a:t>
            </a:r>
          </a:p>
        </p:txBody>
      </p:sp>
      <p:sp>
        <p:nvSpPr>
          <p:cNvPr id="6" name="text-108">
            <a:extLst xmlns:a="http://schemas.openxmlformats.org/drawingml/2006/main">
              <a:ext uri="{FF2B5EF4-FFF2-40B4-BE49-F238E27FC236}">
                <a16:creationId xmlns:a16="http://schemas.microsoft.com/office/drawing/2014/main" id="{354659AE-9EDC-4756-A6CE-ED4193AD4F99}"/>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(1)</a:t>
            </a:r>
          </a:p>
        </p:txBody>
      </p:sp>
    </p:spTree>
    <p:extLst>
      <p:ext uri="{BB962C8B-B14F-4D97-AF65-F5344CB8AC3E}">
        <p14:creationId xmlns:p14="http://schemas.microsoft.com/office/powerpoint/2010/main" val="542076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4">
            <a:extLst xmlns:a="http://schemas.openxmlformats.org/drawingml/2006/main">
              <a:ext uri="{FF2B5EF4-FFF2-40B4-BE49-F238E27FC236}">
                <a16:creationId xmlns:a16="http://schemas.microsoft.com/office/drawing/2014/main" id="{22AD89AB-2A5A-4F5F-8AE3-123EBD0612A2}"/>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Qué explican los hallazgos</a:t>
            </a:r>
          </a:p>
        </p:txBody>
      </p:sp>
      <p:sp>
        <p:nvSpPr>
          <p:cNvPr id="2" name="text-25">
            <a:extLst xmlns:a="http://schemas.openxmlformats.org/drawingml/2006/main">
              <a:ext uri="{FF2B5EF4-FFF2-40B4-BE49-F238E27FC236}">
                <a16:creationId xmlns:a16="http://schemas.microsoft.com/office/drawing/2014/main" id="{5039DA96-6AD9-4912-9A42-D8001833EBA5}"/>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El razonamiento clínico mantiene abiertas las causas que todavía no tienen confirmación</a:t>
            </a:r>
          </a:p>
        </p:txBody>
      </p:sp>
      <p:sp>
        <p:nvSpPr>
          <p:cNvPr id="3" name="text-26">
            <a:extLst xmlns:a="http://schemas.openxmlformats.org/drawingml/2006/main">
              <a:ext uri="{FF2B5EF4-FFF2-40B4-BE49-F238E27FC236}">
                <a16:creationId xmlns:a16="http://schemas.microsoft.com/office/drawing/2014/main" id="{9FC3A887-EC57-4BA5-AD83-AF429B74FD8D}"/>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5</a:t>
            </a:r>
          </a:p>
        </p:txBody>
      </p:sp>
      <p:sp>
        <p:nvSpPr>
          <p:cNvPr id="4" name="text-27">
            <a:extLst xmlns:a="http://schemas.openxmlformats.org/drawingml/2006/main">
              <a:ext uri="{FF2B5EF4-FFF2-40B4-BE49-F238E27FC236}">
                <a16:creationId xmlns:a16="http://schemas.microsoft.com/office/drawing/2014/main" id="{E2749881-E9B9-49A8-BC3C-E1D8CA20CBB8}"/>
              </a:ext>
            </a:extLst>
          </p:cNvPr>
          <p:cNvSpPr>
            <a:spLocks xmlns:a="http://schemas.openxmlformats.org/drawingml/2006/main" noGrp="1"/>
          </p:cNvSpPr>
          <p:nvPr/>
        </p:nvSpPr>
        <p:spPr>
          <a:xfrm xmlns:a="http://schemas.openxmlformats.org/drawingml/2006/main">
            <a:off x="628650" y="1847850"/>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Componente inflamatorio</a:t>
            </a:r>
          </a:p>
        </p:txBody>
      </p:sp>
      <p:sp>
        <p:nvSpPr>
          <p:cNvPr id="5" name="text-28">
            <a:extLst xmlns:a="http://schemas.openxmlformats.org/drawingml/2006/main">
              <a:ext uri="{FF2B5EF4-FFF2-40B4-BE49-F238E27FC236}">
                <a16:creationId xmlns:a16="http://schemas.microsoft.com/office/drawing/2014/main" id="{F9A60A6F-66E6-4F64-877A-556D884B470D}"/>
              </a:ext>
            </a:extLst>
          </p:cNvPr>
          <p:cNvSpPr>
            <a:spLocks xmlns:a="http://schemas.openxmlformats.org/drawingml/2006/main" noGrp="1"/>
          </p:cNvSpPr>
          <p:nvPr/>
        </p:nvSpPr>
        <p:spPr>
          <a:xfrm xmlns:a="http://schemas.openxmlformats.org/drawingml/2006/main">
            <a:off x="628650" y="2333625"/>
            <a:ext cx="5095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Leucocitosis y aumento de bandas. La etiología y la sensibilidad bacteriana no están demostradas.</a:t>
            </a:r>
          </a:p>
        </p:txBody>
      </p:sp>
      <p:sp>
        <p:nvSpPr>
          <p:cNvPr id="6" name="text-29">
            <a:extLst xmlns:a="http://schemas.openxmlformats.org/drawingml/2006/main">
              <a:ext uri="{FF2B5EF4-FFF2-40B4-BE49-F238E27FC236}">
                <a16:creationId xmlns:a16="http://schemas.microsoft.com/office/drawing/2014/main" id="{D602E547-4E8C-4215-910B-8EBF81C04BAA}"/>
              </a:ext>
            </a:extLst>
          </p:cNvPr>
          <p:cNvSpPr>
            <a:spLocks xmlns:a="http://schemas.openxmlformats.org/drawingml/2006/main" noGrp="1"/>
          </p:cNvSpPr>
          <p:nvPr/>
        </p:nvSpPr>
        <p:spPr>
          <a:xfrm xmlns:a="http://schemas.openxmlformats.org/drawingml/2006/main">
            <a:off x="6324600" y="184785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Componente parasitario</a:t>
            </a:r>
          </a:p>
        </p:txBody>
      </p:sp>
      <p:sp>
        <p:nvSpPr>
          <p:cNvPr id="7" name="text-30">
            <a:extLst xmlns:a="http://schemas.openxmlformats.org/drawingml/2006/main">
              <a:ext uri="{FF2B5EF4-FFF2-40B4-BE49-F238E27FC236}">
                <a16:creationId xmlns:a16="http://schemas.microsoft.com/office/drawing/2014/main" id="{57BF872A-6D7B-4D8D-81CF-49CFDEC8FD2D}"/>
              </a:ext>
            </a:extLst>
          </p:cNvPr>
          <p:cNvSpPr>
            <a:spLocks xmlns:a="http://schemas.openxmlformats.org/drawingml/2006/main" noGrp="1"/>
          </p:cNvSpPr>
          <p:nvPr/>
        </p:nvSpPr>
        <p:spPr>
          <a:xfrm xmlns:a="http://schemas.openxmlformats.org/drawingml/2006/main">
            <a:off x="6324600" y="23336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Eosinofilia y antecedente reportado. Hace falta vincularlo con un coprológico identificable.</a:t>
            </a:r>
          </a:p>
        </p:txBody>
      </p:sp>
      <p:sp>
        <p:nvSpPr>
          <p:cNvPr id="8" name="text-31">
            <a:extLst xmlns:a="http://schemas.openxmlformats.org/drawingml/2006/main">
              <a:ext uri="{FF2B5EF4-FFF2-40B4-BE49-F238E27FC236}">
                <a16:creationId xmlns:a16="http://schemas.microsoft.com/office/drawing/2014/main" id="{6872D6E4-5779-49E0-B4DB-787A1818CAC2}"/>
              </a:ext>
            </a:extLst>
          </p:cNvPr>
          <p:cNvSpPr>
            <a:spLocks xmlns:a="http://schemas.openxmlformats.org/drawingml/2006/main" noGrp="1"/>
          </p:cNvSpPr>
          <p:nvPr/>
        </p:nvSpPr>
        <p:spPr>
          <a:xfrm xmlns:a="http://schemas.openxmlformats.org/drawingml/2006/main">
            <a:off x="628650" y="3943350"/>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Posible pérdida digestiva</a:t>
            </a:r>
          </a:p>
        </p:txBody>
      </p:sp>
      <p:sp>
        <p:nvSpPr>
          <p:cNvPr id="9" name="text-32">
            <a:extLst xmlns:a="http://schemas.openxmlformats.org/drawingml/2006/main">
              <a:ext uri="{FF2B5EF4-FFF2-40B4-BE49-F238E27FC236}">
                <a16:creationId xmlns:a16="http://schemas.microsoft.com/office/drawing/2014/main" id="{D71AF5DC-B578-4034-A08F-D35001039081}"/>
              </a:ext>
            </a:extLst>
          </p:cNvPr>
          <p:cNvSpPr>
            <a:spLocks xmlns:a="http://schemas.openxmlformats.org/drawingml/2006/main" noGrp="1"/>
          </p:cNvSpPr>
          <p:nvPr/>
        </p:nvSpPr>
        <p:spPr>
          <a:xfrm xmlns:a="http://schemas.openxmlformats.org/drawingml/2006/main">
            <a:off x="628650" y="4429125"/>
            <a:ext cx="5095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Las heces oscuras y la hipocromía justifican estudio. El hierro requiere evaluación específica.</a:t>
            </a:r>
          </a:p>
        </p:txBody>
      </p:sp>
      <p:sp>
        <p:nvSpPr>
          <p:cNvPr id="10" name="text-33">
            <a:extLst xmlns:a="http://schemas.openxmlformats.org/drawingml/2006/main">
              <a:ext uri="{FF2B5EF4-FFF2-40B4-BE49-F238E27FC236}">
                <a16:creationId xmlns:a16="http://schemas.microsoft.com/office/drawing/2014/main" id="{FB63DA39-3A02-4689-BFCD-2A59D393ECBB}"/>
              </a:ext>
            </a:extLst>
          </p:cNvPr>
          <p:cNvSpPr>
            <a:spLocks xmlns:a="http://schemas.openxmlformats.org/drawingml/2006/main" noGrp="1"/>
          </p:cNvSpPr>
          <p:nvPr/>
        </p:nvSpPr>
        <p:spPr>
          <a:xfrm xmlns:a="http://schemas.openxmlformats.org/drawingml/2006/main">
            <a:off x="6324600" y="394335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Hallazgo urinario</a:t>
            </a:r>
          </a:p>
        </p:txBody>
      </p:sp>
      <p:sp>
        <p:nvSpPr>
          <p:cNvPr id="11" name="text-34">
            <a:extLst xmlns:a="http://schemas.openxmlformats.org/drawingml/2006/main">
              <a:ext uri="{FF2B5EF4-FFF2-40B4-BE49-F238E27FC236}">
                <a16:creationId xmlns:a16="http://schemas.microsoft.com/office/drawing/2014/main" id="{290DC320-9659-4A63-8900-05387B8C8F95}"/>
              </a:ext>
            </a:extLst>
          </p:cNvPr>
          <p:cNvSpPr>
            <a:spLocks xmlns:a="http://schemas.openxmlformats.org/drawingml/2006/main" noGrp="1"/>
          </p:cNvSpPr>
          <p:nvPr/>
        </p:nvSpPr>
        <p:spPr>
          <a:xfrm xmlns:a="http://schemas.openxmlformats.org/drawingml/2006/main">
            <a:off x="6324600" y="44291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Bacterias abundantes y 5–20 leucocitos/campo. El método de toma y un cultivo cambian la interpretación.</a:t>
            </a:r>
          </a:p>
        </p:txBody>
      </p:sp>
      <p:sp>
        <p:nvSpPr>
          <p:cNvPr id="12" name="text-109">
            <a:extLst xmlns:a="http://schemas.openxmlformats.org/drawingml/2006/main">
              <a:ext uri="{FF2B5EF4-FFF2-40B4-BE49-F238E27FC236}">
                <a16:creationId xmlns:a16="http://schemas.microsoft.com/office/drawing/2014/main" id="{36382356-8574-41F1-BDDF-7C864F1295F8}"/>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(2, 3)</a:t>
            </a:r>
          </a:p>
        </p:txBody>
      </p:sp>
    </p:spTree>
    <p:extLst>
      <p:ext uri="{BB962C8B-B14F-4D97-AF65-F5344CB8AC3E}">
        <p14:creationId xmlns:p14="http://schemas.microsoft.com/office/powerpoint/2010/main" val="1215603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5">
            <a:extLst xmlns:a="http://schemas.openxmlformats.org/drawingml/2006/main">
              <a:ext uri="{FF2B5EF4-FFF2-40B4-BE49-F238E27FC236}">
                <a16:creationId xmlns:a16="http://schemas.microsoft.com/office/drawing/2014/main" id="{DD870844-AC32-454F-98C8-57F485CD24B4}"/>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Tratamiento comunicado</a:t>
            </a:r>
          </a:p>
        </p:txBody>
      </p:sp>
      <p:sp>
        <p:nvSpPr>
          <p:cNvPr id="2" name="text-36">
            <a:extLst xmlns:a="http://schemas.openxmlformats.org/drawingml/2006/main">
              <a:ext uri="{FF2B5EF4-FFF2-40B4-BE49-F238E27FC236}">
                <a16:creationId xmlns:a16="http://schemas.microsoft.com/office/drawing/2014/main" id="{9F4D8C2A-69F1-46E0-87DF-C64EDE0AEF37}"/>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La pauta reportada se conserva separada del cálculo académico</a:t>
            </a:r>
          </a:p>
        </p:txBody>
      </p:sp>
      <p:sp>
        <p:nvSpPr>
          <p:cNvPr id="3" name="text-37">
            <a:extLst xmlns:a="http://schemas.openxmlformats.org/drawingml/2006/main">
              <a:ext uri="{FF2B5EF4-FFF2-40B4-BE49-F238E27FC236}">
                <a16:creationId xmlns:a16="http://schemas.microsoft.com/office/drawing/2014/main" id="{4F5C00CC-1C22-4ABE-8218-BA888D1D40F0}"/>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6</a:t>
            </a:r>
          </a:p>
        </p:txBody>
      </p:sp>
      <p:graphicFrame>
        <p:nvGraphicFramePr>
          <p:cNvPr id="4" name="">
            <a:extLst xmlns:a="http://schemas.openxmlformats.org/drawingml/2006/main">
              <a:ext uri="{FF2B5EF4-FFF2-40B4-BE49-F238E27FC236}">
                <a16:creationId xmlns:a16="http://schemas.microsoft.com/office/drawing/2014/main" id="{79165A12-B0AC-4C2F-80EF-31B87560E518}"/>
              </a:ext>
            </a:extLst>
          </p:cNvPr>
          <p:cNvGraphicFramePr/>
          <p:nvPr/>
        </p:nvGraphicFramePr>
        <p:xfrm>
          <a:off xmlns:a="http://schemas.openxmlformats.org/drawingml/2006/main" x="628650" y="1857375"/>
          <a:ext xmlns:a="http://schemas.openxmlformats.org/drawingml/2006/main" cx="10934700" cy="3143250"/>
        </p:xfrm>
        <a:graphic xmlns:a="http://schemas.openxmlformats.org/drawingml/2006/main">
          <a:graphicData uri="http://schemas.openxmlformats.org/drawingml/2006/table">
            <a:tbl>
              <a:tblPr/>
              <a:tblGrid>
                <a:gridCol w="2238375"/>
                <a:gridCol w="5953125"/>
                <a:gridCol w="2743200"/>
              </a:tblGrid>
              <a:tr h="628650">
                <a:tc>
                  <a:txBody>
                    <a:bodyPr lIns="95250" tIns="95250" rIns="95250" bIns="95250"/>
                    <a:lstStyle/>
                    <a:p>
                      <a:r>
                        <a:rPr sz="1875" b="1">
                          <a:solidFill>
                            <a:srgbClr val="FFFFFF"/>
                          </a:solidFill>
                          <a:latin typeface="Times New Roman"/>
                          <a:ea typeface="Times New Roman"/>
                          <a:cs typeface="Times New Roman"/>
                        </a:rPr>
                        <a:t>Producto</a:t>
                      </a:r>
                    </a:p>
                  </a:txBody>
                  <a:tcPr marL="91440" marR="91440" marT="45720" marB="45720" anchor="ctr">
                    <a:lnL w="9525">
                      <a:solidFill>
                        <a:srgbClr val="D6DEE5"/>
                      </a:solidFill>
                      <a:prstDash val="solid"/>
                    </a:lnL>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Pauta reportada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Periodo referido</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r>
              <a:tr h="628650">
                <a:tc>
                  <a:txBody>
                    <a:bodyPr lIns="95250" tIns="95250" rIns="95250" bIns="95250"/>
                    <a:lstStyle/>
                    <a:p>
                      <a:r>
                        <a:rPr sz="1875" b="0">
                          <a:solidFill>
                            <a:srgbClr val="15253A"/>
                          </a:solidFill>
                          <a:latin typeface="Times New Roman"/>
                          <a:ea typeface="Times New Roman"/>
                          <a:cs typeface="Times New Roman"/>
                        </a:rPr>
                        <a:t>Relámpago</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Administración el 02/10; volumen no confirmado</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02 de octubre</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628650">
                <a:tc>
                  <a:txBody>
                    <a:bodyPr lIns="95250" tIns="95250" rIns="95250" bIns="95250"/>
                    <a:lstStyle/>
                    <a:p>
                      <a:r>
                        <a:rPr sz="1875" b="0">
                          <a:solidFill>
                            <a:srgbClr val="15253A"/>
                          </a:solidFill>
                          <a:latin typeface="Times New Roman"/>
                          <a:ea typeface="Times New Roman"/>
                          <a:cs typeface="Times New Roman"/>
                        </a:rPr>
                        <a:t>Bactrivet</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3 mL VO, mañana y noche, durante 14 días</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03–16 de octubre</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r h="628650">
                <a:tc>
                  <a:txBody>
                    <a:bodyPr lIns="95250" tIns="95250" rIns="95250" bIns="95250"/>
                    <a:lstStyle/>
                    <a:p>
                      <a:r>
                        <a:rPr sz="1875" b="0">
                          <a:solidFill>
                            <a:srgbClr val="15253A"/>
                          </a:solidFill>
                          <a:latin typeface="Times New Roman"/>
                          <a:ea typeface="Times New Roman"/>
                          <a:cs typeface="Times New Roman"/>
                        </a:rPr>
                        <a:t>Metronidazol</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1 tableta VO al día, durante 7 días</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03–09 de octubre</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628650">
                <a:tc>
                  <a:txBody>
                    <a:bodyPr lIns="95250" tIns="95250" rIns="95250" bIns="95250"/>
                    <a:lstStyle/>
                    <a:p>
                      <a:r>
                        <a:rPr sz="1875" b="0">
                          <a:solidFill>
                            <a:srgbClr val="15253A"/>
                          </a:solidFill>
                          <a:latin typeface="Times New Roman"/>
                          <a:ea typeface="Times New Roman"/>
                          <a:cs typeface="Times New Roman"/>
                        </a:rPr>
                        <a:t>Apetomax</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7 mL VO al día, durante 5 días</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03–07 de octubre</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bl>
          </a:graphicData>
        </a:graphic>
      </p:graphicFrame>
      <p:sp>
        <p:nvSpPr>
          <p:cNvPr id="5" name="text-38">
            <a:extLst xmlns:a="http://schemas.openxmlformats.org/drawingml/2006/main">
              <a:ext uri="{FF2B5EF4-FFF2-40B4-BE49-F238E27FC236}">
                <a16:creationId xmlns:a16="http://schemas.microsoft.com/office/drawing/2014/main" id="{9516EF4B-0805-4465-A124-356F377E8EC2}"/>
              </a:ext>
            </a:extLst>
          </p:cNvPr>
          <p:cNvSpPr>
            <a:spLocks xmlns:a="http://schemas.openxmlformats.org/drawingml/2006/main" noGrp="1"/>
          </p:cNvSpPr>
          <p:nvPr/>
        </p:nvSpPr>
        <p:spPr>
          <a:xfrm xmlns:a="http://schemas.openxmlformats.org/drawingml/2006/main">
            <a:off x="628650" y="538162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26C9C"/>
                </a:solidFill>
                <a:latin typeface="Times New Roman"/>
                <a:ea typeface="Times New Roman"/>
                <a:cs typeface="Times New Roman"/>
              </a:defRPr>
            </a:defPPr>
            <a:lvl1pPr algn="l">
              <a:defRPr sz="2175" b="1">
                <a:solidFill>
                  <a:srgbClr val="226C9C"/>
                </a:solidFill>
                <a:latin typeface="Times New Roman"/>
                <a:ea typeface="Times New Roman"/>
                <a:cs typeface="Times New Roman"/>
              </a:defRPr>
            </a:lvl1pPr>
            <a:lvl2pPr algn="l">
              <a:defRPr sz="2175" b="1">
                <a:solidFill>
                  <a:srgbClr val="226C9C"/>
                </a:solidFill>
                <a:latin typeface="Times New Roman"/>
                <a:ea typeface="Times New Roman"/>
                <a:cs typeface="Times New Roman"/>
              </a:defRPr>
            </a:lvl2pPr>
            <a:lvl3pPr algn="l">
              <a:defRPr sz="2175" b="1">
                <a:solidFill>
                  <a:srgbClr val="226C9C"/>
                </a:solidFill>
                <a:latin typeface="Times New Roman"/>
                <a:ea typeface="Times New Roman"/>
                <a:cs typeface="Times New Roman"/>
              </a:defRPr>
            </a:lvl3pPr>
            <a:lvl4pPr algn="l">
              <a:defRPr sz="2175" b="1">
                <a:solidFill>
                  <a:srgbClr val="226C9C"/>
                </a:solidFill>
                <a:latin typeface="Times New Roman"/>
                <a:ea typeface="Times New Roman"/>
                <a:cs typeface="Times New Roman"/>
              </a:defRPr>
            </a:lvl4pPr>
            <a:lvl5pPr algn="l">
              <a:defRPr sz="2175" b="1">
                <a:solidFill>
                  <a:srgbClr val="226C9C"/>
                </a:solidFill>
                <a:latin typeface="Times New Roman"/>
                <a:ea typeface="Times New Roman"/>
                <a:cs typeface="Times New Roman"/>
              </a:defRPr>
            </a:lvl5pPr>
            <a:lvl6pPr algn="l">
              <a:defRPr sz="2175" b="1">
                <a:solidFill>
                  <a:srgbClr val="226C9C"/>
                </a:solidFill>
                <a:latin typeface="Times New Roman"/>
                <a:ea typeface="Times New Roman"/>
                <a:cs typeface="Times New Roman"/>
              </a:defRPr>
            </a:lvl6pPr>
            <a:lvl7pPr algn="l">
              <a:defRPr sz="2175" b="1">
                <a:solidFill>
                  <a:srgbClr val="226C9C"/>
                </a:solidFill>
                <a:latin typeface="Times New Roman"/>
                <a:ea typeface="Times New Roman"/>
                <a:cs typeface="Times New Roman"/>
              </a:defRPr>
            </a:lvl7pPr>
            <a:lvl8pPr algn="l">
              <a:defRPr sz="2175" b="1">
                <a:solidFill>
                  <a:srgbClr val="226C9C"/>
                </a:solidFill>
                <a:latin typeface="Times New Roman"/>
                <a:ea typeface="Times New Roman"/>
                <a:cs typeface="Times New Roman"/>
              </a:defRPr>
            </a:lvl8pPr>
            <a:lvl9pPr algn="l">
              <a:defRPr sz="2175" b="1">
                <a:solidFill>
                  <a:srgbClr val="226C9C"/>
                </a:solidFill>
                <a:latin typeface="Times New Roman"/>
                <a:ea typeface="Times New Roman"/>
                <a:cs typeface="Times New Roman"/>
              </a:defRPr>
            </a:lvl9pPr>
          </a:lstStyle>
          <a:p xmlns:a="http://schemas.openxmlformats.org/drawingml/2006/main">
            <a:pPr algn="l">
              <a:defRPr sz="2175" b="1">
                <a:solidFill>
                  <a:srgbClr val="226C9C"/>
                </a:solidFill>
                <a:latin typeface="Times New Roman"/>
                <a:ea typeface="Times New Roman"/>
                <a:cs typeface="Times New Roman"/>
              </a:defRPr>
            </a:pPr>
            <a:r>
              <a:rPr sz="2175" b="1">
                <a:solidFill>
                  <a:srgbClr val="226C9C"/>
                </a:solidFill>
                <a:latin typeface="Times New Roman"/>
                <a:ea typeface="Times New Roman"/>
                <a:cs typeface="Times New Roman"/>
              </a:rPr>
              <a:t>Apetomax reemplaza a Apetovit en el análisis del caso.</a:t>
            </a:r>
          </a:p>
        </p:txBody>
      </p:sp>
    </p:spTree>
    <p:extLst>
      <p:ext uri="{BB962C8B-B14F-4D97-AF65-F5344CB8AC3E}">
        <p14:creationId xmlns:p14="http://schemas.microsoft.com/office/powerpoint/2010/main" val="662736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1576F8A-F769-4EB0-82D2-0B2D72C859B3}"/>
              </a:ext>
            </a:extLst>
          </p:cNvPr>
          <p:cNvCxnSpPr>
            <a:stCxn xmlns:a="http://schemas.openxmlformats.org/drawingml/2006/main" id="6" idx="3"/>
            <a:endCxn xmlns:a="http://schemas.openxmlformats.org/drawingml/2006/main" id="7" idx="1"/>
          </p:cNvCxnSpPr>
          <p:nvPr/>
        </p:nvCxnSpPr>
        <p:spPr>
          <a:xfrm xmlns:a="http://schemas.openxmlformats.org/drawingml/2006/main">
            <a:off x="9525000" y="2857500"/>
            <a:ext cx="342900" cy="0"/>
          </a:xfrm>
          <a:prstGeom xmlns:a="http://schemas.openxmlformats.org/drawingml/2006/main" prst="straightConnector1">
            <a:avLst/>
          </a:prstGeom>
          <a:ln xmlns:a="http://schemas.openxmlformats.org/drawingml/2006/main" w="28575">
            <a:solidFill>
              <a:srgbClr val="226C9C"/>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97785C3-9204-45E1-BECD-4786B1305223}"/>
              </a:ext>
            </a:extLst>
          </p:cNvPr>
          <p:cNvCxnSpPr>
            <a:stCxn xmlns:a="http://schemas.openxmlformats.org/drawingml/2006/main" id="5" idx="3"/>
            <a:endCxn xmlns:a="http://schemas.openxmlformats.org/drawingml/2006/main" id="6" idx="1"/>
          </p:cNvCxnSpPr>
          <p:nvPr/>
        </p:nvCxnSpPr>
        <p:spPr>
          <a:xfrm xmlns:a="http://schemas.openxmlformats.org/drawingml/2006/main">
            <a:off x="5753100" y="2857500"/>
            <a:ext cx="1200150" cy="0"/>
          </a:xfrm>
          <a:prstGeom xmlns:a="http://schemas.openxmlformats.org/drawingml/2006/main" prst="straightConnector1">
            <a:avLst/>
          </a:prstGeom>
          <a:ln xmlns:a="http://schemas.openxmlformats.org/drawingml/2006/main" w="28575">
            <a:solidFill>
              <a:srgbClr val="226C9C"/>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C4AAD3C-1B84-45BF-A2B8-D40F911B961F}"/>
              </a:ext>
            </a:extLst>
          </p:cNvPr>
          <p:cNvCxnSpPr>
            <a:stCxn xmlns:a="http://schemas.openxmlformats.org/drawingml/2006/main" id="4" idx="3"/>
            <a:endCxn xmlns:a="http://schemas.openxmlformats.org/drawingml/2006/main" id="5" idx="1"/>
          </p:cNvCxnSpPr>
          <p:nvPr/>
        </p:nvCxnSpPr>
        <p:spPr>
          <a:xfrm xmlns:a="http://schemas.openxmlformats.org/drawingml/2006/main">
            <a:off x="2295525" y="2857500"/>
            <a:ext cx="1076325" cy="0"/>
          </a:xfrm>
          <a:prstGeom xmlns:a="http://schemas.openxmlformats.org/drawingml/2006/main" prst="straightConnector1">
            <a:avLst/>
          </a:prstGeom>
          <a:ln xmlns:a="http://schemas.openxmlformats.org/drawingml/2006/main" w="28575">
            <a:solidFill>
              <a:srgbClr val="226C9C"/>
            </a:solidFill>
            <a:prstDash val="solid"/>
            <a:tailEnd type="arrow" w="med" len="med"/>
          </a:ln>
        </p:spPr>
      </p:cxnSp>
      <p:sp>
        <p:nvSpPr>
          <p:cNvPr id="15" name="text-39">
            <a:extLst xmlns:a="http://schemas.openxmlformats.org/drawingml/2006/main">
              <a:ext uri="{FF2B5EF4-FFF2-40B4-BE49-F238E27FC236}">
                <a16:creationId xmlns:a16="http://schemas.microsoft.com/office/drawing/2014/main" id="{FBE93380-4F6D-46BD-B99D-A3C238EF7675}"/>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Sulfametoxazol y trimetoprim</a:t>
            </a:r>
          </a:p>
        </p:txBody>
      </p:sp>
      <p:sp>
        <p:nvSpPr>
          <p:cNvPr id="2" name="text-40">
            <a:extLst xmlns:a="http://schemas.openxmlformats.org/drawingml/2006/main">
              <a:ext uri="{FF2B5EF4-FFF2-40B4-BE49-F238E27FC236}">
                <a16:creationId xmlns:a16="http://schemas.microsoft.com/office/drawing/2014/main" id="{B0515EDB-6F00-43FA-B626-CE82EA5BD982}"/>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Robinson Macas · Sulfametoxazol     Kristhel Procel · Trimetoprim</a:t>
            </a:r>
          </a:p>
        </p:txBody>
      </p:sp>
      <p:sp>
        <p:nvSpPr>
          <p:cNvPr id="3" name="text-41">
            <a:extLst xmlns:a="http://schemas.openxmlformats.org/drawingml/2006/main">
              <a:ext uri="{FF2B5EF4-FFF2-40B4-BE49-F238E27FC236}">
                <a16:creationId xmlns:a16="http://schemas.microsoft.com/office/drawing/2014/main" id="{40E95170-92FF-4BD3-99CE-5A0592C25F2A}"/>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7</a:t>
            </a:r>
          </a:p>
        </p:txBody>
      </p:sp>
      <p:sp>
        <p:nvSpPr>
          <p:cNvPr id="4" name="diagram-42">
            <a:extLst xmlns:a="http://schemas.openxmlformats.org/drawingml/2006/main">
              <a:ext uri="{FF2B5EF4-FFF2-40B4-BE49-F238E27FC236}">
                <a16:creationId xmlns:a16="http://schemas.microsoft.com/office/drawing/2014/main" id="{7CB0D8F2-B048-4249-BE1E-DDA2A18E0CF6}"/>
              </a:ext>
            </a:extLst>
          </p:cNvPr>
          <p:cNvSpPr>
            <a:spLocks xmlns:a="http://schemas.openxmlformats.org/drawingml/2006/main" noGrp="1"/>
          </p:cNvSpPr>
          <p:nvPr/>
        </p:nvSpPr>
        <p:spPr>
          <a:xfrm xmlns:a="http://schemas.openxmlformats.org/drawingml/2006/main">
            <a:off x="628650" y="2428875"/>
            <a:ext cx="1666875" cy="8572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PABA</a:t>
            </a:r>
          </a:p>
        </p:txBody>
      </p:sp>
      <p:sp>
        <p:nvSpPr>
          <p:cNvPr id="5" name="diagram-43">
            <a:extLst xmlns:a="http://schemas.openxmlformats.org/drawingml/2006/main">
              <a:ext uri="{FF2B5EF4-FFF2-40B4-BE49-F238E27FC236}">
                <a16:creationId xmlns:a16="http://schemas.microsoft.com/office/drawing/2014/main" id="{B8F3B281-54E7-4A86-B27A-C19BD16C4B4C}"/>
              </a:ext>
            </a:extLst>
          </p:cNvPr>
          <p:cNvSpPr>
            <a:spLocks xmlns:a="http://schemas.openxmlformats.org/drawingml/2006/main" noGrp="1"/>
          </p:cNvSpPr>
          <p:nvPr/>
        </p:nvSpPr>
        <p:spPr>
          <a:xfrm xmlns:a="http://schemas.openxmlformats.org/drawingml/2006/main">
            <a:off x="3371850" y="2428875"/>
            <a:ext cx="2381250" cy="8572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Dihidrofolato</a:t>
            </a:r>
          </a:p>
        </p:txBody>
      </p:sp>
      <p:sp>
        <p:nvSpPr>
          <p:cNvPr id="6" name="diagram-44">
            <a:extLst xmlns:a="http://schemas.openxmlformats.org/drawingml/2006/main">
              <a:ext uri="{FF2B5EF4-FFF2-40B4-BE49-F238E27FC236}">
                <a16:creationId xmlns:a16="http://schemas.microsoft.com/office/drawing/2014/main" id="{67F40008-FFAF-4909-A67F-F77ABBC8DC49}"/>
              </a:ext>
            </a:extLst>
          </p:cNvPr>
          <p:cNvSpPr>
            <a:spLocks xmlns:a="http://schemas.openxmlformats.org/drawingml/2006/main" noGrp="1"/>
          </p:cNvSpPr>
          <p:nvPr/>
        </p:nvSpPr>
        <p:spPr>
          <a:xfrm xmlns:a="http://schemas.openxmlformats.org/drawingml/2006/main">
            <a:off x="6953250" y="2428875"/>
            <a:ext cx="2571750" cy="8572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Tetrahidrofolato</a:t>
            </a:r>
          </a:p>
        </p:txBody>
      </p:sp>
      <p:sp>
        <p:nvSpPr>
          <p:cNvPr id="7" name="diagram-45">
            <a:extLst xmlns:a="http://schemas.openxmlformats.org/drawingml/2006/main">
              <a:ext uri="{FF2B5EF4-FFF2-40B4-BE49-F238E27FC236}">
                <a16:creationId xmlns:a16="http://schemas.microsoft.com/office/drawing/2014/main" id="{606DF2B9-14ED-4F09-A84A-CFD4BA8149FA}"/>
              </a:ext>
            </a:extLst>
          </p:cNvPr>
          <p:cNvSpPr>
            <a:spLocks xmlns:a="http://schemas.openxmlformats.org/drawingml/2006/main" noGrp="1"/>
          </p:cNvSpPr>
          <p:nvPr/>
        </p:nvSpPr>
        <p:spPr>
          <a:xfrm xmlns:a="http://schemas.openxmlformats.org/drawingml/2006/main">
            <a:off x="9867900" y="2428875"/>
            <a:ext cx="1695450" cy="8572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253A"/>
                </a:solidFill>
                <a:latin typeface="Times New Roman"/>
                <a:ea typeface="Times New Roman"/>
                <a:cs typeface="Times New Roman"/>
              </a:defRPr>
            </a:defPPr>
            <a:lvl1pPr algn="ctr">
              <a:defRPr sz="1725" b="1">
                <a:solidFill>
                  <a:srgbClr val="15253A"/>
                </a:solidFill>
                <a:latin typeface="Times New Roman"/>
                <a:ea typeface="Times New Roman"/>
                <a:cs typeface="Times New Roman"/>
              </a:defRPr>
            </a:lvl1pPr>
            <a:lvl2pPr algn="ctr">
              <a:defRPr sz="1725" b="1">
                <a:solidFill>
                  <a:srgbClr val="15253A"/>
                </a:solidFill>
                <a:latin typeface="Times New Roman"/>
                <a:ea typeface="Times New Roman"/>
                <a:cs typeface="Times New Roman"/>
              </a:defRPr>
            </a:lvl2pPr>
            <a:lvl3pPr algn="ctr">
              <a:defRPr sz="1725" b="1">
                <a:solidFill>
                  <a:srgbClr val="15253A"/>
                </a:solidFill>
                <a:latin typeface="Times New Roman"/>
                <a:ea typeface="Times New Roman"/>
                <a:cs typeface="Times New Roman"/>
              </a:defRPr>
            </a:lvl3pPr>
            <a:lvl4pPr algn="ctr">
              <a:defRPr sz="1725" b="1">
                <a:solidFill>
                  <a:srgbClr val="15253A"/>
                </a:solidFill>
                <a:latin typeface="Times New Roman"/>
                <a:ea typeface="Times New Roman"/>
                <a:cs typeface="Times New Roman"/>
              </a:defRPr>
            </a:lvl4pPr>
            <a:lvl5pPr algn="ctr">
              <a:defRPr sz="1725" b="1">
                <a:solidFill>
                  <a:srgbClr val="15253A"/>
                </a:solidFill>
                <a:latin typeface="Times New Roman"/>
                <a:ea typeface="Times New Roman"/>
                <a:cs typeface="Times New Roman"/>
              </a:defRPr>
            </a:lvl5pPr>
            <a:lvl6pPr algn="ctr">
              <a:defRPr sz="1725" b="1">
                <a:solidFill>
                  <a:srgbClr val="15253A"/>
                </a:solidFill>
                <a:latin typeface="Times New Roman"/>
                <a:ea typeface="Times New Roman"/>
                <a:cs typeface="Times New Roman"/>
              </a:defRPr>
            </a:lvl6pPr>
            <a:lvl7pPr algn="ctr">
              <a:defRPr sz="1725" b="1">
                <a:solidFill>
                  <a:srgbClr val="15253A"/>
                </a:solidFill>
                <a:latin typeface="Times New Roman"/>
                <a:ea typeface="Times New Roman"/>
                <a:cs typeface="Times New Roman"/>
              </a:defRPr>
            </a:lvl7pPr>
            <a:lvl8pPr algn="ctr">
              <a:defRPr sz="1725" b="1">
                <a:solidFill>
                  <a:srgbClr val="15253A"/>
                </a:solidFill>
                <a:latin typeface="Times New Roman"/>
                <a:ea typeface="Times New Roman"/>
                <a:cs typeface="Times New Roman"/>
              </a:defRPr>
            </a:lvl8pPr>
            <a:lvl9pPr algn="ctr">
              <a:defRPr sz="1725" b="1">
                <a:solidFill>
                  <a:srgbClr val="15253A"/>
                </a:solidFill>
                <a:latin typeface="Times New Roman"/>
                <a:ea typeface="Times New Roman"/>
                <a:cs typeface="Times New Roman"/>
              </a:defRPr>
            </a:lvl9pPr>
          </a:lstStyle>
          <a:p xmlns:a="http://schemas.openxmlformats.org/drawingml/2006/main">
            <a:pPr algn="ctr">
              <a:defRPr sz="1725" b="1">
                <a:solidFill>
                  <a:srgbClr val="15253A"/>
                </a:solidFill>
                <a:latin typeface="Times New Roman"/>
                <a:ea typeface="Times New Roman"/>
                <a:cs typeface="Times New Roman"/>
              </a:defRPr>
            </a:pPr>
            <a:r>
              <a:rPr sz="1725" b="1">
                <a:solidFill>
                  <a:srgbClr val="15253A"/>
                </a:solidFill>
                <a:latin typeface="Times New Roman"/>
                <a:ea typeface="Times New Roman"/>
                <a:cs typeface="Times New Roman"/>
              </a:rPr>
              <a:t>Síntesis de ADN</a:t>
            </a:r>
          </a:p>
        </p:txBody>
      </p:sp>
      <p:sp>
        <p:nvSpPr>
          <p:cNvPr id="11" name="text-46">
            <a:extLst xmlns:a="http://schemas.openxmlformats.org/drawingml/2006/main">
              <a:ext uri="{FF2B5EF4-FFF2-40B4-BE49-F238E27FC236}">
                <a16:creationId xmlns:a16="http://schemas.microsoft.com/office/drawing/2014/main" id="{BA8F4900-2581-4DBA-AFCA-92EDD3F55386}"/>
              </a:ext>
            </a:extLst>
          </p:cNvPr>
          <p:cNvSpPr>
            <a:spLocks xmlns:a="http://schemas.openxmlformats.org/drawingml/2006/main" noGrp="1"/>
          </p:cNvSpPr>
          <p:nvPr/>
        </p:nvSpPr>
        <p:spPr>
          <a:xfrm xmlns:a="http://schemas.openxmlformats.org/drawingml/2006/main">
            <a:off x="1905000" y="3667125"/>
            <a:ext cx="3524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26C9C"/>
                </a:solidFill>
                <a:latin typeface="Times New Roman"/>
                <a:ea typeface="Times New Roman"/>
                <a:cs typeface="Times New Roman"/>
              </a:defRPr>
            </a:defPPr>
            <a:lvl1pPr algn="l">
              <a:defRPr sz="2175" b="1">
                <a:solidFill>
                  <a:srgbClr val="226C9C"/>
                </a:solidFill>
                <a:latin typeface="Times New Roman"/>
                <a:ea typeface="Times New Roman"/>
                <a:cs typeface="Times New Roman"/>
              </a:defRPr>
            </a:lvl1pPr>
            <a:lvl2pPr algn="l">
              <a:defRPr sz="2175" b="1">
                <a:solidFill>
                  <a:srgbClr val="226C9C"/>
                </a:solidFill>
                <a:latin typeface="Times New Roman"/>
                <a:ea typeface="Times New Roman"/>
                <a:cs typeface="Times New Roman"/>
              </a:defRPr>
            </a:lvl2pPr>
            <a:lvl3pPr algn="l">
              <a:defRPr sz="2175" b="1">
                <a:solidFill>
                  <a:srgbClr val="226C9C"/>
                </a:solidFill>
                <a:latin typeface="Times New Roman"/>
                <a:ea typeface="Times New Roman"/>
                <a:cs typeface="Times New Roman"/>
              </a:defRPr>
            </a:lvl3pPr>
            <a:lvl4pPr algn="l">
              <a:defRPr sz="2175" b="1">
                <a:solidFill>
                  <a:srgbClr val="226C9C"/>
                </a:solidFill>
                <a:latin typeface="Times New Roman"/>
                <a:ea typeface="Times New Roman"/>
                <a:cs typeface="Times New Roman"/>
              </a:defRPr>
            </a:lvl4pPr>
            <a:lvl5pPr algn="l">
              <a:defRPr sz="2175" b="1">
                <a:solidFill>
                  <a:srgbClr val="226C9C"/>
                </a:solidFill>
                <a:latin typeface="Times New Roman"/>
                <a:ea typeface="Times New Roman"/>
                <a:cs typeface="Times New Roman"/>
              </a:defRPr>
            </a:lvl5pPr>
            <a:lvl6pPr algn="l">
              <a:defRPr sz="2175" b="1">
                <a:solidFill>
                  <a:srgbClr val="226C9C"/>
                </a:solidFill>
                <a:latin typeface="Times New Roman"/>
                <a:ea typeface="Times New Roman"/>
                <a:cs typeface="Times New Roman"/>
              </a:defRPr>
            </a:lvl6pPr>
            <a:lvl7pPr algn="l">
              <a:defRPr sz="2175" b="1">
                <a:solidFill>
                  <a:srgbClr val="226C9C"/>
                </a:solidFill>
                <a:latin typeface="Times New Roman"/>
                <a:ea typeface="Times New Roman"/>
                <a:cs typeface="Times New Roman"/>
              </a:defRPr>
            </a:lvl7pPr>
            <a:lvl8pPr algn="l">
              <a:defRPr sz="2175" b="1">
                <a:solidFill>
                  <a:srgbClr val="226C9C"/>
                </a:solidFill>
                <a:latin typeface="Times New Roman"/>
                <a:ea typeface="Times New Roman"/>
                <a:cs typeface="Times New Roman"/>
              </a:defRPr>
            </a:lvl8pPr>
            <a:lvl9pPr algn="l">
              <a:defRPr sz="2175" b="1">
                <a:solidFill>
                  <a:srgbClr val="226C9C"/>
                </a:solidFill>
                <a:latin typeface="Times New Roman"/>
                <a:ea typeface="Times New Roman"/>
                <a:cs typeface="Times New Roman"/>
              </a:defRPr>
            </a:lvl9pPr>
          </a:lstStyle>
          <a:p xmlns:a="http://schemas.openxmlformats.org/drawingml/2006/main">
            <a:pPr algn="l">
              <a:defRPr sz="2175" b="1">
                <a:solidFill>
                  <a:srgbClr val="226C9C"/>
                </a:solidFill>
                <a:latin typeface="Times New Roman"/>
                <a:ea typeface="Times New Roman"/>
                <a:cs typeface="Times New Roman"/>
              </a:defRPr>
            </a:pPr>
            <a:r>
              <a:rPr sz="2175" b="1">
                <a:solidFill>
                  <a:srgbClr val="226C9C"/>
                </a:solidFill>
                <a:latin typeface="Times New Roman"/>
                <a:ea typeface="Times New Roman"/>
                <a:cs typeface="Times New Roman"/>
              </a:rPr>
              <a:t>Sulfametoxazol</a:t>
            </a:r>
          </a:p>
          <a:p xmlns:a="http://schemas.openxmlformats.org/drawingml/2006/main">
            <a:pPr algn="l">
              <a:defRPr sz="2175" b="1">
                <a:solidFill>
                  <a:srgbClr val="226C9C"/>
                </a:solidFill>
                <a:latin typeface="Times New Roman"/>
                <a:ea typeface="Times New Roman"/>
                <a:cs typeface="Times New Roman"/>
              </a:defRPr>
            </a:pPr>
            <a:r>
              <a:rPr sz="2175" b="1">
                <a:solidFill>
                  <a:srgbClr val="226C9C"/>
                </a:solidFill>
                <a:latin typeface="Times New Roman"/>
                <a:ea typeface="Times New Roman"/>
                <a:cs typeface="Times New Roman"/>
              </a:rPr>
              <a:t>inhibe la síntesis de folato</a:t>
            </a:r>
          </a:p>
        </p:txBody>
      </p:sp>
      <p:sp>
        <p:nvSpPr>
          <p:cNvPr id="12" name="text-47">
            <a:extLst xmlns:a="http://schemas.openxmlformats.org/drawingml/2006/main">
              <a:ext uri="{FF2B5EF4-FFF2-40B4-BE49-F238E27FC236}">
                <a16:creationId xmlns:a16="http://schemas.microsoft.com/office/drawing/2014/main" id="{2C77A694-A500-4A03-8A8A-0A3417F6BC1C}"/>
              </a:ext>
            </a:extLst>
          </p:cNvPr>
          <p:cNvSpPr>
            <a:spLocks xmlns:a="http://schemas.openxmlformats.org/drawingml/2006/main" noGrp="1"/>
          </p:cNvSpPr>
          <p:nvPr/>
        </p:nvSpPr>
        <p:spPr>
          <a:xfrm xmlns:a="http://schemas.openxmlformats.org/drawingml/2006/main">
            <a:off x="6115050" y="3667125"/>
            <a:ext cx="4953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26C9C"/>
                </a:solidFill>
                <a:latin typeface="Times New Roman"/>
                <a:ea typeface="Times New Roman"/>
                <a:cs typeface="Times New Roman"/>
              </a:defRPr>
            </a:defPPr>
            <a:lvl1pPr algn="l">
              <a:defRPr sz="2175" b="1">
                <a:solidFill>
                  <a:srgbClr val="226C9C"/>
                </a:solidFill>
                <a:latin typeface="Times New Roman"/>
                <a:ea typeface="Times New Roman"/>
                <a:cs typeface="Times New Roman"/>
              </a:defRPr>
            </a:lvl1pPr>
            <a:lvl2pPr algn="l">
              <a:defRPr sz="2175" b="1">
                <a:solidFill>
                  <a:srgbClr val="226C9C"/>
                </a:solidFill>
                <a:latin typeface="Times New Roman"/>
                <a:ea typeface="Times New Roman"/>
                <a:cs typeface="Times New Roman"/>
              </a:defRPr>
            </a:lvl2pPr>
            <a:lvl3pPr algn="l">
              <a:defRPr sz="2175" b="1">
                <a:solidFill>
                  <a:srgbClr val="226C9C"/>
                </a:solidFill>
                <a:latin typeface="Times New Roman"/>
                <a:ea typeface="Times New Roman"/>
                <a:cs typeface="Times New Roman"/>
              </a:defRPr>
            </a:lvl3pPr>
            <a:lvl4pPr algn="l">
              <a:defRPr sz="2175" b="1">
                <a:solidFill>
                  <a:srgbClr val="226C9C"/>
                </a:solidFill>
                <a:latin typeface="Times New Roman"/>
                <a:ea typeface="Times New Roman"/>
                <a:cs typeface="Times New Roman"/>
              </a:defRPr>
            </a:lvl4pPr>
            <a:lvl5pPr algn="l">
              <a:defRPr sz="2175" b="1">
                <a:solidFill>
                  <a:srgbClr val="226C9C"/>
                </a:solidFill>
                <a:latin typeface="Times New Roman"/>
                <a:ea typeface="Times New Roman"/>
                <a:cs typeface="Times New Roman"/>
              </a:defRPr>
            </a:lvl5pPr>
            <a:lvl6pPr algn="l">
              <a:defRPr sz="2175" b="1">
                <a:solidFill>
                  <a:srgbClr val="226C9C"/>
                </a:solidFill>
                <a:latin typeface="Times New Roman"/>
                <a:ea typeface="Times New Roman"/>
                <a:cs typeface="Times New Roman"/>
              </a:defRPr>
            </a:lvl6pPr>
            <a:lvl7pPr algn="l">
              <a:defRPr sz="2175" b="1">
                <a:solidFill>
                  <a:srgbClr val="226C9C"/>
                </a:solidFill>
                <a:latin typeface="Times New Roman"/>
                <a:ea typeface="Times New Roman"/>
                <a:cs typeface="Times New Roman"/>
              </a:defRPr>
            </a:lvl7pPr>
            <a:lvl8pPr algn="l">
              <a:defRPr sz="2175" b="1">
                <a:solidFill>
                  <a:srgbClr val="226C9C"/>
                </a:solidFill>
                <a:latin typeface="Times New Roman"/>
                <a:ea typeface="Times New Roman"/>
                <a:cs typeface="Times New Roman"/>
              </a:defRPr>
            </a:lvl8pPr>
            <a:lvl9pPr algn="l">
              <a:defRPr sz="2175" b="1">
                <a:solidFill>
                  <a:srgbClr val="226C9C"/>
                </a:solidFill>
                <a:latin typeface="Times New Roman"/>
                <a:ea typeface="Times New Roman"/>
                <a:cs typeface="Times New Roman"/>
              </a:defRPr>
            </a:lvl9pPr>
          </a:lstStyle>
          <a:p xmlns:a="http://schemas.openxmlformats.org/drawingml/2006/main">
            <a:pPr algn="l">
              <a:defRPr sz="2175" b="1">
                <a:solidFill>
                  <a:srgbClr val="226C9C"/>
                </a:solidFill>
                <a:latin typeface="Times New Roman"/>
                <a:ea typeface="Times New Roman"/>
                <a:cs typeface="Times New Roman"/>
              </a:defRPr>
            </a:pPr>
            <a:r>
              <a:rPr sz="2175" b="1">
                <a:solidFill>
                  <a:srgbClr val="226C9C"/>
                </a:solidFill>
                <a:latin typeface="Times New Roman"/>
                <a:ea typeface="Times New Roman"/>
                <a:cs typeface="Times New Roman"/>
              </a:rPr>
              <a:t>Trimetoprim</a:t>
            </a:r>
          </a:p>
          <a:p xmlns:a="http://schemas.openxmlformats.org/drawingml/2006/main">
            <a:pPr algn="l">
              <a:defRPr sz="2175" b="1">
                <a:solidFill>
                  <a:srgbClr val="226C9C"/>
                </a:solidFill>
                <a:latin typeface="Times New Roman"/>
                <a:ea typeface="Times New Roman"/>
                <a:cs typeface="Times New Roman"/>
              </a:defRPr>
            </a:pPr>
            <a:r>
              <a:rPr sz="2175" b="1">
                <a:solidFill>
                  <a:srgbClr val="226C9C"/>
                </a:solidFill>
                <a:latin typeface="Times New Roman"/>
                <a:ea typeface="Times New Roman"/>
                <a:cs typeface="Times New Roman"/>
              </a:rPr>
              <a:t>inhibe la dihidrofolato reductasa</a:t>
            </a:r>
          </a:p>
        </p:txBody>
      </p:sp>
      <p:sp>
        <p:nvSpPr>
          <p:cNvPr id="13" name="text-48">
            <a:extLst xmlns:a="http://schemas.openxmlformats.org/drawingml/2006/main">
              <a:ext uri="{FF2B5EF4-FFF2-40B4-BE49-F238E27FC236}">
                <a16:creationId xmlns:a16="http://schemas.microsoft.com/office/drawing/2014/main" id="{CEC5EF08-9BCE-4158-AB31-088D7999F930}"/>
              </a:ext>
            </a:extLst>
          </p:cNvPr>
          <p:cNvSpPr>
            <a:spLocks xmlns:a="http://schemas.openxmlformats.org/drawingml/2006/main" noGrp="1"/>
          </p:cNvSpPr>
          <p:nvPr/>
        </p:nvSpPr>
        <p:spPr>
          <a:xfrm xmlns:a="http://schemas.openxmlformats.org/drawingml/2006/main">
            <a:off x="628650" y="5238750"/>
            <a:ext cx="10934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0">
                <a:solidFill>
                  <a:srgbClr val="173A5E"/>
                </a:solidFill>
                <a:latin typeface="Times New Roman"/>
                <a:ea typeface="Times New Roman"/>
                <a:cs typeface="Times New Roman"/>
              </a:defRPr>
            </a:defPPr>
            <a:lvl1pPr algn="l">
              <a:defRPr sz="2400" b="0">
                <a:solidFill>
                  <a:srgbClr val="173A5E"/>
                </a:solidFill>
                <a:latin typeface="Times New Roman"/>
                <a:ea typeface="Times New Roman"/>
                <a:cs typeface="Times New Roman"/>
              </a:defRPr>
            </a:lvl1pPr>
            <a:lvl2pPr algn="l">
              <a:defRPr sz="2400" b="0">
                <a:solidFill>
                  <a:srgbClr val="173A5E"/>
                </a:solidFill>
                <a:latin typeface="Times New Roman"/>
                <a:ea typeface="Times New Roman"/>
                <a:cs typeface="Times New Roman"/>
              </a:defRPr>
            </a:lvl2pPr>
            <a:lvl3pPr algn="l">
              <a:defRPr sz="2400" b="0">
                <a:solidFill>
                  <a:srgbClr val="173A5E"/>
                </a:solidFill>
                <a:latin typeface="Times New Roman"/>
                <a:ea typeface="Times New Roman"/>
                <a:cs typeface="Times New Roman"/>
              </a:defRPr>
            </a:lvl3pPr>
            <a:lvl4pPr algn="l">
              <a:defRPr sz="2400" b="0">
                <a:solidFill>
                  <a:srgbClr val="173A5E"/>
                </a:solidFill>
                <a:latin typeface="Times New Roman"/>
                <a:ea typeface="Times New Roman"/>
                <a:cs typeface="Times New Roman"/>
              </a:defRPr>
            </a:lvl4pPr>
            <a:lvl5pPr algn="l">
              <a:defRPr sz="2400" b="0">
                <a:solidFill>
                  <a:srgbClr val="173A5E"/>
                </a:solidFill>
                <a:latin typeface="Times New Roman"/>
                <a:ea typeface="Times New Roman"/>
                <a:cs typeface="Times New Roman"/>
              </a:defRPr>
            </a:lvl5pPr>
            <a:lvl6pPr algn="l">
              <a:defRPr sz="2400" b="0">
                <a:solidFill>
                  <a:srgbClr val="173A5E"/>
                </a:solidFill>
                <a:latin typeface="Times New Roman"/>
                <a:ea typeface="Times New Roman"/>
                <a:cs typeface="Times New Roman"/>
              </a:defRPr>
            </a:lvl6pPr>
            <a:lvl7pPr algn="l">
              <a:defRPr sz="2400" b="0">
                <a:solidFill>
                  <a:srgbClr val="173A5E"/>
                </a:solidFill>
                <a:latin typeface="Times New Roman"/>
                <a:ea typeface="Times New Roman"/>
                <a:cs typeface="Times New Roman"/>
              </a:defRPr>
            </a:lvl7pPr>
            <a:lvl8pPr algn="l">
              <a:defRPr sz="2400" b="0">
                <a:solidFill>
                  <a:srgbClr val="173A5E"/>
                </a:solidFill>
                <a:latin typeface="Times New Roman"/>
                <a:ea typeface="Times New Roman"/>
                <a:cs typeface="Times New Roman"/>
              </a:defRPr>
            </a:lvl8pPr>
            <a:lvl9pPr algn="l">
              <a:defRPr sz="2400" b="0">
                <a:solidFill>
                  <a:srgbClr val="173A5E"/>
                </a:solidFill>
                <a:latin typeface="Times New Roman"/>
                <a:ea typeface="Times New Roman"/>
                <a:cs typeface="Times New Roman"/>
              </a:defRPr>
            </a:lvl9pPr>
          </a:lstStyle>
          <a:p xmlns:a="http://schemas.openxmlformats.org/drawingml/2006/main">
            <a:pPr algn="l">
              <a:defRPr sz="2400" b="0">
                <a:solidFill>
                  <a:srgbClr val="173A5E"/>
                </a:solidFill>
                <a:latin typeface="Times New Roman"/>
                <a:ea typeface="Times New Roman"/>
                <a:cs typeface="Times New Roman"/>
              </a:defRPr>
            </a:pPr>
            <a:r>
              <a:rPr sz="2400" b="0">
                <a:solidFill>
                  <a:srgbClr val="173A5E"/>
                </a:solidFill>
                <a:latin typeface="Times New Roman"/>
                <a:ea typeface="Times New Roman"/>
                <a:cs typeface="Times New Roman"/>
              </a:rPr>
              <a:t>El bloqueo secuencial explica la combinación en un solo producto.</a:t>
            </a:r>
          </a:p>
        </p:txBody>
      </p:sp>
      <p:sp>
        <p:nvSpPr>
          <p:cNvPr id="14" name="text-110">
            <a:extLst xmlns:a="http://schemas.openxmlformats.org/drawingml/2006/main">
              <a:ext uri="{FF2B5EF4-FFF2-40B4-BE49-F238E27FC236}">
                <a16:creationId xmlns:a16="http://schemas.microsoft.com/office/drawing/2014/main" id="{7D7DF886-702F-4953-A9A7-CECC23A12C31}"/>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(4, 5)</a:t>
            </a:r>
          </a:p>
        </p:txBody>
      </p:sp>
    </p:spTree>
    <p:extLst>
      <p:ext uri="{BB962C8B-B14F-4D97-AF65-F5344CB8AC3E}">
        <p14:creationId xmlns:p14="http://schemas.microsoft.com/office/powerpoint/2010/main" val="19382954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9">
            <a:extLst xmlns:a="http://schemas.openxmlformats.org/drawingml/2006/main">
              <a:ext uri="{FF2B5EF4-FFF2-40B4-BE49-F238E27FC236}">
                <a16:creationId xmlns:a16="http://schemas.microsoft.com/office/drawing/2014/main" id="{9AAED399-D61A-4608-9ED4-DF38A0A0A806}"/>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Cálculo de Bactrivet por componentes</a:t>
            </a:r>
          </a:p>
        </p:txBody>
      </p:sp>
      <p:sp>
        <p:nvSpPr>
          <p:cNvPr id="2" name="text-50">
            <a:extLst xmlns:a="http://schemas.openxmlformats.org/drawingml/2006/main">
              <a:ext uri="{FF2B5EF4-FFF2-40B4-BE49-F238E27FC236}">
                <a16:creationId xmlns:a16="http://schemas.microsoft.com/office/drawing/2014/main" id="{72111DC4-6722-40B7-AD36-1437A7FC246A}"/>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Concentración de la ficha: sulfametoxazol 80 mg/mL y trimetoprim 16 mg/mL</a:t>
            </a:r>
          </a:p>
        </p:txBody>
      </p:sp>
      <p:sp>
        <p:nvSpPr>
          <p:cNvPr id="3" name="text-51">
            <a:extLst xmlns:a="http://schemas.openxmlformats.org/drawingml/2006/main">
              <a:ext uri="{FF2B5EF4-FFF2-40B4-BE49-F238E27FC236}">
                <a16:creationId xmlns:a16="http://schemas.microsoft.com/office/drawing/2014/main" id="{11692151-AEC7-4BF1-AEE7-12F6D6372135}"/>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8</a:t>
            </a:r>
          </a:p>
        </p:txBody>
      </p:sp>
      <p:sp>
        <p:nvSpPr>
          <p:cNvPr id="4" name="text-52">
            <a:extLst xmlns:a="http://schemas.openxmlformats.org/drawingml/2006/main">
              <a:ext uri="{FF2B5EF4-FFF2-40B4-BE49-F238E27FC236}">
                <a16:creationId xmlns:a16="http://schemas.microsoft.com/office/drawing/2014/main" id="{88CF576D-99EF-438D-9D29-14C541AF1528}"/>
              </a:ext>
            </a:extLst>
          </p:cNvPr>
          <p:cNvSpPr>
            <a:spLocks xmlns:a="http://schemas.openxmlformats.org/drawingml/2006/main" noGrp="1"/>
          </p:cNvSpPr>
          <p:nvPr/>
        </p:nvSpPr>
        <p:spPr>
          <a:xfrm xmlns:a="http://schemas.openxmlformats.org/drawingml/2006/main">
            <a:off x="628650" y="191452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226C9C"/>
                </a:solidFill>
                <a:latin typeface="Times New Roman"/>
                <a:ea typeface="Times New Roman"/>
                <a:cs typeface="Times New Roman"/>
              </a:defRPr>
            </a:defPPr>
            <a:lvl1pPr algn="l">
              <a:defRPr sz="3900" b="1">
                <a:solidFill>
                  <a:srgbClr val="226C9C"/>
                </a:solidFill>
                <a:latin typeface="Times New Roman"/>
                <a:ea typeface="Times New Roman"/>
                <a:cs typeface="Times New Roman"/>
              </a:defRPr>
            </a:lvl1pPr>
            <a:lvl2pPr algn="l">
              <a:defRPr sz="3900" b="1">
                <a:solidFill>
                  <a:srgbClr val="226C9C"/>
                </a:solidFill>
                <a:latin typeface="Times New Roman"/>
                <a:ea typeface="Times New Roman"/>
                <a:cs typeface="Times New Roman"/>
              </a:defRPr>
            </a:lvl2pPr>
            <a:lvl3pPr algn="l">
              <a:defRPr sz="3900" b="1">
                <a:solidFill>
                  <a:srgbClr val="226C9C"/>
                </a:solidFill>
                <a:latin typeface="Times New Roman"/>
                <a:ea typeface="Times New Roman"/>
                <a:cs typeface="Times New Roman"/>
              </a:defRPr>
            </a:lvl3pPr>
            <a:lvl4pPr algn="l">
              <a:defRPr sz="3900" b="1">
                <a:solidFill>
                  <a:srgbClr val="226C9C"/>
                </a:solidFill>
                <a:latin typeface="Times New Roman"/>
                <a:ea typeface="Times New Roman"/>
                <a:cs typeface="Times New Roman"/>
              </a:defRPr>
            </a:lvl4pPr>
            <a:lvl5pPr algn="l">
              <a:defRPr sz="3900" b="1">
                <a:solidFill>
                  <a:srgbClr val="226C9C"/>
                </a:solidFill>
                <a:latin typeface="Times New Roman"/>
                <a:ea typeface="Times New Roman"/>
                <a:cs typeface="Times New Roman"/>
              </a:defRPr>
            </a:lvl5pPr>
            <a:lvl6pPr algn="l">
              <a:defRPr sz="3900" b="1">
                <a:solidFill>
                  <a:srgbClr val="226C9C"/>
                </a:solidFill>
                <a:latin typeface="Times New Roman"/>
                <a:ea typeface="Times New Roman"/>
                <a:cs typeface="Times New Roman"/>
              </a:defRPr>
            </a:lvl6pPr>
            <a:lvl7pPr algn="l">
              <a:defRPr sz="3900" b="1">
                <a:solidFill>
                  <a:srgbClr val="226C9C"/>
                </a:solidFill>
                <a:latin typeface="Times New Roman"/>
                <a:ea typeface="Times New Roman"/>
                <a:cs typeface="Times New Roman"/>
              </a:defRPr>
            </a:lvl7pPr>
            <a:lvl8pPr algn="l">
              <a:defRPr sz="3900" b="1">
                <a:solidFill>
                  <a:srgbClr val="226C9C"/>
                </a:solidFill>
                <a:latin typeface="Times New Roman"/>
                <a:ea typeface="Times New Roman"/>
                <a:cs typeface="Times New Roman"/>
              </a:defRPr>
            </a:lvl8pPr>
            <a:lvl9pPr algn="l">
              <a:defRPr sz="3900" b="1">
                <a:solidFill>
                  <a:srgbClr val="226C9C"/>
                </a:solidFill>
                <a:latin typeface="Times New Roman"/>
                <a:ea typeface="Times New Roman"/>
                <a:cs typeface="Times New Roman"/>
              </a:defRPr>
            </a:lvl9pPr>
          </a:lstStyle>
          <a:p xmlns:a="http://schemas.openxmlformats.org/drawingml/2006/main">
            <a:pPr algn="l">
              <a:defRPr sz="3900" b="1">
                <a:solidFill>
                  <a:srgbClr val="226C9C"/>
                </a:solidFill>
                <a:latin typeface="Times New Roman"/>
                <a:ea typeface="Times New Roman"/>
                <a:cs typeface="Times New Roman"/>
              </a:defRPr>
            </a:pPr>
            <a:r>
              <a:rPr sz="3900" b="1">
                <a:solidFill>
                  <a:srgbClr val="226C9C"/>
                </a:solidFill>
                <a:latin typeface="Times New Roman"/>
                <a:ea typeface="Times New Roman"/>
                <a:cs typeface="Times New Roman"/>
              </a:rPr>
              <a:t>3 mL por toma</a:t>
            </a:r>
          </a:p>
        </p:txBody>
      </p:sp>
      <p:sp>
        <p:nvSpPr>
          <p:cNvPr id="5" name="text-53">
            <a:extLst xmlns:a="http://schemas.openxmlformats.org/drawingml/2006/main">
              <a:ext uri="{FF2B5EF4-FFF2-40B4-BE49-F238E27FC236}">
                <a16:creationId xmlns:a16="http://schemas.microsoft.com/office/drawing/2014/main" id="{64B6AC94-95BB-4EA0-A950-8A15C8E4681B}"/>
              </a:ext>
            </a:extLst>
          </p:cNvPr>
          <p:cNvSpPr>
            <a:spLocks xmlns:a="http://schemas.openxmlformats.org/drawingml/2006/main" noGrp="1"/>
          </p:cNvSpPr>
          <p:nvPr/>
        </p:nvSpPr>
        <p:spPr>
          <a:xfrm xmlns:a="http://schemas.openxmlformats.org/drawingml/2006/main">
            <a:off x="628650" y="306705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625" b="0">
                <a:solidFill>
                  <a:srgbClr val="15253A"/>
                </a:solidFill>
                <a:latin typeface="Times New Roman"/>
                <a:ea typeface="Times New Roman"/>
                <a:cs typeface="Times New Roman"/>
              </a:defRPr>
            </a:defPPr>
            <a:lvl1pPr algn="l">
              <a:defRPr sz="2625" b="0">
                <a:solidFill>
                  <a:srgbClr val="15253A"/>
                </a:solidFill>
                <a:latin typeface="Times New Roman"/>
                <a:ea typeface="Times New Roman"/>
                <a:cs typeface="Times New Roman"/>
              </a:defRPr>
            </a:lvl1pPr>
            <a:lvl2pPr algn="l">
              <a:defRPr sz="2625" b="0">
                <a:solidFill>
                  <a:srgbClr val="15253A"/>
                </a:solidFill>
                <a:latin typeface="Times New Roman"/>
                <a:ea typeface="Times New Roman"/>
                <a:cs typeface="Times New Roman"/>
              </a:defRPr>
            </a:lvl2pPr>
            <a:lvl3pPr algn="l">
              <a:defRPr sz="2625" b="0">
                <a:solidFill>
                  <a:srgbClr val="15253A"/>
                </a:solidFill>
                <a:latin typeface="Times New Roman"/>
                <a:ea typeface="Times New Roman"/>
                <a:cs typeface="Times New Roman"/>
              </a:defRPr>
            </a:lvl3pPr>
            <a:lvl4pPr algn="l">
              <a:defRPr sz="2625" b="0">
                <a:solidFill>
                  <a:srgbClr val="15253A"/>
                </a:solidFill>
                <a:latin typeface="Times New Roman"/>
                <a:ea typeface="Times New Roman"/>
                <a:cs typeface="Times New Roman"/>
              </a:defRPr>
            </a:lvl4pPr>
            <a:lvl5pPr algn="l">
              <a:defRPr sz="2625" b="0">
                <a:solidFill>
                  <a:srgbClr val="15253A"/>
                </a:solidFill>
                <a:latin typeface="Times New Roman"/>
                <a:ea typeface="Times New Roman"/>
                <a:cs typeface="Times New Roman"/>
              </a:defRPr>
            </a:lvl5pPr>
            <a:lvl6pPr algn="l">
              <a:defRPr sz="2625" b="0">
                <a:solidFill>
                  <a:srgbClr val="15253A"/>
                </a:solidFill>
                <a:latin typeface="Times New Roman"/>
                <a:ea typeface="Times New Roman"/>
                <a:cs typeface="Times New Roman"/>
              </a:defRPr>
            </a:lvl6pPr>
            <a:lvl7pPr algn="l">
              <a:defRPr sz="2625" b="0">
                <a:solidFill>
                  <a:srgbClr val="15253A"/>
                </a:solidFill>
                <a:latin typeface="Times New Roman"/>
                <a:ea typeface="Times New Roman"/>
                <a:cs typeface="Times New Roman"/>
              </a:defRPr>
            </a:lvl7pPr>
            <a:lvl8pPr algn="l">
              <a:defRPr sz="2625" b="0">
                <a:solidFill>
                  <a:srgbClr val="15253A"/>
                </a:solidFill>
                <a:latin typeface="Times New Roman"/>
                <a:ea typeface="Times New Roman"/>
                <a:cs typeface="Times New Roman"/>
              </a:defRPr>
            </a:lvl8pPr>
            <a:lvl9pPr algn="l">
              <a:defRPr sz="2625" b="0">
                <a:solidFill>
                  <a:srgbClr val="15253A"/>
                </a:solidFill>
                <a:latin typeface="Times New Roman"/>
                <a:ea typeface="Times New Roman"/>
                <a:cs typeface="Times New Roman"/>
              </a:defRPr>
            </a:lvl9pPr>
          </a:lstStyle>
          <a:p xmlns:a="http://schemas.openxmlformats.org/drawingml/2006/main">
            <a:pPr algn="l">
              <a:defRPr sz="2625" b="0">
                <a:solidFill>
                  <a:srgbClr val="15253A"/>
                </a:solidFill>
                <a:latin typeface="Times New Roman"/>
                <a:ea typeface="Times New Roman"/>
                <a:cs typeface="Times New Roman"/>
              </a:defRPr>
            </a:pPr>
            <a:r>
              <a:rPr sz="2625" b="0">
                <a:solidFill>
                  <a:srgbClr val="15253A"/>
                </a:solidFill>
                <a:latin typeface="Times New Roman"/>
                <a:ea typeface="Times New Roman"/>
                <a:cs typeface="Times New Roman"/>
              </a:rPr>
              <a:t>80 + 16 = 96 mg/mL</a:t>
            </a:r>
          </a:p>
          <a:p xmlns:a="http://schemas.openxmlformats.org/drawingml/2006/main">
            <a:pPr algn="l">
              <a:defRPr sz="2625" b="0">
                <a:solidFill>
                  <a:srgbClr val="15253A"/>
                </a:solidFill>
                <a:latin typeface="Times New Roman"/>
                <a:ea typeface="Times New Roman"/>
                <a:cs typeface="Times New Roman"/>
              </a:defRPr>
            </a:pPr>
            <a:r>
              <a:rPr sz="2625" b="0">
                <a:solidFill>
                  <a:srgbClr val="15253A"/>
                </a:solidFill>
                <a:latin typeface="Times New Roman"/>
                <a:ea typeface="Times New Roman"/>
                <a:cs typeface="Times New Roman"/>
              </a:rPr>
              <a:t>3 × 96 = 288 mg por toma</a:t>
            </a:r>
          </a:p>
          <a:p xmlns:a="http://schemas.openxmlformats.org/drawingml/2006/main">
            <a:pPr algn="l">
              <a:defRPr sz="2625" b="0">
                <a:solidFill>
                  <a:srgbClr val="15253A"/>
                </a:solidFill>
                <a:latin typeface="Times New Roman"/>
                <a:ea typeface="Times New Roman"/>
                <a:cs typeface="Times New Roman"/>
              </a:defRPr>
            </a:pPr>
            <a:r>
              <a:rPr sz="2625" b="0">
                <a:solidFill>
                  <a:srgbClr val="15253A"/>
                </a:solidFill>
                <a:latin typeface="Times New Roman"/>
                <a:ea typeface="Times New Roman"/>
                <a:cs typeface="Times New Roman"/>
              </a:rPr>
              <a:t>288 ÷ 21,60 = 13,33 mg/kg</a:t>
            </a:r>
          </a:p>
        </p:txBody>
      </p:sp>
      <p:graphicFrame>
        <p:nvGraphicFramePr>
          <p:cNvPr id="6" name="">
            <a:extLst xmlns:a="http://schemas.openxmlformats.org/drawingml/2006/main">
              <a:ext uri="{FF2B5EF4-FFF2-40B4-BE49-F238E27FC236}">
                <a16:creationId xmlns:a16="http://schemas.microsoft.com/office/drawing/2014/main" id="{132F137E-E981-43AC-AF47-FDAE13EE6E77}"/>
              </a:ext>
            </a:extLst>
          </p:cNvPr>
          <p:cNvGraphicFramePr/>
          <p:nvPr/>
        </p:nvGraphicFramePr>
        <p:xfrm>
          <a:off xmlns:a="http://schemas.openxmlformats.org/drawingml/2006/main" x="5876925" y="1943100"/>
          <a:ext xmlns:a="http://schemas.openxmlformats.org/drawingml/2006/main" cx="5686425" cy="2819400"/>
        </p:xfrm>
        <a:graphic xmlns:a="http://schemas.openxmlformats.org/drawingml/2006/main">
          <a:graphicData uri="http://schemas.openxmlformats.org/drawingml/2006/table">
            <a:tbl>
              <a:tblPr/>
              <a:tblGrid>
                <a:gridCol w="2333625"/>
                <a:gridCol w="1476375"/>
                <a:gridCol w="1876425"/>
              </a:tblGrid>
              <a:tr h="704850">
                <a:tc>
                  <a:txBody>
                    <a:bodyPr lIns="95250" tIns="95250" rIns="95250" bIns="95250"/>
                    <a:lstStyle/>
                    <a:p>
                      <a:r>
                        <a:rPr sz="1875" b="1">
                          <a:solidFill>
                            <a:srgbClr val="FFFFFF"/>
                          </a:solidFill>
                          <a:latin typeface="Times New Roman"/>
                          <a:ea typeface="Times New Roman"/>
                          <a:cs typeface="Times New Roman"/>
                        </a:rPr>
                        <a:t>Principio</a:t>
                      </a:r>
                    </a:p>
                  </a:txBody>
                  <a:tcPr marL="91440" marR="91440" marT="45720" marB="45720" anchor="ctr">
                    <a:lnL w="9525">
                      <a:solidFill>
                        <a:srgbClr val="D6DEE5"/>
                      </a:solidFill>
                      <a:prstDash val="solid"/>
                    </a:lnL>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mg por toma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mg/kg por toma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r>
              <a:tr h="704850">
                <a:tc>
                  <a:txBody>
                    <a:bodyPr lIns="95250" tIns="95250" rIns="95250" bIns="95250"/>
                    <a:lstStyle/>
                    <a:p>
                      <a:r>
                        <a:rPr sz="1875" b="0">
                          <a:solidFill>
                            <a:srgbClr val="15253A"/>
                          </a:solidFill>
                          <a:latin typeface="Times New Roman"/>
                          <a:ea typeface="Times New Roman"/>
                          <a:cs typeface="Times New Roman"/>
                        </a:rPr>
                        <a:t>Sulfametoxazol</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240</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11,11</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704850">
                <a:tc>
                  <a:txBody>
                    <a:bodyPr lIns="95250" tIns="95250" rIns="95250" bIns="95250"/>
                    <a:lstStyle/>
                    <a:p>
                      <a:r>
                        <a:rPr sz="1875" b="0">
                          <a:solidFill>
                            <a:srgbClr val="15253A"/>
                          </a:solidFill>
                          <a:latin typeface="Times New Roman"/>
                          <a:ea typeface="Times New Roman"/>
                          <a:cs typeface="Times New Roman"/>
                        </a:rPr>
                        <a:t>Trimetoprim</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48</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2,22</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r h="704850">
                <a:tc>
                  <a:txBody>
                    <a:bodyPr lIns="95250" tIns="95250" rIns="95250" bIns="95250"/>
                    <a:lstStyle/>
                    <a:p>
                      <a:r>
                        <a:rPr sz="1875" b="0">
                          <a:solidFill>
                            <a:srgbClr val="15253A"/>
                          </a:solidFill>
                          <a:latin typeface="Times New Roman"/>
                          <a:ea typeface="Times New Roman"/>
                          <a:cs typeface="Times New Roman"/>
                        </a:rPr>
                        <a:t>Combinación</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288</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13,33</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bl>
          </a:graphicData>
        </a:graphic>
      </p:graphicFrame>
      <p:sp>
        <p:nvSpPr>
          <p:cNvPr id="7" name="text-54">
            <a:extLst xmlns:a="http://schemas.openxmlformats.org/drawingml/2006/main">
              <a:ext uri="{FF2B5EF4-FFF2-40B4-BE49-F238E27FC236}">
                <a16:creationId xmlns:a16="http://schemas.microsoft.com/office/drawing/2014/main" id="{1A2768D6-3A70-4769-B367-EF281D686AB5}"/>
              </a:ext>
            </a:extLst>
          </p:cNvPr>
          <p:cNvSpPr>
            <a:spLocks xmlns:a="http://schemas.openxmlformats.org/drawingml/2006/main" noGrp="1"/>
          </p:cNvSpPr>
          <p:nvPr/>
        </p:nvSpPr>
        <p:spPr>
          <a:xfrm xmlns:a="http://schemas.openxmlformats.org/drawingml/2006/main">
            <a:off x="628650" y="5286375"/>
            <a:ext cx="10763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9E4D35"/>
                </a:solidFill>
                <a:latin typeface="Times New Roman"/>
                <a:ea typeface="Times New Roman"/>
                <a:cs typeface="Times New Roman"/>
              </a:defRPr>
            </a:defPPr>
            <a:lvl1pPr algn="l">
              <a:defRPr sz="2250" b="1">
                <a:solidFill>
                  <a:srgbClr val="9E4D35"/>
                </a:solidFill>
                <a:latin typeface="Times New Roman"/>
                <a:ea typeface="Times New Roman"/>
                <a:cs typeface="Times New Roman"/>
              </a:defRPr>
            </a:lvl1pPr>
            <a:lvl2pPr algn="l">
              <a:defRPr sz="2250" b="1">
                <a:solidFill>
                  <a:srgbClr val="9E4D35"/>
                </a:solidFill>
                <a:latin typeface="Times New Roman"/>
                <a:ea typeface="Times New Roman"/>
                <a:cs typeface="Times New Roman"/>
              </a:defRPr>
            </a:lvl2pPr>
            <a:lvl3pPr algn="l">
              <a:defRPr sz="2250" b="1">
                <a:solidFill>
                  <a:srgbClr val="9E4D35"/>
                </a:solidFill>
                <a:latin typeface="Times New Roman"/>
                <a:ea typeface="Times New Roman"/>
                <a:cs typeface="Times New Roman"/>
              </a:defRPr>
            </a:lvl3pPr>
            <a:lvl4pPr algn="l">
              <a:defRPr sz="2250" b="1">
                <a:solidFill>
                  <a:srgbClr val="9E4D35"/>
                </a:solidFill>
                <a:latin typeface="Times New Roman"/>
                <a:ea typeface="Times New Roman"/>
                <a:cs typeface="Times New Roman"/>
              </a:defRPr>
            </a:lvl4pPr>
            <a:lvl5pPr algn="l">
              <a:defRPr sz="2250" b="1">
                <a:solidFill>
                  <a:srgbClr val="9E4D35"/>
                </a:solidFill>
                <a:latin typeface="Times New Roman"/>
                <a:ea typeface="Times New Roman"/>
                <a:cs typeface="Times New Roman"/>
              </a:defRPr>
            </a:lvl5pPr>
            <a:lvl6pPr algn="l">
              <a:defRPr sz="2250" b="1">
                <a:solidFill>
                  <a:srgbClr val="9E4D35"/>
                </a:solidFill>
                <a:latin typeface="Times New Roman"/>
                <a:ea typeface="Times New Roman"/>
                <a:cs typeface="Times New Roman"/>
              </a:defRPr>
            </a:lvl6pPr>
            <a:lvl7pPr algn="l">
              <a:defRPr sz="2250" b="1">
                <a:solidFill>
                  <a:srgbClr val="9E4D35"/>
                </a:solidFill>
                <a:latin typeface="Times New Roman"/>
                <a:ea typeface="Times New Roman"/>
                <a:cs typeface="Times New Roman"/>
              </a:defRPr>
            </a:lvl7pPr>
            <a:lvl8pPr algn="l">
              <a:defRPr sz="2250" b="1">
                <a:solidFill>
                  <a:srgbClr val="9E4D35"/>
                </a:solidFill>
                <a:latin typeface="Times New Roman"/>
                <a:ea typeface="Times New Roman"/>
                <a:cs typeface="Times New Roman"/>
              </a:defRPr>
            </a:lvl8pPr>
            <a:lvl9pPr algn="l">
              <a:defRPr sz="2250" b="1">
                <a:solidFill>
                  <a:srgbClr val="9E4D35"/>
                </a:solidFill>
                <a:latin typeface="Times New Roman"/>
                <a:ea typeface="Times New Roman"/>
                <a:cs typeface="Times New Roman"/>
              </a:defRPr>
            </a:lvl9pPr>
          </a:lstStyle>
          <a:p xmlns:a="http://schemas.openxmlformats.org/drawingml/2006/main">
            <a:pPr algn="l">
              <a:defRPr sz="2250" b="1">
                <a:solidFill>
                  <a:srgbClr val="9E4D35"/>
                </a:solidFill>
                <a:latin typeface="Times New Roman"/>
                <a:ea typeface="Times New Roman"/>
                <a:cs typeface="Times New Roman"/>
              </a:defRPr>
            </a:pPr>
            <a:r>
              <a:rPr sz="2250" b="1">
                <a:solidFill>
                  <a:srgbClr val="9E4D35"/>
                </a:solidFill>
                <a:latin typeface="Times New Roman"/>
                <a:ea typeface="Times New Roman"/>
                <a:cs typeface="Times New Roman"/>
              </a:rPr>
              <a:t>3,24 mL es el cálculo académico de la ficha.</a:t>
            </a:r>
          </a:p>
          <a:p xmlns:a="http://schemas.openxmlformats.org/drawingml/2006/main">
            <a:pPr algn="l">
              <a:defRPr sz="2250" b="1">
                <a:solidFill>
                  <a:srgbClr val="9E4D35"/>
                </a:solidFill>
                <a:latin typeface="Times New Roman"/>
                <a:ea typeface="Times New Roman"/>
                <a:cs typeface="Times New Roman"/>
              </a:defRPr>
            </a:pPr>
            <a:r>
              <a:rPr sz="2250" b="1">
                <a:solidFill>
                  <a:srgbClr val="9E4D35"/>
                </a:solidFill>
                <a:latin typeface="Times New Roman"/>
                <a:ea typeface="Times New Roman"/>
                <a:cs typeface="Times New Roman"/>
              </a:rPr>
              <a:t>La administración comunicada fue 3 mL.</a:t>
            </a:r>
          </a:p>
        </p:txBody>
      </p:sp>
      <p:sp>
        <p:nvSpPr>
          <p:cNvPr id="8" name="text-111">
            <a:extLst xmlns:a="http://schemas.openxmlformats.org/drawingml/2006/main">
              <a:ext uri="{FF2B5EF4-FFF2-40B4-BE49-F238E27FC236}">
                <a16:creationId xmlns:a16="http://schemas.microsoft.com/office/drawing/2014/main" id="{E88AA05B-CDED-4548-88CC-5E02720B262E}"/>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(5)</a:t>
            </a:r>
          </a:p>
        </p:txBody>
      </p:sp>
    </p:spTree>
    <p:extLst>
      <p:ext uri="{BB962C8B-B14F-4D97-AF65-F5344CB8AC3E}">
        <p14:creationId xmlns:p14="http://schemas.microsoft.com/office/powerpoint/2010/main" val="1501544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0FFEACD0-C16B-4288-9CFC-06A6E82A1923}"/>
              </a:ext>
            </a:extLst>
          </p:cNvPr>
          <p:cNvCxnSpPr>
            <a:stCxn xmlns:a="http://schemas.openxmlformats.org/drawingml/2006/main" id="5" idx="3"/>
            <a:endCxn xmlns:a="http://schemas.openxmlformats.org/drawingml/2006/main" id="6" idx="1"/>
          </p:cNvCxnSpPr>
          <p:nvPr/>
        </p:nvCxnSpPr>
        <p:spPr>
          <a:xfrm xmlns:a="http://schemas.openxmlformats.org/drawingml/2006/main">
            <a:off x="7715250" y="2619375"/>
            <a:ext cx="800100" cy="0"/>
          </a:xfrm>
          <a:prstGeom xmlns:a="http://schemas.openxmlformats.org/drawingml/2006/main" prst="straightConnector1">
            <a:avLst/>
          </a:prstGeom>
          <a:ln xmlns:a="http://schemas.openxmlformats.org/drawingml/2006/main" w="28575">
            <a:solidFill>
              <a:srgbClr val="226C9C"/>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4080E290-71B6-4DAE-8DA6-1A1E554E8AC6}"/>
              </a:ext>
            </a:extLst>
          </p:cNvPr>
          <p:cNvCxnSpPr>
            <a:stCxn xmlns:a="http://schemas.openxmlformats.org/drawingml/2006/main" id="4" idx="3"/>
            <a:endCxn xmlns:a="http://schemas.openxmlformats.org/drawingml/2006/main" id="5" idx="1"/>
          </p:cNvCxnSpPr>
          <p:nvPr/>
        </p:nvCxnSpPr>
        <p:spPr>
          <a:xfrm xmlns:a="http://schemas.openxmlformats.org/drawingml/2006/main">
            <a:off x="3771900" y="2619375"/>
            <a:ext cx="800100" cy="0"/>
          </a:xfrm>
          <a:prstGeom xmlns:a="http://schemas.openxmlformats.org/drawingml/2006/main" prst="straightConnector1">
            <a:avLst/>
          </a:prstGeom>
          <a:ln xmlns:a="http://schemas.openxmlformats.org/drawingml/2006/main" w="28575">
            <a:solidFill>
              <a:srgbClr val="226C9C"/>
            </a:solidFill>
            <a:prstDash val="solid"/>
            <a:tailEnd type="arrow" w="med" len="med"/>
          </a:ln>
        </p:spPr>
      </p:cxnSp>
      <p:sp>
        <p:nvSpPr>
          <p:cNvPr id="15" name="text-55">
            <a:extLst xmlns:a="http://schemas.openxmlformats.org/drawingml/2006/main">
              <a:ext uri="{FF2B5EF4-FFF2-40B4-BE49-F238E27FC236}">
                <a16:creationId xmlns:a16="http://schemas.microsoft.com/office/drawing/2014/main" id="{A5669045-8D07-427D-9680-B42902854F5F}"/>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Metronidazol</a:t>
            </a:r>
          </a:p>
        </p:txBody>
      </p:sp>
      <p:sp>
        <p:nvSpPr>
          <p:cNvPr id="2" name="text-56">
            <a:extLst xmlns:a="http://schemas.openxmlformats.org/drawingml/2006/main">
              <a:ext uri="{FF2B5EF4-FFF2-40B4-BE49-F238E27FC236}">
                <a16:creationId xmlns:a16="http://schemas.microsoft.com/office/drawing/2014/main" id="{5AE2660C-5225-4458-A8ED-C90E351AAB83}"/>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Carolina Cajamarca · Antimicrobiano y antiprotozoario</a:t>
            </a:r>
          </a:p>
        </p:txBody>
      </p:sp>
      <p:sp>
        <p:nvSpPr>
          <p:cNvPr id="3" name="text-57">
            <a:extLst xmlns:a="http://schemas.openxmlformats.org/drawingml/2006/main">
              <a:ext uri="{FF2B5EF4-FFF2-40B4-BE49-F238E27FC236}">
                <a16:creationId xmlns:a16="http://schemas.microsoft.com/office/drawing/2014/main" id="{3943CF68-327A-49CC-842F-9FFC43562FF6}"/>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9</a:t>
            </a:r>
          </a:p>
        </p:txBody>
      </p:sp>
      <p:sp>
        <p:nvSpPr>
          <p:cNvPr id="4" name="diagram-58">
            <a:extLst xmlns:a="http://schemas.openxmlformats.org/drawingml/2006/main">
              <a:ext uri="{FF2B5EF4-FFF2-40B4-BE49-F238E27FC236}">
                <a16:creationId xmlns:a16="http://schemas.microsoft.com/office/drawing/2014/main" id="{43349C54-DED9-4BEC-8FC8-DA4F9CCD7FBB}"/>
              </a:ext>
            </a:extLst>
          </p:cNvPr>
          <p:cNvSpPr>
            <a:spLocks xmlns:a="http://schemas.openxmlformats.org/drawingml/2006/main" noGrp="1"/>
          </p:cNvSpPr>
          <p:nvPr/>
        </p:nvSpPr>
        <p:spPr>
          <a:xfrm xmlns:a="http://schemas.openxmlformats.org/drawingml/2006/main">
            <a:off x="628650" y="2095500"/>
            <a:ext cx="3143250" cy="10477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Activación en</a:t>
            </a:r>
          </a:p>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organismos susceptibles</a:t>
            </a:r>
          </a:p>
        </p:txBody>
      </p:sp>
      <p:sp>
        <p:nvSpPr>
          <p:cNvPr id="5" name="diagram-59">
            <a:extLst xmlns:a="http://schemas.openxmlformats.org/drawingml/2006/main">
              <a:ext uri="{FF2B5EF4-FFF2-40B4-BE49-F238E27FC236}">
                <a16:creationId xmlns:a16="http://schemas.microsoft.com/office/drawing/2014/main" id="{6D4CC721-0844-4560-BD1C-2414D76B817C}"/>
              </a:ext>
            </a:extLst>
          </p:cNvPr>
          <p:cNvSpPr>
            <a:spLocks xmlns:a="http://schemas.openxmlformats.org/drawingml/2006/main" noGrp="1"/>
          </p:cNvSpPr>
          <p:nvPr/>
        </p:nvSpPr>
        <p:spPr>
          <a:xfrm xmlns:a="http://schemas.openxmlformats.org/drawingml/2006/main">
            <a:off x="4572000" y="2095500"/>
            <a:ext cx="3143250" cy="10477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Metabolitos reactivos</a:t>
            </a:r>
          </a:p>
        </p:txBody>
      </p:sp>
      <p:sp>
        <p:nvSpPr>
          <p:cNvPr id="6" name="diagram-60">
            <a:extLst xmlns:a="http://schemas.openxmlformats.org/drawingml/2006/main">
              <a:ext uri="{FF2B5EF4-FFF2-40B4-BE49-F238E27FC236}">
                <a16:creationId xmlns:a16="http://schemas.microsoft.com/office/drawing/2014/main" id="{4E303B5F-6324-488D-B787-85F3B24CD2C9}"/>
              </a:ext>
            </a:extLst>
          </p:cNvPr>
          <p:cNvSpPr>
            <a:spLocks xmlns:a="http://schemas.openxmlformats.org/drawingml/2006/main" noGrp="1"/>
          </p:cNvSpPr>
          <p:nvPr/>
        </p:nvSpPr>
        <p:spPr>
          <a:xfrm xmlns:a="http://schemas.openxmlformats.org/drawingml/2006/main">
            <a:off x="8515350" y="2095500"/>
            <a:ext cx="3048000" cy="1047750"/>
          </a:xfrm>
          <a:prstGeom xmlns:a="http://schemas.openxmlformats.org/drawingml/2006/main" prst="rect">
            <a:avLst/>
          </a:prstGeom>
          <a:solidFill xmlns:a="http://schemas.openxmlformats.org/drawingml/2006/main">
            <a:srgbClr val="F4F7F9"/>
          </a:solidFill>
          <a:ln xmlns:a="http://schemas.openxmlformats.org/drawingml/2006/main" w="9525">
            <a:solidFill>
              <a:srgbClr val="D6DEE5"/>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253A"/>
                </a:solidFill>
                <a:latin typeface="Times New Roman"/>
                <a:ea typeface="Times New Roman"/>
                <a:cs typeface="Times New Roman"/>
              </a:defRPr>
            </a:defPPr>
            <a:lvl1pPr algn="ctr">
              <a:defRPr sz="1950" b="1">
                <a:solidFill>
                  <a:srgbClr val="15253A"/>
                </a:solidFill>
                <a:latin typeface="Times New Roman"/>
                <a:ea typeface="Times New Roman"/>
                <a:cs typeface="Times New Roman"/>
              </a:defRPr>
            </a:lvl1pPr>
            <a:lvl2pPr algn="ctr">
              <a:defRPr sz="1950" b="1">
                <a:solidFill>
                  <a:srgbClr val="15253A"/>
                </a:solidFill>
                <a:latin typeface="Times New Roman"/>
                <a:ea typeface="Times New Roman"/>
                <a:cs typeface="Times New Roman"/>
              </a:defRPr>
            </a:lvl2pPr>
            <a:lvl3pPr algn="ctr">
              <a:defRPr sz="1950" b="1">
                <a:solidFill>
                  <a:srgbClr val="15253A"/>
                </a:solidFill>
                <a:latin typeface="Times New Roman"/>
                <a:ea typeface="Times New Roman"/>
                <a:cs typeface="Times New Roman"/>
              </a:defRPr>
            </a:lvl3pPr>
            <a:lvl4pPr algn="ctr">
              <a:defRPr sz="1950" b="1">
                <a:solidFill>
                  <a:srgbClr val="15253A"/>
                </a:solidFill>
                <a:latin typeface="Times New Roman"/>
                <a:ea typeface="Times New Roman"/>
                <a:cs typeface="Times New Roman"/>
              </a:defRPr>
            </a:lvl4pPr>
            <a:lvl5pPr algn="ctr">
              <a:defRPr sz="1950" b="1">
                <a:solidFill>
                  <a:srgbClr val="15253A"/>
                </a:solidFill>
                <a:latin typeface="Times New Roman"/>
                <a:ea typeface="Times New Roman"/>
                <a:cs typeface="Times New Roman"/>
              </a:defRPr>
            </a:lvl5pPr>
            <a:lvl6pPr algn="ctr">
              <a:defRPr sz="1950" b="1">
                <a:solidFill>
                  <a:srgbClr val="15253A"/>
                </a:solidFill>
                <a:latin typeface="Times New Roman"/>
                <a:ea typeface="Times New Roman"/>
                <a:cs typeface="Times New Roman"/>
              </a:defRPr>
            </a:lvl6pPr>
            <a:lvl7pPr algn="ctr">
              <a:defRPr sz="1950" b="1">
                <a:solidFill>
                  <a:srgbClr val="15253A"/>
                </a:solidFill>
                <a:latin typeface="Times New Roman"/>
                <a:ea typeface="Times New Roman"/>
                <a:cs typeface="Times New Roman"/>
              </a:defRPr>
            </a:lvl7pPr>
            <a:lvl8pPr algn="ctr">
              <a:defRPr sz="1950" b="1">
                <a:solidFill>
                  <a:srgbClr val="15253A"/>
                </a:solidFill>
                <a:latin typeface="Times New Roman"/>
                <a:ea typeface="Times New Roman"/>
                <a:cs typeface="Times New Roman"/>
              </a:defRPr>
            </a:lvl8pPr>
            <a:lvl9pPr algn="ctr">
              <a:defRPr sz="1950" b="1">
                <a:solidFill>
                  <a:srgbClr val="15253A"/>
                </a:solidFill>
                <a:latin typeface="Times New Roman"/>
                <a:ea typeface="Times New Roman"/>
                <a:cs typeface="Times New Roman"/>
              </a:defRPr>
            </a:lvl9pPr>
          </a:lstStyle>
          <a:p xmlns:a="http://schemas.openxmlformats.org/drawingml/2006/main">
            <a:pPr algn="ctr">
              <a:defRPr sz="1950" b="1">
                <a:solidFill>
                  <a:srgbClr val="15253A"/>
                </a:solidFill>
                <a:latin typeface="Times New Roman"/>
                <a:ea typeface="Times New Roman"/>
                <a:cs typeface="Times New Roman"/>
              </a:defRPr>
            </a:pPr>
            <a:r>
              <a:rPr sz="1950" b="1">
                <a:solidFill>
                  <a:srgbClr val="15253A"/>
                </a:solidFill>
                <a:latin typeface="Times New Roman"/>
                <a:ea typeface="Times New Roman"/>
                <a:cs typeface="Times New Roman"/>
              </a:rPr>
              <a:t>Daño del ADN</a:t>
            </a:r>
          </a:p>
        </p:txBody>
      </p:sp>
      <p:sp>
        <p:nvSpPr>
          <p:cNvPr id="9" name="text-61">
            <a:extLst xmlns:a="http://schemas.openxmlformats.org/drawingml/2006/main">
              <a:ext uri="{FF2B5EF4-FFF2-40B4-BE49-F238E27FC236}">
                <a16:creationId xmlns:a16="http://schemas.microsoft.com/office/drawing/2014/main" id="{91372550-B8FC-4A6D-8AF2-014BF73B47F9}"/>
              </a:ext>
            </a:extLst>
          </p:cNvPr>
          <p:cNvSpPr>
            <a:spLocks xmlns:a="http://schemas.openxmlformats.org/drawingml/2006/main" noGrp="1"/>
          </p:cNvSpPr>
          <p:nvPr/>
        </p:nvSpPr>
        <p:spPr>
          <a:xfrm xmlns:a="http://schemas.openxmlformats.org/drawingml/2006/main">
            <a:off x="628650" y="3762375"/>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Pauta comunicada</a:t>
            </a:r>
          </a:p>
        </p:txBody>
      </p:sp>
      <p:sp>
        <p:nvSpPr>
          <p:cNvPr id="10" name="text-62">
            <a:extLst xmlns:a="http://schemas.openxmlformats.org/drawingml/2006/main">
              <a:ext uri="{FF2B5EF4-FFF2-40B4-BE49-F238E27FC236}">
                <a16:creationId xmlns:a16="http://schemas.microsoft.com/office/drawing/2014/main" id="{59905548-C0C0-4FB3-8F01-8821B41172D1}"/>
              </a:ext>
            </a:extLst>
          </p:cNvPr>
          <p:cNvSpPr>
            <a:spLocks xmlns:a="http://schemas.openxmlformats.org/drawingml/2006/main" noGrp="1"/>
          </p:cNvSpPr>
          <p:nvPr/>
        </p:nvSpPr>
        <p:spPr>
          <a:xfrm xmlns:a="http://schemas.openxmlformats.org/drawingml/2006/main">
            <a:off x="628650" y="4248150"/>
            <a:ext cx="5191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Una tableta al día por 7 días. La ficha individual describe cada 12 horas.</a:t>
            </a:r>
          </a:p>
        </p:txBody>
      </p:sp>
      <p:sp>
        <p:nvSpPr>
          <p:cNvPr id="11" name="text-63">
            <a:extLst xmlns:a="http://schemas.openxmlformats.org/drawingml/2006/main">
              <a:ext uri="{FF2B5EF4-FFF2-40B4-BE49-F238E27FC236}">
                <a16:creationId xmlns:a16="http://schemas.microsoft.com/office/drawing/2014/main" id="{CD46C7D2-0538-4569-BE54-24521835DD64}"/>
              </a:ext>
            </a:extLst>
          </p:cNvPr>
          <p:cNvSpPr>
            <a:spLocks xmlns:a="http://schemas.openxmlformats.org/drawingml/2006/main" noGrp="1"/>
          </p:cNvSpPr>
          <p:nvPr/>
        </p:nvSpPr>
        <p:spPr>
          <a:xfrm xmlns:a="http://schemas.openxmlformats.org/drawingml/2006/main">
            <a:off x="6324600" y="3762375"/>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73A5E"/>
                </a:solidFill>
                <a:latin typeface="Times New Roman"/>
                <a:ea typeface="Times New Roman"/>
                <a:cs typeface="Times New Roman"/>
              </a:defRPr>
            </a:defPPr>
            <a:lvl1pPr algn="l">
              <a:defRPr sz="2250" b="1">
                <a:solidFill>
                  <a:srgbClr val="173A5E"/>
                </a:solidFill>
                <a:latin typeface="Times New Roman"/>
                <a:ea typeface="Times New Roman"/>
                <a:cs typeface="Times New Roman"/>
              </a:defRPr>
            </a:lvl1pPr>
            <a:lvl2pPr algn="l">
              <a:defRPr sz="2250" b="1">
                <a:solidFill>
                  <a:srgbClr val="173A5E"/>
                </a:solidFill>
                <a:latin typeface="Times New Roman"/>
                <a:ea typeface="Times New Roman"/>
                <a:cs typeface="Times New Roman"/>
              </a:defRPr>
            </a:lvl2pPr>
            <a:lvl3pPr algn="l">
              <a:defRPr sz="2250" b="1">
                <a:solidFill>
                  <a:srgbClr val="173A5E"/>
                </a:solidFill>
                <a:latin typeface="Times New Roman"/>
                <a:ea typeface="Times New Roman"/>
                <a:cs typeface="Times New Roman"/>
              </a:defRPr>
            </a:lvl3pPr>
            <a:lvl4pPr algn="l">
              <a:defRPr sz="2250" b="1">
                <a:solidFill>
                  <a:srgbClr val="173A5E"/>
                </a:solidFill>
                <a:latin typeface="Times New Roman"/>
                <a:ea typeface="Times New Roman"/>
                <a:cs typeface="Times New Roman"/>
              </a:defRPr>
            </a:lvl4pPr>
            <a:lvl5pPr algn="l">
              <a:defRPr sz="2250" b="1">
                <a:solidFill>
                  <a:srgbClr val="173A5E"/>
                </a:solidFill>
                <a:latin typeface="Times New Roman"/>
                <a:ea typeface="Times New Roman"/>
                <a:cs typeface="Times New Roman"/>
              </a:defRPr>
            </a:lvl5pPr>
            <a:lvl6pPr algn="l">
              <a:defRPr sz="2250" b="1">
                <a:solidFill>
                  <a:srgbClr val="173A5E"/>
                </a:solidFill>
                <a:latin typeface="Times New Roman"/>
                <a:ea typeface="Times New Roman"/>
                <a:cs typeface="Times New Roman"/>
              </a:defRPr>
            </a:lvl6pPr>
            <a:lvl7pPr algn="l">
              <a:defRPr sz="2250" b="1">
                <a:solidFill>
                  <a:srgbClr val="173A5E"/>
                </a:solidFill>
                <a:latin typeface="Times New Roman"/>
                <a:ea typeface="Times New Roman"/>
                <a:cs typeface="Times New Roman"/>
              </a:defRPr>
            </a:lvl7pPr>
            <a:lvl8pPr algn="l">
              <a:defRPr sz="2250" b="1">
                <a:solidFill>
                  <a:srgbClr val="173A5E"/>
                </a:solidFill>
                <a:latin typeface="Times New Roman"/>
                <a:ea typeface="Times New Roman"/>
                <a:cs typeface="Times New Roman"/>
              </a:defRPr>
            </a:lvl8pPr>
            <a:lvl9pPr algn="l">
              <a:defRPr sz="2250" b="1">
                <a:solidFill>
                  <a:srgbClr val="173A5E"/>
                </a:solidFill>
                <a:latin typeface="Times New Roman"/>
                <a:ea typeface="Times New Roman"/>
                <a:cs typeface="Times New Roman"/>
              </a:defRPr>
            </a:lvl9pPr>
          </a:lstStyle>
          <a:p xmlns:a="http://schemas.openxmlformats.org/drawingml/2006/main">
            <a:pPr algn="l">
              <a:defRPr sz="2250" b="1">
                <a:solidFill>
                  <a:srgbClr val="173A5E"/>
                </a:solidFill>
                <a:latin typeface="Times New Roman"/>
                <a:ea typeface="Times New Roman"/>
                <a:cs typeface="Times New Roman"/>
              </a:defRPr>
            </a:pPr>
            <a:r>
              <a:rPr sz="2250" b="1">
                <a:solidFill>
                  <a:srgbClr val="173A5E"/>
                </a:solidFill>
                <a:latin typeface="Times New Roman"/>
                <a:ea typeface="Times New Roman"/>
                <a:cs typeface="Times New Roman"/>
              </a:rPr>
              <a:t>Cálculo condicionado</a:t>
            </a:r>
          </a:p>
        </p:txBody>
      </p:sp>
      <p:sp>
        <p:nvSpPr>
          <p:cNvPr id="12" name="text-64">
            <a:extLst xmlns:a="http://schemas.openxmlformats.org/drawingml/2006/main">
              <a:ext uri="{FF2B5EF4-FFF2-40B4-BE49-F238E27FC236}">
                <a16:creationId xmlns:a16="http://schemas.microsoft.com/office/drawing/2014/main" id="{174B4460-8FC0-4585-B1C6-103B157A4B2C}"/>
              </a:ext>
            </a:extLst>
          </p:cNvPr>
          <p:cNvSpPr>
            <a:spLocks xmlns:a="http://schemas.openxmlformats.org/drawingml/2006/main" noGrp="1"/>
          </p:cNvSpPr>
          <p:nvPr/>
        </p:nvSpPr>
        <p:spPr>
          <a:xfrm xmlns:a="http://schemas.openxmlformats.org/drawingml/2006/main">
            <a:off x="6324600" y="4248150"/>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253A"/>
                </a:solidFill>
                <a:latin typeface="Times New Roman"/>
                <a:ea typeface="Times New Roman"/>
                <a:cs typeface="Times New Roman"/>
              </a:defRPr>
            </a:defPPr>
            <a:lvl1pPr algn="l">
              <a:defRPr sz="2100" b="0">
                <a:solidFill>
                  <a:srgbClr val="15253A"/>
                </a:solidFill>
                <a:latin typeface="Times New Roman"/>
                <a:ea typeface="Times New Roman"/>
                <a:cs typeface="Times New Roman"/>
              </a:defRPr>
            </a:lvl1pPr>
            <a:lvl2pPr algn="l">
              <a:defRPr sz="2100" b="0">
                <a:solidFill>
                  <a:srgbClr val="15253A"/>
                </a:solidFill>
                <a:latin typeface="Times New Roman"/>
                <a:ea typeface="Times New Roman"/>
                <a:cs typeface="Times New Roman"/>
              </a:defRPr>
            </a:lvl2pPr>
            <a:lvl3pPr algn="l">
              <a:defRPr sz="2100" b="0">
                <a:solidFill>
                  <a:srgbClr val="15253A"/>
                </a:solidFill>
                <a:latin typeface="Times New Roman"/>
                <a:ea typeface="Times New Roman"/>
                <a:cs typeface="Times New Roman"/>
              </a:defRPr>
            </a:lvl3pPr>
            <a:lvl4pPr algn="l">
              <a:defRPr sz="2100" b="0">
                <a:solidFill>
                  <a:srgbClr val="15253A"/>
                </a:solidFill>
                <a:latin typeface="Times New Roman"/>
                <a:ea typeface="Times New Roman"/>
                <a:cs typeface="Times New Roman"/>
              </a:defRPr>
            </a:lvl4pPr>
            <a:lvl5pPr algn="l">
              <a:defRPr sz="2100" b="0">
                <a:solidFill>
                  <a:srgbClr val="15253A"/>
                </a:solidFill>
                <a:latin typeface="Times New Roman"/>
                <a:ea typeface="Times New Roman"/>
                <a:cs typeface="Times New Roman"/>
              </a:defRPr>
            </a:lvl5pPr>
            <a:lvl6pPr algn="l">
              <a:defRPr sz="2100" b="0">
                <a:solidFill>
                  <a:srgbClr val="15253A"/>
                </a:solidFill>
                <a:latin typeface="Times New Roman"/>
                <a:ea typeface="Times New Roman"/>
                <a:cs typeface="Times New Roman"/>
              </a:defRPr>
            </a:lvl6pPr>
            <a:lvl7pPr algn="l">
              <a:defRPr sz="2100" b="0">
                <a:solidFill>
                  <a:srgbClr val="15253A"/>
                </a:solidFill>
                <a:latin typeface="Times New Roman"/>
                <a:ea typeface="Times New Roman"/>
                <a:cs typeface="Times New Roman"/>
              </a:defRPr>
            </a:lvl7pPr>
            <a:lvl8pPr algn="l">
              <a:defRPr sz="2100" b="0">
                <a:solidFill>
                  <a:srgbClr val="15253A"/>
                </a:solidFill>
                <a:latin typeface="Times New Roman"/>
                <a:ea typeface="Times New Roman"/>
                <a:cs typeface="Times New Roman"/>
              </a:defRPr>
            </a:lvl8pPr>
            <a:lvl9pPr algn="l">
              <a:defRPr sz="2100" b="0">
                <a:solidFill>
                  <a:srgbClr val="15253A"/>
                </a:solidFill>
                <a:latin typeface="Times New Roman"/>
                <a:ea typeface="Times New Roman"/>
                <a:cs typeface="Times New Roman"/>
              </a:defRPr>
            </a:lvl9pPr>
          </a:lstStyle>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Si la tableta fue de 500 mg:</a:t>
            </a:r>
          </a:p>
          <a:p xmlns:a="http://schemas.openxmlformats.org/drawingml/2006/main">
            <a:pPr algn="l">
              <a:defRPr sz="2100" b="0">
                <a:solidFill>
                  <a:srgbClr val="15253A"/>
                </a:solidFill>
                <a:latin typeface="Times New Roman"/>
                <a:ea typeface="Times New Roman"/>
                <a:cs typeface="Times New Roman"/>
              </a:defRPr>
            </a:pPr>
            <a:r>
              <a:rPr sz="2100" b="0">
                <a:solidFill>
                  <a:srgbClr val="15253A"/>
                </a:solidFill>
                <a:latin typeface="Times New Roman"/>
                <a:ea typeface="Times New Roman"/>
                <a:cs typeface="Times New Roman"/>
              </a:rPr>
              <a:t>500 ÷ 21,60 = 23,15 mg/kg por toma.</a:t>
            </a:r>
          </a:p>
        </p:txBody>
      </p:sp>
      <p:sp>
        <p:nvSpPr>
          <p:cNvPr id="13" name="text-65">
            <a:extLst xmlns:a="http://schemas.openxmlformats.org/drawingml/2006/main">
              <a:ext uri="{FF2B5EF4-FFF2-40B4-BE49-F238E27FC236}">
                <a16:creationId xmlns:a16="http://schemas.microsoft.com/office/drawing/2014/main" id="{A4092BE7-7F5E-4D27-A2E6-EEDD99C402B9}"/>
              </a:ext>
            </a:extLst>
          </p:cNvPr>
          <p:cNvSpPr>
            <a:spLocks xmlns:a="http://schemas.openxmlformats.org/drawingml/2006/main" noGrp="1"/>
          </p:cNvSpPr>
          <p:nvPr/>
        </p:nvSpPr>
        <p:spPr>
          <a:xfrm xmlns:a="http://schemas.openxmlformats.org/drawingml/2006/main">
            <a:off x="628650" y="5695950"/>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9E4D35"/>
                </a:solidFill>
                <a:latin typeface="Times New Roman"/>
                <a:ea typeface="Times New Roman"/>
                <a:cs typeface="Times New Roman"/>
              </a:defRPr>
            </a:defPPr>
            <a:lvl1pPr algn="l">
              <a:defRPr sz="2025" b="1">
                <a:solidFill>
                  <a:srgbClr val="9E4D35"/>
                </a:solidFill>
                <a:latin typeface="Times New Roman"/>
                <a:ea typeface="Times New Roman"/>
                <a:cs typeface="Times New Roman"/>
              </a:defRPr>
            </a:lvl1pPr>
            <a:lvl2pPr algn="l">
              <a:defRPr sz="2025" b="1">
                <a:solidFill>
                  <a:srgbClr val="9E4D35"/>
                </a:solidFill>
                <a:latin typeface="Times New Roman"/>
                <a:ea typeface="Times New Roman"/>
                <a:cs typeface="Times New Roman"/>
              </a:defRPr>
            </a:lvl2pPr>
            <a:lvl3pPr algn="l">
              <a:defRPr sz="2025" b="1">
                <a:solidFill>
                  <a:srgbClr val="9E4D35"/>
                </a:solidFill>
                <a:latin typeface="Times New Roman"/>
                <a:ea typeface="Times New Roman"/>
                <a:cs typeface="Times New Roman"/>
              </a:defRPr>
            </a:lvl3pPr>
            <a:lvl4pPr algn="l">
              <a:defRPr sz="2025" b="1">
                <a:solidFill>
                  <a:srgbClr val="9E4D35"/>
                </a:solidFill>
                <a:latin typeface="Times New Roman"/>
                <a:ea typeface="Times New Roman"/>
                <a:cs typeface="Times New Roman"/>
              </a:defRPr>
            </a:lvl4pPr>
            <a:lvl5pPr algn="l">
              <a:defRPr sz="2025" b="1">
                <a:solidFill>
                  <a:srgbClr val="9E4D35"/>
                </a:solidFill>
                <a:latin typeface="Times New Roman"/>
                <a:ea typeface="Times New Roman"/>
                <a:cs typeface="Times New Roman"/>
              </a:defRPr>
            </a:lvl5pPr>
            <a:lvl6pPr algn="l">
              <a:defRPr sz="2025" b="1">
                <a:solidFill>
                  <a:srgbClr val="9E4D35"/>
                </a:solidFill>
                <a:latin typeface="Times New Roman"/>
                <a:ea typeface="Times New Roman"/>
                <a:cs typeface="Times New Roman"/>
              </a:defRPr>
            </a:lvl6pPr>
            <a:lvl7pPr algn="l">
              <a:defRPr sz="2025" b="1">
                <a:solidFill>
                  <a:srgbClr val="9E4D35"/>
                </a:solidFill>
                <a:latin typeface="Times New Roman"/>
                <a:ea typeface="Times New Roman"/>
                <a:cs typeface="Times New Roman"/>
              </a:defRPr>
            </a:lvl7pPr>
            <a:lvl8pPr algn="l">
              <a:defRPr sz="2025" b="1">
                <a:solidFill>
                  <a:srgbClr val="9E4D35"/>
                </a:solidFill>
                <a:latin typeface="Times New Roman"/>
                <a:ea typeface="Times New Roman"/>
                <a:cs typeface="Times New Roman"/>
              </a:defRPr>
            </a:lvl8pPr>
            <a:lvl9pPr algn="l">
              <a:defRPr sz="2025" b="1">
                <a:solidFill>
                  <a:srgbClr val="9E4D35"/>
                </a:solidFill>
                <a:latin typeface="Times New Roman"/>
                <a:ea typeface="Times New Roman"/>
                <a:cs typeface="Times New Roman"/>
              </a:defRPr>
            </a:lvl9pPr>
          </a:lstStyle>
          <a:p xmlns:a="http://schemas.openxmlformats.org/drawingml/2006/main">
            <a:pPr algn="l">
              <a:defRPr sz="2025" b="1">
                <a:solidFill>
                  <a:srgbClr val="9E4D35"/>
                </a:solidFill>
                <a:latin typeface="Times New Roman"/>
                <a:ea typeface="Times New Roman"/>
                <a:cs typeface="Times New Roman"/>
              </a:defRPr>
            </a:pPr>
            <a:r>
              <a:rPr sz="2025" b="1">
                <a:solidFill>
                  <a:srgbClr val="9E4D35"/>
                </a:solidFill>
                <a:latin typeface="Times New Roman"/>
                <a:ea typeface="Times New Roman"/>
                <a:cs typeface="Times New Roman"/>
              </a:rPr>
              <a:t>La presentación y el intervalo deben conciliarse. Vigilar efectos digestivos y neurológicos.</a:t>
            </a:r>
          </a:p>
        </p:txBody>
      </p:sp>
      <p:sp>
        <p:nvSpPr>
          <p:cNvPr id="14" name="text-112">
            <a:extLst xmlns:a="http://schemas.openxmlformats.org/drawingml/2006/main">
              <a:ext uri="{FF2B5EF4-FFF2-40B4-BE49-F238E27FC236}">
                <a16:creationId xmlns:a16="http://schemas.microsoft.com/office/drawing/2014/main" id="{785C97CC-AD48-4A87-AE09-9EF3FBD2449C}"/>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(4, 6, 7)</a:t>
            </a:r>
          </a:p>
        </p:txBody>
      </p:sp>
    </p:spTree>
    <p:extLst>
      <p:ext uri="{BB962C8B-B14F-4D97-AF65-F5344CB8AC3E}">
        <p14:creationId xmlns:p14="http://schemas.microsoft.com/office/powerpoint/2010/main" val="14525489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66">
            <a:extLst xmlns:a="http://schemas.openxmlformats.org/drawingml/2006/main">
              <a:ext uri="{FF2B5EF4-FFF2-40B4-BE49-F238E27FC236}">
                <a16:creationId xmlns:a16="http://schemas.microsoft.com/office/drawing/2014/main" id="{EAFD8A51-748B-4E4E-9C4D-065C7505B3DF}"/>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Pirantel y praziquantel</a:t>
            </a:r>
          </a:p>
        </p:txBody>
      </p:sp>
      <p:sp>
        <p:nvSpPr>
          <p:cNvPr id="2" name="text-67">
            <a:extLst xmlns:a="http://schemas.openxmlformats.org/drawingml/2006/main">
              <a:ext uri="{FF2B5EF4-FFF2-40B4-BE49-F238E27FC236}">
                <a16:creationId xmlns:a16="http://schemas.microsoft.com/office/drawing/2014/main" id="{31B6A5DD-D30E-461A-9027-B3DA75F7F851}"/>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Samira Yunga · Pirantel     Tiffany Machuca · Praziquantel</a:t>
            </a:r>
          </a:p>
        </p:txBody>
      </p:sp>
      <p:sp>
        <p:nvSpPr>
          <p:cNvPr id="3" name="text-68">
            <a:extLst xmlns:a="http://schemas.openxmlformats.org/drawingml/2006/main">
              <a:ext uri="{FF2B5EF4-FFF2-40B4-BE49-F238E27FC236}">
                <a16:creationId xmlns:a16="http://schemas.microsoft.com/office/drawing/2014/main" id="{6CF546E1-90FE-42D9-8B71-6731F8A7D8BB}"/>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10</a:t>
            </a:r>
          </a:p>
        </p:txBody>
      </p:sp>
      <p:sp>
        <p:nvSpPr>
          <p:cNvPr id="4" name="text-69">
            <a:extLst xmlns:a="http://schemas.openxmlformats.org/drawingml/2006/main">
              <a:ext uri="{FF2B5EF4-FFF2-40B4-BE49-F238E27FC236}">
                <a16:creationId xmlns:a16="http://schemas.microsoft.com/office/drawing/2014/main" id="{12FA1FFA-A9FD-48C8-849C-BCC91347ACBF}"/>
              </a:ext>
            </a:extLst>
          </p:cNvPr>
          <p:cNvSpPr>
            <a:spLocks xmlns:a="http://schemas.openxmlformats.org/drawingml/2006/main" noGrp="1"/>
          </p:cNvSpPr>
          <p:nvPr/>
        </p:nvSpPr>
        <p:spPr>
          <a:xfrm xmlns:a="http://schemas.openxmlformats.org/drawingml/2006/main">
            <a:off x="628650" y="1809750"/>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A5E"/>
                </a:solidFill>
                <a:latin typeface="Times New Roman"/>
                <a:ea typeface="Times New Roman"/>
                <a:cs typeface="Times New Roman"/>
              </a:defRPr>
            </a:defPPr>
            <a:lvl1pPr algn="l">
              <a:defRPr sz="2325" b="1">
                <a:solidFill>
                  <a:srgbClr val="173A5E"/>
                </a:solidFill>
                <a:latin typeface="Times New Roman"/>
                <a:ea typeface="Times New Roman"/>
                <a:cs typeface="Times New Roman"/>
              </a:defRPr>
            </a:lvl1pPr>
            <a:lvl2pPr algn="l">
              <a:defRPr sz="2325" b="1">
                <a:solidFill>
                  <a:srgbClr val="173A5E"/>
                </a:solidFill>
                <a:latin typeface="Times New Roman"/>
                <a:ea typeface="Times New Roman"/>
                <a:cs typeface="Times New Roman"/>
              </a:defRPr>
            </a:lvl2pPr>
            <a:lvl3pPr algn="l">
              <a:defRPr sz="2325" b="1">
                <a:solidFill>
                  <a:srgbClr val="173A5E"/>
                </a:solidFill>
                <a:latin typeface="Times New Roman"/>
                <a:ea typeface="Times New Roman"/>
                <a:cs typeface="Times New Roman"/>
              </a:defRPr>
            </a:lvl3pPr>
            <a:lvl4pPr algn="l">
              <a:defRPr sz="2325" b="1">
                <a:solidFill>
                  <a:srgbClr val="173A5E"/>
                </a:solidFill>
                <a:latin typeface="Times New Roman"/>
                <a:ea typeface="Times New Roman"/>
                <a:cs typeface="Times New Roman"/>
              </a:defRPr>
            </a:lvl4pPr>
            <a:lvl5pPr algn="l">
              <a:defRPr sz="2325" b="1">
                <a:solidFill>
                  <a:srgbClr val="173A5E"/>
                </a:solidFill>
                <a:latin typeface="Times New Roman"/>
                <a:ea typeface="Times New Roman"/>
                <a:cs typeface="Times New Roman"/>
              </a:defRPr>
            </a:lvl5pPr>
            <a:lvl6pPr algn="l">
              <a:defRPr sz="2325" b="1">
                <a:solidFill>
                  <a:srgbClr val="173A5E"/>
                </a:solidFill>
                <a:latin typeface="Times New Roman"/>
                <a:ea typeface="Times New Roman"/>
                <a:cs typeface="Times New Roman"/>
              </a:defRPr>
            </a:lvl6pPr>
            <a:lvl7pPr algn="l">
              <a:defRPr sz="2325" b="1">
                <a:solidFill>
                  <a:srgbClr val="173A5E"/>
                </a:solidFill>
                <a:latin typeface="Times New Roman"/>
                <a:ea typeface="Times New Roman"/>
                <a:cs typeface="Times New Roman"/>
              </a:defRPr>
            </a:lvl7pPr>
            <a:lvl8pPr algn="l">
              <a:defRPr sz="2325" b="1">
                <a:solidFill>
                  <a:srgbClr val="173A5E"/>
                </a:solidFill>
                <a:latin typeface="Times New Roman"/>
                <a:ea typeface="Times New Roman"/>
                <a:cs typeface="Times New Roman"/>
              </a:defRPr>
            </a:lvl8pPr>
            <a:lvl9pPr algn="l">
              <a:defRPr sz="2325" b="1">
                <a:solidFill>
                  <a:srgbClr val="173A5E"/>
                </a:solidFill>
                <a:latin typeface="Times New Roman"/>
                <a:ea typeface="Times New Roman"/>
                <a:cs typeface="Times New Roman"/>
              </a:defRPr>
            </a:lvl9pPr>
          </a:lstStyle>
          <a:p xmlns:a="http://schemas.openxmlformats.org/drawingml/2006/main">
            <a:pPr algn="l">
              <a:defRPr sz="2325" b="1">
                <a:solidFill>
                  <a:srgbClr val="173A5E"/>
                </a:solidFill>
                <a:latin typeface="Times New Roman"/>
                <a:ea typeface="Times New Roman"/>
                <a:cs typeface="Times New Roman"/>
              </a:defRPr>
            </a:pPr>
            <a:r>
              <a:rPr sz="2325" b="1">
                <a:solidFill>
                  <a:srgbClr val="173A5E"/>
                </a:solidFill>
                <a:latin typeface="Times New Roman"/>
                <a:ea typeface="Times New Roman"/>
                <a:cs typeface="Times New Roman"/>
              </a:rPr>
              <a:t>Pirantel</a:t>
            </a:r>
          </a:p>
        </p:txBody>
      </p:sp>
      <p:sp>
        <p:nvSpPr>
          <p:cNvPr id="5" name="text-70">
            <a:extLst xmlns:a="http://schemas.openxmlformats.org/drawingml/2006/main">
              <a:ext uri="{FF2B5EF4-FFF2-40B4-BE49-F238E27FC236}">
                <a16:creationId xmlns:a16="http://schemas.microsoft.com/office/drawing/2014/main" id="{1EA28AF4-414D-4E0A-8D62-ABE49F59A62A}"/>
              </a:ext>
            </a:extLst>
          </p:cNvPr>
          <p:cNvSpPr>
            <a:spLocks xmlns:a="http://schemas.openxmlformats.org/drawingml/2006/main" noGrp="1"/>
          </p:cNvSpPr>
          <p:nvPr/>
        </p:nvSpPr>
        <p:spPr>
          <a:xfrm xmlns:a="http://schemas.openxmlformats.org/drawingml/2006/main">
            <a:off x="628650" y="2295525"/>
            <a:ext cx="5048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0">
                <a:solidFill>
                  <a:srgbClr val="15253A"/>
                </a:solidFill>
                <a:latin typeface="Times New Roman"/>
                <a:ea typeface="Times New Roman"/>
                <a:cs typeface="Times New Roman"/>
              </a:defRPr>
            </a:defPPr>
            <a:lvl1pPr algn="l">
              <a:defRPr sz="2175" b="0">
                <a:solidFill>
                  <a:srgbClr val="15253A"/>
                </a:solidFill>
                <a:latin typeface="Times New Roman"/>
                <a:ea typeface="Times New Roman"/>
                <a:cs typeface="Times New Roman"/>
              </a:defRPr>
            </a:lvl1pPr>
            <a:lvl2pPr algn="l">
              <a:defRPr sz="2175" b="0">
                <a:solidFill>
                  <a:srgbClr val="15253A"/>
                </a:solidFill>
                <a:latin typeface="Times New Roman"/>
                <a:ea typeface="Times New Roman"/>
                <a:cs typeface="Times New Roman"/>
              </a:defRPr>
            </a:lvl2pPr>
            <a:lvl3pPr algn="l">
              <a:defRPr sz="2175" b="0">
                <a:solidFill>
                  <a:srgbClr val="15253A"/>
                </a:solidFill>
                <a:latin typeface="Times New Roman"/>
                <a:ea typeface="Times New Roman"/>
                <a:cs typeface="Times New Roman"/>
              </a:defRPr>
            </a:lvl3pPr>
            <a:lvl4pPr algn="l">
              <a:defRPr sz="2175" b="0">
                <a:solidFill>
                  <a:srgbClr val="15253A"/>
                </a:solidFill>
                <a:latin typeface="Times New Roman"/>
                <a:ea typeface="Times New Roman"/>
                <a:cs typeface="Times New Roman"/>
              </a:defRPr>
            </a:lvl4pPr>
            <a:lvl5pPr algn="l">
              <a:defRPr sz="2175" b="0">
                <a:solidFill>
                  <a:srgbClr val="15253A"/>
                </a:solidFill>
                <a:latin typeface="Times New Roman"/>
                <a:ea typeface="Times New Roman"/>
                <a:cs typeface="Times New Roman"/>
              </a:defRPr>
            </a:lvl5pPr>
            <a:lvl6pPr algn="l">
              <a:defRPr sz="2175" b="0">
                <a:solidFill>
                  <a:srgbClr val="15253A"/>
                </a:solidFill>
                <a:latin typeface="Times New Roman"/>
                <a:ea typeface="Times New Roman"/>
                <a:cs typeface="Times New Roman"/>
              </a:defRPr>
            </a:lvl6pPr>
            <a:lvl7pPr algn="l">
              <a:defRPr sz="2175" b="0">
                <a:solidFill>
                  <a:srgbClr val="15253A"/>
                </a:solidFill>
                <a:latin typeface="Times New Roman"/>
                <a:ea typeface="Times New Roman"/>
                <a:cs typeface="Times New Roman"/>
              </a:defRPr>
            </a:lvl7pPr>
            <a:lvl8pPr algn="l">
              <a:defRPr sz="2175" b="0">
                <a:solidFill>
                  <a:srgbClr val="15253A"/>
                </a:solidFill>
                <a:latin typeface="Times New Roman"/>
                <a:ea typeface="Times New Roman"/>
                <a:cs typeface="Times New Roman"/>
              </a:defRPr>
            </a:lvl8pPr>
            <a:lvl9pPr algn="l">
              <a:defRPr sz="2175" b="0">
                <a:solidFill>
                  <a:srgbClr val="15253A"/>
                </a:solidFill>
                <a:latin typeface="Times New Roman"/>
                <a:ea typeface="Times New Roman"/>
                <a:cs typeface="Times New Roman"/>
              </a:defRPr>
            </a:lvl9pPr>
          </a:lstStyle>
          <a:p xmlns:a="http://schemas.openxmlformats.org/drawingml/2006/main">
            <a:pPr algn="l">
              <a:defRPr sz="2175" b="0">
                <a:solidFill>
                  <a:srgbClr val="15253A"/>
                </a:solidFill>
                <a:latin typeface="Times New Roman"/>
                <a:ea typeface="Times New Roman"/>
                <a:cs typeface="Times New Roman"/>
              </a:defRPr>
            </a:pPr>
            <a:r>
              <a:rPr sz="2175" b="0">
                <a:solidFill>
                  <a:srgbClr val="15253A"/>
                </a:solidFill>
                <a:latin typeface="Times New Roman"/>
                <a:ea typeface="Times New Roman"/>
                <a:cs typeface="Times New Roman"/>
              </a:rPr>
              <a:t>Bloqueo neuromuscular despolarizante en nematodos susceptibles. Su actividad se concentra en el intestino.</a:t>
            </a:r>
          </a:p>
        </p:txBody>
      </p:sp>
      <p:sp>
        <p:nvSpPr>
          <p:cNvPr id="6" name="text-71">
            <a:extLst xmlns:a="http://schemas.openxmlformats.org/drawingml/2006/main">
              <a:ext uri="{FF2B5EF4-FFF2-40B4-BE49-F238E27FC236}">
                <a16:creationId xmlns:a16="http://schemas.microsoft.com/office/drawing/2014/main" id="{2E945F65-488E-4151-98F1-0CFCDF69B197}"/>
              </a:ext>
            </a:extLst>
          </p:cNvPr>
          <p:cNvSpPr>
            <a:spLocks xmlns:a="http://schemas.openxmlformats.org/drawingml/2006/main" noGrp="1"/>
          </p:cNvSpPr>
          <p:nvPr/>
        </p:nvSpPr>
        <p:spPr>
          <a:xfrm xmlns:a="http://schemas.openxmlformats.org/drawingml/2006/main">
            <a:off x="6343650" y="1809750"/>
            <a:ext cx="5219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A5E"/>
                </a:solidFill>
                <a:latin typeface="Times New Roman"/>
                <a:ea typeface="Times New Roman"/>
                <a:cs typeface="Times New Roman"/>
              </a:defRPr>
            </a:defPPr>
            <a:lvl1pPr algn="l">
              <a:defRPr sz="2325" b="1">
                <a:solidFill>
                  <a:srgbClr val="173A5E"/>
                </a:solidFill>
                <a:latin typeface="Times New Roman"/>
                <a:ea typeface="Times New Roman"/>
                <a:cs typeface="Times New Roman"/>
              </a:defRPr>
            </a:lvl1pPr>
            <a:lvl2pPr algn="l">
              <a:defRPr sz="2325" b="1">
                <a:solidFill>
                  <a:srgbClr val="173A5E"/>
                </a:solidFill>
                <a:latin typeface="Times New Roman"/>
                <a:ea typeface="Times New Roman"/>
                <a:cs typeface="Times New Roman"/>
              </a:defRPr>
            </a:lvl2pPr>
            <a:lvl3pPr algn="l">
              <a:defRPr sz="2325" b="1">
                <a:solidFill>
                  <a:srgbClr val="173A5E"/>
                </a:solidFill>
                <a:latin typeface="Times New Roman"/>
                <a:ea typeface="Times New Roman"/>
                <a:cs typeface="Times New Roman"/>
              </a:defRPr>
            </a:lvl3pPr>
            <a:lvl4pPr algn="l">
              <a:defRPr sz="2325" b="1">
                <a:solidFill>
                  <a:srgbClr val="173A5E"/>
                </a:solidFill>
                <a:latin typeface="Times New Roman"/>
                <a:ea typeface="Times New Roman"/>
                <a:cs typeface="Times New Roman"/>
              </a:defRPr>
            </a:lvl4pPr>
            <a:lvl5pPr algn="l">
              <a:defRPr sz="2325" b="1">
                <a:solidFill>
                  <a:srgbClr val="173A5E"/>
                </a:solidFill>
                <a:latin typeface="Times New Roman"/>
                <a:ea typeface="Times New Roman"/>
                <a:cs typeface="Times New Roman"/>
              </a:defRPr>
            </a:lvl5pPr>
            <a:lvl6pPr algn="l">
              <a:defRPr sz="2325" b="1">
                <a:solidFill>
                  <a:srgbClr val="173A5E"/>
                </a:solidFill>
                <a:latin typeface="Times New Roman"/>
                <a:ea typeface="Times New Roman"/>
                <a:cs typeface="Times New Roman"/>
              </a:defRPr>
            </a:lvl6pPr>
            <a:lvl7pPr algn="l">
              <a:defRPr sz="2325" b="1">
                <a:solidFill>
                  <a:srgbClr val="173A5E"/>
                </a:solidFill>
                <a:latin typeface="Times New Roman"/>
                <a:ea typeface="Times New Roman"/>
                <a:cs typeface="Times New Roman"/>
              </a:defRPr>
            </a:lvl7pPr>
            <a:lvl8pPr algn="l">
              <a:defRPr sz="2325" b="1">
                <a:solidFill>
                  <a:srgbClr val="173A5E"/>
                </a:solidFill>
                <a:latin typeface="Times New Roman"/>
                <a:ea typeface="Times New Roman"/>
                <a:cs typeface="Times New Roman"/>
              </a:defRPr>
            </a:lvl8pPr>
            <a:lvl9pPr algn="l">
              <a:defRPr sz="2325" b="1">
                <a:solidFill>
                  <a:srgbClr val="173A5E"/>
                </a:solidFill>
                <a:latin typeface="Times New Roman"/>
                <a:ea typeface="Times New Roman"/>
                <a:cs typeface="Times New Roman"/>
              </a:defRPr>
            </a:lvl9pPr>
          </a:lstStyle>
          <a:p xmlns:a="http://schemas.openxmlformats.org/drawingml/2006/main">
            <a:pPr algn="l">
              <a:defRPr sz="2325" b="1">
                <a:solidFill>
                  <a:srgbClr val="173A5E"/>
                </a:solidFill>
                <a:latin typeface="Times New Roman"/>
                <a:ea typeface="Times New Roman"/>
                <a:cs typeface="Times New Roman"/>
              </a:defRPr>
            </a:pPr>
            <a:r>
              <a:rPr sz="2325" b="1">
                <a:solidFill>
                  <a:srgbClr val="173A5E"/>
                </a:solidFill>
                <a:latin typeface="Times New Roman"/>
                <a:ea typeface="Times New Roman"/>
                <a:cs typeface="Times New Roman"/>
              </a:rPr>
              <a:t>Praziquantel</a:t>
            </a:r>
          </a:p>
        </p:txBody>
      </p:sp>
      <p:sp>
        <p:nvSpPr>
          <p:cNvPr id="7" name="text-72">
            <a:extLst xmlns:a="http://schemas.openxmlformats.org/drawingml/2006/main">
              <a:ext uri="{FF2B5EF4-FFF2-40B4-BE49-F238E27FC236}">
                <a16:creationId xmlns:a16="http://schemas.microsoft.com/office/drawing/2014/main" id="{8334AE85-3C09-4C1D-B6B8-1C549D15F5CC}"/>
              </a:ext>
            </a:extLst>
          </p:cNvPr>
          <p:cNvSpPr>
            <a:spLocks xmlns:a="http://schemas.openxmlformats.org/drawingml/2006/main" noGrp="1"/>
          </p:cNvSpPr>
          <p:nvPr/>
        </p:nvSpPr>
        <p:spPr>
          <a:xfrm xmlns:a="http://schemas.openxmlformats.org/drawingml/2006/main">
            <a:off x="6343650" y="2295525"/>
            <a:ext cx="52197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0">
                <a:solidFill>
                  <a:srgbClr val="15253A"/>
                </a:solidFill>
                <a:latin typeface="Times New Roman"/>
                <a:ea typeface="Times New Roman"/>
                <a:cs typeface="Times New Roman"/>
              </a:defRPr>
            </a:defPPr>
            <a:lvl1pPr algn="l">
              <a:defRPr sz="2175" b="0">
                <a:solidFill>
                  <a:srgbClr val="15253A"/>
                </a:solidFill>
                <a:latin typeface="Times New Roman"/>
                <a:ea typeface="Times New Roman"/>
                <a:cs typeface="Times New Roman"/>
              </a:defRPr>
            </a:lvl1pPr>
            <a:lvl2pPr algn="l">
              <a:defRPr sz="2175" b="0">
                <a:solidFill>
                  <a:srgbClr val="15253A"/>
                </a:solidFill>
                <a:latin typeface="Times New Roman"/>
                <a:ea typeface="Times New Roman"/>
                <a:cs typeface="Times New Roman"/>
              </a:defRPr>
            </a:lvl2pPr>
            <a:lvl3pPr algn="l">
              <a:defRPr sz="2175" b="0">
                <a:solidFill>
                  <a:srgbClr val="15253A"/>
                </a:solidFill>
                <a:latin typeface="Times New Roman"/>
                <a:ea typeface="Times New Roman"/>
                <a:cs typeface="Times New Roman"/>
              </a:defRPr>
            </a:lvl3pPr>
            <a:lvl4pPr algn="l">
              <a:defRPr sz="2175" b="0">
                <a:solidFill>
                  <a:srgbClr val="15253A"/>
                </a:solidFill>
                <a:latin typeface="Times New Roman"/>
                <a:ea typeface="Times New Roman"/>
                <a:cs typeface="Times New Roman"/>
              </a:defRPr>
            </a:lvl4pPr>
            <a:lvl5pPr algn="l">
              <a:defRPr sz="2175" b="0">
                <a:solidFill>
                  <a:srgbClr val="15253A"/>
                </a:solidFill>
                <a:latin typeface="Times New Roman"/>
                <a:ea typeface="Times New Roman"/>
                <a:cs typeface="Times New Roman"/>
              </a:defRPr>
            </a:lvl5pPr>
            <a:lvl6pPr algn="l">
              <a:defRPr sz="2175" b="0">
                <a:solidFill>
                  <a:srgbClr val="15253A"/>
                </a:solidFill>
                <a:latin typeface="Times New Roman"/>
                <a:ea typeface="Times New Roman"/>
                <a:cs typeface="Times New Roman"/>
              </a:defRPr>
            </a:lvl6pPr>
            <a:lvl7pPr algn="l">
              <a:defRPr sz="2175" b="0">
                <a:solidFill>
                  <a:srgbClr val="15253A"/>
                </a:solidFill>
                <a:latin typeface="Times New Roman"/>
                <a:ea typeface="Times New Roman"/>
                <a:cs typeface="Times New Roman"/>
              </a:defRPr>
            </a:lvl7pPr>
            <a:lvl8pPr algn="l">
              <a:defRPr sz="2175" b="0">
                <a:solidFill>
                  <a:srgbClr val="15253A"/>
                </a:solidFill>
                <a:latin typeface="Times New Roman"/>
                <a:ea typeface="Times New Roman"/>
                <a:cs typeface="Times New Roman"/>
              </a:defRPr>
            </a:lvl8pPr>
            <a:lvl9pPr algn="l">
              <a:defRPr sz="2175" b="0">
                <a:solidFill>
                  <a:srgbClr val="15253A"/>
                </a:solidFill>
                <a:latin typeface="Times New Roman"/>
                <a:ea typeface="Times New Roman"/>
                <a:cs typeface="Times New Roman"/>
              </a:defRPr>
            </a:lvl9pPr>
          </a:lstStyle>
          <a:p xmlns:a="http://schemas.openxmlformats.org/drawingml/2006/main">
            <a:pPr algn="l">
              <a:defRPr sz="2175" b="0">
                <a:solidFill>
                  <a:srgbClr val="15253A"/>
                </a:solidFill>
                <a:latin typeface="Times New Roman"/>
                <a:ea typeface="Times New Roman"/>
                <a:cs typeface="Times New Roman"/>
              </a:defRPr>
            </a:pPr>
            <a:r>
              <a:rPr sz="2175" b="0">
                <a:solidFill>
                  <a:srgbClr val="15253A"/>
                </a:solidFill>
                <a:latin typeface="Times New Roman"/>
                <a:ea typeface="Times New Roman"/>
                <a:cs typeface="Times New Roman"/>
              </a:rPr>
              <a:t>Altera la permeabilidad al calcio y el tegumento de cestodos susceptibles. Complementa el espectro.</a:t>
            </a:r>
          </a:p>
        </p:txBody>
      </p:sp>
      <p:graphicFrame>
        <p:nvGraphicFramePr>
          <p:cNvPr id="8" name="">
            <a:extLst xmlns:a="http://schemas.openxmlformats.org/drawingml/2006/main">
              <a:ext uri="{FF2B5EF4-FFF2-40B4-BE49-F238E27FC236}">
                <a16:creationId xmlns:a16="http://schemas.microsoft.com/office/drawing/2014/main" id="{9F7C1D4F-8E8D-44D7-BCB7-F0D55A88FC22}"/>
              </a:ext>
            </a:extLst>
          </p:cNvPr>
          <p:cNvGraphicFramePr/>
          <p:nvPr/>
        </p:nvGraphicFramePr>
        <p:xfrm>
          <a:off xmlns:a="http://schemas.openxmlformats.org/drawingml/2006/main" x="628650" y="4000500"/>
          <a:ext xmlns:a="http://schemas.openxmlformats.org/drawingml/2006/main" cx="10934700" cy="1695450"/>
        </p:xfrm>
        <a:graphic xmlns:a="http://schemas.openxmlformats.org/drawingml/2006/main">
          <a:graphicData uri="http://schemas.openxmlformats.org/drawingml/2006/table">
            <a:tbl>
              <a:tblPr/>
              <a:tblGrid>
                <a:gridCol w="2667000"/>
                <a:gridCol w="3429000"/>
                <a:gridCol w="4838700"/>
              </a:tblGrid>
              <a:tr h="565150">
                <a:tc>
                  <a:txBody>
                    <a:bodyPr lIns="95250" tIns="95250" rIns="95250" bIns="95250"/>
                    <a:lstStyle/>
                    <a:p>
                      <a:r>
                        <a:rPr sz="1875" b="1">
                          <a:solidFill>
                            <a:srgbClr val="FFFFFF"/>
                          </a:solidFill>
                          <a:latin typeface="Times New Roman"/>
                          <a:ea typeface="Times New Roman"/>
                          <a:cs typeface="Times New Roman"/>
                        </a:rPr>
                        <a:t>Relámpago</a:t>
                      </a:r>
                    </a:p>
                  </a:txBody>
                  <a:tcPr marL="91440" marR="91440" marT="45720" marB="45720" anchor="ctr">
                    <a:lnL w="9525">
                      <a:solidFill>
                        <a:srgbClr val="D6DEE5"/>
                      </a:solidFill>
                      <a:prstDash val="solid"/>
                    </a:lnL>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Concentración declarada</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Cálculo a 21,60 kg</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r>
              <a:tr h="565150">
                <a:tc>
                  <a:txBody>
                    <a:bodyPr lIns="95250" tIns="95250" rIns="95250" bIns="95250"/>
                    <a:lstStyle/>
                    <a:p>
                      <a:r>
                        <a:rPr sz="1875" b="0">
                          <a:solidFill>
                            <a:srgbClr val="15253A"/>
                          </a:solidFill>
                          <a:latin typeface="Times New Roman"/>
                          <a:ea typeface="Times New Roman"/>
                          <a:cs typeface="Times New Roman"/>
                        </a:rPr>
                        <a:t>Pamoato de pirantel</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100 mg/mL</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432 mg de la sal</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565150">
                <a:tc>
                  <a:txBody>
                    <a:bodyPr lIns="95250" tIns="95250" rIns="95250" bIns="95250"/>
                    <a:lstStyle/>
                    <a:p>
                      <a:r>
                        <a:rPr sz="1875" b="0">
                          <a:solidFill>
                            <a:srgbClr val="15253A"/>
                          </a:solidFill>
                          <a:latin typeface="Times New Roman"/>
                          <a:ea typeface="Times New Roman"/>
                          <a:cs typeface="Times New Roman"/>
                        </a:rPr>
                        <a:t>Praziquantel</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35 mg/mL</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151,2 mg</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bl>
          </a:graphicData>
        </a:graphic>
      </p:graphicFrame>
      <p:sp>
        <p:nvSpPr>
          <p:cNvPr id="9" name="text-73">
            <a:extLst xmlns:a="http://schemas.openxmlformats.org/drawingml/2006/main">
              <a:ext uri="{FF2B5EF4-FFF2-40B4-BE49-F238E27FC236}">
                <a16:creationId xmlns:a16="http://schemas.microsoft.com/office/drawing/2014/main" id="{AEE37603-9CDF-4D6C-A05A-6C71852CDFEC}"/>
              </a:ext>
            </a:extLst>
          </p:cNvPr>
          <p:cNvSpPr>
            <a:spLocks xmlns:a="http://schemas.openxmlformats.org/drawingml/2006/main" noGrp="1"/>
          </p:cNvSpPr>
          <p:nvPr/>
        </p:nvSpPr>
        <p:spPr>
          <a:xfrm xmlns:a="http://schemas.openxmlformats.org/drawingml/2006/main">
            <a:off x="628650" y="5848350"/>
            <a:ext cx="10934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9E4D35"/>
                </a:solidFill>
                <a:latin typeface="Times New Roman"/>
                <a:ea typeface="Times New Roman"/>
                <a:cs typeface="Times New Roman"/>
              </a:defRPr>
            </a:defPPr>
            <a:lvl1pPr algn="l">
              <a:defRPr sz="1875" b="1">
                <a:solidFill>
                  <a:srgbClr val="9E4D35"/>
                </a:solidFill>
                <a:latin typeface="Times New Roman"/>
                <a:ea typeface="Times New Roman"/>
                <a:cs typeface="Times New Roman"/>
              </a:defRPr>
            </a:lvl1pPr>
            <a:lvl2pPr algn="l">
              <a:defRPr sz="1875" b="1">
                <a:solidFill>
                  <a:srgbClr val="9E4D35"/>
                </a:solidFill>
                <a:latin typeface="Times New Roman"/>
                <a:ea typeface="Times New Roman"/>
                <a:cs typeface="Times New Roman"/>
              </a:defRPr>
            </a:lvl2pPr>
            <a:lvl3pPr algn="l">
              <a:defRPr sz="1875" b="1">
                <a:solidFill>
                  <a:srgbClr val="9E4D35"/>
                </a:solidFill>
                <a:latin typeface="Times New Roman"/>
                <a:ea typeface="Times New Roman"/>
                <a:cs typeface="Times New Roman"/>
              </a:defRPr>
            </a:lvl3pPr>
            <a:lvl4pPr algn="l">
              <a:defRPr sz="1875" b="1">
                <a:solidFill>
                  <a:srgbClr val="9E4D35"/>
                </a:solidFill>
                <a:latin typeface="Times New Roman"/>
                <a:ea typeface="Times New Roman"/>
                <a:cs typeface="Times New Roman"/>
              </a:defRPr>
            </a:lvl4pPr>
            <a:lvl5pPr algn="l">
              <a:defRPr sz="1875" b="1">
                <a:solidFill>
                  <a:srgbClr val="9E4D35"/>
                </a:solidFill>
                <a:latin typeface="Times New Roman"/>
                <a:ea typeface="Times New Roman"/>
                <a:cs typeface="Times New Roman"/>
              </a:defRPr>
            </a:lvl5pPr>
            <a:lvl6pPr algn="l">
              <a:defRPr sz="1875" b="1">
                <a:solidFill>
                  <a:srgbClr val="9E4D35"/>
                </a:solidFill>
                <a:latin typeface="Times New Roman"/>
                <a:ea typeface="Times New Roman"/>
                <a:cs typeface="Times New Roman"/>
              </a:defRPr>
            </a:lvl6pPr>
            <a:lvl7pPr algn="l">
              <a:defRPr sz="1875" b="1">
                <a:solidFill>
                  <a:srgbClr val="9E4D35"/>
                </a:solidFill>
                <a:latin typeface="Times New Roman"/>
                <a:ea typeface="Times New Roman"/>
                <a:cs typeface="Times New Roman"/>
              </a:defRPr>
            </a:lvl7pPr>
            <a:lvl8pPr algn="l">
              <a:defRPr sz="1875" b="1">
                <a:solidFill>
                  <a:srgbClr val="9E4D35"/>
                </a:solidFill>
                <a:latin typeface="Times New Roman"/>
                <a:ea typeface="Times New Roman"/>
                <a:cs typeface="Times New Roman"/>
              </a:defRPr>
            </a:lvl8pPr>
            <a:lvl9pPr algn="l">
              <a:defRPr sz="1875" b="1">
                <a:solidFill>
                  <a:srgbClr val="9E4D35"/>
                </a:solidFill>
                <a:latin typeface="Times New Roman"/>
                <a:ea typeface="Times New Roman"/>
                <a:cs typeface="Times New Roman"/>
              </a:defRPr>
            </a:lvl9pPr>
          </a:lstStyle>
          <a:p xmlns:a="http://schemas.openxmlformats.org/drawingml/2006/main">
            <a:pPr algn="l">
              <a:defRPr sz="1875" b="1">
                <a:solidFill>
                  <a:srgbClr val="9E4D35"/>
                </a:solidFill>
                <a:latin typeface="Times New Roman"/>
                <a:ea typeface="Times New Roman"/>
                <a:cs typeface="Times New Roman"/>
              </a:defRPr>
            </a:pPr>
            <a:r>
              <a:rPr sz="1875" b="1">
                <a:solidFill>
                  <a:srgbClr val="9E4D35"/>
                </a:solidFill>
                <a:latin typeface="Times New Roman"/>
                <a:ea typeface="Times New Roman"/>
                <a:cs typeface="Times New Roman"/>
              </a:rPr>
              <a:t>21,60 ÷ 5 = 4,32 mL según etiqueta. El volumen administrado no está confirmado.</a:t>
            </a:r>
          </a:p>
        </p:txBody>
      </p:sp>
      <p:sp>
        <p:nvSpPr>
          <p:cNvPr id="10" name="text-113">
            <a:extLst xmlns:a="http://schemas.openxmlformats.org/drawingml/2006/main">
              <a:ext uri="{FF2B5EF4-FFF2-40B4-BE49-F238E27FC236}">
                <a16:creationId xmlns:a16="http://schemas.microsoft.com/office/drawing/2014/main" id="{4EEE8EBA-DF64-4923-B5F7-1BEEB3068A8A}"/>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(4, 8, 9)</a:t>
            </a:r>
          </a:p>
        </p:txBody>
      </p:sp>
    </p:spTree>
    <p:extLst>
      <p:ext uri="{BB962C8B-B14F-4D97-AF65-F5344CB8AC3E}">
        <p14:creationId xmlns:p14="http://schemas.microsoft.com/office/powerpoint/2010/main" val="4184802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4">
            <a:extLst xmlns:a="http://schemas.openxmlformats.org/drawingml/2006/main">
              <a:ext uri="{FF2B5EF4-FFF2-40B4-BE49-F238E27FC236}">
                <a16:creationId xmlns:a16="http://schemas.microsoft.com/office/drawing/2014/main" id="{34C88A2F-1996-4342-9E1F-3C55F3F88473}"/>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Sulfato ferroso en Apetomax</a:t>
            </a:r>
          </a:p>
        </p:txBody>
      </p:sp>
      <p:sp>
        <p:nvSpPr>
          <p:cNvPr id="2" name="text-75">
            <a:extLst xmlns:a="http://schemas.openxmlformats.org/drawingml/2006/main">
              <a:ext uri="{FF2B5EF4-FFF2-40B4-BE49-F238E27FC236}">
                <a16:creationId xmlns:a16="http://schemas.microsoft.com/office/drawing/2014/main" id="{E54BC340-14F4-4A68-81FF-72B52C7ECA0C}"/>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Jhon Balcázar · Coadyuvante en una formulación combinada</a:t>
            </a:r>
          </a:p>
        </p:txBody>
      </p:sp>
      <p:sp>
        <p:nvSpPr>
          <p:cNvPr id="3" name="text-76">
            <a:extLst xmlns:a="http://schemas.openxmlformats.org/drawingml/2006/main">
              <a:ext uri="{FF2B5EF4-FFF2-40B4-BE49-F238E27FC236}">
                <a16:creationId xmlns:a16="http://schemas.microsoft.com/office/drawing/2014/main" id="{692E30AB-6FD9-47C9-B77A-A1FAAEE1874E}"/>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11</a:t>
            </a:r>
          </a:p>
        </p:txBody>
      </p:sp>
      <p:sp>
        <p:nvSpPr>
          <p:cNvPr id="4" name="text-77">
            <a:extLst xmlns:a="http://schemas.openxmlformats.org/drawingml/2006/main">
              <a:ext uri="{FF2B5EF4-FFF2-40B4-BE49-F238E27FC236}">
                <a16:creationId xmlns:a16="http://schemas.microsoft.com/office/drawing/2014/main" id="{8A7D41CD-E098-4105-9573-967FD9522F86}"/>
              </a:ext>
            </a:extLst>
          </p:cNvPr>
          <p:cNvSpPr>
            <a:spLocks xmlns:a="http://schemas.openxmlformats.org/drawingml/2006/main" noGrp="1"/>
          </p:cNvSpPr>
          <p:nvPr/>
        </p:nvSpPr>
        <p:spPr>
          <a:xfrm xmlns:a="http://schemas.openxmlformats.org/drawingml/2006/main">
            <a:off x="628650" y="1952625"/>
            <a:ext cx="5095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26C9C"/>
                </a:solidFill>
                <a:latin typeface="Times New Roman"/>
                <a:ea typeface="Times New Roman"/>
                <a:cs typeface="Times New Roman"/>
              </a:defRPr>
            </a:defPPr>
            <a:lvl1pPr algn="l">
              <a:defRPr sz="3150" b="1">
                <a:solidFill>
                  <a:srgbClr val="226C9C"/>
                </a:solidFill>
                <a:latin typeface="Times New Roman"/>
                <a:ea typeface="Times New Roman"/>
                <a:cs typeface="Times New Roman"/>
              </a:defRPr>
            </a:lvl1pPr>
            <a:lvl2pPr algn="l">
              <a:defRPr sz="3150" b="1">
                <a:solidFill>
                  <a:srgbClr val="226C9C"/>
                </a:solidFill>
                <a:latin typeface="Times New Roman"/>
                <a:ea typeface="Times New Roman"/>
                <a:cs typeface="Times New Roman"/>
              </a:defRPr>
            </a:lvl2pPr>
            <a:lvl3pPr algn="l">
              <a:defRPr sz="3150" b="1">
                <a:solidFill>
                  <a:srgbClr val="226C9C"/>
                </a:solidFill>
                <a:latin typeface="Times New Roman"/>
                <a:ea typeface="Times New Roman"/>
                <a:cs typeface="Times New Roman"/>
              </a:defRPr>
            </a:lvl3pPr>
            <a:lvl4pPr algn="l">
              <a:defRPr sz="3150" b="1">
                <a:solidFill>
                  <a:srgbClr val="226C9C"/>
                </a:solidFill>
                <a:latin typeface="Times New Roman"/>
                <a:ea typeface="Times New Roman"/>
                <a:cs typeface="Times New Roman"/>
              </a:defRPr>
            </a:lvl4pPr>
            <a:lvl5pPr algn="l">
              <a:defRPr sz="3150" b="1">
                <a:solidFill>
                  <a:srgbClr val="226C9C"/>
                </a:solidFill>
                <a:latin typeface="Times New Roman"/>
                <a:ea typeface="Times New Roman"/>
                <a:cs typeface="Times New Roman"/>
              </a:defRPr>
            </a:lvl5pPr>
            <a:lvl6pPr algn="l">
              <a:defRPr sz="3150" b="1">
                <a:solidFill>
                  <a:srgbClr val="226C9C"/>
                </a:solidFill>
                <a:latin typeface="Times New Roman"/>
                <a:ea typeface="Times New Roman"/>
                <a:cs typeface="Times New Roman"/>
              </a:defRPr>
            </a:lvl6pPr>
            <a:lvl7pPr algn="l">
              <a:defRPr sz="3150" b="1">
                <a:solidFill>
                  <a:srgbClr val="226C9C"/>
                </a:solidFill>
                <a:latin typeface="Times New Roman"/>
                <a:ea typeface="Times New Roman"/>
                <a:cs typeface="Times New Roman"/>
              </a:defRPr>
            </a:lvl7pPr>
            <a:lvl8pPr algn="l">
              <a:defRPr sz="3150" b="1">
                <a:solidFill>
                  <a:srgbClr val="226C9C"/>
                </a:solidFill>
                <a:latin typeface="Times New Roman"/>
                <a:ea typeface="Times New Roman"/>
                <a:cs typeface="Times New Roman"/>
              </a:defRPr>
            </a:lvl8pPr>
            <a:lvl9pPr algn="l">
              <a:defRPr sz="3150" b="1">
                <a:solidFill>
                  <a:srgbClr val="226C9C"/>
                </a:solidFill>
                <a:latin typeface="Times New Roman"/>
                <a:ea typeface="Times New Roman"/>
                <a:cs typeface="Times New Roman"/>
              </a:defRPr>
            </a:lvl9pPr>
          </a:lstStyle>
          <a:p xmlns:a="http://schemas.openxmlformats.org/drawingml/2006/main">
            <a:pPr algn="l">
              <a:defRPr sz="3150" b="1">
                <a:solidFill>
                  <a:srgbClr val="226C9C"/>
                </a:solidFill>
                <a:latin typeface="Times New Roman"/>
                <a:ea typeface="Times New Roman"/>
                <a:cs typeface="Times New Roman"/>
              </a:defRPr>
            </a:pPr>
            <a:r>
              <a:rPr sz="3150" b="1">
                <a:solidFill>
                  <a:srgbClr val="226C9C"/>
                </a:solidFill>
                <a:latin typeface="Times New Roman"/>
                <a:ea typeface="Times New Roman"/>
                <a:cs typeface="Times New Roman"/>
              </a:rPr>
              <a:t>45 mg por 100 mL</a:t>
            </a:r>
          </a:p>
          <a:p xmlns:a="http://schemas.openxmlformats.org/drawingml/2006/main">
            <a:pPr algn="l">
              <a:defRPr sz="3150" b="1">
                <a:solidFill>
                  <a:srgbClr val="226C9C"/>
                </a:solidFill>
                <a:latin typeface="Times New Roman"/>
                <a:ea typeface="Times New Roman"/>
                <a:cs typeface="Times New Roman"/>
              </a:defRPr>
            </a:pPr>
            <a:r>
              <a:rPr sz="3150" b="1">
                <a:solidFill>
                  <a:srgbClr val="226C9C"/>
                </a:solidFill>
                <a:latin typeface="Times New Roman"/>
                <a:ea typeface="Times New Roman"/>
                <a:cs typeface="Times New Roman"/>
              </a:rPr>
              <a:t>= 0,45 mg/mL</a:t>
            </a:r>
          </a:p>
        </p:txBody>
      </p:sp>
      <p:sp>
        <p:nvSpPr>
          <p:cNvPr id="5" name="text-78">
            <a:extLst xmlns:a="http://schemas.openxmlformats.org/drawingml/2006/main">
              <a:ext uri="{FF2B5EF4-FFF2-40B4-BE49-F238E27FC236}">
                <a16:creationId xmlns:a16="http://schemas.microsoft.com/office/drawing/2014/main" id="{76842BA8-FE4C-465C-821A-05830C07D171}"/>
              </a:ext>
            </a:extLst>
          </p:cNvPr>
          <p:cNvSpPr>
            <a:spLocks xmlns:a="http://schemas.openxmlformats.org/drawingml/2006/main" noGrp="1"/>
          </p:cNvSpPr>
          <p:nvPr/>
        </p:nvSpPr>
        <p:spPr>
          <a:xfrm xmlns:a="http://schemas.openxmlformats.org/drawingml/2006/main">
            <a:off x="628650" y="3371850"/>
            <a:ext cx="5095875"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15253A"/>
                </a:solidFill>
                <a:latin typeface="Times New Roman"/>
                <a:ea typeface="Times New Roman"/>
                <a:cs typeface="Times New Roman"/>
              </a:defRPr>
            </a:defPPr>
            <a:lvl1pPr algn="l">
              <a:defRPr sz="2700" b="0">
                <a:solidFill>
                  <a:srgbClr val="15253A"/>
                </a:solidFill>
                <a:latin typeface="Times New Roman"/>
                <a:ea typeface="Times New Roman"/>
                <a:cs typeface="Times New Roman"/>
              </a:defRPr>
            </a:lvl1pPr>
            <a:lvl2pPr algn="l">
              <a:defRPr sz="2700" b="0">
                <a:solidFill>
                  <a:srgbClr val="15253A"/>
                </a:solidFill>
                <a:latin typeface="Times New Roman"/>
                <a:ea typeface="Times New Roman"/>
                <a:cs typeface="Times New Roman"/>
              </a:defRPr>
            </a:lvl2pPr>
            <a:lvl3pPr algn="l">
              <a:defRPr sz="2700" b="0">
                <a:solidFill>
                  <a:srgbClr val="15253A"/>
                </a:solidFill>
                <a:latin typeface="Times New Roman"/>
                <a:ea typeface="Times New Roman"/>
                <a:cs typeface="Times New Roman"/>
              </a:defRPr>
            </a:lvl3pPr>
            <a:lvl4pPr algn="l">
              <a:defRPr sz="2700" b="0">
                <a:solidFill>
                  <a:srgbClr val="15253A"/>
                </a:solidFill>
                <a:latin typeface="Times New Roman"/>
                <a:ea typeface="Times New Roman"/>
                <a:cs typeface="Times New Roman"/>
              </a:defRPr>
            </a:lvl4pPr>
            <a:lvl5pPr algn="l">
              <a:defRPr sz="2700" b="0">
                <a:solidFill>
                  <a:srgbClr val="15253A"/>
                </a:solidFill>
                <a:latin typeface="Times New Roman"/>
                <a:ea typeface="Times New Roman"/>
                <a:cs typeface="Times New Roman"/>
              </a:defRPr>
            </a:lvl5pPr>
            <a:lvl6pPr algn="l">
              <a:defRPr sz="2700" b="0">
                <a:solidFill>
                  <a:srgbClr val="15253A"/>
                </a:solidFill>
                <a:latin typeface="Times New Roman"/>
                <a:ea typeface="Times New Roman"/>
                <a:cs typeface="Times New Roman"/>
              </a:defRPr>
            </a:lvl6pPr>
            <a:lvl7pPr algn="l">
              <a:defRPr sz="2700" b="0">
                <a:solidFill>
                  <a:srgbClr val="15253A"/>
                </a:solidFill>
                <a:latin typeface="Times New Roman"/>
                <a:ea typeface="Times New Roman"/>
                <a:cs typeface="Times New Roman"/>
              </a:defRPr>
            </a:lvl7pPr>
            <a:lvl8pPr algn="l">
              <a:defRPr sz="2700" b="0">
                <a:solidFill>
                  <a:srgbClr val="15253A"/>
                </a:solidFill>
                <a:latin typeface="Times New Roman"/>
                <a:ea typeface="Times New Roman"/>
                <a:cs typeface="Times New Roman"/>
              </a:defRPr>
            </a:lvl8pPr>
            <a:lvl9pPr algn="l">
              <a:defRPr sz="2700" b="0">
                <a:solidFill>
                  <a:srgbClr val="15253A"/>
                </a:solidFill>
                <a:latin typeface="Times New Roman"/>
                <a:ea typeface="Times New Roman"/>
                <a:cs typeface="Times New Roman"/>
              </a:defRPr>
            </a:lvl9pPr>
          </a:lstStyle>
          <a:p xmlns:a="http://schemas.openxmlformats.org/drawingml/2006/main">
            <a:pPr algn="l">
              <a:defRPr sz="2700" b="0">
                <a:solidFill>
                  <a:srgbClr val="15253A"/>
                </a:solidFill>
                <a:latin typeface="Times New Roman"/>
                <a:ea typeface="Times New Roman"/>
                <a:cs typeface="Times New Roman"/>
              </a:defRPr>
            </a:pPr>
            <a:r>
              <a:rPr sz="2700" b="0">
                <a:solidFill>
                  <a:srgbClr val="15253A"/>
                </a:solidFill>
                <a:latin typeface="Times New Roman"/>
                <a:ea typeface="Times New Roman"/>
                <a:cs typeface="Times New Roman"/>
              </a:rPr>
              <a:t>7 mL × 0,45 mg/mL</a:t>
            </a:r>
          </a:p>
          <a:p xmlns:a="http://schemas.openxmlformats.org/drawingml/2006/main">
            <a:pPr algn="l">
              <a:defRPr sz="2700" b="0">
                <a:solidFill>
                  <a:srgbClr val="15253A"/>
                </a:solidFill>
                <a:latin typeface="Times New Roman"/>
                <a:ea typeface="Times New Roman"/>
                <a:cs typeface="Times New Roman"/>
              </a:defRPr>
            </a:pPr>
            <a:r>
              <a:rPr sz="2700" b="0">
                <a:solidFill>
                  <a:srgbClr val="15253A"/>
                </a:solidFill>
                <a:latin typeface="Times New Roman"/>
                <a:ea typeface="Times New Roman"/>
                <a:cs typeface="Times New Roman"/>
              </a:rPr>
              <a:t>= 3,15 mg de sulfato ferroso al día</a:t>
            </a:r>
          </a:p>
        </p:txBody>
      </p:sp>
      <p:sp>
        <p:nvSpPr>
          <p:cNvPr id="6" name="text-79">
            <a:extLst xmlns:a="http://schemas.openxmlformats.org/drawingml/2006/main">
              <a:ext uri="{FF2B5EF4-FFF2-40B4-BE49-F238E27FC236}">
                <a16:creationId xmlns:a16="http://schemas.microsoft.com/office/drawing/2014/main" id="{F4D8E263-0A97-41F8-A428-24AE2044A124}"/>
              </a:ext>
            </a:extLst>
          </p:cNvPr>
          <p:cNvSpPr>
            <a:spLocks xmlns:a="http://schemas.openxmlformats.org/drawingml/2006/main" noGrp="1"/>
          </p:cNvSpPr>
          <p:nvPr/>
        </p:nvSpPr>
        <p:spPr>
          <a:xfrm xmlns:a="http://schemas.openxmlformats.org/drawingml/2006/main">
            <a:off x="6324600" y="1952625"/>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A5E"/>
                </a:solidFill>
                <a:latin typeface="Times New Roman"/>
                <a:ea typeface="Times New Roman"/>
                <a:cs typeface="Times New Roman"/>
              </a:defRPr>
            </a:defPPr>
            <a:lvl1pPr algn="l">
              <a:defRPr sz="2325" b="1">
                <a:solidFill>
                  <a:srgbClr val="173A5E"/>
                </a:solidFill>
                <a:latin typeface="Times New Roman"/>
                <a:ea typeface="Times New Roman"/>
                <a:cs typeface="Times New Roman"/>
              </a:defRPr>
            </a:lvl1pPr>
            <a:lvl2pPr algn="l">
              <a:defRPr sz="2325" b="1">
                <a:solidFill>
                  <a:srgbClr val="173A5E"/>
                </a:solidFill>
                <a:latin typeface="Times New Roman"/>
                <a:ea typeface="Times New Roman"/>
                <a:cs typeface="Times New Roman"/>
              </a:defRPr>
            </a:lvl2pPr>
            <a:lvl3pPr algn="l">
              <a:defRPr sz="2325" b="1">
                <a:solidFill>
                  <a:srgbClr val="173A5E"/>
                </a:solidFill>
                <a:latin typeface="Times New Roman"/>
                <a:ea typeface="Times New Roman"/>
                <a:cs typeface="Times New Roman"/>
              </a:defRPr>
            </a:lvl3pPr>
            <a:lvl4pPr algn="l">
              <a:defRPr sz="2325" b="1">
                <a:solidFill>
                  <a:srgbClr val="173A5E"/>
                </a:solidFill>
                <a:latin typeface="Times New Roman"/>
                <a:ea typeface="Times New Roman"/>
                <a:cs typeface="Times New Roman"/>
              </a:defRPr>
            </a:lvl4pPr>
            <a:lvl5pPr algn="l">
              <a:defRPr sz="2325" b="1">
                <a:solidFill>
                  <a:srgbClr val="173A5E"/>
                </a:solidFill>
                <a:latin typeface="Times New Roman"/>
                <a:ea typeface="Times New Roman"/>
                <a:cs typeface="Times New Roman"/>
              </a:defRPr>
            </a:lvl5pPr>
            <a:lvl6pPr algn="l">
              <a:defRPr sz="2325" b="1">
                <a:solidFill>
                  <a:srgbClr val="173A5E"/>
                </a:solidFill>
                <a:latin typeface="Times New Roman"/>
                <a:ea typeface="Times New Roman"/>
                <a:cs typeface="Times New Roman"/>
              </a:defRPr>
            </a:lvl6pPr>
            <a:lvl7pPr algn="l">
              <a:defRPr sz="2325" b="1">
                <a:solidFill>
                  <a:srgbClr val="173A5E"/>
                </a:solidFill>
                <a:latin typeface="Times New Roman"/>
                <a:ea typeface="Times New Roman"/>
                <a:cs typeface="Times New Roman"/>
              </a:defRPr>
            </a:lvl7pPr>
            <a:lvl8pPr algn="l">
              <a:defRPr sz="2325" b="1">
                <a:solidFill>
                  <a:srgbClr val="173A5E"/>
                </a:solidFill>
                <a:latin typeface="Times New Roman"/>
                <a:ea typeface="Times New Roman"/>
                <a:cs typeface="Times New Roman"/>
              </a:defRPr>
            </a:lvl8pPr>
            <a:lvl9pPr algn="l">
              <a:defRPr sz="2325" b="1">
                <a:solidFill>
                  <a:srgbClr val="173A5E"/>
                </a:solidFill>
                <a:latin typeface="Times New Roman"/>
                <a:ea typeface="Times New Roman"/>
                <a:cs typeface="Times New Roman"/>
              </a:defRPr>
            </a:lvl9pPr>
          </a:lstStyle>
          <a:p xmlns:a="http://schemas.openxmlformats.org/drawingml/2006/main">
            <a:pPr algn="l">
              <a:defRPr sz="2325" b="1">
                <a:solidFill>
                  <a:srgbClr val="173A5E"/>
                </a:solidFill>
                <a:latin typeface="Times New Roman"/>
                <a:ea typeface="Times New Roman"/>
                <a:cs typeface="Times New Roman"/>
              </a:defRPr>
            </a:pPr>
            <a:r>
              <a:rPr sz="2325" b="1">
                <a:solidFill>
                  <a:srgbClr val="173A5E"/>
                </a:solidFill>
                <a:latin typeface="Times New Roman"/>
                <a:ea typeface="Times New Roman"/>
                <a:cs typeface="Times New Roman"/>
              </a:rPr>
              <a:t>El resto de la formulación</a:t>
            </a:r>
          </a:p>
        </p:txBody>
      </p:sp>
      <p:sp>
        <p:nvSpPr>
          <p:cNvPr id="7" name="text-80">
            <a:extLst xmlns:a="http://schemas.openxmlformats.org/drawingml/2006/main">
              <a:ext uri="{FF2B5EF4-FFF2-40B4-BE49-F238E27FC236}">
                <a16:creationId xmlns:a16="http://schemas.microsoft.com/office/drawing/2014/main" id="{159660A0-6420-4354-B243-693A95D1B471}"/>
              </a:ext>
            </a:extLst>
          </p:cNvPr>
          <p:cNvSpPr>
            <a:spLocks xmlns:a="http://schemas.openxmlformats.org/drawingml/2006/main" noGrp="1"/>
          </p:cNvSpPr>
          <p:nvPr/>
        </p:nvSpPr>
        <p:spPr>
          <a:xfrm xmlns:a="http://schemas.openxmlformats.org/drawingml/2006/main">
            <a:off x="6324600" y="2438400"/>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0">
                <a:solidFill>
                  <a:srgbClr val="15253A"/>
                </a:solidFill>
                <a:latin typeface="Times New Roman"/>
                <a:ea typeface="Times New Roman"/>
                <a:cs typeface="Times New Roman"/>
              </a:defRPr>
            </a:defPPr>
            <a:lvl1pPr algn="l">
              <a:defRPr sz="2175" b="0">
                <a:solidFill>
                  <a:srgbClr val="15253A"/>
                </a:solidFill>
                <a:latin typeface="Times New Roman"/>
                <a:ea typeface="Times New Roman"/>
                <a:cs typeface="Times New Roman"/>
              </a:defRPr>
            </a:lvl1pPr>
            <a:lvl2pPr algn="l">
              <a:defRPr sz="2175" b="0">
                <a:solidFill>
                  <a:srgbClr val="15253A"/>
                </a:solidFill>
                <a:latin typeface="Times New Roman"/>
                <a:ea typeface="Times New Roman"/>
                <a:cs typeface="Times New Roman"/>
              </a:defRPr>
            </a:lvl2pPr>
            <a:lvl3pPr algn="l">
              <a:defRPr sz="2175" b="0">
                <a:solidFill>
                  <a:srgbClr val="15253A"/>
                </a:solidFill>
                <a:latin typeface="Times New Roman"/>
                <a:ea typeface="Times New Roman"/>
                <a:cs typeface="Times New Roman"/>
              </a:defRPr>
            </a:lvl3pPr>
            <a:lvl4pPr algn="l">
              <a:defRPr sz="2175" b="0">
                <a:solidFill>
                  <a:srgbClr val="15253A"/>
                </a:solidFill>
                <a:latin typeface="Times New Roman"/>
                <a:ea typeface="Times New Roman"/>
                <a:cs typeface="Times New Roman"/>
              </a:defRPr>
            </a:lvl4pPr>
            <a:lvl5pPr algn="l">
              <a:defRPr sz="2175" b="0">
                <a:solidFill>
                  <a:srgbClr val="15253A"/>
                </a:solidFill>
                <a:latin typeface="Times New Roman"/>
                <a:ea typeface="Times New Roman"/>
                <a:cs typeface="Times New Roman"/>
              </a:defRPr>
            </a:lvl5pPr>
            <a:lvl6pPr algn="l">
              <a:defRPr sz="2175" b="0">
                <a:solidFill>
                  <a:srgbClr val="15253A"/>
                </a:solidFill>
                <a:latin typeface="Times New Roman"/>
                <a:ea typeface="Times New Roman"/>
                <a:cs typeface="Times New Roman"/>
              </a:defRPr>
            </a:lvl6pPr>
            <a:lvl7pPr algn="l">
              <a:defRPr sz="2175" b="0">
                <a:solidFill>
                  <a:srgbClr val="15253A"/>
                </a:solidFill>
                <a:latin typeface="Times New Roman"/>
                <a:ea typeface="Times New Roman"/>
                <a:cs typeface="Times New Roman"/>
              </a:defRPr>
            </a:lvl7pPr>
            <a:lvl8pPr algn="l">
              <a:defRPr sz="2175" b="0">
                <a:solidFill>
                  <a:srgbClr val="15253A"/>
                </a:solidFill>
                <a:latin typeface="Times New Roman"/>
                <a:ea typeface="Times New Roman"/>
                <a:cs typeface="Times New Roman"/>
              </a:defRPr>
            </a:lvl8pPr>
            <a:lvl9pPr algn="l">
              <a:defRPr sz="2175" b="0">
                <a:solidFill>
                  <a:srgbClr val="15253A"/>
                </a:solidFill>
                <a:latin typeface="Times New Roman"/>
                <a:ea typeface="Times New Roman"/>
                <a:cs typeface="Times New Roman"/>
              </a:defRPr>
            </a:lvl9pPr>
          </a:lstStyle>
          <a:p xmlns:a="http://schemas.openxmlformats.org/drawingml/2006/main">
            <a:pPr algn="l">
              <a:defRPr sz="2175" b="0">
                <a:solidFill>
                  <a:srgbClr val="15253A"/>
                </a:solidFill>
                <a:latin typeface="Times New Roman"/>
                <a:ea typeface="Times New Roman"/>
                <a:cs typeface="Times New Roman"/>
              </a:defRPr>
            </a:pPr>
            <a:r>
              <a:rPr sz="2175" b="0">
                <a:solidFill>
                  <a:srgbClr val="15253A"/>
                </a:solidFill>
                <a:latin typeface="Times New Roman"/>
                <a:ea typeface="Times New Roman"/>
                <a:cs typeface="Times New Roman"/>
              </a:rPr>
              <a:t>Buclizina y vitaminas del complejo B acompañan al sulfato ferroso.</a:t>
            </a:r>
          </a:p>
        </p:txBody>
      </p:sp>
      <p:sp>
        <p:nvSpPr>
          <p:cNvPr id="8" name="text-81">
            <a:extLst xmlns:a="http://schemas.openxmlformats.org/drawingml/2006/main">
              <a:ext uri="{FF2B5EF4-FFF2-40B4-BE49-F238E27FC236}">
                <a16:creationId xmlns:a16="http://schemas.microsoft.com/office/drawing/2014/main" id="{C5C37D44-1C23-49BF-AC03-513062446707}"/>
              </a:ext>
            </a:extLst>
          </p:cNvPr>
          <p:cNvSpPr>
            <a:spLocks xmlns:a="http://schemas.openxmlformats.org/drawingml/2006/main" noGrp="1"/>
          </p:cNvSpPr>
          <p:nvPr/>
        </p:nvSpPr>
        <p:spPr>
          <a:xfrm xmlns:a="http://schemas.openxmlformats.org/drawingml/2006/main">
            <a:off x="6324600" y="3762375"/>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A5E"/>
                </a:solidFill>
                <a:latin typeface="Times New Roman"/>
                <a:ea typeface="Times New Roman"/>
                <a:cs typeface="Times New Roman"/>
              </a:defRPr>
            </a:defPPr>
            <a:lvl1pPr algn="l">
              <a:defRPr sz="2325" b="1">
                <a:solidFill>
                  <a:srgbClr val="173A5E"/>
                </a:solidFill>
                <a:latin typeface="Times New Roman"/>
                <a:ea typeface="Times New Roman"/>
                <a:cs typeface="Times New Roman"/>
              </a:defRPr>
            </a:lvl1pPr>
            <a:lvl2pPr algn="l">
              <a:defRPr sz="2325" b="1">
                <a:solidFill>
                  <a:srgbClr val="173A5E"/>
                </a:solidFill>
                <a:latin typeface="Times New Roman"/>
                <a:ea typeface="Times New Roman"/>
                <a:cs typeface="Times New Roman"/>
              </a:defRPr>
            </a:lvl2pPr>
            <a:lvl3pPr algn="l">
              <a:defRPr sz="2325" b="1">
                <a:solidFill>
                  <a:srgbClr val="173A5E"/>
                </a:solidFill>
                <a:latin typeface="Times New Roman"/>
                <a:ea typeface="Times New Roman"/>
                <a:cs typeface="Times New Roman"/>
              </a:defRPr>
            </a:lvl3pPr>
            <a:lvl4pPr algn="l">
              <a:defRPr sz="2325" b="1">
                <a:solidFill>
                  <a:srgbClr val="173A5E"/>
                </a:solidFill>
                <a:latin typeface="Times New Roman"/>
                <a:ea typeface="Times New Roman"/>
                <a:cs typeface="Times New Roman"/>
              </a:defRPr>
            </a:lvl4pPr>
            <a:lvl5pPr algn="l">
              <a:defRPr sz="2325" b="1">
                <a:solidFill>
                  <a:srgbClr val="173A5E"/>
                </a:solidFill>
                <a:latin typeface="Times New Roman"/>
                <a:ea typeface="Times New Roman"/>
                <a:cs typeface="Times New Roman"/>
              </a:defRPr>
            </a:lvl5pPr>
            <a:lvl6pPr algn="l">
              <a:defRPr sz="2325" b="1">
                <a:solidFill>
                  <a:srgbClr val="173A5E"/>
                </a:solidFill>
                <a:latin typeface="Times New Roman"/>
                <a:ea typeface="Times New Roman"/>
                <a:cs typeface="Times New Roman"/>
              </a:defRPr>
            </a:lvl6pPr>
            <a:lvl7pPr algn="l">
              <a:defRPr sz="2325" b="1">
                <a:solidFill>
                  <a:srgbClr val="173A5E"/>
                </a:solidFill>
                <a:latin typeface="Times New Roman"/>
                <a:ea typeface="Times New Roman"/>
                <a:cs typeface="Times New Roman"/>
              </a:defRPr>
            </a:lvl7pPr>
            <a:lvl8pPr algn="l">
              <a:defRPr sz="2325" b="1">
                <a:solidFill>
                  <a:srgbClr val="173A5E"/>
                </a:solidFill>
                <a:latin typeface="Times New Roman"/>
                <a:ea typeface="Times New Roman"/>
                <a:cs typeface="Times New Roman"/>
              </a:defRPr>
            </a:lvl8pPr>
            <a:lvl9pPr algn="l">
              <a:defRPr sz="2325" b="1">
                <a:solidFill>
                  <a:srgbClr val="173A5E"/>
                </a:solidFill>
                <a:latin typeface="Times New Roman"/>
                <a:ea typeface="Times New Roman"/>
                <a:cs typeface="Times New Roman"/>
              </a:defRPr>
            </a:lvl9pPr>
          </a:lstStyle>
          <a:p xmlns:a="http://schemas.openxmlformats.org/drawingml/2006/main">
            <a:pPr algn="l">
              <a:defRPr sz="2325" b="1">
                <a:solidFill>
                  <a:srgbClr val="173A5E"/>
                </a:solidFill>
                <a:latin typeface="Times New Roman"/>
                <a:ea typeface="Times New Roman"/>
                <a:cs typeface="Times New Roman"/>
              </a:defRPr>
            </a:pPr>
            <a:r>
              <a:rPr sz="2325" b="1">
                <a:solidFill>
                  <a:srgbClr val="173A5E"/>
                </a:solidFill>
                <a:latin typeface="Times New Roman"/>
                <a:ea typeface="Times New Roman"/>
                <a:cs typeface="Times New Roman"/>
              </a:rPr>
              <a:t>Interpretación</a:t>
            </a:r>
          </a:p>
        </p:txBody>
      </p:sp>
      <p:sp>
        <p:nvSpPr>
          <p:cNvPr id="9" name="text-82">
            <a:extLst xmlns:a="http://schemas.openxmlformats.org/drawingml/2006/main">
              <a:ext uri="{FF2B5EF4-FFF2-40B4-BE49-F238E27FC236}">
                <a16:creationId xmlns:a16="http://schemas.microsoft.com/office/drawing/2014/main" id="{6D1E9C40-80D8-4DC3-A6B7-DAED1A029B03}"/>
              </a:ext>
            </a:extLst>
          </p:cNvPr>
          <p:cNvSpPr>
            <a:spLocks xmlns:a="http://schemas.openxmlformats.org/drawingml/2006/main" noGrp="1"/>
          </p:cNvSpPr>
          <p:nvPr/>
        </p:nvSpPr>
        <p:spPr>
          <a:xfrm xmlns:a="http://schemas.openxmlformats.org/drawingml/2006/main">
            <a:off x="6324600" y="4248150"/>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0">
                <a:solidFill>
                  <a:srgbClr val="15253A"/>
                </a:solidFill>
                <a:latin typeface="Times New Roman"/>
                <a:ea typeface="Times New Roman"/>
                <a:cs typeface="Times New Roman"/>
              </a:defRPr>
            </a:defPPr>
            <a:lvl1pPr algn="l">
              <a:defRPr sz="2175" b="0">
                <a:solidFill>
                  <a:srgbClr val="15253A"/>
                </a:solidFill>
                <a:latin typeface="Times New Roman"/>
                <a:ea typeface="Times New Roman"/>
                <a:cs typeface="Times New Roman"/>
              </a:defRPr>
            </a:lvl1pPr>
            <a:lvl2pPr algn="l">
              <a:defRPr sz="2175" b="0">
                <a:solidFill>
                  <a:srgbClr val="15253A"/>
                </a:solidFill>
                <a:latin typeface="Times New Roman"/>
                <a:ea typeface="Times New Roman"/>
                <a:cs typeface="Times New Roman"/>
              </a:defRPr>
            </a:lvl2pPr>
            <a:lvl3pPr algn="l">
              <a:defRPr sz="2175" b="0">
                <a:solidFill>
                  <a:srgbClr val="15253A"/>
                </a:solidFill>
                <a:latin typeface="Times New Roman"/>
                <a:ea typeface="Times New Roman"/>
                <a:cs typeface="Times New Roman"/>
              </a:defRPr>
            </a:lvl3pPr>
            <a:lvl4pPr algn="l">
              <a:defRPr sz="2175" b="0">
                <a:solidFill>
                  <a:srgbClr val="15253A"/>
                </a:solidFill>
                <a:latin typeface="Times New Roman"/>
                <a:ea typeface="Times New Roman"/>
                <a:cs typeface="Times New Roman"/>
              </a:defRPr>
            </a:lvl4pPr>
            <a:lvl5pPr algn="l">
              <a:defRPr sz="2175" b="0">
                <a:solidFill>
                  <a:srgbClr val="15253A"/>
                </a:solidFill>
                <a:latin typeface="Times New Roman"/>
                <a:ea typeface="Times New Roman"/>
                <a:cs typeface="Times New Roman"/>
              </a:defRPr>
            </a:lvl5pPr>
            <a:lvl6pPr algn="l">
              <a:defRPr sz="2175" b="0">
                <a:solidFill>
                  <a:srgbClr val="15253A"/>
                </a:solidFill>
                <a:latin typeface="Times New Roman"/>
                <a:ea typeface="Times New Roman"/>
                <a:cs typeface="Times New Roman"/>
              </a:defRPr>
            </a:lvl6pPr>
            <a:lvl7pPr algn="l">
              <a:defRPr sz="2175" b="0">
                <a:solidFill>
                  <a:srgbClr val="15253A"/>
                </a:solidFill>
                <a:latin typeface="Times New Roman"/>
                <a:ea typeface="Times New Roman"/>
                <a:cs typeface="Times New Roman"/>
              </a:defRPr>
            </a:lvl7pPr>
            <a:lvl8pPr algn="l">
              <a:defRPr sz="2175" b="0">
                <a:solidFill>
                  <a:srgbClr val="15253A"/>
                </a:solidFill>
                <a:latin typeface="Times New Roman"/>
                <a:ea typeface="Times New Roman"/>
                <a:cs typeface="Times New Roman"/>
              </a:defRPr>
            </a:lvl8pPr>
            <a:lvl9pPr algn="l">
              <a:defRPr sz="2175" b="0">
                <a:solidFill>
                  <a:srgbClr val="15253A"/>
                </a:solidFill>
                <a:latin typeface="Times New Roman"/>
                <a:ea typeface="Times New Roman"/>
                <a:cs typeface="Times New Roman"/>
              </a:defRPr>
            </a:lvl9pPr>
          </a:lstStyle>
          <a:p xmlns:a="http://schemas.openxmlformats.org/drawingml/2006/main">
            <a:pPr algn="l">
              <a:defRPr sz="2175" b="0">
                <a:solidFill>
                  <a:srgbClr val="15253A"/>
                </a:solidFill>
                <a:latin typeface="Times New Roman"/>
                <a:ea typeface="Times New Roman"/>
                <a:cs typeface="Times New Roman"/>
              </a:defRPr>
            </a:pPr>
            <a:r>
              <a:rPr sz="2175" b="0">
                <a:solidFill>
                  <a:srgbClr val="15253A"/>
                </a:solidFill>
                <a:latin typeface="Times New Roman"/>
                <a:ea typeface="Times New Roman"/>
                <a:cs typeface="Times New Roman"/>
              </a:rPr>
              <a:t>La cantidad de sal no equivale a hierro elemental. El producto no demuestra corrección de ferropenia.</a:t>
            </a:r>
          </a:p>
        </p:txBody>
      </p:sp>
      <p:sp>
        <p:nvSpPr>
          <p:cNvPr id="10" name="text-83">
            <a:extLst xmlns:a="http://schemas.openxmlformats.org/drawingml/2006/main">
              <a:ext uri="{FF2B5EF4-FFF2-40B4-BE49-F238E27FC236}">
                <a16:creationId xmlns:a16="http://schemas.microsoft.com/office/drawing/2014/main" id="{F9CC30A3-2021-4CA7-A68B-E629A473C34A}"/>
              </a:ext>
            </a:extLst>
          </p:cNvPr>
          <p:cNvSpPr>
            <a:spLocks xmlns:a="http://schemas.openxmlformats.org/drawingml/2006/main" noGrp="1"/>
          </p:cNvSpPr>
          <p:nvPr/>
        </p:nvSpPr>
        <p:spPr>
          <a:xfrm xmlns:a="http://schemas.openxmlformats.org/drawingml/2006/main">
            <a:off x="628650" y="573405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9E4D35"/>
                </a:solidFill>
                <a:latin typeface="Times New Roman"/>
                <a:ea typeface="Times New Roman"/>
                <a:cs typeface="Times New Roman"/>
              </a:defRPr>
            </a:defPPr>
            <a:lvl1pPr algn="l">
              <a:defRPr sz="2025" b="1">
                <a:solidFill>
                  <a:srgbClr val="9E4D35"/>
                </a:solidFill>
                <a:latin typeface="Times New Roman"/>
                <a:ea typeface="Times New Roman"/>
                <a:cs typeface="Times New Roman"/>
              </a:defRPr>
            </a:lvl1pPr>
            <a:lvl2pPr algn="l">
              <a:defRPr sz="2025" b="1">
                <a:solidFill>
                  <a:srgbClr val="9E4D35"/>
                </a:solidFill>
                <a:latin typeface="Times New Roman"/>
                <a:ea typeface="Times New Roman"/>
                <a:cs typeface="Times New Roman"/>
              </a:defRPr>
            </a:lvl2pPr>
            <a:lvl3pPr algn="l">
              <a:defRPr sz="2025" b="1">
                <a:solidFill>
                  <a:srgbClr val="9E4D35"/>
                </a:solidFill>
                <a:latin typeface="Times New Roman"/>
                <a:ea typeface="Times New Roman"/>
                <a:cs typeface="Times New Roman"/>
              </a:defRPr>
            </a:lvl3pPr>
            <a:lvl4pPr algn="l">
              <a:defRPr sz="2025" b="1">
                <a:solidFill>
                  <a:srgbClr val="9E4D35"/>
                </a:solidFill>
                <a:latin typeface="Times New Roman"/>
                <a:ea typeface="Times New Roman"/>
                <a:cs typeface="Times New Roman"/>
              </a:defRPr>
            </a:lvl4pPr>
            <a:lvl5pPr algn="l">
              <a:defRPr sz="2025" b="1">
                <a:solidFill>
                  <a:srgbClr val="9E4D35"/>
                </a:solidFill>
                <a:latin typeface="Times New Roman"/>
                <a:ea typeface="Times New Roman"/>
                <a:cs typeface="Times New Roman"/>
              </a:defRPr>
            </a:lvl5pPr>
            <a:lvl6pPr algn="l">
              <a:defRPr sz="2025" b="1">
                <a:solidFill>
                  <a:srgbClr val="9E4D35"/>
                </a:solidFill>
                <a:latin typeface="Times New Roman"/>
                <a:ea typeface="Times New Roman"/>
                <a:cs typeface="Times New Roman"/>
              </a:defRPr>
            </a:lvl6pPr>
            <a:lvl7pPr algn="l">
              <a:defRPr sz="2025" b="1">
                <a:solidFill>
                  <a:srgbClr val="9E4D35"/>
                </a:solidFill>
                <a:latin typeface="Times New Roman"/>
                <a:ea typeface="Times New Roman"/>
                <a:cs typeface="Times New Roman"/>
              </a:defRPr>
            </a:lvl7pPr>
            <a:lvl8pPr algn="l">
              <a:defRPr sz="2025" b="1">
                <a:solidFill>
                  <a:srgbClr val="9E4D35"/>
                </a:solidFill>
                <a:latin typeface="Times New Roman"/>
                <a:ea typeface="Times New Roman"/>
                <a:cs typeface="Times New Roman"/>
              </a:defRPr>
            </a:lvl8pPr>
            <a:lvl9pPr algn="l">
              <a:defRPr sz="2025" b="1">
                <a:solidFill>
                  <a:srgbClr val="9E4D35"/>
                </a:solidFill>
                <a:latin typeface="Times New Roman"/>
                <a:ea typeface="Times New Roman"/>
                <a:cs typeface="Times New Roman"/>
              </a:defRPr>
            </a:lvl9pPr>
          </a:lstStyle>
          <a:p xmlns:a="http://schemas.openxmlformats.org/drawingml/2006/main">
            <a:pPr algn="l">
              <a:defRPr sz="2025" b="1">
                <a:solidFill>
                  <a:srgbClr val="9E4D35"/>
                </a:solidFill>
                <a:latin typeface="Times New Roman"/>
                <a:ea typeface="Times New Roman"/>
                <a:cs typeface="Times New Roman"/>
              </a:defRPr>
            </a:pPr>
            <a:r>
              <a:rPr sz="2025" b="1">
                <a:solidFill>
                  <a:srgbClr val="9E4D35"/>
                </a:solidFill>
                <a:latin typeface="Times New Roman"/>
                <a:ea typeface="Times New Roman"/>
                <a:cs typeface="Times New Roman"/>
              </a:rPr>
              <a:t>Cálculo de etiqueta: 21,60 ÷ 3 = 7,20 mL/día. Pauta reportada: 7 mL/día.</a:t>
            </a:r>
          </a:p>
        </p:txBody>
      </p:sp>
      <p:sp>
        <p:nvSpPr>
          <p:cNvPr id="11" name="text-114">
            <a:extLst xmlns:a="http://schemas.openxmlformats.org/drawingml/2006/main">
              <a:ext uri="{FF2B5EF4-FFF2-40B4-BE49-F238E27FC236}">
                <a16:creationId xmlns:a16="http://schemas.microsoft.com/office/drawing/2014/main" id="{9D99F10E-C19F-45BE-AFF1-E45A95DC9640}"/>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(1, 10)</a:t>
            </a:r>
          </a:p>
        </p:txBody>
      </p:sp>
    </p:spTree>
    <p:extLst>
      <p:ext uri="{BB962C8B-B14F-4D97-AF65-F5344CB8AC3E}">
        <p14:creationId xmlns:p14="http://schemas.microsoft.com/office/powerpoint/2010/main" val="11460004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84">
            <a:extLst xmlns:a="http://schemas.openxmlformats.org/drawingml/2006/main">
              <a:ext uri="{FF2B5EF4-FFF2-40B4-BE49-F238E27FC236}">
                <a16:creationId xmlns:a16="http://schemas.microsoft.com/office/drawing/2014/main" id="{C96D0386-D97B-4873-ACEF-1AD782727203}"/>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Seguridad y uso racional</a:t>
            </a:r>
          </a:p>
        </p:txBody>
      </p:sp>
      <p:sp>
        <p:nvSpPr>
          <p:cNvPr id="2" name="text-85">
            <a:extLst xmlns:a="http://schemas.openxmlformats.org/drawingml/2006/main">
              <a:ext uri="{FF2B5EF4-FFF2-40B4-BE49-F238E27FC236}">
                <a16:creationId xmlns:a16="http://schemas.microsoft.com/office/drawing/2014/main" id="{4A85BDEB-FB4D-41EC-A011-6C2160E2B308}"/>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La indicación exige relacionar la gravedad clínica, la sospecha etiológica y el seguimiento</a:t>
            </a:r>
          </a:p>
        </p:txBody>
      </p:sp>
      <p:sp>
        <p:nvSpPr>
          <p:cNvPr id="3" name="text-86">
            <a:extLst xmlns:a="http://schemas.openxmlformats.org/drawingml/2006/main">
              <a:ext uri="{FF2B5EF4-FFF2-40B4-BE49-F238E27FC236}">
                <a16:creationId xmlns:a16="http://schemas.microsoft.com/office/drawing/2014/main" id="{FC0D6F48-C4B5-4041-B786-F301E4427889}"/>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12</a:t>
            </a:r>
          </a:p>
        </p:txBody>
      </p:sp>
      <p:graphicFrame>
        <p:nvGraphicFramePr>
          <p:cNvPr id="4" name="">
            <a:extLst xmlns:a="http://schemas.openxmlformats.org/drawingml/2006/main">
              <a:ext uri="{FF2B5EF4-FFF2-40B4-BE49-F238E27FC236}">
                <a16:creationId xmlns:a16="http://schemas.microsoft.com/office/drawing/2014/main" id="{F52EDBE8-AA60-4ED8-A3A1-A75EF424F893}"/>
              </a:ext>
            </a:extLst>
          </p:cNvPr>
          <p:cNvGraphicFramePr/>
          <p:nvPr/>
        </p:nvGraphicFramePr>
        <p:xfrm>
          <a:off xmlns:a="http://schemas.openxmlformats.org/drawingml/2006/main" x="628650" y="1828800"/>
          <a:ext xmlns:a="http://schemas.openxmlformats.org/drawingml/2006/main" cx="10934700" cy="3333750"/>
        </p:xfrm>
        <a:graphic xmlns:a="http://schemas.openxmlformats.org/drawingml/2006/main">
          <a:graphicData uri="http://schemas.openxmlformats.org/drawingml/2006/table">
            <a:tbl>
              <a:tblPr/>
              <a:tblGrid>
                <a:gridCol w="3048000"/>
                <a:gridCol w="3905250"/>
                <a:gridCol w="3981450"/>
              </a:tblGrid>
              <a:tr h="666750">
                <a:tc>
                  <a:txBody>
                    <a:bodyPr lIns="95250" tIns="95250" rIns="95250" bIns="95250"/>
                    <a:lstStyle/>
                    <a:p>
                      <a:r>
                        <a:rPr sz="1875" b="1">
                          <a:solidFill>
                            <a:srgbClr val="FFFFFF"/>
                          </a:solidFill>
                          <a:latin typeface="Times New Roman"/>
                          <a:ea typeface="Times New Roman"/>
                          <a:cs typeface="Times New Roman"/>
                        </a:rPr>
                        <a:t>Grupo</a:t>
                      </a:r>
                    </a:p>
                  </a:txBody>
                  <a:tcPr marL="91440" marR="91440" marT="45720" marB="45720" anchor="ctr">
                    <a:lnL w="9525">
                      <a:solidFill>
                        <a:srgbClr val="D6DEE5"/>
                      </a:solidFill>
                      <a:prstDash val="solid"/>
                    </a:lnL>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Riesgo o limitación</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c>
                  <a:txBody>
                    <a:bodyPr lIns="95250" tIns="95250" rIns="95250" bIns="95250"/>
                    <a:lstStyle/>
                    <a:p>
                      <a:r>
                        <a:rPr sz="1875" b="1">
                          <a:solidFill>
                            <a:srgbClr val="FFFFFF"/>
                          </a:solidFill>
                          <a:latin typeface="Times New Roman"/>
                          <a:ea typeface="Times New Roman"/>
                          <a:cs typeface="Times New Roman"/>
                        </a:rPr>
                        <a:t>Qué aporta al análisis</a:t>
                      </a:r>
                    </a:p>
                  </a:txBody>
                  <a:tcPr marL="91440" marR="91440" marT="45720" marB="45720" anchor="ctr">
                    <a:lnR w="9525">
                      <a:solidFill>
                        <a:srgbClr val="D6DEE5"/>
                      </a:solidFill>
                      <a:prstDash val="solid"/>
                    </a:lnR>
                    <a:lnT w="9525">
                      <a:solidFill>
                        <a:srgbClr val="D6DEE5"/>
                      </a:solidFill>
                      <a:prstDash val="solid"/>
                    </a:lnT>
                    <a:lnB w="9525">
                      <a:solidFill>
                        <a:srgbClr val="D6DEE5"/>
                      </a:solidFill>
                      <a:prstDash val="solid"/>
                    </a:lnB>
                    <a:solidFill>
                      <a:srgbClr val="173A5E"/>
                    </a:solidFill>
                  </a:tcPr>
                </a:tc>
              </a:tr>
              <a:tr h="666750">
                <a:tc>
                  <a:txBody>
                    <a:bodyPr lIns="95250" tIns="95250" rIns="95250" bIns="95250"/>
                    <a:lstStyle/>
                    <a:p>
                      <a:r>
                        <a:rPr sz="1875" b="0">
                          <a:solidFill>
                            <a:srgbClr val="15253A"/>
                          </a:solidFill>
                          <a:latin typeface="Times New Roman"/>
                          <a:ea typeface="Times New Roman"/>
                          <a:cs typeface="Times New Roman"/>
                        </a:rPr>
                        <a:t>Sulfametoxazol</a:t>
                      </a:r>
                    </a:p>
                    <a:p>
                      <a:r>
                        <a:rPr sz="1875" b="0">
                          <a:solidFill>
                            <a:srgbClr val="15253A"/>
                          </a:solidFill>
                          <a:latin typeface="Times New Roman"/>
                          <a:ea typeface="Times New Roman"/>
                          <a:cs typeface="Times New Roman"/>
                        </a:rPr>
                        <a:t>+ trimetoprim</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Hipersensibilidad, ojo seco, alteraciones hematológicas</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Vigilar tolerancia y contexto del hemograma</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666750">
                <a:tc>
                  <a:txBody>
                    <a:bodyPr lIns="95250" tIns="95250" rIns="95250" bIns="95250"/>
                    <a:lstStyle/>
                    <a:p>
                      <a:r>
                        <a:rPr sz="1875" b="0">
                          <a:solidFill>
                            <a:srgbClr val="15253A"/>
                          </a:solidFill>
                          <a:latin typeface="Times New Roman"/>
                          <a:ea typeface="Times New Roman"/>
                          <a:cs typeface="Times New Roman"/>
                        </a:rPr>
                        <a:t>Metronidazol</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Disbiosis y neurotoxicidad, sobre todo con exposición alta</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Revisar indicación, concentración e intervalo</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r h="666750">
                <a:tc>
                  <a:txBody>
                    <a:bodyPr lIns="95250" tIns="95250" rIns="95250" bIns="95250"/>
                    <a:lstStyle/>
                    <a:p>
                      <a:r>
                        <a:rPr sz="1875" b="0">
                          <a:solidFill>
                            <a:srgbClr val="15253A"/>
                          </a:solidFill>
                          <a:latin typeface="Times New Roman"/>
                          <a:ea typeface="Times New Roman"/>
                          <a:cs typeface="Times New Roman"/>
                        </a:rPr>
                        <a:t>Antiparasitarios</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Espectro diferente entre nematodos y cestodos</a:t>
                      </a:r>
                    </a:p>
                  </a:txBody>
                  <a:tcPr marL="91440" marR="91440" marT="45720" marB="45720" anchor="ctr">
                    <a:lnR w="9525">
                      <a:solidFill>
                        <a:srgbClr val="D6DEE5"/>
                      </a:solidFill>
                      <a:prstDash val="solid"/>
                    </a:lnR>
                    <a:lnB w="9525">
                      <a:solidFill>
                        <a:srgbClr val="D6DEE5"/>
                      </a:solidFill>
                      <a:prstDash val="solid"/>
                    </a:lnB>
                    <a:solidFill>
                      <a:srgbClr val="FFFFFF"/>
                    </a:solidFill>
                  </a:tcPr>
                </a:tc>
                <a:tc>
                  <a:txBody>
                    <a:bodyPr lIns="95250" tIns="95250" rIns="95250" bIns="95250"/>
                    <a:lstStyle/>
                    <a:p>
                      <a:r>
                        <a:rPr sz="1875" b="0">
                          <a:solidFill>
                            <a:srgbClr val="15253A"/>
                          </a:solidFill>
                          <a:latin typeface="Times New Roman"/>
                          <a:ea typeface="Times New Roman"/>
                          <a:cs typeface="Times New Roman"/>
                        </a:rPr>
                        <a:t>Confirmar producto, dosis y coprológico</a:t>
                      </a:r>
                    </a:p>
                  </a:txBody>
                  <a:tcPr marL="91440" marR="91440" marT="45720" marB="45720" anchor="ctr">
                    <a:lnR w="9525">
                      <a:solidFill>
                        <a:srgbClr val="D6DEE5"/>
                      </a:solidFill>
                      <a:prstDash val="solid"/>
                    </a:lnR>
                    <a:lnB w="9525">
                      <a:solidFill>
                        <a:srgbClr val="D6DEE5"/>
                      </a:solidFill>
                      <a:prstDash val="solid"/>
                    </a:lnB>
                    <a:solidFill>
                      <a:srgbClr val="FFFFFF"/>
                    </a:solidFill>
                  </a:tcPr>
                </a:tc>
              </a:tr>
              <a:tr h="666750">
                <a:tc>
                  <a:txBody>
                    <a:bodyPr lIns="95250" tIns="95250" rIns="95250" bIns="95250"/>
                    <a:lstStyle/>
                    <a:p>
                      <a:r>
                        <a:rPr sz="1875" b="0">
                          <a:solidFill>
                            <a:srgbClr val="15253A"/>
                          </a:solidFill>
                          <a:latin typeface="Times New Roman"/>
                          <a:ea typeface="Times New Roman"/>
                          <a:cs typeface="Times New Roman"/>
                        </a:rPr>
                        <a:t>Apetomax</a:t>
                      </a:r>
                    </a:p>
                  </a:txBody>
                  <a:tcPr marL="91440" marR="91440" marT="45720" marB="45720" anchor="ctr">
                    <a:lnL w="9525">
                      <a:solidFill>
                        <a:srgbClr val="D6DEE5"/>
                      </a:solidFill>
                      <a:prstDash val="solid"/>
                    </a:lnL>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Suplemento combinado; cantidad de hierro elemental incierta</a:t>
                      </a:r>
                    </a:p>
                  </a:txBody>
                  <a:tcPr marL="91440" marR="91440" marT="45720" marB="45720" anchor="ctr">
                    <a:lnR w="9525">
                      <a:solidFill>
                        <a:srgbClr val="D6DEE5"/>
                      </a:solidFill>
                      <a:prstDash val="solid"/>
                    </a:lnR>
                    <a:lnB w="9525">
                      <a:solidFill>
                        <a:srgbClr val="D6DEE5"/>
                      </a:solidFill>
                      <a:prstDash val="solid"/>
                    </a:lnB>
                    <a:solidFill>
                      <a:srgbClr val="F4F7F9"/>
                    </a:solidFill>
                  </a:tcPr>
                </a:tc>
                <a:tc>
                  <a:txBody>
                    <a:bodyPr lIns="95250" tIns="95250" rIns="95250" bIns="95250"/>
                    <a:lstStyle/>
                    <a:p>
                      <a:r>
                        <a:rPr sz="1875" b="0">
                          <a:solidFill>
                            <a:srgbClr val="15253A"/>
                          </a:solidFill>
                          <a:latin typeface="Times New Roman"/>
                          <a:ea typeface="Times New Roman"/>
                          <a:cs typeface="Times New Roman"/>
                        </a:rPr>
                        <a:t>Separar apetito de respuesta hematológica</a:t>
                      </a:r>
                    </a:p>
                  </a:txBody>
                  <a:tcPr marL="91440" marR="91440" marT="45720" marB="45720" anchor="ctr">
                    <a:lnR w="9525">
                      <a:solidFill>
                        <a:srgbClr val="D6DEE5"/>
                      </a:solidFill>
                      <a:prstDash val="solid"/>
                    </a:lnR>
                    <a:lnB w="9525">
                      <a:solidFill>
                        <a:srgbClr val="D6DEE5"/>
                      </a:solidFill>
                      <a:prstDash val="solid"/>
                    </a:lnB>
                    <a:solidFill>
                      <a:srgbClr val="F4F7F9"/>
                    </a:solidFill>
                  </a:tcPr>
                </a:tc>
              </a:tr>
            </a:tbl>
          </a:graphicData>
        </a:graphic>
      </p:graphicFrame>
      <p:sp>
        <p:nvSpPr>
          <p:cNvPr id="5" name="text-87">
            <a:extLst xmlns:a="http://schemas.openxmlformats.org/drawingml/2006/main">
              <a:ext uri="{FF2B5EF4-FFF2-40B4-BE49-F238E27FC236}">
                <a16:creationId xmlns:a16="http://schemas.microsoft.com/office/drawing/2014/main" id="{A1254E85-B7F0-4075-8FAF-07B41140DA5D}"/>
              </a:ext>
            </a:extLst>
          </p:cNvPr>
          <p:cNvSpPr>
            <a:spLocks xmlns:a="http://schemas.openxmlformats.org/drawingml/2006/main" noGrp="1"/>
          </p:cNvSpPr>
          <p:nvPr/>
        </p:nvSpPr>
        <p:spPr>
          <a:xfrm xmlns:a="http://schemas.openxmlformats.org/drawingml/2006/main">
            <a:off x="628650" y="5457825"/>
            <a:ext cx="10934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73A5E"/>
                </a:solidFill>
                <a:latin typeface="Times New Roman"/>
                <a:ea typeface="Times New Roman"/>
                <a:cs typeface="Times New Roman"/>
              </a:defRPr>
            </a:defPPr>
            <a:lvl1pPr algn="l">
              <a:defRPr sz="2025" b="1">
                <a:solidFill>
                  <a:srgbClr val="173A5E"/>
                </a:solidFill>
                <a:latin typeface="Times New Roman"/>
                <a:ea typeface="Times New Roman"/>
                <a:cs typeface="Times New Roman"/>
              </a:defRPr>
            </a:lvl1pPr>
            <a:lvl2pPr algn="l">
              <a:defRPr sz="2025" b="1">
                <a:solidFill>
                  <a:srgbClr val="173A5E"/>
                </a:solidFill>
                <a:latin typeface="Times New Roman"/>
                <a:ea typeface="Times New Roman"/>
                <a:cs typeface="Times New Roman"/>
              </a:defRPr>
            </a:lvl2pPr>
            <a:lvl3pPr algn="l">
              <a:defRPr sz="2025" b="1">
                <a:solidFill>
                  <a:srgbClr val="173A5E"/>
                </a:solidFill>
                <a:latin typeface="Times New Roman"/>
                <a:ea typeface="Times New Roman"/>
                <a:cs typeface="Times New Roman"/>
              </a:defRPr>
            </a:lvl3pPr>
            <a:lvl4pPr algn="l">
              <a:defRPr sz="2025" b="1">
                <a:solidFill>
                  <a:srgbClr val="173A5E"/>
                </a:solidFill>
                <a:latin typeface="Times New Roman"/>
                <a:ea typeface="Times New Roman"/>
                <a:cs typeface="Times New Roman"/>
              </a:defRPr>
            </a:lvl4pPr>
            <a:lvl5pPr algn="l">
              <a:defRPr sz="2025" b="1">
                <a:solidFill>
                  <a:srgbClr val="173A5E"/>
                </a:solidFill>
                <a:latin typeface="Times New Roman"/>
                <a:ea typeface="Times New Roman"/>
                <a:cs typeface="Times New Roman"/>
              </a:defRPr>
            </a:lvl5pPr>
            <a:lvl6pPr algn="l">
              <a:defRPr sz="2025" b="1">
                <a:solidFill>
                  <a:srgbClr val="173A5E"/>
                </a:solidFill>
                <a:latin typeface="Times New Roman"/>
                <a:ea typeface="Times New Roman"/>
                <a:cs typeface="Times New Roman"/>
              </a:defRPr>
            </a:lvl6pPr>
            <a:lvl7pPr algn="l">
              <a:defRPr sz="2025" b="1">
                <a:solidFill>
                  <a:srgbClr val="173A5E"/>
                </a:solidFill>
                <a:latin typeface="Times New Roman"/>
                <a:ea typeface="Times New Roman"/>
                <a:cs typeface="Times New Roman"/>
              </a:defRPr>
            </a:lvl7pPr>
            <a:lvl8pPr algn="l">
              <a:defRPr sz="2025" b="1">
                <a:solidFill>
                  <a:srgbClr val="173A5E"/>
                </a:solidFill>
                <a:latin typeface="Times New Roman"/>
                <a:ea typeface="Times New Roman"/>
                <a:cs typeface="Times New Roman"/>
              </a:defRPr>
            </a:lvl8pPr>
            <a:lvl9pPr algn="l">
              <a:defRPr sz="2025" b="1">
                <a:solidFill>
                  <a:srgbClr val="173A5E"/>
                </a:solidFill>
                <a:latin typeface="Times New Roman"/>
                <a:ea typeface="Times New Roman"/>
                <a:cs typeface="Times New Roman"/>
              </a:defRPr>
            </a:lvl9pPr>
          </a:lstStyle>
          <a:p xmlns:a="http://schemas.openxmlformats.org/drawingml/2006/main">
            <a:pPr algn="l">
              <a:defRPr sz="2025" b="1">
                <a:solidFill>
                  <a:srgbClr val="173A5E"/>
                </a:solidFill>
                <a:latin typeface="Times New Roman"/>
                <a:ea typeface="Times New Roman"/>
                <a:cs typeface="Times New Roman"/>
              </a:defRPr>
            </a:pPr>
            <a:r>
              <a:rPr sz="2025" b="1">
                <a:solidFill>
                  <a:srgbClr val="173A5E"/>
                </a:solidFill>
                <a:latin typeface="Times New Roman"/>
                <a:ea typeface="Times New Roman"/>
                <a:cs typeface="Times New Roman"/>
              </a:rPr>
              <a:t>La desviación degenerativa a la izquierda exige valorar riesgo sistémico.</a:t>
            </a:r>
          </a:p>
          <a:p xmlns:a="http://schemas.openxmlformats.org/drawingml/2006/main">
            <a:pPr algn="l">
              <a:defRPr sz="2025" b="1">
                <a:solidFill>
                  <a:srgbClr val="173A5E"/>
                </a:solidFill>
                <a:latin typeface="Times New Roman"/>
                <a:ea typeface="Times New Roman"/>
                <a:cs typeface="Times New Roman"/>
              </a:defRPr>
            </a:pPr>
            <a:r>
              <a:rPr sz="2025" b="1">
                <a:solidFill>
                  <a:srgbClr val="173A5E"/>
                </a:solidFill>
                <a:latin typeface="Times New Roman"/>
                <a:ea typeface="Times New Roman"/>
                <a:cs typeface="Times New Roman"/>
              </a:rPr>
              <a:t>La mejoría no permite aislar el efecto de cada fármaco.</a:t>
            </a:r>
          </a:p>
        </p:txBody>
      </p:sp>
      <p:sp>
        <p:nvSpPr>
          <p:cNvPr id="6" name="text-115">
            <a:extLst xmlns:a="http://schemas.openxmlformats.org/drawingml/2006/main">
              <a:ext uri="{FF2B5EF4-FFF2-40B4-BE49-F238E27FC236}">
                <a16:creationId xmlns:a16="http://schemas.microsoft.com/office/drawing/2014/main" id="{83E7B6AA-1962-41AD-A3E7-757E5884609D}"/>
              </a:ext>
            </a:extLst>
          </p:cNvPr>
          <p:cNvSpPr>
            <a:spLocks xmlns:a="http://schemas.openxmlformats.org/drawingml/2006/main" noGrp="1"/>
          </p:cNvSpPr>
          <p:nvPr/>
        </p:nvSpPr>
        <p:spPr>
          <a:xfrm xmlns:a="http://schemas.openxmlformats.org/drawingml/2006/main">
            <a:off x="628650" y="64198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566575"/>
                </a:solidFill>
                <a:latin typeface="Times New Roman"/>
                <a:ea typeface="Times New Roman"/>
                <a:cs typeface="Times New Roman"/>
              </a:defRPr>
            </a:defPPr>
            <a:lvl1pPr algn="l">
              <a:defRPr sz="1275" b="0">
                <a:solidFill>
                  <a:srgbClr val="566575"/>
                </a:solidFill>
                <a:latin typeface="Times New Roman"/>
                <a:ea typeface="Times New Roman"/>
                <a:cs typeface="Times New Roman"/>
              </a:defRPr>
            </a:lvl1pPr>
            <a:lvl2pPr algn="l">
              <a:defRPr sz="1275" b="0">
                <a:solidFill>
                  <a:srgbClr val="566575"/>
                </a:solidFill>
                <a:latin typeface="Times New Roman"/>
                <a:ea typeface="Times New Roman"/>
                <a:cs typeface="Times New Roman"/>
              </a:defRPr>
            </a:lvl2pPr>
            <a:lvl3pPr algn="l">
              <a:defRPr sz="1275" b="0">
                <a:solidFill>
                  <a:srgbClr val="566575"/>
                </a:solidFill>
                <a:latin typeface="Times New Roman"/>
                <a:ea typeface="Times New Roman"/>
                <a:cs typeface="Times New Roman"/>
              </a:defRPr>
            </a:lvl3pPr>
            <a:lvl4pPr algn="l">
              <a:defRPr sz="1275" b="0">
                <a:solidFill>
                  <a:srgbClr val="566575"/>
                </a:solidFill>
                <a:latin typeface="Times New Roman"/>
                <a:ea typeface="Times New Roman"/>
                <a:cs typeface="Times New Roman"/>
              </a:defRPr>
            </a:lvl4pPr>
            <a:lvl5pPr algn="l">
              <a:defRPr sz="1275" b="0">
                <a:solidFill>
                  <a:srgbClr val="566575"/>
                </a:solidFill>
                <a:latin typeface="Times New Roman"/>
                <a:ea typeface="Times New Roman"/>
                <a:cs typeface="Times New Roman"/>
              </a:defRPr>
            </a:lvl5pPr>
            <a:lvl6pPr algn="l">
              <a:defRPr sz="1275" b="0">
                <a:solidFill>
                  <a:srgbClr val="566575"/>
                </a:solidFill>
                <a:latin typeface="Times New Roman"/>
                <a:ea typeface="Times New Roman"/>
                <a:cs typeface="Times New Roman"/>
              </a:defRPr>
            </a:lvl6pPr>
            <a:lvl7pPr algn="l">
              <a:defRPr sz="1275" b="0">
                <a:solidFill>
                  <a:srgbClr val="566575"/>
                </a:solidFill>
                <a:latin typeface="Times New Roman"/>
                <a:ea typeface="Times New Roman"/>
                <a:cs typeface="Times New Roman"/>
              </a:defRPr>
            </a:lvl7pPr>
            <a:lvl8pPr algn="l">
              <a:defRPr sz="1275" b="0">
                <a:solidFill>
                  <a:srgbClr val="566575"/>
                </a:solidFill>
                <a:latin typeface="Times New Roman"/>
                <a:ea typeface="Times New Roman"/>
                <a:cs typeface="Times New Roman"/>
              </a:defRPr>
            </a:lvl8pPr>
            <a:lvl9pPr algn="l">
              <a:defRPr sz="1275" b="0">
                <a:solidFill>
                  <a:srgbClr val="566575"/>
                </a:solidFill>
                <a:latin typeface="Times New Roman"/>
                <a:ea typeface="Times New Roman"/>
                <a:cs typeface="Times New Roman"/>
              </a:defRPr>
            </a:lvl9pPr>
          </a:lstStyle>
          <a:p xmlns:a="http://schemas.openxmlformats.org/drawingml/2006/main">
            <a:pPr algn="l">
              <a:defRPr sz="1275" b="0">
                <a:solidFill>
                  <a:srgbClr val="566575"/>
                </a:solidFill>
                <a:latin typeface="Times New Roman"/>
                <a:ea typeface="Times New Roman"/>
                <a:cs typeface="Times New Roman"/>
              </a:defRPr>
            </a:pPr>
            <a:r>
              <a:rPr sz="1275" b="0">
                <a:solidFill>
                  <a:srgbClr val="566575"/>
                </a:solidFill>
                <a:latin typeface="Times New Roman"/>
                <a:ea typeface="Times New Roman"/>
                <a:cs typeface="Times New Roman"/>
              </a:rPr>
              <a:t>Fuentes (2, 7, 9, 11, 12)</a:t>
            </a:r>
          </a:p>
        </p:txBody>
      </p:sp>
    </p:spTree>
    <p:extLst>
      <p:ext uri="{BB962C8B-B14F-4D97-AF65-F5344CB8AC3E}">
        <p14:creationId xmlns:p14="http://schemas.microsoft.com/office/powerpoint/2010/main" val="19369526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88">
            <a:extLst xmlns:a="http://schemas.openxmlformats.org/drawingml/2006/main">
              <a:ext uri="{FF2B5EF4-FFF2-40B4-BE49-F238E27FC236}">
                <a16:creationId xmlns:a16="http://schemas.microsoft.com/office/drawing/2014/main" id="{E1F38E4D-E490-4F81-B557-7104F2315378}"/>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Evolución comunicada</a:t>
            </a:r>
          </a:p>
        </p:txBody>
      </p:sp>
      <p:sp>
        <p:nvSpPr>
          <p:cNvPr id="2" name="text-89">
            <a:extLst xmlns:a="http://schemas.openxmlformats.org/drawingml/2006/main">
              <a:ext uri="{FF2B5EF4-FFF2-40B4-BE49-F238E27FC236}">
                <a16:creationId xmlns:a16="http://schemas.microsoft.com/office/drawing/2014/main" id="{0674700D-9FD4-48B8-94AA-5886CC496FFA}"/>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El tutor refiere una mejoría general del 100 % y un peso final de 22 kg</a:t>
            </a:r>
          </a:p>
        </p:txBody>
      </p:sp>
      <p:sp>
        <p:nvSpPr>
          <p:cNvPr id="3" name="text-90">
            <a:extLst xmlns:a="http://schemas.openxmlformats.org/drawingml/2006/main">
              <a:ext uri="{FF2B5EF4-FFF2-40B4-BE49-F238E27FC236}">
                <a16:creationId xmlns:a16="http://schemas.microsoft.com/office/drawing/2014/main" id="{C72E4D80-A335-4D65-90F0-0674C675D56D}"/>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13</a:t>
            </a:r>
          </a:p>
        </p:txBody>
      </p:sp>
      <p:graphicFrame>
        <p:nvGraphicFramePr>
          <p:cNvPr id="4" name="Chart">
            <a:extLst xmlns:a="http://schemas.openxmlformats.org/drawingml/2006/main">
              <a:ext uri="{FF2B5EF4-FFF2-40B4-BE49-F238E27FC236}">
                <a16:creationId xmlns:a16="http://schemas.microsoft.com/office/drawing/2014/main" id="{A4F57803-5DCE-466E-B0ED-93FF3B665804}"/>
              </a:ext>
            </a:extLst>
          </p:cNvPr>
          <p:cNvGraphicFramePr/>
          <p:nvPr/>
        </p:nvGraphicFramePr>
        <p:xfrm>
          <a:off xmlns:a="http://schemas.openxmlformats.org/drawingml/2006/main" x="628650" y="1809750"/>
          <a:ext xmlns:a="http://schemas.openxmlformats.org/drawingml/2006/main" cx="6286500" cy="3762375"/>
        </p:xfrm>
        <a:graphic xmlns:a="http://schemas.openxmlformats.org/drawingml/2006/main">
          <a:graphicData uri="http://schemas.openxmlformats.org/drawingml/2006/chart">
            <c:chart xmlns:r="http://schemas.openxmlformats.org/officeDocument/2006/relationships" xmlns:c="http://schemas.openxmlformats.org/drawingml/2006/chart" r:id="R417413d1b3bd4c19"/>
          </a:graphicData>
        </a:graphic>
      </p:graphicFrame>
      <p:sp>
        <p:nvSpPr>
          <p:cNvPr id="5" name="text-91">
            <a:extLst xmlns:a="http://schemas.openxmlformats.org/drawingml/2006/main">
              <a:ext uri="{FF2B5EF4-FFF2-40B4-BE49-F238E27FC236}">
                <a16:creationId xmlns:a16="http://schemas.microsoft.com/office/drawing/2014/main" id="{41450EC4-86BF-4F8C-94A7-6ECAD7EC9249}"/>
              </a:ext>
            </a:extLst>
          </p:cNvPr>
          <p:cNvSpPr>
            <a:spLocks xmlns:a="http://schemas.openxmlformats.org/drawingml/2006/main" noGrp="1"/>
          </p:cNvSpPr>
          <p:nvPr/>
        </p:nvSpPr>
        <p:spPr>
          <a:xfrm xmlns:a="http://schemas.openxmlformats.org/drawingml/2006/main">
            <a:off x="7524750" y="2162175"/>
            <a:ext cx="3905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350" b="1">
                <a:solidFill>
                  <a:srgbClr val="226C9C"/>
                </a:solidFill>
                <a:latin typeface="Times New Roman"/>
                <a:ea typeface="Times New Roman"/>
                <a:cs typeface="Times New Roman"/>
              </a:defRPr>
            </a:defPPr>
            <a:lvl1pPr algn="l">
              <a:defRPr sz="4350" b="1">
                <a:solidFill>
                  <a:srgbClr val="226C9C"/>
                </a:solidFill>
                <a:latin typeface="Times New Roman"/>
                <a:ea typeface="Times New Roman"/>
                <a:cs typeface="Times New Roman"/>
              </a:defRPr>
            </a:lvl1pPr>
            <a:lvl2pPr algn="l">
              <a:defRPr sz="4350" b="1">
                <a:solidFill>
                  <a:srgbClr val="226C9C"/>
                </a:solidFill>
                <a:latin typeface="Times New Roman"/>
                <a:ea typeface="Times New Roman"/>
                <a:cs typeface="Times New Roman"/>
              </a:defRPr>
            </a:lvl2pPr>
            <a:lvl3pPr algn="l">
              <a:defRPr sz="4350" b="1">
                <a:solidFill>
                  <a:srgbClr val="226C9C"/>
                </a:solidFill>
                <a:latin typeface="Times New Roman"/>
                <a:ea typeface="Times New Roman"/>
                <a:cs typeface="Times New Roman"/>
              </a:defRPr>
            </a:lvl3pPr>
            <a:lvl4pPr algn="l">
              <a:defRPr sz="4350" b="1">
                <a:solidFill>
                  <a:srgbClr val="226C9C"/>
                </a:solidFill>
                <a:latin typeface="Times New Roman"/>
                <a:ea typeface="Times New Roman"/>
                <a:cs typeface="Times New Roman"/>
              </a:defRPr>
            </a:lvl4pPr>
            <a:lvl5pPr algn="l">
              <a:defRPr sz="4350" b="1">
                <a:solidFill>
                  <a:srgbClr val="226C9C"/>
                </a:solidFill>
                <a:latin typeface="Times New Roman"/>
                <a:ea typeface="Times New Roman"/>
                <a:cs typeface="Times New Roman"/>
              </a:defRPr>
            </a:lvl5pPr>
            <a:lvl6pPr algn="l">
              <a:defRPr sz="4350" b="1">
                <a:solidFill>
                  <a:srgbClr val="226C9C"/>
                </a:solidFill>
                <a:latin typeface="Times New Roman"/>
                <a:ea typeface="Times New Roman"/>
                <a:cs typeface="Times New Roman"/>
              </a:defRPr>
            </a:lvl6pPr>
            <a:lvl7pPr algn="l">
              <a:defRPr sz="4350" b="1">
                <a:solidFill>
                  <a:srgbClr val="226C9C"/>
                </a:solidFill>
                <a:latin typeface="Times New Roman"/>
                <a:ea typeface="Times New Roman"/>
                <a:cs typeface="Times New Roman"/>
              </a:defRPr>
            </a:lvl7pPr>
            <a:lvl8pPr algn="l">
              <a:defRPr sz="4350" b="1">
                <a:solidFill>
                  <a:srgbClr val="226C9C"/>
                </a:solidFill>
                <a:latin typeface="Times New Roman"/>
                <a:ea typeface="Times New Roman"/>
                <a:cs typeface="Times New Roman"/>
              </a:defRPr>
            </a:lvl8pPr>
            <a:lvl9pPr algn="l">
              <a:defRPr sz="4350" b="1">
                <a:solidFill>
                  <a:srgbClr val="226C9C"/>
                </a:solidFill>
                <a:latin typeface="Times New Roman"/>
                <a:ea typeface="Times New Roman"/>
                <a:cs typeface="Times New Roman"/>
              </a:defRPr>
            </a:lvl9pPr>
          </a:lstStyle>
          <a:p xmlns:a="http://schemas.openxmlformats.org/drawingml/2006/main">
            <a:pPr algn="l">
              <a:defRPr sz="4350" b="1">
                <a:solidFill>
                  <a:srgbClr val="226C9C"/>
                </a:solidFill>
                <a:latin typeface="Times New Roman"/>
                <a:ea typeface="Times New Roman"/>
                <a:cs typeface="Times New Roman"/>
              </a:defRPr>
            </a:pPr>
            <a:r>
              <a:rPr sz="4350" b="1">
                <a:solidFill>
                  <a:srgbClr val="226C9C"/>
                </a:solidFill>
                <a:latin typeface="Times New Roman"/>
                <a:ea typeface="Times New Roman"/>
                <a:cs typeface="Times New Roman"/>
              </a:rPr>
              <a:t>+0,40 kg</a:t>
            </a:r>
          </a:p>
        </p:txBody>
      </p:sp>
      <p:sp>
        <p:nvSpPr>
          <p:cNvPr id="6" name="text-92">
            <a:extLst xmlns:a="http://schemas.openxmlformats.org/drawingml/2006/main">
              <a:ext uri="{FF2B5EF4-FFF2-40B4-BE49-F238E27FC236}">
                <a16:creationId xmlns:a16="http://schemas.microsoft.com/office/drawing/2014/main" id="{95A5A6AB-0A2F-45BE-B48F-0BB9FA6EDD4C}"/>
              </a:ext>
            </a:extLst>
          </p:cNvPr>
          <p:cNvSpPr>
            <a:spLocks xmlns:a="http://schemas.openxmlformats.org/drawingml/2006/main" noGrp="1"/>
          </p:cNvSpPr>
          <p:nvPr/>
        </p:nvSpPr>
        <p:spPr>
          <a:xfrm xmlns:a="http://schemas.openxmlformats.org/drawingml/2006/main">
            <a:off x="7524750" y="3219450"/>
            <a:ext cx="3905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5253A"/>
                </a:solidFill>
                <a:latin typeface="Times New Roman"/>
                <a:ea typeface="Times New Roman"/>
                <a:cs typeface="Times New Roman"/>
              </a:defRPr>
            </a:defPPr>
            <a:lvl1pPr algn="l">
              <a:defRPr sz="2775" b="1">
                <a:solidFill>
                  <a:srgbClr val="15253A"/>
                </a:solidFill>
                <a:latin typeface="Times New Roman"/>
                <a:ea typeface="Times New Roman"/>
                <a:cs typeface="Times New Roman"/>
              </a:defRPr>
            </a:lvl1pPr>
            <a:lvl2pPr algn="l">
              <a:defRPr sz="2775" b="1">
                <a:solidFill>
                  <a:srgbClr val="15253A"/>
                </a:solidFill>
                <a:latin typeface="Times New Roman"/>
                <a:ea typeface="Times New Roman"/>
                <a:cs typeface="Times New Roman"/>
              </a:defRPr>
            </a:lvl2pPr>
            <a:lvl3pPr algn="l">
              <a:defRPr sz="2775" b="1">
                <a:solidFill>
                  <a:srgbClr val="15253A"/>
                </a:solidFill>
                <a:latin typeface="Times New Roman"/>
                <a:ea typeface="Times New Roman"/>
                <a:cs typeface="Times New Roman"/>
              </a:defRPr>
            </a:lvl3pPr>
            <a:lvl4pPr algn="l">
              <a:defRPr sz="2775" b="1">
                <a:solidFill>
                  <a:srgbClr val="15253A"/>
                </a:solidFill>
                <a:latin typeface="Times New Roman"/>
                <a:ea typeface="Times New Roman"/>
                <a:cs typeface="Times New Roman"/>
              </a:defRPr>
            </a:lvl4pPr>
            <a:lvl5pPr algn="l">
              <a:defRPr sz="2775" b="1">
                <a:solidFill>
                  <a:srgbClr val="15253A"/>
                </a:solidFill>
                <a:latin typeface="Times New Roman"/>
                <a:ea typeface="Times New Roman"/>
                <a:cs typeface="Times New Roman"/>
              </a:defRPr>
            </a:lvl5pPr>
            <a:lvl6pPr algn="l">
              <a:defRPr sz="2775" b="1">
                <a:solidFill>
                  <a:srgbClr val="15253A"/>
                </a:solidFill>
                <a:latin typeface="Times New Roman"/>
                <a:ea typeface="Times New Roman"/>
                <a:cs typeface="Times New Roman"/>
              </a:defRPr>
            </a:lvl6pPr>
            <a:lvl7pPr algn="l">
              <a:defRPr sz="2775" b="1">
                <a:solidFill>
                  <a:srgbClr val="15253A"/>
                </a:solidFill>
                <a:latin typeface="Times New Roman"/>
                <a:ea typeface="Times New Roman"/>
                <a:cs typeface="Times New Roman"/>
              </a:defRPr>
            </a:lvl7pPr>
            <a:lvl8pPr algn="l">
              <a:defRPr sz="2775" b="1">
                <a:solidFill>
                  <a:srgbClr val="15253A"/>
                </a:solidFill>
                <a:latin typeface="Times New Roman"/>
                <a:ea typeface="Times New Roman"/>
                <a:cs typeface="Times New Roman"/>
              </a:defRPr>
            </a:lvl8pPr>
            <a:lvl9pPr algn="l">
              <a:defRPr sz="2775" b="1">
                <a:solidFill>
                  <a:srgbClr val="15253A"/>
                </a:solidFill>
                <a:latin typeface="Times New Roman"/>
                <a:ea typeface="Times New Roman"/>
                <a:cs typeface="Times New Roman"/>
              </a:defRPr>
            </a:lvl9pPr>
          </a:lstStyle>
          <a:p xmlns:a="http://schemas.openxmlformats.org/drawingml/2006/main">
            <a:pPr algn="l">
              <a:defRPr sz="2775" b="1">
                <a:solidFill>
                  <a:srgbClr val="15253A"/>
                </a:solidFill>
                <a:latin typeface="Times New Roman"/>
                <a:ea typeface="Times New Roman"/>
                <a:cs typeface="Times New Roman"/>
              </a:defRPr>
            </a:pPr>
            <a:r>
              <a:rPr sz="2775" b="1">
                <a:solidFill>
                  <a:srgbClr val="15253A"/>
                </a:solidFill>
                <a:latin typeface="Times New Roman"/>
                <a:ea typeface="Times New Roman"/>
                <a:cs typeface="Times New Roman"/>
              </a:rPr>
              <a:t>+1,85 % respecto</a:t>
            </a:r>
          </a:p>
          <a:p xmlns:a="http://schemas.openxmlformats.org/drawingml/2006/main">
            <a:pPr algn="l">
              <a:defRPr sz="2775" b="1">
                <a:solidFill>
                  <a:srgbClr val="15253A"/>
                </a:solidFill>
                <a:latin typeface="Times New Roman"/>
                <a:ea typeface="Times New Roman"/>
                <a:cs typeface="Times New Roman"/>
              </a:defRPr>
            </a:pPr>
            <a:r>
              <a:rPr sz="2775" b="1">
                <a:solidFill>
                  <a:srgbClr val="15253A"/>
                </a:solidFill>
                <a:latin typeface="Times New Roman"/>
                <a:ea typeface="Times New Roman"/>
                <a:cs typeface="Times New Roman"/>
              </a:rPr>
              <a:t>al peso inicial</a:t>
            </a:r>
          </a:p>
        </p:txBody>
      </p:sp>
      <p:sp>
        <p:nvSpPr>
          <p:cNvPr id="7" name="text-93">
            <a:extLst xmlns:a="http://schemas.openxmlformats.org/drawingml/2006/main">
              <a:ext uri="{FF2B5EF4-FFF2-40B4-BE49-F238E27FC236}">
                <a16:creationId xmlns:a16="http://schemas.microsoft.com/office/drawing/2014/main" id="{D1FE2AE2-5195-4F46-83CC-0839F1A48CE7}"/>
              </a:ext>
            </a:extLst>
          </p:cNvPr>
          <p:cNvSpPr>
            <a:spLocks xmlns:a="http://schemas.openxmlformats.org/drawingml/2006/main" noGrp="1"/>
          </p:cNvSpPr>
          <p:nvPr/>
        </p:nvSpPr>
        <p:spPr>
          <a:xfrm xmlns:a="http://schemas.openxmlformats.org/drawingml/2006/main">
            <a:off x="7524750" y="4705350"/>
            <a:ext cx="3905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9E4D35"/>
                </a:solidFill>
                <a:latin typeface="Times New Roman"/>
                <a:ea typeface="Times New Roman"/>
                <a:cs typeface="Times New Roman"/>
              </a:defRPr>
            </a:defPPr>
            <a:lvl1pPr algn="l">
              <a:defRPr sz="2025" b="0">
                <a:solidFill>
                  <a:srgbClr val="9E4D35"/>
                </a:solidFill>
                <a:latin typeface="Times New Roman"/>
                <a:ea typeface="Times New Roman"/>
                <a:cs typeface="Times New Roman"/>
              </a:defRPr>
            </a:lvl1pPr>
            <a:lvl2pPr algn="l">
              <a:defRPr sz="2025" b="0">
                <a:solidFill>
                  <a:srgbClr val="9E4D35"/>
                </a:solidFill>
                <a:latin typeface="Times New Roman"/>
                <a:ea typeface="Times New Roman"/>
                <a:cs typeface="Times New Roman"/>
              </a:defRPr>
            </a:lvl2pPr>
            <a:lvl3pPr algn="l">
              <a:defRPr sz="2025" b="0">
                <a:solidFill>
                  <a:srgbClr val="9E4D35"/>
                </a:solidFill>
                <a:latin typeface="Times New Roman"/>
                <a:ea typeface="Times New Roman"/>
                <a:cs typeface="Times New Roman"/>
              </a:defRPr>
            </a:lvl3pPr>
            <a:lvl4pPr algn="l">
              <a:defRPr sz="2025" b="0">
                <a:solidFill>
                  <a:srgbClr val="9E4D35"/>
                </a:solidFill>
                <a:latin typeface="Times New Roman"/>
                <a:ea typeface="Times New Roman"/>
                <a:cs typeface="Times New Roman"/>
              </a:defRPr>
            </a:lvl4pPr>
            <a:lvl5pPr algn="l">
              <a:defRPr sz="2025" b="0">
                <a:solidFill>
                  <a:srgbClr val="9E4D35"/>
                </a:solidFill>
                <a:latin typeface="Times New Roman"/>
                <a:ea typeface="Times New Roman"/>
                <a:cs typeface="Times New Roman"/>
              </a:defRPr>
            </a:lvl5pPr>
            <a:lvl6pPr algn="l">
              <a:defRPr sz="2025" b="0">
                <a:solidFill>
                  <a:srgbClr val="9E4D35"/>
                </a:solidFill>
                <a:latin typeface="Times New Roman"/>
                <a:ea typeface="Times New Roman"/>
                <a:cs typeface="Times New Roman"/>
              </a:defRPr>
            </a:lvl6pPr>
            <a:lvl7pPr algn="l">
              <a:defRPr sz="2025" b="0">
                <a:solidFill>
                  <a:srgbClr val="9E4D35"/>
                </a:solidFill>
                <a:latin typeface="Times New Roman"/>
                <a:ea typeface="Times New Roman"/>
                <a:cs typeface="Times New Roman"/>
              </a:defRPr>
            </a:lvl7pPr>
            <a:lvl8pPr algn="l">
              <a:defRPr sz="2025" b="0">
                <a:solidFill>
                  <a:srgbClr val="9E4D35"/>
                </a:solidFill>
                <a:latin typeface="Times New Roman"/>
                <a:ea typeface="Times New Roman"/>
                <a:cs typeface="Times New Roman"/>
              </a:defRPr>
            </a:lvl8pPr>
            <a:lvl9pPr algn="l">
              <a:defRPr sz="2025" b="0">
                <a:solidFill>
                  <a:srgbClr val="9E4D35"/>
                </a:solidFill>
                <a:latin typeface="Times New Roman"/>
                <a:ea typeface="Times New Roman"/>
                <a:cs typeface="Times New Roman"/>
              </a:defRPr>
            </a:lvl9pPr>
          </a:lstStyle>
          <a:p xmlns:a="http://schemas.openxmlformats.org/drawingml/2006/main">
            <a:pPr algn="l">
              <a:defRPr sz="2025" b="0">
                <a:solidFill>
                  <a:srgbClr val="9E4D35"/>
                </a:solidFill>
                <a:latin typeface="Times New Roman"/>
                <a:ea typeface="Times New Roman"/>
                <a:cs typeface="Times New Roman"/>
              </a:defRPr>
            </a:pPr>
            <a:r>
              <a:rPr sz="2025" b="0">
                <a:solidFill>
                  <a:srgbClr val="9E4D35"/>
                </a:solidFill>
                <a:latin typeface="Times New Roman"/>
                <a:ea typeface="Times New Roman"/>
                <a:cs typeface="Times New Roman"/>
              </a:rPr>
              <a:t>Valoración subjetiva favorable.</a:t>
            </a:r>
          </a:p>
          <a:p xmlns:a="http://schemas.openxmlformats.org/drawingml/2006/main">
            <a:pPr algn="l">
              <a:defRPr sz="2025" b="0">
                <a:solidFill>
                  <a:srgbClr val="9E4D35"/>
                </a:solidFill>
                <a:latin typeface="Times New Roman"/>
                <a:ea typeface="Times New Roman"/>
                <a:cs typeface="Times New Roman"/>
              </a:defRPr>
            </a:pPr>
            <a:r>
              <a:rPr sz="2025" b="0">
                <a:solidFill>
                  <a:srgbClr val="9E4D35"/>
                </a:solidFill>
                <a:latin typeface="Times New Roman"/>
                <a:ea typeface="Times New Roman"/>
                <a:cs typeface="Times New Roman"/>
              </a:rPr>
              <a:t>No hay laboratorio final</a:t>
            </a:r>
          </a:p>
          <a:p xmlns:a="http://schemas.openxmlformats.org/drawingml/2006/main">
            <a:pPr algn="l">
              <a:defRPr sz="2025" b="0">
                <a:solidFill>
                  <a:srgbClr val="9E4D35"/>
                </a:solidFill>
                <a:latin typeface="Times New Roman"/>
                <a:ea typeface="Times New Roman"/>
                <a:cs typeface="Times New Roman"/>
              </a:defRPr>
            </a:pPr>
            <a:r>
              <a:rPr sz="2025" b="0">
                <a:solidFill>
                  <a:srgbClr val="9E4D35"/>
                </a:solidFill>
                <a:latin typeface="Times New Roman"/>
                <a:ea typeface="Times New Roman"/>
                <a:cs typeface="Times New Roman"/>
              </a:rPr>
              <a:t>para comprobar normalización.</a:t>
            </a:r>
          </a:p>
        </p:txBody>
      </p:sp>
    </p:spTree>
    <p:extLst>
      <p:ext uri="{BB962C8B-B14F-4D97-AF65-F5344CB8AC3E}">
        <p14:creationId xmlns:p14="http://schemas.microsoft.com/office/powerpoint/2010/main" val="1897365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4">
            <a:extLst xmlns:a="http://schemas.openxmlformats.org/drawingml/2006/main">
              <a:ext uri="{FF2B5EF4-FFF2-40B4-BE49-F238E27FC236}">
                <a16:creationId xmlns:a16="http://schemas.microsoft.com/office/drawing/2014/main" id="{26480607-79E5-491A-BBA6-0ED16FAD2D09}"/>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Conclusiones del caso</a:t>
            </a:r>
          </a:p>
        </p:txBody>
      </p:sp>
      <p:sp>
        <p:nvSpPr>
          <p:cNvPr id="2" name="text-95">
            <a:extLst xmlns:a="http://schemas.openxmlformats.org/drawingml/2006/main">
              <a:ext uri="{FF2B5EF4-FFF2-40B4-BE49-F238E27FC236}">
                <a16:creationId xmlns:a16="http://schemas.microsoft.com/office/drawing/2014/main" id="{2BC3FA6D-97AB-41B0-9BE6-B4EE462127DA}"/>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14</a:t>
            </a:r>
          </a:p>
        </p:txBody>
      </p:sp>
      <p:sp>
        <p:nvSpPr>
          <p:cNvPr id="3" name="text-96">
            <a:extLst xmlns:a="http://schemas.openxmlformats.org/drawingml/2006/main">
              <a:ext uri="{FF2B5EF4-FFF2-40B4-BE49-F238E27FC236}">
                <a16:creationId xmlns:a16="http://schemas.microsoft.com/office/drawing/2014/main" id="{799B7F93-2D61-4A4E-BE6C-5C53C3B11D04}"/>
              </a:ext>
            </a:extLst>
          </p:cNvPr>
          <p:cNvSpPr>
            <a:spLocks xmlns:a="http://schemas.openxmlformats.org/drawingml/2006/main" noGrp="1"/>
          </p:cNvSpPr>
          <p:nvPr/>
        </p:nvSpPr>
        <p:spPr>
          <a:xfrm xmlns:a="http://schemas.openxmlformats.org/drawingml/2006/main">
            <a:off x="628650" y="1743075"/>
            <a:ext cx="1093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1">
                <a:solidFill>
                  <a:srgbClr val="173A5E"/>
                </a:solidFill>
                <a:latin typeface="Times New Roman"/>
                <a:ea typeface="Times New Roman"/>
                <a:cs typeface="Times New Roman"/>
              </a:defRPr>
            </a:defPPr>
            <a:lvl1pPr algn="l">
              <a:defRPr sz="2400" b="1">
                <a:solidFill>
                  <a:srgbClr val="173A5E"/>
                </a:solidFill>
                <a:latin typeface="Times New Roman"/>
                <a:ea typeface="Times New Roman"/>
                <a:cs typeface="Times New Roman"/>
              </a:defRPr>
            </a:lvl1pPr>
            <a:lvl2pPr algn="l">
              <a:defRPr sz="2400" b="1">
                <a:solidFill>
                  <a:srgbClr val="173A5E"/>
                </a:solidFill>
                <a:latin typeface="Times New Roman"/>
                <a:ea typeface="Times New Roman"/>
                <a:cs typeface="Times New Roman"/>
              </a:defRPr>
            </a:lvl2pPr>
            <a:lvl3pPr algn="l">
              <a:defRPr sz="2400" b="1">
                <a:solidFill>
                  <a:srgbClr val="173A5E"/>
                </a:solidFill>
                <a:latin typeface="Times New Roman"/>
                <a:ea typeface="Times New Roman"/>
                <a:cs typeface="Times New Roman"/>
              </a:defRPr>
            </a:lvl3pPr>
            <a:lvl4pPr algn="l">
              <a:defRPr sz="2400" b="1">
                <a:solidFill>
                  <a:srgbClr val="173A5E"/>
                </a:solidFill>
                <a:latin typeface="Times New Roman"/>
                <a:ea typeface="Times New Roman"/>
                <a:cs typeface="Times New Roman"/>
              </a:defRPr>
            </a:lvl4pPr>
            <a:lvl5pPr algn="l">
              <a:defRPr sz="2400" b="1">
                <a:solidFill>
                  <a:srgbClr val="173A5E"/>
                </a:solidFill>
                <a:latin typeface="Times New Roman"/>
                <a:ea typeface="Times New Roman"/>
                <a:cs typeface="Times New Roman"/>
              </a:defRPr>
            </a:lvl5pPr>
            <a:lvl6pPr algn="l">
              <a:defRPr sz="2400" b="1">
                <a:solidFill>
                  <a:srgbClr val="173A5E"/>
                </a:solidFill>
                <a:latin typeface="Times New Roman"/>
                <a:ea typeface="Times New Roman"/>
                <a:cs typeface="Times New Roman"/>
              </a:defRPr>
            </a:lvl6pPr>
            <a:lvl7pPr algn="l">
              <a:defRPr sz="2400" b="1">
                <a:solidFill>
                  <a:srgbClr val="173A5E"/>
                </a:solidFill>
                <a:latin typeface="Times New Roman"/>
                <a:ea typeface="Times New Roman"/>
                <a:cs typeface="Times New Roman"/>
              </a:defRPr>
            </a:lvl7pPr>
            <a:lvl8pPr algn="l">
              <a:defRPr sz="2400" b="1">
                <a:solidFill>
                  <a:srgbClr val="173A5E"/>
                </a:solidFill>
                <a:latin typeface="Times New Roman"/>
                <a:ea typeface="Times New Roman"/>
                <a:cs typeface="Times New Roman"/>
              </a:defRPr>
            </a:lvl8pPr>
            <a:lvl9pPr algn="l">
              <a:defRPr sz="2400" b="1">
                <a:solidFill>
                  <a:srgbClr val="173A5E"/>
                </a:solidFill>
                <a:latin typeface="Times New Roman"/>
                <a:ea typeface="Times New Roman"/>
                <a:cs typeface="Times New Roman"/>
              </a:defRPr>
            </a:lvl9pPr>
          </a:lstStyle>
          <a:p xmlns:a="http://schemas.openxmlformats.org/drawingml/2006/main">
            <a:pPr algn="l">
              <a:defRPr sz="2400" b="1">
                <a:solidFill>
                  <a:srgbClr val="173A5E"/>
                </a:solidFill>
                <a:latin typeface="Times New Roman"/>
                <a:ea typeface="Times New Roman"/>
                <a:cs typeface="Times New Roman"/>
              </a:defRPr>
            </a:pPr>
            <a:r>
              <a:rPr sz="2400" b="1">
                <a:solidFill>
                  <a:srgbClr val="173A5E"/>
                </a:solidFill>
                <a:latin typeface="Times New Roman"/>
                <a:ea typeface="Times New Roman"/>
                <a:cs typeface="Times New Roman"/>
              </a:rPr>
              <a:t>Respuesta clínica reportada</a:t>
            </a:r>
          </a:p>
        </p:txBody>
      </p:sp>
      <p:sp>
        <p:nvSpPr>
          <p:cNvPr id="4" name="text-97">
            <a:extLst xmlns:a="http://schemas.openxmlformats.org/drawingml/2006/main">
              <a:ext uri="{FF2B5EF4-FFF2-40B4-BE49-F238E27FC236}">
                <a16:creationId xmlns:a16="http://schemas.microsoft.com/office/drawing/2014/main" id="{B8DEA777-390F-4C44-9251-BD0FEA3E5206}"/>
              </a:ext>
            </a:extLst>
          </p:cNvPr>
          <p:cNvSpPr>
            <a:spLocks xmlns:a="http://schemas.openxmlformats.org/drawingml/2006/main" noGrp="1"/>
          </p:cNvSpPr>
          <p:nvPr/>
        </p:nvSpPr>
        <p:spPr>
          <a:xfrm xmlns:a="http://schemas.openxmlformats.org/drawingml/2006/main">
            <a:off x="628650" y="2228850"/>
            <a:ext cx="109347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15253A"/>
                </a:solidFill>
                <a:latin typeface="Times New Roman"/>
                <a:ea typeface="Times New Roman"/>
                <a:cs typeface="Times New Roman"/>
              </a:defRPr>
            </a:defPPr>
            <a:lvl1pPr algn="l">
              <a:defRPr sz="2250" b="0">
                <a:solidFill>
                  <a:srgbClr val="15253A"/>
                </a:solidFill>
                <a:latin typeface="Times New Roman"/>
                <a:ea typeface="Times New Roman"/>
                <a:cs typeface="Times New Roman"/>
              </a:defRPr>
            </a:lvl1pPr>
            <a:lvl2pPr algn="l">
              <a:defRPr sz="2250" b="0">
                <a:solidFill>
                  <a:srgbClr val="15253A"/>
                </a:solidFill>
                <a:latin typeface="Times New Roman"/>
                <a:ea typeface="Times New Roman"/>
                <a:cs typeface="Times New Roman"/>
              </a:defRPr>
            </a:lvl2pPr>
            <a:lvl3pPr algn="l">
              <a:defRPr sz="2250" b="0">
                <a:solidFill>
                  <a:srgbClr val="15253A"/>
                </a:solidFill>
                <a:latin typeface="Times New Roman"/>
                <a:ea typeface="Times New Roman"/>
                <a:cs typeface="Times New Roman"/>
              </a:defRPr>
            </a:lvl3pPr>
            <a:lvl4pPr algn="l">
              <a:defRPr sz="2250" b="0">
                <a:solidFill>
                  <a:srgbClr val="15253A"/>
                </a:solidFill>
                <a:latin typeface="Times New Roman"/>
                <a:ea typeface="Times New Roman"/>
                <a:cs typeface="Times New Roman"/>
              </a:defRPr>
            </a:lvl4pPr>
            <a:lvl5pPr algn="l">
              <a:defRPr sz="2250" b="0">
                <a:solidFill>
                  <a:srgbClr val="15253A"/>
                </a:solidFill>
                <a:latin typeface="Times New Roman"/>
                <a:ea typeface="Times New Roman"/>
                <a:cs typeface="Times New Roman"/>
              </a:defRPr>
            </a:lvl5pPr>
            <a:lvl6pPr algn="l">
              <a:defRPr sz="2250" b="0">
                <a:solidFill>
                  <a:srgbClr val="15253A"/>
                </a:solidFill>
                <a:latin typeface="Times New Roman"/>
                <a:ea typeface="Times New Roman"/>
                <a:cs typeface="Times New Roman"/>
              </a:defRPr>
            </a:lvl6pPr>
            <a:lvl7pPr algn="l">
              <a:defRPr sz="2250" b="0">
                <a:solidFill>
                  <a:srgbClr val="15253A"/>
                </a:solidFill>
                <a:latin typeface="Times New Roman"/>
                <a:ea typeface="Times New Roman"/>
                <a:cs typeface="Times New Roman"/>
              </a:defRPr>
            </a:lvl7pPr>
            <a:lvl8pPr algn="l">
              <a:defRPr sz="2250" b="0">
                <a:solidFill>
                  <a:srgbClr val="15253A"/>
                </a:solidFill>
                <a:latin typeface="Times New Roman"/>
                <a:ea typeface="Times New Roman"/>
                <a:cs typeface="Times New Roman"/>
              </a:defRPr>
            </a:lvl8pPr>
            <a:lvl9pPr algn="l">
              <a:defRPr sz="2250" b="0">
                <a:solidFill>
                  <a:srgbClr val="15253A"/>
                </a:solidFill>
                <a:latin typeface="Times New Roman"/>
                <a:ea typeface="Times New Roman"/>
                <a:cs typeface="Times New Roman"/>
              </a:defRPr>
            </a:lvl9pPr>
          </a:lstStyle>
          <a:p xmlns:a="http://schemas.openxmlformats.org/drawingml/2006/main">
            <a:pPr algn="l">
              <a:defRPr sz="2250" b="0">
                <a:solidFill>
                  <a:srgbClr val="15253A"/>
                </a:solidFill>
                <a:latin typeface="Times New Roman"/>
                <a:ea typeface="Times New Roman"/>
                <a:cs typeface="Times New Roman"/>
              </a:defRPr>
            </a:pPr>
            <a:r>
              <a:rPr sz="2250" b="0">
                <a:solidFill>
                  <a:srgbClr val="15253A"/>
                </a:solidFill>
                <a:latin typeface="Times New Roman"/>
                <a:ea typeface="Times New Roman"/>
                <a:cs typeface="Times New Roman"/>
              </a:rPr>
              <a:t>El tutor comunica recuperación general. El cambio de peso fue pequeño y positivo.</a:t>
            </a:r>
          </a:p>
        </p:txBody>
      </p:sp>
      <p:sp>
        <p:nvSpPr>
          <p:cNvPr id="5" name="text-98">
            <a:extLst xmlns:a="http://schemas.openxmlformats.org/drawingml/2006/main">
              <a:ext uri="{FF2B5EF4-FFF2-40B4-BE49-F238E27FC236}">
                <a16:creationId xmlns:a16="http://schemas.microsoft.com/office/drawing/2014/main" id="{4025EE08-303A-453C-98A1-48273B444843}"/>
              </a:ext>
            </a:extLst>
          </p:cNvPr>
          <p:cNvSpPr>
            <a:spLocks xmlns:a="http://schemas.openxmlformats.org/drawingml/2006/main" noGrp="1"/>
          </p:cNvSpPr>
          <p:nvPr/>
        </p:nvSpPr>
        <p:spPr>
          <a:xfrm xmlns:a="http://schemas.openxmlformats.org/drawingml/2006/main">
            <a:off x="628650" y="3238500"/>
            <a:ext cx="1093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1">
                <a:solidFill>
                  <a:srgbClr val="173A5E"/>
                </a:solidFill>
                <a:latin typeface="Times New Roman"/>
                <a:ea typeface="Times New Roman"/>
                <a:cs typeface="Times New Roman"/>
              </a:defRPr>
            </a:defPPr>
            <a:lvl1pPr algn="l">
              <a:defRPr sz="2400" b="1">
                <a:solidFill>
                  <a:srgbClr val="173A5E"/>
                </a:solidFill>
                <a:latin typeface="Times New Roman"/>
                <a:ea typeface="Times New Roman"/>
                <a:cs typeface="Times New Roman"/>
              </a:defRPr>
            </a:lvl1pPr>
            <a:lvl2pPr algn="l">
              <a:defRPr sz="2400" b="1">
                <a:solidFill>
                  <a:srgbClr val="173A5E"/>
                </a:solidFill>
                <a:latin typeface="Times New Roman"/>
                <a:ea typeface="Times New Roman"/>
                <a:cs typeface="Times New Roman"/>
              </a:defRPr>
            </a:lvl2pPr>
            <a:lvl3pPr algn="l">
              <a:defRPr sz="2400" b="1">
                <a:solidFill>
                  <a:srgbClr val="173A5E"/>
                </a:solidFill>
                <a:latin typeface="Times New Roman"/>
                <a:ea typeface="Times New Roman"/>
                <a:cs typeface="Times New Roman"/>
              </a:defRPr>
            </a:lvl3pPr>
            <a:lvl4pPr algn="l">
              <a:defRPr sz="2400" b="1">
                <a:solidFill>
                  <a:srgbClr val="173A5E"/>
                </a:solidFill>
                <a:latin typeface="Times New Roman"/>
                <a:ea typeface="Times New Roman"/>
                <a:cs typeface="Times New Roman"/>
              </a:defRPr>
            </a:lvl4pPr>
            <a:lvl5pPr algn="l">
              <a:defRPr sz="2400" b="1">
                <a:solidFill>
                  <a:srgbClr val="173A5E"/>
                </a:solidFill>
                <a:latin typeface="Times New Roman"/>
                <a:ea typeface="Times New Roman"/>
                <a:cs typeface="Times New Roman"/>
              </a:defRPr>
            </a:lvl5pPr>
            <a:lvl6pPr algn="l">
              <a:defRPr sz="2400" b="1">
                <a:solidFill>
                  <a:srgbClr val="173A5E"/>
                </a:solidFill>
                <a:latin typeface="Times New Roman"/>
                <a:ea typeface="Times New Roman"/>
                <a:cs typeface="Times New Roman"/>
              </a:defRPr>
            </a:lvl6pPr>
            <a:lvl7pPr algn="l">
              <a:defRPr sz="2400" b="1">
                <a:solidFill>
                  <a:srgbClr val="173A5E"/>
                </a:solidFill>
                <a:latin typeface="Times New Roman"/>
                <a:ea typeface="Times New Roman"/>
                <a:cs typeface="Times New Roman"/>
              </a:defRPr>
            </a:lvl7pPr>
            <a:lvl8pPr algn="l">
              <a:defRPr sz="2400" b="1">
                <a:solidFill>
                  <a:srgbClr val="173A5E"/>
                </a:solidFill>
                <a:latin typeface="Times New Roman"/>
                <a:ea typeface="Times New Roman"/>
                <a:cs typeface="Times New Roman"/>
              </a:defRPr>
            </a:lvl8pPr>
            <a:lvl9pPr algn="l">
              <a:defRPr sz="2400" b="1">
                <a:solidFill>
                  <a:srgbClr val="173A5E"/>
                </a:solidFill>
                <a:latin typeface="Times New Roman"/>
                <a:ea typeface="Times New Roman"/>
                <a:cs typeface="Times New Roman"/>
              </a:defRPr>
            </a:lvl9pPr>
          </a:lstStyle>
          <a:p xmlns:a="http://schemas.openxmlformats.org/drawingml/2006/main">
            <a:pPr algn="l">
              <a:defRPr sz="2400" b="1">
                <a:solidFill>
                  <a:srgbClr val="173A5E"/>
                </a:solidFill>
                <a:latin typeface="Times New Roman"/>
                <a:ea typeface="Times New Roman"/>
                <a:cs typeface="Times New Roman"/>
              </a:defRPr>
            </a:pPr>
            <a:r>
              <a:rPr sz="2400" b="1">
                <a:solidFill>
                  <a:srgbClr val="173A5E"/>
                </a:solidFill>
                <a:latin typeface="Times New Roman"/>
                <a:ea typeface="Times New Roman"/>
                <a:cs typeface="Times New Roman"/>
              </a:rPr>
              <a:t>Aprendizaje farmacológico</a:t>
            </a:r>
          </a:p>
        </p:txBody>
      </p:sp>
      <p:sp>
        <p:nvSpPr>
          <p:cNvPr id="6" name="text-99">
            <a:extLst xmlns:a="http://schemas.openxmlformats.org/drawingml/2006/main">
              <a:ext uri="{FF2B5EF4-FFF2-40B4-BE49-F238E27FC236}">
                <a16:creationId xmlns:a16="http://schemas.microsoft.com/office/drawing/2014/main" id="{BE426E10-9E73-4176-8BEF-053AF872BA12}"/>
              </a:ext>
            </a:extLst>
          </p:cNvPr>
          <p:cNvSpPr>
            <a:spLocks xmlns:a="http://schemas.openxmlformats.org/drawingml/2006/main" noGrp="1"/>
          </p:cNvSpPr>
          <p:nvPr/>
        </p:nvSpPr>
        <p:spPr>
          <a:xfrm xmlns:a="http://schemas.openxmlformats.org/drawingml/2006/main">
            <a:off x="628650" y="3724275"/>
            <a:ext cx="109347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15253A"/>
                </a:solidFill>
                <a:latin typeface="Times New Roman"/>
                <a:ea typeface="Times New Roman"/>
                <a:cs typeface="Times New Roman"/>
              </a:defRPr>
            </a:defPPr>
            <a:lvl1pPr algn="l">
              <a:defRPr sz="2250" b="0">
                <a:solidFill>
                  <a:srgbClr val="15253A"/>
                </a:solidFill>
                <a:latin typeface="Times New Roman"/>
                <a:ea typeface="Times New Roman"/>
                <a:cs typeface="Times New Roman"/>
              </a:defRPr>
            </a:lvl1pPr>
            <a:lvl2pPr algn="l">
              <a:defRPr sz="2250" b="0">
                <a:solidFill>
                  <a:srgbClr val="15253A"/>
                </a:solidFill>
                <a:latin typeface="Times New Roman"/>
                <a:ea typeface="Times New Roman"/>
                <a:cs typeface="Times New Roman"/>
              </a:defRPr>
            </a:lvl2pPr>
            <a:lvl3pPr algn="l">
              <a:defRPr sz="2250" b="0">
                <a:solidFill>
                  <a:srgbClr val="15253A"/>
                </a:solidFill>
                <a:latin typeface="Times New Roman"/>
                <a:ea typeface="Times New Roman"/>
                <a:cs typeface="Times New Roman"/>
              </a:defRPr>
            </a:lvl3pPr>
            <a:lvl4pPr algn="l">
              <a:defRPr sz="2250" b="0">
                <a:solidFill>
                  <a:srgbClr val="15253A"/>
                </a:solidFill>
                <a:latin typeface="Times New Roman"/>
                <a:ea typeface="Times New Roman"/>
                <a:cs typeface="Times New Roman"/>
              </a:defRPr>
            </a:lvl4pPr>
            <a:lvl5pPr algn="l">
              <a:defRPr sz="2250" b="0">
                <a:solidFill>
                  <a:srgbClr val="15253A"/>
                </a:solidFill>
                <a:latin typeface="Times New Roman"/>
                <a:ea typeface="Times New Roman"/>
                <a:cs typeface="Times New Roman"/>
              </a:defRPr>
            </a:lvl5pPr>
            <a:lvl6pPr algn="l">
              <a:defRPr sz="2250" b="0">
                <a:solidFill>
                  <a:srgbClr val="15253A"/>
                </a:solidFill>
                <a:latin typeface="Times New Roman"/>
                <a:ea typeface="Times New Roman"/>
                <a:cs typeface="Times New Roman"/>
              </a:defRPr>
            </a:lvl6pPr>
            <a:lvl7pPr algn="l">
              <a:defRPr sz="2250" b="0">
                <a:solidFill>
                  <a:srgbClr val="15253A"/>
                </a:solidFill>
                <a:latin typeface="Times New Roman"/>
                <a:ea typeface="Times New Roman"/>
                <a:cs typeface="Times New Roman"/>
              </a:defRPr>
            </a:lvl7pPr>
            <a:lvl8pPr algn="l">
              <a:defRPr sz="2250" b="0">
                <a:solidFill>
                  <a:srgbClr val="15253A"/>
                </a:solidFill>
                <a:latin typeface="Times New Roman"/>
                <a:ea typeface="Times New Roman"/>
                <a:cs typeface="Times New Roman"/>
              </a:defRPr>
            </a:lvl8pPr>
            <a:lvl9pPr algn="l">
              <a:defRPr sz="2250" b="0">
                <a:solidFill>
                  <a:srgbClr val="15253A"/>
                </a:solidFill>
                <a:latin typeface="Times New Roman"/>
                <a:ea typeface="Times New Roman"/>
                <a:cs typeface="Times New Roman"/>
              </a:defRPr>
            </a:lvl9pPr>
          </a:lstStyle>
          <a:p xmlns:a="http://schemas.openxmlformats.org/drawingml/2006/main">
            <a:pPr algn="l">
              <a:defRPr sz="2250" b="0">
                <a:solidFill>
                  <a:srgbClr val="15253A"/>
                </a:solidFill>
                <a:latin typeface="Times New Roman"/>
                <a:ea typeface="Times New Roman"/>
                <a:cs typeface="Times New Roman"/>
              </a:defRPr>
            </a:pPr>
            <a:r>
              <a:rPr sz="2250" b="0">
                <a:solidFill>
                  <a:srgbClr val="15253A"/>
                </a:solidFill>
                <a:latin typeface="Times New Roman"/>
                <a:ea typeface="Times New Roman"/>
                <a:cs typeface="Times New Roman"/>
              </a:rPr>
              <a:t>La concentración comercial y el componente activo cambian la lectura de una misma dosis en mililitros.</a:t>
            </a:r>
          </a:p>
        </p:txBody>
      </p:sp>
      <p:sp>
        <p:nvSpPr>
          <p:cNvPr id="7" name="text-100">
            <a:extLst xmlns:a="http://schemas.openxmlformats.org/drawingml/2006/main">
              <a:ext uri="{FF2B5EF4-FFF2-40B4-BE49-F238E27FC236}">
                <a16:creationId xmlns:a16="http://schemas.microsoft.com/office/drawing/2014/main" id="{B58794AC-947B-42D5-B400-A264D4AD18B8}"/>
              </a:ext>
            </a:extLst>
          </p:cNvPr>
          <p:cNvSpPr>
            <a:spLocks xmlns:a="http://schemas.openxmlformats.org/drawingml/2006/main" noGrp="1"/>
          </p:cNvSpPr>
          <p:nvPr/>
        </p:nvSpPr>
        <p:spPr>
          <a:xfrm xmlns:a="http://schemas.openxmlformats.org/drawingml/2006/main">
            <a:off x="628650" y="4733925"/>
            <a:ext cx="1093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00" b="1">
                <a:solidFill>
                  <a:srgbClr val="173A5E"/>
                </a:solidFill>
                <a:latin typeface="Times New Roman"/>
                <a:ea typeface="Times New Roman"/>
                <a:cs typeface="Times New Roman"/>
              </a:defRPr>
            </a:defPPr>
            <a:lvl1pPr algn="l">
              <a:defRPr sz="2400" b="1">
                <a:solidFill>
                  <a:srgbClr val="173A5E"/>
                </a:solidFill>
                <a:latin typeface="Times New Roman"/>
                <a:ea typeface="Times New Roman"/>
                <a:cs typeface="Times New Roman"/>
              </a:defRPr>
            </a:lvl1pPr>
            <a:lvl2pPr algn="l">
              <a:defRPr sz="2400" b="1">
                <a:solidFill>
                  <a:srgbClr val="173A5E"/>
                </a:solidFill>
                <a:latin typeface="Times New Roman"/>
                <a:ea typeface="Times New Roman"/>
                <a:cs typeface="Times New Roman"/>
              </a:defRPr>
            </a:lvl2pPr>
            <a:lvl3pPr algn="l">
              <a:defRPr sz="2400" b="1">
                <a:solidFill>
                  <a:srgbClr val="173A5E"/>
                </a:solidFill>
                <a:latin typeface="Times New Roman"/>
                <a:ea typeface="Times New Roman"/>
                <a:cs typeface="Times New Roman"/>
              </a:defRPr>
            </a:lvl3pPr>
            <a:lvl4pPr algn="l">
              <a:defRPr sz="2400" b="1">
                <a:solidFill>
                  <a:srgbClr val="173A5E"/>
                </a:solidFill>
                <a:latin typeface="Times New Roman"/>
                <a:ea typeface="Times New Roman"/>
                <a:cs typeface="Times New Roman"/>
              </a:defRPr>
            </a:lvl4pPr>
            <a:lvl5pPr algn="l">
              <a:defRPr sz="2400" b="1">
                <a:solidFill>
                  <a:srgbClr val="173A5E"/>
                </a:solidFill>
                <a:latin typeface="Times New Roman"/>
                <a:ea typeface="Times New Roman"/>
                <a:cs typeface="Times New Roman"/>
              </a:defRPr>
            </a:lvl5pPr>
            <a:lvl6pPr algn="l">
              <a:defRPr sz="2400" b="1">
                <a:solidFill>
                  <a:srgbClr val="173A5E"/>
                </a:solidFill>
                <a:latin typeface="Times New Roman"/>
                <a:ea typeface="Times New Roman"/>
                <a:cs typeface="Times New Roman"/>
              </a:defRPr>
            </a:lvl6pPr>
            <a:lvl7pPr algn="l">
              <a:defRPr sz="2400" b="1">
                <a:solidFill>
                  <a:srgbClr val="173A5E"/>
                </a:solidFill>
                <a:latin typeface="Times New Roman"/>
                <a:ea typeface="Times New Roman"/>
                <a:cs typeface="Times New Roman"/>
              </a:defRPr>
            </a:lvl7pPr>
            <a:lvl8pPr algn="l">
              <a:defRPr sz="2400" b="1">
                <a:solidFill>
                  <a:srgbClr val="173A5E"/>
                </a:solidFill>
                <a:latin typeface="Times New Roman"/>
                <a:ea typeface="Times New Roman"/>
                <a:cs typeface="Times New Roman"/>
              </a:defRPr>
            </a:lvl8pPr>
            <a:lvl9pPr algn="l">
              <a:defRPr sz="2400" b="1">
                <a:solidFill>
                  <a:srgbClr val="173A5E"/>
                </a:solidFill>
                <a:latin typeface="Times New Roman"/>
                <a:ea typeface="Times New Roman"/>
                <a:cs typeface="Times New Roman"/>
              </a:defRPr>
            </a:lvl9pPr>
          </a:lstStyle>
          <a:p xmlns:a="http://schemas.openxmlformats.org/drawingml/2006/main">
            <a:pPr algn="l">
              <a:defRPr sz="2400" b="1">
                <a:solidFill>
                  <a:srgbClr val="173A5E"/>
                </a:solidFill>
                <a:latin typeface="Times New Roman"/>
                <a:ea typeface="Times New Roman"/>
                <a:cs typeface="Times New Roman"/>
              </a:defRPr>
            </a:pPr>
            <a:r>
              <a:rPr sz="2400" b="1">
                <a:solidFill>
                  <a:srgbClr val="173A5E"/>
                </a:solidFill>
                <a:latin typeface="Times New Roman"/>
                <a:ea typeface="Times New Roman"/>
                <a:cs typeface="Times New Roman"/>
              </a:rPr>
              <a:t>Información para una segunda versión</a:t>
            </a:r>
          </a:p>
        </p:txBody>
      </p:sp>
      <p:sp>
        <p:nvSpPr>
          <p:cNvPr id="8" name="text-101">
            <a:extLst xmlns:a="http://schemas.openxmlformats.org/drawingml/2006/main">
              <a:ext uri="{FF2B5EF4-FFF2-40B4-BE49-F238E27FC236}">
                <a16:creationId xmlns:a16="http://schemas.microsoft.com/office/drawing/2014/main" id="{57E9ED5A-D7BB-414C-A6D1-BF02AB5D2E82}"/>
              </a:ext>
            </a:extLst>
          </p:cNvPr>
          <p:cNvSpPr>
            <a:spLocks xmlns:a="http://schemas.openxmlformats.org/drawingml/2006/main" noGrp="1"/>
          </p:cNvSpPr>
          <p:nvPr/>
        </p:nvSpPr>
        <p:spPr>
          <a:xfrm xmlns:a="http://schemas.openxmlformats.org/drawingml/2006/main">
            <a:off x="628650" y="5219700"/>
            <a:ext cx="109347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15253A"/>
                </a:solidFill>
                <a:latin typeface="Times New Roman"/>
                <a:ea typeface="Times New Roman"/>
                <a:cs typeface="Times New Roman"/>
              </a:defRPr>
            </a:defPPr>
            <a:lvl1pPr algn="l">
              <a:defRPr sz="2250" b="0">
                <a:solidFill>
                  <a:srgbClr val="15253A"/>
                </a:solidFill>
                <a:latin typeface="Times New Roman"/>
                <a:ea typeface="Times New Roman"/>
                <a:cs typeface="Times New Roman"/>
              </a:defRPr>
            </a:lvl1pPr>
            <a:lvl2pPr algn="l">
              <a:defRPr sz="2250" b="0">
                <a:solidFill>
                  <a:srgbClr val="15253A"/>
                </a:solidFill>
                <a:latin typeface="Times New Roman"/>
                <a:ea typeface="Times New Roman"/>
                <a:cs typeface="Times New Roman"/>
              </a:defRPr>
            </a:lvl2pPr>
            <a:lvl3pPr algn="l">
              <a:defRPr sz="2250" b="0">
                <a:solidFill>
                  <a:srgbClr val="15253A"/>
                </a:solidFill>
                <a:latin typeface="Times New Roman"/>
                <a:ea typeface="Times New Roman"/>
                <a:cs typeface="Times New Roman"/>
              </a:defRPr>
            </a:lvl3pPr>
            <a:lvl4pPr algn="l">
              <a:defRPr sz="2250" b="0">
                <a:solidFill>
                  <a:srgbClr val="15253A"/>
                </a:solidFill>
                <a:latin typeface="Times New Roman"/>
                <a:ea typeface="Times New Roman"/>
                <a:cs typeface="Times New Roman"/>
              </a:defRPr>
            </a:lvl4pPr>
            <a:lvl5pPr algn="l">
              <a:defRPr sz="2250" b="0">
                <a:solidFill>
                  <a:srgbClr val="15253A"/>
                </a:solidFill>
                <a:latin typeface="Times New Roman"/>
                <a:ea typeface="Times New Roman"/>
                <a:cs typeface="Times New Roman"/>
              </a:defRPr>
            </a:lvl5pPr>
            <a:lvl6pPr algn="l">
              <a:defRPr sz="2250" b="0">
                <a:solidFill>
                  <a:srgbClr val="15253A"/>
                </a:solidFill>
                <a:latin typeface="Times New Roman"/>
                <a:ea typeface="Times New Roman"/>
                <a:cs typeface="Times New Roman"/>
              </a:defRPr>
            </a:lvl6pPr>
            <a:lvl7pPr algn="l">
              <a:defRPr sz="2250" b="0">
                <a:solidFill>
                  <a:srgbClr val="15253A"/>
                </a:solidFill>
                <a:latin typeface="Times New Roman"/>
                <a:ea typeface="Times New Roman"/>
                <a:cs typeface="Times New Roman"/>
              </a:defRPr>
            </a:lvl7pPr>
            <a:lvl8pPr algn="l">
              <a:defRPr sz="2250" b="0">
                <a:solidFill>
                  <a:srgbClr val="15253A"/>
                </a:solidFill>
                <a:latin typeface="Times New Roman"/>
                <a:ea typeface="Times New Roman"/>
                <a:cs typeface="Times New Roman"/>
              </a:defRPr>
            </a:lvl8pPr>
            <a:lvl9pPr algn="l">
              <a:defRPr sz="2250" b="0">
                <a:solidFill>
                  <a:srgbClr val="15253A"/>
                </a:solidFill>
                <a:latin typeface="Times New Roman"/>
                <a:ea typeface="Times New Roman"/>
                <a:cs typeface="Times New Roman"/>
              </a:defRPr>
            </a:lvl9pPr>
          </a:lstStyle>
          <a:p xmlns:a="http://schemas.openxmlformats.org/drawingml/2006/main">
            <a:pPr algn="l">
              <a:defRPr sz="2250" b="0">
                <a:solidFill>
                  <a:srgbClr val="15253A"/>
                </a:solidFill>
                <a:latin typeface="Times New Roman"/>
                <a:ea typeface="Times New Roman"/>
                <a:cs typeface="Times New Roman"/>
              </a:defRPr>
            </a:pPr>
            <a:r>
              <a:rPr sz="2250" b="0">
                <a:solidFill>
                  <a:srgbClr val="15253A"/>
                </a:solidFill>
                <a:latin typeface="Times New Roman"/>
                <a:ea typeface="Times New Roman"/>
                <a:cs typeface="Times New Roman"/>
              </a:rPr>
              <a:t>Presentación del metronidazol, volumen real de Relámpago, fechas de fotos y pesaje final, coprológico y controles.</a:t>
            </a:r>
          </a:p>
        </p:txBody>
      </p:sp>
    </p:spTree>
    <p:extLst>
      <p:ext uri="{BB962C8B-B14F-4D97-AF65-F5344CB8AC3E}">
        <p14:creationId xmlns:p14="http://schemas.microsoft.com/office/powerpoint/2010/main" val="16506588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02">
            <a:extLst xmlns:a="http://schemas.openxmlformats.org/drawingml/2006/main">
              <a:ext uri="{FF2B5EF4-FFF2-40B4-BE49-F238E27FC236}">
                <a16:creationId xmlns:a16="http://schemas.microsoft.com/office/drawing/2014/main" id="{12FEFD31-D9A3-405D-9132-4EEFFD7BA54C}"/>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Preguntas para discutir en clase</a:t>
            </a:r>
          </a:p>
        </p:txBody>
      </p:sp>
      <p:sp>
        <p:nvSpPr>
          <p:cNvPr id="2" name="text-103">
            <a:extLst xmlns:a="http://schemas.openxmlformats.org/drawingml/2006/main">
              <a:ext uri="{FF2B5EF4-FFF2-40B4-BE49-F238E27FC236}">
                <a16:creationId xmlns:a16="http://schemas.microsoft.com/office/drawing/2014/main" id="{A26218BF-3A01-45CE-80C2-4A6429FC259E}"/>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15</a:t>
            </a:r>
          </a:p>
        </p:txBody>
      </p:sp>
      <p:sp>
        <p:nvSpPr>
          <p:cNvPr id="3" name="text-104">
            <a:extLst xmlns:a="http://schemas.openxmlformats.org/drawingml/2006/main">
              <a:ext uri="{FF2B5EF4-FFF2-40B4-BE49-F238E27FC236}">
                <a16:creationId xmlns:a16="http://schemas.microsoft.com/office/drawing/2014/main" id="{F9EF7125-4D9F-4269-AA7D-16823F8CBA44}"/>
              </a:ext>
            </a:extLst>
          </p:cNvPr>
          <p:cNvSpPr>
            <a:spLocks xmlns:a="http://schemas.openxmlformats.org/drawingml/2006/main" noGrp="1"/>
          </p:cNvSpPr>
          <p:nvPr/>
        </p:nvSpPr>
        <p:spPr>
          <a:xfrm xmlns:a="http://schemas.openxmlformats.org/drawingml/2006/main">
            <a:off x="628650" y="1828800"/>
            <a:ext cx="10810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253A"/>
                </a:solidFill>
                <a:latin typeface="Times New Roman"/>
                <a:ea typeface="Times New Roman"/>
                <a:cs typeface="Times New Roman"/>
              </a:defRPr>
            </a:defPPr>
            <a:lvl1pPr algn="l">
              <a:defRPr sz="2325" b="1">
                <a:solidFill>
                  <a:srgbClr val="15253A"/>
                </a:solidFill>
                <a:latin typeface="Times New Roman"/>
                <a:ea typeface="Times New Roman"/>
                <a:cs typeface="Times New Roman"/>
              </a:defRPr>
            </a:lvl1pPr>
            <a:lvl2pPr algn="l">
              <a:defRPr sz="2325" b="1">
                <a:solidFill>
                  <a:srgbClr val="15253A"/>
                </a:solidFill>
                <a:latin typeface="Times New Roman"/>
                <a:ea typeface="Times New Roman"/>
                <a:cs typeface="Times New Roman"/>
              </a:defRPr>
            </a:lvl2pPr>
            <a:lvl3pPr algn="l">
              <a:defRPr sz="2325" b="1">
                <a:solidFill>
                  <a:srgbClr val="15253A"/>
                </a:solidFill>
                <a:latin typeface="Times New Roman"/>
                <a:ea typeface="Times New Roman"/>
                <a:cs typeface="Times New Roman"/>
              </a:defRPr>
            </a:lvl3pPr>
            <a:lvl4pPr algn="l">
              <a:defRPr sz="2325" b="1">
                <a:solidFill>
                  <a:srgbClr val="15253A"/>
                </a:solidFill>
                <a:latin typeface="Times New Roman"/>
                <a:ea typeface="Times New Roman"/>
                <a:cs typeface="Times New Roman"/>
              </a:defRPr>
            </a:lvl4pPr>
            <a:lvl5pPr algn="l">
              <a:defRPr sz="2325" b="1">
                <a:solidFill>
                  <a:srgbClr val="15253A"/>
                </a:solidFill>
                <a:latin typeface="Times New Roman"/>
                <a:ea typeface="Times New Roman"/>
                <a:cs typeface="Times New Roman"/>
              </a:defRPr>
            </a:lvl5pPr>
            <a:lvl6pPr algn="l">
              <a:defRPr sz="2325" b="1">
                <a:solidFill>
                  <a:srgbClr val="15253A"/>
                </a:solidFill>
                <a:latin typeface="Times New Roman"/>
                <a:ea typeface="Times New Roman"/>
                <a:cs typeface="Times New Roman"/>
              </a:defRPr>
            </a:lvl6pPr>
            <a:lvl7pPr algn="l">
              <a:defRPr sz="2325" b="1">
                <a:solidFill>
                  <a:srgbClr val="15253A"/>
                </a:solidFill>
                <a:latin typeface="Times New Roman"/>
                <a:ea typeface="Times New Roman"/>
                <a:cs typeface="Times New Roman"/>
              </a:defRPr>
            </a:lvl7pPr>
            <a:lvl8pPr algn="l">
              <a:defRPr sz="2325" b="1">
                <a:solidFill>
                  <a:srgbClr val="15253A"/>
                </a:solidFill>
                <a:latin typeface="Times New Roman"/>
                <a:ea typeface="Times New Roman"/>
                <a:cs typeface="Times New Roman"/>
              </a:defRPr>
            </a:lvl8pPr>
            <a:lvl9pPr algn="l">
              <a:defRPr sz="2325" b="1">
                <a:solidFill>
                  <a:srgbClr val="15253A"/>
                </a:solidFill>
                <a:latin typeface="Times New Roman"/>
                <a:ea typeface="Times New Roman"/>
                <a:cs typeface="Times New Roman"/>
              </a:defRPr>
            </a:lvl9pPr>
          </a:lstStyle>
          <a:p xmlns:a="http://schemas.openxmlformats.org/drawingml/2006/main">
            <a:pPr algn="l">
              <a:defRPr sz="2325" b="1">
                <a:solidFill>
                  <a:srgbClr val="15253A"/>
                </a:solidFill>
                <a:latin typeface="Times New Roman"/>
                <a:ea typeface="Times New Roman"/>
                <a:cs typeface="Times New Roman"/>
              </a:defRPr>
            </a:pPr>
            <a:r>
              <a:rPr sz="2325" b="1">
                <a:solidFill>
                  <a:srgbClr val="15253A"/>
                </a:solidFill>
                <a:latin typeface="Times New Roman"/>
                <a:ea typeface="Times New Roman"/>
                <a:cs typeface="Times New Roman"/>
              </a:rPr>
              <a:t>1  ¿Cuántos mg de la combinación aporta una toma de 3 mL de Bactrivet?</a:t>
            </a:r>
          </a:p>
        </p:txBody>
      </p:sp>
      <p:sp>
        <p:nvSpPr>
          <p:cNvPr id="4" name="text-105">
            <a:extLst xmlns:a="http://schemas.openxmlformats.org/drawingml/2006/main">
              <a:ext uri="{FF2B5EF4-FFF2-40B4-BE49-F238E27FC236}">
                <a16:creationId xmlns:a16="http://schemas.microsoft.com/office/drawing/2014/main" id="{D4AD06C6-08A5-43A5-9EB7-F7C280979498}"/>
              </a:ext>
            </a:extLst>
          </p:cNvPr>
          <p:cNvSpPr>
            <a:spLocks xmlns:a="http://schemas.openxmlformats.org/drawingml/2006/main" noGrp="1"/>
          </p:cNvSpPr>
          <p:nvPr/>
        </p:nvSpPr>
        <p:spPr>
          <a:xfrm xmlns:a="http://schemas.openxmlformats.org/drawingml/2006/main">
            <a:off x="628650" y="2962275"/>
            <a:ext cx="10810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253A"/>
                </a:solidFill>
                <a:latin typeface="Times New Roman"/>
                <a:ea typeface="Times New Roman"/>
                <a:cs typeface="Times New Roman"/>
              </a:defRPr>
            </a:defPPr>
            <a:lvl1pPr algn="l">
              <a:defRPr sz="2325" b="1">
                <a:solidFill>
                  <a:srgbClr val="15253A"/>
                </a:solidFill>
                <a:latin typeface="Times New Roman"/>
                <a:ea typeface="Times New Roman"/>
                <a:cs typeface="Times New Roman"/>
              </a:defRPr>
            </a:lvl1pPr>
            <a:lvl2pPr algn="l">
              <a:defRPr sz="2325" b="1">
                <a:solidFill>
                  <a:srgbClr val="15253A"/>
                </a:solidFill>
                <a:latin typeface="Times New Roman"/>
                <a:ea typeface="Times New Roman"/>
                <a:cs typeface="Times New Roman"/>
              </a:defRPr>
            </a:lvl2pPr>
            <a:lvl3pPr algn="l">
              <a:defRPr sz="2325" b="1">
                <a:solidFill>
                  <a:srgbClr val="15253A"/>
                </a:solidFill>
                <a:latin typeface="Times New Roman"/>
                <a:ea typeface="Times New Roman"/>
                <a:cs typeface="Times New Roman"/>
              </a:defRPr>
            </a:lvl3pPr>
            <a:lvl4pPr algn="l">
              <a:defRPr sz="2325" b="1">
                <a:solidFill>
                  <a:srgbClr val="15253A"/>
                </a:solidFill>
                <a:latin typeface="Times New Roman"/>
                <a:ea typeface="Times New Roman"/>
                <a:cs typeface="Times New Roman"/>
              </a:defRPr>
            </a:lvl4pPr>
            <a:lvl5pPr algn="l">
              <a:defRPr sz="2325" b="1">
                <a:solidFill>
                  <a:srgbClr val="15253A"/>
                </a:solidFill>
                <a:latin typeface="Times New Roman"/>
                <a:ea typeface="Times New Roman"/>
                <a:cs typeface="Times New Roman"/>
              </a:defRPr>
            </a:lvl5pPr>
            <a:lvl6pPr algn="l">
              <a:defRPr sz="2325" b="1">
                <a:solidFill>
                  <a:srgbClr val="15253A"/>
                </a:solidFill>
                <a:latin typeface="Times New Roman"/>
                <a:ea typeface="Times New Roman"/>
                <a:cs typeface="Times New Roman"/>
              </a:defRPr>
            </a:lvl6pPr>
            <a:lvl7pPr algn="l">
              <a:defRPr sz="2325" b="1">
                <a:solidFill>
                  <a:srgbClr val="15253A"/>
                </a:solidFill>
                <a:latin typeface="Times New Roman"/>
                <a:ea typeface="Times New Roman"/>
                <a:cs typeface="Times New Roman"/>
              </a:defRPr>
            </a:lvl7pPr>
            <a:lvl8pPr algn="l">
              <a:defRPr sz="2325" b="1">
                <a:solidFill>
                  <a:srgbClr val="15253A"/>
                </a:solidFill>
                <a:latin typeface="Times New Roman"/>
                <a:ea typeface="Times New Roman"/>
                <a:cs typeface="Times New Roman"/>
              </a:defRPr>
            </a:lvl8pPr>
            <a:lvl9pPr algn="l">
              <a:defRPr sz="2325" b="1">
                <a:solidFill>
                  <a:srgbClr val="15253A"/>
                </a:solidFill>
                <a:latin typeface="Times New Roman"/>
                <a:ea typeface="Times New Roman"/>
                <a:cs typeface="Times New Roman"/>
              </a:defRPr>
            </a:lvl9pPr>
          </a:lstStyle>
          <a:p xmlns:a="http://schemas.openxmlformats.org/drawingml/2006/main">
            <a:pPr algn="l">
              <a:defRPr sz="2325" b="1">
                <a:solidFill>
                  <a:srgbClr val="15253A"/>
                </a:solidFill>
                <a:latin typeface="Times New Roman"/>
                <a:ea typeface="Times New Roman"/>
                <a:cs typeface="Times New Roman"/>
              </a:defRPr>
            </a:pPr>
            <a:r>
              <a:rPr sz="2325" b="1">
                <a:solidFill>
                  <a:srgbClr val="15253A"/>
                </a:solidFill>
                <a:latin typeface="Times New Roman"/>
                <a:ea typeface="Times New Roman"/>
                <a:cs typeface="Times New Roman"/>
              </a:rPr>
              <a:t>2  ¿Por qué 3,15 mg de sulfato ferroso no equivalen a 3,15 mg de hierro elemental?</a:t>
            </a:r>
          </a:p>
        </p:txBody>
      </p:sp>
      <p:sp>
        <p:nvSpPr>
          <p:cNvPr id="5" name="text-106">
            <a:extLst xmlns:a="http://schemas.openxmlformats.org/drawingml/2006/main">
              <a:ext uri="{FF2B5EF4-FFF2-40B4-BE49-F238E27FC236}">
                <a16:creationId xmlns:a16="http://schemas.microsoft.com/office/drawing/2014/main" id="{11D2A5BF-DCC1-45EC-B631-5C1A71AB6FA0}"/>
              </a:ext>
            </a:extLst>
          </p:cNvPr>
          <p:cNvSpPr>
            <a:spLocks xmlns:a="http://schemas.openxmlformats.org/drawingml/2006/main" noGrp="1"/>
          </p:cNvSpPr>
          <p:nvPr/>
        </p:nvSpPr>
        <p:spPr>
          <a:xfrm xmlns:a="http://schemas.openxmlformats.org/drawingml/2006/main">
            <a:off x="628650" y="4238625"/>
            <a:ext cx="10810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253A"/>
                </a:solidFill>
                <a:latin typeface="Times New Roman"/>
                <a:ea typeface="Times New Roman"/>
                <a:cs typeface="Times New Roman"/>
              </a:defRPr>
            </a:defPPr>
            <a:lvl1pPr algn="l">
              <a:defRPr sz="2325" b="1">
                <a:solidFill>
                  <a:srgbClr val="15253A"/>
                </a:solidFill>
                <a:latin typeface="Times New Roman"/>
                <a:ea typeface="Times New Roman"/>
                <a:cs typeface="Times New Roman"/>
              </a:defRPr>
            </a:lvl1pPr>
            <a:lvl2pPr algn="l">
              <a:defRPr sz="2325" b="1">
                <a:solidFill>
                  <a:srgbClr val="15253A"/>
                </a:solidFill>
                <a:latin typeface="Times New Roman"/>
                <a:ea typeface="Times New Roman"/>
                <a:cs typeface="Times New Roman"/>
              </a:defRPr>
            </a:lvl2pPr>
            <a:lvl3pPr algn="l">
              <a:defRPr sz="2325" b="1">
                <a:solidFill>
                  <a:srgbClr val="15253A"/>
                </a:solidFill>
                <a:latin typeface="Times New Roman"/>
                <a:ea typeface="Times New Roman"/>
                <a:cs typeface="Times New Roman"/>
              </a:defRPr>
            </a:lvl3pPr>
            <a:lvl4pPr algn="l">
              <a:defRPr sz="2325" b="1">
                <a:solidFill>
                  <a:srgbClr val="15253A"/>
                </a:solidFill>
                <a:latin typeface="Times New Roman"/>
                <a:ea typeface="Times New Roman"/>
                <a:cs typeface="Times New Roman"/>
              </a:defRPr>
            </a:lvl4pPr>
            <a:lvl5pPr algn="l">
              <a:defRPr sz="2325" b="1">
                <a:solidFill>
                  <a:srgbClr val="15253A"/>
                </a:solidFill>
                <a:latin typeface="Times New Roman"/>
                <a:ea typeface="Times New Roman"/>
                <a:cs typeface="Times New Roman"/>
              </a:defRPr>
            </a:lvl5pPr>
            <a:lvl6pPr algn="l">
              <a:defRPr sz="2325" b="1">
                <a:solidFill>
                  <a:srgbClr val="15253A"/>
                </a:solidFill>
                <a:latin typeface="Times New Roman"/>
                <a:ea typeface="Times New Roman"/>
                <a:cs typeface="Times New Roman"/>
              </a:defRPr>
            </a:lvl6pPr>
            <a:lvl7pPr algn="l">
              <a:defRPr sz="2325" b="1">
                <a:solidFill>
                  <a:srgbClr val="15253A"/>
                </a:solidFill>
                <a:latin typeface="Times New Roman"/>
                <a:ea typeface="Times New Roman"/>
                <a:cs typeface="Times New Roman"/>
              </a:defRPr>
            </a:lvl7pPr>
            <a:lvl8pPr algn="l">
              <a:defRPr sz="2325" b="1">
                <a:solidFill>
                  <a:srgbClr val="15253A"/>
                </a:solidFill>
                <a:latin typeface="Times New Roman"/>
                <a:ea typeface="Times New Roman"/>
                <a:cs typeface="Times New Roman"/>
              </a:defRPr>
            </a:lvl8pPr>
            <a:lvl9pPr algn="l">
              <a:defRPr sz="2325" b="1">
                <a:solidFill>
                  <a:srgbClr val="15253A"/>
                </a:solidFill>
                <a:latin typeface="Times New Roman"/>
                <a:ea typeface="Times New Roman"/>
                <a:cs typeface="Times New Roman"/>
              </a:defRPr>
            </a:lvl9pPr>
          </a:lstStyle>
          <a:p xmlns:a="http://schemas.openxmlformats.org/drawingml/2006/main">
            <a:pPr algn="l">
              <a:defRPr sz="2325" b="1">
                <a:solidFill>
                  <a:srgbClr val="15253A"/>
                </a:solidFill>
                <a:latin typeface="Times New Roman"/>
                <a:ea typeface="Times New Roman"/>
                <a:cs typeface="Times New Roman"/>
              </a:defRPr>
            </a:pPr>
            <a:r>
              <a:rPr sz="2325" b="1">
                <a:solidFill>
                  <a:srgbClr val="15253A"/>
                </a:solidFill>
                <a:latin typeface="Times New Roman"/>
                <a:ea typeface="Times New Roman"/>
                <a:cs typeface="Times New Roman"/>
              </a:rPr>
              <a:t>3  ¿Qué demuestra el reporte “mejoró un 100 %” y qué resultado no permite afirmar?</a:t>
            </a:r>
          </a:p>
        </p:txBody>
      </p:sp>
      <p:sp>
        <p:nvSpPr>
          <p:cNvPr id="6" name="text-107">
            <a:extLst xmlns:a="http://schemas.openxmlformats.org/drawingml/2006/main">
              <a:ext uri="{FF2B5EF4-FFF2-40B4-BE49-F238E27FC236}">
                <a16:creationId xmlns:a16="http://schemas.microsoft.com/office/drawing/2014/main" id="{7929E2AD-8146-4ABA-9731-C1A4D1246EAB}"/>
              </a:ext>
            </a:extLst>
          </p:cNvPr>
          <p:cNvSpPr>
            <a:spLocks xmlns:a="http://schemas.openxmlformats.org/drawingml/2006/main" noGrp="1"/>
          </p:cNvSpPr>
          <p:nvPr/>
        </p:nvSpPr>
        <p:spPr>
          <a:xfrm xmlns:a="http://schemas.openxmlformats.org/drawingml/2006/main">
            <a:off x="628650" y="5724525"/>
            <a:ext cx="10810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66575"/>
                </a:solidFill>
                <a:latin typeface="Times New Roman"/>
                <a:ea typeface="Times New Roman"/>
                <a:cs typeface="Times New Roman"/>
              </a:defRPr>
            </a:defPPr>
            <a:lvl1pPr algn="l">
              <a:defRPr sz="1800" b="0">
                <a:solidFill>
                  <a:srgbClr val="566575"/>
                </a:solidFill>
                <a:latin typeface="Times New Roman"/>
                <a:ea typeface="Times New Roman"/>
                <a:cs typeface="Times New Roman"/>
              </a:defRPr>
            </a:lvl1pPr>
            <a:lvl2pPr algn="l">
              <a:defRPr sz="1800" b="0">
                <a:solidFill>
                  <a:srgbClr val="566575"/>
                </a:solidFill>
                <a:latin typeface="Times New Roman"/>
                <a:ea typeface="Times New Roman"/>
                <a:cs typeface="Times New Roman"/>
              </a:defRPr>
            </a:lvl2pPr>
            <a:lvl3pPr algn="l">
              <a:defRPr sz="1800" b="0">
                <a:solidFill>
                  <a:srgbClr val="566575"/>
                </a:solidFill>
                <a:latin typeface="Times New Roman"/>
                <a:ea typeface="Times New Roman"/>
                <a:cs typeface="Times New Roman"/>
              </a:defRPr>
            </a:lvl3pPr>
            <a:lvl4pPr algn="l">
              <a:defRPr sz="1800" b="0">
                <a:solidFill>
                  <a:srgbClr val="566575"/>
                </a:solidFill>
                <a:latin typeface="Times New Roman"/>
                <a:ea typeface="Times New Roman"/>
                <a:cs typeface="Times New Roman"/>
              </a:defRPr>
            </a:lvl4pPr>
            <a:lvl5pPr algn="l">
              <a:defRPr sz="1800" b="0">
                <a:solidFill>
                  <a:srgbClr val="566575"/>
                </a:solidFill>
                <a:latin typeface="Times New Roman"/>
                <a:ea typeface="Times New Roman"/>
                <a:cs typeface="Times New Roman"/>
              </a:defRPr>
            </a:lvl5pPr>
            <a:lvl6pPr algn="l">
              <a:defRPr sz="1800" b="0">
                <a:solidFill>
                  <a:srgbClr val="566575"/>
                </a:solidFill>
                <a:latin typeface="Times New Roman"/>
                <a:ea typeface="Times New Roman"/>
                <a:cs typeface="Times New Roman"/>
              </a:defRPr>
            </a:lvl6pPr>
            <a:lvl7pPr algn="l">
              <a:defRPr sz="1800" b="0">
                <a:solidFill>
                  <a:srgbClr val="566575"/>
                </a:solidFill>
                <a:latin typeface="Times New Roman"/>
                <a:ea typeface="Times New Roman"/>
                <a:cs typeface="Times New Roman"/>
              </a:defRPr>
            </a:lvl7pPr>
            <a:lvl8pPr algn="l">
              <a:defRPr sz="1800" b="0">
                <a:solidFill>
                  <a:srgbClr val="566575"/>
                </a:solidFill>
                <a:latin typeface="Times New Roman"/>
                <a:ea typeface="Times New Roman"/>
                <a:cs typeface="Times New Roman"/>
              </a:defRPr>
            </a:lvl8pPr>
            <a:lvl9pPr algn="l">
              <a:defRPr sz="1800" b="0">
                <a:solidFill>
                  <a:srgbClr val="566575"/>
                </a:solidFill>
                <a:latin typeface="Times New Roman"/>
                <a:ea typeface="Times New Roman"/>
                <a:cs typeface="Times New Roman"/>
              </a:defRPr>
            </a:lvl9pPr>
          </a:lstStyle>
          <a:p xmlns:a="http://schemas.openxmlformats.org/drawingml/2006/main">
            <a:pPr algn="l">
              <a:defRPr sz="1800" b="0">
                <a:solidFill>
                  <a:srgbClr val="566575"/>
                </a:solidFill>
                <a:latin typeface="Times New Roman"/>
                <a:ea typeface="Times New Roman"/>
                <a:cs typeface="Times New Roman"/>
              </a:defRPr>
            </a:pPr>
            <a:r>
              <a:rPr sz="1800" b="0">
                <a:solidFill>
                  <a:srgbClr val="566575"/>
                </a:solidFill>
                <a:latin typeface="Times New Roman"/>
                <a:ea typeface="Times New Roman"/>
                <a:cs typeface="Times New Roman"/>
              </a:rPr>
              <a:t>Respuestas razonadas en las notas del expositor.</a:t>
            </a:r>
          </a:p>
        </p:txBody>
      </p:sp>
    </p:spTree>
    <p:extLst>
      <p:ext uri="{BB962C8B-B14F-4D97-AF65-F5344CB8AC3E}">
        <p14:creationId xmlns:p14="http://schemas.microsoft.com/office/powerpoint/2010/main" val="18400092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6">
            <a:extLst xmlns:a="http://schemas.openxmlformats.org/drawingml/2006/main">
              <a:ext uri="{FF2B5EF4-FFF2-40B4-BE49-F238E27FC236}">
                <a16:creationId xmlns:a16="http://schemas.microsoft.com/office/drawing/2014/main" id="{E15E7858-26E4-4D5F-A607-C97151800D0D}"/>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Referencias</a:t>
            </a:r>
          </a:p>
        </p:txBody>
      </p:sp>
      <p:sp>
        <p:nvSpPr>
          <p:cNvPr id="2" name="text-117">
            <a:extLst xmlns:a="http://schemas.openxmlformats.org/drawingml/2006/main">
              <a:ext uri="{FF2B5EF4-FFF2-40B4-BE49-F238E27FC236}">
                <a16:creationId xmlns:a16="http://schemas.microsoft.com/office/drawing/2014/main" id="{F3863C39-9004-4516-8FC5-B9735FE48CFA}"/>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Vancouver con enlaces · 1 de 2</a:t>
            </a:r>
          </a:p>
        </p:txBody>
      </p:sp>
      <p:sp>
        <p:nvSpPr>
          <p:cNvPr id="3" name="text-118">
            <a:extLst xmlns:a="http://schemas.openxmlformats.org/drawingml/2006/main">
              <a:ext uri="{FF2B5EF4-FFF2-40B4-BE49-F238E27FC236}">
                <a16:creationId xmlns:a16="http://schemas.microsoft.com/office/drawing/2014/main" id="{60BCB4A2-C9D0-46D2-842E-B2A9992C5FCB}"/>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16</a:t>
            </a:r>
          </a:p>
        </p:txBody>
      </p:sp>
      <p:sp>
        <p:nvSpPr>
          <p:cNvPr id="4" name="text-119">
            <a:extLst xmlns:a="http://schemas.openxmlformats.org/drawingml/2006/main">
              <a:ext uri="{FF2B5EF4-FFF2-40B4-BE49-F238E27FC236}">
                <a16:creationId xmlns:a16="http://schemas.microsoft.com/office/drawing/2014/main" id="{547B2915-8904-494E-BE71-590F5A291034}"/>
              </a:ext>
            </a:extLst>
          </p:cNvPr>
          <p:cNvSpPr>
            <a:spLocks xmlns:a="http://schemas.openxmlformats.org/drawingml/2006/main" noGrp="1"/>
          </p:cNvSpPr>
          <p:nvPr/>
        </p:nvSpPr>
        <p:spPr>
          <a:xfrm xmlns:a="http://schemas.openxmlformats.org/drawingml/2006/main">
            <a:off x="628650" y="1695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1. Cornell University. Iron panels. eClinpath.</a:t>
            </a:r>
          </a:p>
        </p:txBody>
      </p:sp>
      <p:sp>
        <p:nvSpPr>
          <p:cNvPr id="5" name="text-120">
            <a:extLst xmlns:a="http://schemas.openxmlformats.org/drawingml/2006/main">
              <a:ext uri="{FF2B5EF4-FFF2-40B4-BE49-F238E27FC236}">
                <a16:creationId xmlns:a16="http://schemas.microsoft.com/office/drawing/2014/main" id="{575D6C86-712D-49B4-BC82-1A22AA6D246B}"/>
              </a:ext>
            </a:extLst>
          </p:cNvPr>
          <p:cNvSpPr>
            <a:spLocks xmlns:a="http://schemas.openxmlformats.org/drawingml/2006/main" noGrp="1"/>
          </p:cNvSpPr>
          <p:nvPr/>
        </p:nvSpPr>
        <p:spPr>
          <a:xfrm xmlns:a="http://schemas.openxmlformats.org/drawingml/2006/main">
            <a:off x="628650" y="2076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49c7dc7635c74265"/>
              </a:rPr>
              <a:t>https://eclinpath.com/chemistry/iron-metabolism/iron-panel-summary/</a:t>
            </a:r>
          </a:p>
        </p:txBody>
      </p:sp>
      <p:sp>
        <p:nvSpPr>
          <p:cNvPr id="6" name="text-121">
            <a:extLst xmlns:a="http://schemas.openxmlformats.org/drawingml/2006/main">
              <a:ext uri="{FF2B5EF4-FFF2-40B4-BE49-F238E27FC236}">
                <a16:creationId xmlns:a16="http://schemas.microsoft.com/office/drawing/2014/main" id="{0A31A201-8650-40B5-989A-DA0DF2D5B4DD}"/>
              </a:ext>
            </a:extLst>
          </p:cNvPr>
          <p:cNvSpPr>
            <a:spLocks xmlns:a="http://schemas.openxmlformats.org/drawingml/2006/main" noGrp="1"/>
          </p:cNvSpPr>
          <p:nvPr/>
        </p:nvSpPr>
        <p:spPr>
          <a:xfrm xmlns:a="http://schemas.openxmlformats.org/drawingml/2006/main">
            <a:off x="628650" y="2457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2. Jessen LR, et al. ENOVAT guidelines for canine acute diarrhoea. Vet J. 2024;307:106208.</a:t>
            </a:r>
          </a:p>
        </p:txBody>
      </p:sp>
      <p:sp>
        <p:nvSpPr>
          <p:cNvPr id="7" name="text-122">
            <a:extLst xmlns:a="http://schemas.openxmlformats.org/drawingml/2006/main">
              <a:ext uri="{FF2B5EF4-FFF2-40B4-BE49-F238E27FC236}">
                <a16:creationId xmlns:a16="http://schemas.microsoft.com/office/drawing/2014/main" id="{A31974BC-6C38-49A8-8EA9-30538F1240FA}"/>
              </a:ext>
            </a:extLst>
          </p:cNvPr>
          <p:cNvSpPr>
            <a:spLocks xmlns:a="http://schemas.openxmlformats.org/drawingml/2006/main" noGrp="1"/>
          </p:cNvSpPr>
          <p:nvPr/>
        </p:nvSpPr>
        <p:spPr>
          <a:xfrm xmlns:a="http://schemas.openxmlformats.org/drawingml/2006/main">
            <a:off x="628650" y="2838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6fbd6441618d465e"/>
              </a:rPr>
              <a:t>https://doi.org/10.1016/j.tvjl.2024.106208</a:t>
            </a:r>
          </a:p>
        </p:txBody>
      </p:sp>
      <p:sp>
        <p:nvSpPr>
          <p:cNvPr id="8" name="text-123">
            <a:extLst xmlns:a="http://schemas.openxmlformats.org/drawingml/2006/main">
              <a:ext uri="{FF2B5EF4-FFF2-40B4-BE49-F238E27FC236}">
                <a16:creationId xmlns:a16="http://schemas.microsoft.com/office/drawing/2014/main" id="{EF1FA1CA-169F-4B75-A785-59603B286AB6}"/>
              </a:ext>
            </a:extLst>
          </p:cNvPr>
          <p:cNvSpPr>
            <a:spLocks xmlns:a="http://schemas.openxmlformats.org/drawingml/2006/main" noGrp="1"/>
          </p:cNvSpPr>
          <p:nvPr/>
        </p:nvSpPr>
        <p:spPr>
          <a:xfrm xmlns:a="http://schemas.openxmlformats.org/drawingml/2006/main">
            <a:off x="628650" y="3219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3. Weese JS, et al. ISCAID urinary tract infection guidelines. Vet J. 2019;247:8–25.</a:t>
            </a:r>
          </a:p>
        </p:txBody>
      </p:sp>
      <p:sp>
        <p:nvSpPr>
          <p:cNvPr id="9" name="text-124">
            <a:extLst xmlns:a="http://schemas.openxmlformats.org/drawingml/2006/main">
              <a:ext uri="{FF2B5EF4-FFF2-40B4-BE49-F238E27FC236}">
                <a16:creationId xmlns:a16="http://schemas.microsoft.com/office/drawing/2014/main" id="{496C2016-67D8-48D3-A70C-74E61FAF6816}"/>
              </a:ext>
            </a:extLst>
          </p:cNvPr>
          <p:cNvSpPr>
            <a:spLocks xmlns:a="http://schemas.openxmlformats.org/drawingml/2006/main" noGrp="1"/>
          </p:cNvSpPr>
          <p:nvPr/>
        </p:nvSpPr>
        <p:spPr>
          <a:xfrm xmlns:a="http://schemas.openxmlformats.org/drawingml/2006/main">
            <a:off x="628650" y="3600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fa57957775064722"/>
              </a:rPr>
              <a:t>https://doi.org/10.1016/j.tvjl.2019.02.008</a:t>
            </a:r>
          </a:p>
        </p:txBody>
      </p:sp>
      <p:sp>
        <p:nvSpPr>
          <p:cNvPr id="10" name="text-125">
            <a:extLst xmlns:a="http://schemas.openxmlformats.org/drawingml/2006/main">
              <a:ext uri="{FF2B5EF4-FFF2-40B4-BE49-F238E27FC236}">
                <a16:creationId xmlns:a16="http://schemas.microsoft.com/office/drawing/2014/main" id="{FF6B9BE1-42A2-4F79-9E35-1803FC00D2DE}"/>
              </a:ext>
            </a:extLst>
          </p:cNvPr>
          <p:cNvSpPr>
            <a:spLocks xmlns:a="http://schemas.openxmlformats.org/drawingml/2006/main" noGrp="1"/>
          </p:cNvSpPr>
          <p:nvPr/>
        </p:nvSpPr>
        <p:spPr>
          <a:xfrm xmlns:a="http://schemas.openxmlformats.org/drawingml/2006/main">
            <a:off x="628650" y="3981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4. Plumb DC. Plumb’s veterinary drug handbook. 6th ed. PharmaVet; 2008.</a:t>
            </a:r>
          </a:p>
        </p:txBody>
      </p:sp>
      <p:sp>
        <p:nvSpPr>
          <p:cNvPr id="11" name="text-126">
            <a:extLst xmlns:a="http://schemas.openxmlformats.org/drawingml/2006/main">
              <a:ext uri="{FF2B5EF4-FFF2-40B4-BE49-F238E27FC236}">
                <a16:creationId xmlns:a16="http://schemas.microsoft.com/office/drawing/2014/main" id="{7FB75EE1-75A1-4DBD-9C0E-4FF540835087}"/>
              </a:ext>
            </a:extLst>
          </p:cNvPr>
          <p:cNvSpPr>
            <a:spLocks xmlns:a="http://schemas.openxmlformats.org/drawingml/2006/main" noGrp="1"/>
          </p:cNvSpPr>
          <p:nvPr/>
        </p:nvSpPr>
        <p:spPr>
          <a:xfrm xmlns:a="http://schemas.openxmlformats.org/drawingml/2006/main">
            <a:off x="628650" y="4362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4574d04493de4821"/>
              </a:rPr>
              <a:t>https://search.worldcat.org/es/title/Plumb%27s-veterinary-drug-handbook/oclc/440588470</a:t>
            </a:r>
          </a:p>
        </p:txBody>
      </p:sp>
      <p:sp>
        <p:nvSpPr>
          <p:cNvPr id="12" name="text-127">
            <a:extLst xmlns:a="http://schemas.openxmlformats.org/drawingml/2006/main">
              <a:ext uri="{FF2B5EF4-FFF2-40B4-BE49-F238E27FC236}">
                <a16:creationId xmlns:a16="http://schemas.microsoft.com/office/drawing/2014/main" id="{D5B74E6B-95EA-4C73-BD08-B352FB784369}"/>
              </a:ext>
            </a:extLst>
          </p:cNvPr>
          <p:cNvSpPr>
            <a:spLocks xmlns:a="http://schemas.openxmlformats.org/drawingml/2006/main" noGrp="1"/>
          </p:cNvSpPr>
          <p:nvPr/>
        </p:nvSpPr>
        <p:spPr>
          <a:xfrm xmlns:a="http://schemas.openxmlformats.org/drawingml/2006/main">
            <a:off x="628650" y="4743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5. Farbiopharma. Bactrivet Farbiovet. Ficha técnica de suspensión oral.</a:t>
            </a:r>
          </a:p>
        </p:txBody>
      </p:sp>
      <p:sp>
        <p:nvSpPr>
          <p:cNvPr id="13" name="text-128">
            <a:extLst xmlns:a="http://schemas.openxmlformats.org/drawingml/2006/main">
              <a:ext uri="{FF2B5EF4-FFF2-40B4-BE49-F238E27FC236}">
                <a16:creationId xmlns:a16="http://schemas.microsoft.com/office/drawing/2014/main" id="{7E5DD49E-82EE-4510-8E2A-37283BBF82B4}"/>
              </a:ext>
            </a:extLst>
          </p:cNvPr>
          <p:cNvSpPr>
            <a:spLocks xmlns:a="http://schemas.openxmlformats.org/drawingml/2006/main" noGrp="1"/>
          </p:cNvSpPr>
          <p:nvPr/>
        </p:nvSpPr>
        <p:spPr>
          <a:xfrm xmlns:a="http://schemas.openxmlformats.org/drawingml/2006/main">
            <a:off x="628650" y="5124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390e2b901a1e47b0"/>
              </a:rPr>
              <a:t>https://farbiopharma.com/wp-content/uploads/2023/01/F.T.-BACTRIVET-FARBIOVET-V0..pdf</a:t>
            </a:r>
          </a:p>
        </p:txBody>
      </p:sp>
      <p:sp>
        <p:nvSpPr>
          <p:cNvPr id="14" name="text-129">
            <a:extLst xmlns:a="http://schemas.openxmlformats.org/drawingml/2006/main">
              <a:ext uri="{FF2B5EF4-FFF2-40B4-BE49-F238E27FC236}">
                <a16:creationId xmlns:a16="http://schemas.microsoft.com/office/drawing/2014/main" id="{BD5E3946-55EB-43DE-9993-1418113D1141}"/>
              </a:ext>
            </a:extLst>
          </p:cNvPr>
          <p:cNvSpPr>
            <a:spLocks xmlns:a="http://schemas.openxmlformats.org/drawingml/2006/main" noGrp="1"/>
          </p:cNvSpPr>
          <p:nvPr/>
        </p:nvSpPr>
        <p:spPr>
          <a:xfrm xmlns:a="http://schemas.openxmlformats.org/drawingml/2006/main">
            <a:off x="628650" y="5505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6. Aranda Pets. Amibac metronidazol tabletas. Experiencia Veterinaria.</a:t>
            </a:r>
          </a:p>
        </p:txBody>
      </p:sp>
      <p:sp>
        <p:nvSpPr>
          <p:cNvPr id="15" name="text-130">
            <a:extLst xmlns:a="http://schemas.openxmlformats.org/drawingml/2006/main">
              <a:ext uri="{FF2B5EF4-FFF2-40B4-BE49-F238E27FC236}">
                <a16:creationId xmlns:a16="http://schemas.microsoft.com/office/drawing/2014/main" id="{8B028520-03A5-4A0B-B6D6-7208235E9BF8}"/>
              </a:ext>
            </a:extLst>
          </p:cNvPr>
          <p:cNvSpPr>
            <a:spLocks xmlns:a="http://schemas.openxmlformats.org/drawingml/2006/main" noGrp="1"/>
          </p:cNvSpPr>
          <p:nvPr/>
        </p:nvSpPr>
        <p:spPr>
          <a:xfrm xmlns:a="http://schemas.openxmlformats.org/drawingml/2006/main">
            <a:off x="628650" y="5886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0943a2906b554727"/>
              </a:rPr>
              <a:t>https://www.experiencia.vet/Detail?id=4</a:t>
            </a:r>
          </a:p>
        </p:txBody>
      </p:sp>
    </p:spTree>
    <p:extLst>
      <p:ext uri="{BB962C8B-B14F-4D97-AF65-F5344CB8AC3E}">
        <p14:creationId xmlns:p14="http://schemas.microsoft.com/office/powerpoint/2010/main" val="146814090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31">
            <a:extLst xmlns:a="http://schemas.openxmlformats.org/drawingml/2006/main">
              <a:ext uri="{FF2B5EF4-FFF2-40B4-BE49-F238E27FC236}">
                <a16:creationId xmlns:a16="http://schemas.microsoft.com/office/drawing/2014/main" id="{3E4116B5-4F1B-4B0F-A481-F2CDA491636B}"/>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73A5E"/>
                </a:solidFill>
                <a:latin typeface="Times New Roman"/>
                <a:ea typeface="Times New Roman"/>
                <a:cs typeface="Times New Roman"/>
              </a:defRPr>
            </a:defPPr>
            <a:lvl1pPr algn="l">
              <a:defRPr sz="3225" b="1">
                <a:solidFill>
                  <a:srgbClr val="173A5E"/>
                </a:solidFill>
                <a:latin typeface="Times New Roman"/>
                <a:ea typeface="Times New Roman"/>
                <a:cs typeface="Times New Roman"/>
              </a:defRPr>
            </a:lvl1pPr>
            <a:lvl2pPr algn="l">
              <a:defRPr sz="3225" b="1">
                <a:solidFill>
                  <a:srgbClr val="173A5E"/>
                </a:solidFill>
                <a:latin typeface="Times New Roman"/>
                <a:ea typeface="Times New Roman"/>
                <a:cs typeface="Times New Roman"/>
              </a:defRPr>
            </a:lvl2pPr>
            <a:lvl3pPr algn="l">
              <a:defRPr sz="3225" b="1">
                <a:solidFill>
                  <a:srgbClr val="173A5E"/>
                </a:solidFill>
                <a:latin typeface="Times New Roman"/>
                <a:ea typeface="Times New Roman"/>
                <a:cs typeface="Times New Roman"/>
              </a:defRPr>
            </a:lvl3pPr>
            <a:lvl4pPr algn="l">
              <a:defRPr sz="3225" b="1">
                <a:solidFill>
                  <a:srgbClr val="173A5E"/>
                </a:solidFill>
                <a:latin typeface="Times New Roman"/>
                <a:ea typeface="Times New Roman"/>
                <a:cs typeface="Times New Roman"/>
              </a:defRPr>
            </a:lvl4pPr>
            <a:lvl5pPr algn="l">
              <a:defRPr sz="3225" b="1">
                <a:solidFill>
                  <a:srgbClr val="173A5E"/>
                </a:solidFill>
                <a:latin typeface="Times New Roman"/>
                <a:ea typeface="Times New Roman"/>
                <a:cs typeface="Times New Roman"/>
              </a:defRPr>
            </a:lvl5pPr>
            <a:lvl6pPr algn="l">
              <a:defRPr sz="3225" b="1">
                <a:solidFill>
                  <a:srgbClr val="173A5E"/>
                </a:solidFill>
                <a:latin typeface="Times New Roman"/>
                <a:ea typeface="Times New Roman"/>
                <a:cs typeface="Times New Roman"/>
              </a:defRPr>
            </a:lvl6pPr>
            <a:lvl7pPr algn="l">
              <a:defRPr sz="3225" b="1">
                <a:solidFill>
                  <a:srgbClr val="173A5E"/>
                </a:solidFill>
                <a:latin typeface="Times New Roman"/>
                <a:ea typeface="Times New Roman"/>
                <a:cs typeface="Times New Roman"/>
              </a:defRPr>
            </a:lvl7pPr>
            <a:lvl8pPr algn="l">
              <a:defRPr sz="3225" b="1">
                <a:solidFill>
                  <a:srgbClr val="173A5E"/>
                </a:solidFill>
                <a:latin typeface="Times New Roman"/>
                <a:ea typeface="Times New Roman"/>
                <a:cs typeface="Times New Roman"/>
              </a:defRPr>
            </a:lvl8pPr>
            <a:lvl9pPr algn="l">
              <a:defRPr sz="3225" b="1">
                <a:solidFill>
                  <a:srgbClr val="173A5E"/>
                </a:solidFill>
                <a:latin typeface="Times New Roman"/>
                <a:ea typeface="Times New Roman"/>
                <a:cs typeface="Times New Roman"/>
              </a:defRPr>
            </a:lvl9pPr>
          </a:lstStyle>
          <a:p xmlns:a="http://schemas.openxmlformats.org/drawingml/2006/main">
            <a:pPr algn="l">
              <a:defRPr sz="3225" b="1">
                <a:solidFill>
                  <a:srgbClr val="173A5E"/>
                </a:solidFill>
                <a:latin typeface="Times New Roman"/>
                <a:ea typeface="Times New Roman"/>
                <a:cs typeface="Times New Roman"/>
              </a:defRPr>
            </a:pPr>
            <a:r>
              <a:rPr sz="3225" b="1">
                <a:solidFill>
                  <a:srgbClr val="173A5E"/>
                </a:solidFill>
                <a:latin typeface="Times New Roman"/>
                <a:ea typeface="Times New Roman"/>
                <a:cs typeface="Times New Roman"/>
              </a:rPr>
              <a:t>Referencias</a:t>
            </a:r>
          </a:p>
        </p:txBody>
      </p:sp>
      <p:sp>
        <p:nvSpPr>
          <p:cNvPr id="2" name="text-132">
            <a:extLst xmlns:a="http://schemas.openxmlformats.org/drawingml/2006/main">
              <a:ext uri="{FF2B5EF4-FFF2-40B4-BE49-F238E27FC236}">
                <a16:creationId xmlns:a16="http://schemas.microsoft.com/office/drawing/2014/main" id="{A1C29DA3-2AD1-4101-8C51-B8FBE1ED774F}"/>
              </a:ext>
            </a:extLst>
          </p:cNvPr>
          <p:cNvSpPr>
            <a:spLocks xmlns:a="http://schemas.openxmlformats.org/drawingml/2006/main" noGrp="1"/>
          </p:cNvSpPr>
          <p:nvPr/>
        </p:nvSpPr>
        <p:spPr>
          <a:xfrm xmlns:a="http://schemas.openxmlformats.org/drawingml/2006/main">
            <a:off x="628650" y="1104900"/>
            <a:ext cx="10896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66575"/>
                </a:solidFill>
                <a:latin typeface="Times New Roman"/>
                <a:ea typeface="Times New Roman"/>
                <a:cs typeface="Times New Roman"/>
              </a:defRPr>
            </a:defPPr>
            <a:lvl1pPr algn="l">
              <a:defRPr sz="1725" b="0">
                <a:solidFill>
                  <a:srgbClr val="566575"/>
                </a:solidFill>
                <a:latin typeface="Times New Roman"/>
                <a:ea typeface="Times New Roman"/>
                <a:cs typeface="Times New Roman"/>
              </a:defRPr>
            </a:lvl1pPr>
            <a:lvl2pPr algn="l">
              <a:defRPr sz="1725" b="0">
                <a:solidFill>
                  <a:srgbClr val="566575"/>
                </a:solidFill>
                <a:latin typeface="Times New Roman"/>
                <a:ea typeface="Times New Roman"/>
                <a:cs typeface="Times New Roman"/>
              </a:defRPr>
            </a:lvl2pPr>
            <a:lvl3pPr algn="l">
              <a:defRPr sz="1725" b="0">
                <a:solidFill>
                  <a:srgbClr val="566575"/>
                </a:solidFill>
                <a:latin typeface="Times New Roman"/>
                <a:ea typeface="Times New Roman"/>
                <a:cs typeface="Times New Roman"/>
              </a:defRPr>
            </a:lvl3pPr>
            <a:lvl4pPr algn="l">
              <a:defRPr sz="1725" b="0">
                <a:solidFill>
                  <a:srgbClr val="566575"/>
                </a:solidFill>
                <a:latin typeface="Times New Roman"/>
                <a:ea typeface="Times New Roman"/>
                <a:cs typeface="Times New Roman"/>
              </a:defRPr>
            </a:lvl4pPr>
            <a:lvl5pPr algn="l">
              <a:defRPr sz="1725" b="0">
                <a:solidFill>
                  <a:srgbClr val="566575"/>
                </a:solidFill>
                <a:latin typeface="Times New Roman"/>
                <a:ea typeface="Times New Roman"/>
                <a:cs typeface="Times New Roman"/>
              </a:defRPr>
            </a:lvl5pPr>
            <a:lvl6pPr algn="l">
              <a:defRPr sz="1725" b="0">
                <a:solidFill>
                  <a:srgbClr val="566575"/>
                </a:solidFill>
                <a:latin typeface="Times New Roman"/>
                <a:ea typeface="Times New Roman"/>
                <a:cs typeface="Times New Roman"/>
              </a:defRPr>
            </a:lvl6pPr>
            <a:lvl7pPr algn="l">
              <a:defRPr sz="1725" b="0">
                <a:solidFill>
                  <a:srgbClr val="566575"/>
                </a:solidFill>
                <a:latin typeface="Times New Roman"/>
                <a:ea typeface="Times New Roman"/>
                <a:cs typeface="Times New Roman"/>
              </a:defRPr>
            </a:lvl7pPr>
            <a:lvl8pPr algn="l">
              <a:defRPr sz="1725" b="0">
                <a:solidFill>
                  <a:srgbClr val="566575"/>
                </a:solidFill>
                <a:latin typeface="Times New Roman"/>
                <a:ea typeface="Times New Roman"/>
                <a:cs typeface="Times New Roman"/>
              </a:defRPr>
            </a:lvl8pPr>
            <a:lvl9pPr algn="l">
              <a:defRPr sz="1725" b="0">
                <a:solidFill>
                  <a:srgbClr val="566575"/>
                </a:solidFill>
                <a:latin typeface="Times New Roman"/>
                <a:ea typeface="Times New Roman"/>
                <a:cs typeface="Times New Roman"/>
              </a:defRPr>
            </a:lvl9pPr>
          </a:lstStyle>
          <a:p xmlns:a="http://schemas.openxmlformats.org/drawingml/2006/main">
            <a:pPr algn="l">
              <a:defRPr sz="1725" b="0">
                <a:solidFill>
                  <a:srgbClr val="566575"/>
                </a:solidFill>
                <a:latin typeface="Times New Roman"/>
                <a:ea typeface="Times New Roman"/>
                <a:cs typeface="Times New Roman"/>
              </a:defRPr>
            </a:pPr>
            <a:r>
              <a:rPr sz="1725" b="0">
                <a:solidFill>
                  <a:srgbClr val="566575"/>
                </a:solidFill>
                <a:latin typeface="Times New Roman"/>
                <a:ea typeface="Times New Roman"/>
                <a:cs typeface="Times New Roman"/>
              </a:rPr>
              <a:t>Vancouver con enlaces · 2 de 2</a:t>
            </a:r>
          </a:p>
        </p:txBody>
      </p:sp>
      <p:sp>
        <p:nvSpPr>
          <p:cNvPr id="3" name="text-133">
            <a:extLst xmlns:a="http://schemas.openxmlformats.org/drawingml/2006/main">
              <a:ext uri="{FF2B5EF4-FFF2-40B4-BE49-F238E27FC236}">
                <a16:creationId xmlns:a16="http://schemas.microsoft.com/office/drawing/2014/main" id="{3D623206-AF73-435F-B54E-22F87E428C15}"/>
              </a:ext>
            </a:extLst>
          </p:cNvPr>
          <p:cNvSpPr>
            <a:spLocks xmlns:a="http://schemas.openxmlformats.org/drawingml/2006/main" noGrp="1"/>
          </p:cNvSpPr>
          <p:nvPr/>
        </p:nvSpPr>
        <p:spPr>
          <a:xfrm xmlns:a="http://schemas.openxmlformats.org/drawingml/2006/main">
            <a:off x="11191875" y="63341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66575"/>
                </a:solidFill>
                <a:latin typeface="Times New Roman"/>
                <a:ea typeface="Times New Roman"/>
                <a:cs typeface="Times New Roman"/>
              </a:defRPr>
            </a:defPPr>
            <a:lvl1pPr algn="r">
              <a:defRPr sz="1200" b="0">
                <a:solidFill>
                  <a:srgbClr val="566575"/>
                </a:solidFill>
                <a:latin typeface="Times New Roman"/>
                <a:ea typeface="Times New Roman"/>
                <a:cs typeface="Times New Roman"/>
              </a:defRPr>
            </a:lvl1pPr>
            <a:lvl2pPr algn="r">
              <a:defRPr sz="1200" b="0">
                <a:solidFill>
                  <a:srgbClr val="566575"/>
                </a:solidFill>
                <a:latin typeface="Times New Roman"/>
                <a:ea typeface="Times New Roman"/>
                <a:cs typeface="Times New Roman"/>
              </a:defRPr>
            </a:lvl2pPr>
            <a:lvl3pPr algn="r">
              <a:defRPr sz="1200" b="0">
                <a:solidFill>
                  <a:srgbClr val="566575"/>
                </a:solidFill>
                <a:latin typeface="Times New Roman"/>
                <a:ea typeface="Times New Roman"/>
                <a:cs typeface="Times New Roman"/>
              </a:defRPr>
            </a:lvl3pPr>
            <a:lvl4pPr algn="r">
              <a:defRPr sz="1200" b="0">
                <a:solidFill>
                  <a:srgbClr val="566575"/>
                </a:solidFill>
                <a:latin typeface="Times New Roman"/>
                <a:ea typeface="Times New Roman"/>
                <a:cs typeface="Times New Roman"/>
              </a:defRPr>
            </a:lvl4pPr>
            <a:lvl5pPr algn="r">
              <a:defRPr sz="1200" b="0">
                <a:solidFill>
                  <a:srgbClr val="566575"/>
                </a:solidFill>
                <a:latin typeface="Times New Roman"/>
                <a:ea typeface="Times New Roman"/>
                <a:cs typeface="Times New Roman"/>
              </a:defRPr>
            </a:lvl5pPr>
            <a:lvl6pPr algn="r">
              <a:defRPr sz="1200" b="0">
                <a:solidFill>
                  <a:srgbClr val="566575"/>
                </a:solidFill>
                <a:latin typeface="Times New Roman"/>
                <a:ea typeface="Times New Roman"/>
                <a:cs typeface="Times New Roman"/>
              </a:defRPr>
            </a:lvl6pPr>
            <a:lvl7pPr algn="r">
              <a:defRPr sz="1200" b="0">
                <a:solidFill>
                  <a:srgbClr val="566575"/>
                </a:solidFill>
                <a:latin typeface="Times New Roman"/>
                <a:ea typeface="Times New Roman"/>
                <a:cs typeface="Times New Roman"/>
              </a:defRPr>
            </a:lvl7pPr>
            <a:lvl8pPr algn="r">
              <a:defRPr sz="1200" b="0">
                <a:solidFill>
                  <a:srgbClr val="566575"/>
                </a:solidFill>
                <a:latin typeface="Times New Roman"/>
                <a:ea typeface="Times New Roman"/>
                <a:cs typeface="Times New Roman"/>
              </a:defRPr>
            </a:lvl8pPr>
            <a:lvl9pPr algn="r">
              <a:defRPr sz="1200" b="0">
                <a:solidFill>
                  <a:srgbClr val="566575"/>
                </a:solidFill>
                <a:latin typeface="Times New Roman"/>
                <a:ea typeface="Times New Roman"/>
                <a:cs typeface="Times New Roman"/>
              </a:defRPr>
            </a:lvl9pPr>
          </a:lstStyle>
          <a:p xmlns:a="http://schemas.openxmlformats.org/drawingml/2006/main">
            <a:pPr algn="r">
              <a:defRPr sz="1200" b="0">
                <a:solidFill>
                  <a:srgbClr val="566575"/>
                </a:solidFill>
                <a:latin typeface="Times New Roman"/>
                <a:ea typeface="Times New Roman"/>
                <a:cs typeface="Times New Roman"/>
              </a:defRPr>
            </a:pPr>
            <a:r>
              <a:rPr sz="1200" b="0">
                <a:solidFill>
                  <a:srgbClr val="566575"/>
                </a:solidFill>
                <a:latin typeface="Times New Roman"/>
                <a:ea typeface="Times New Roman"/>
                <a:cs typeface="Times New Roman"/>
              </a:rPr>
              <a:t>17</a:t>
            </a:r>
          </a:p>
        </p:txBody>
      </p:sp>
      <p:sp>
        <p:nvSpPr>
          <p:cNvPr id="4" name="text-134">
            <a:extLst xmlns:a="http://schemas.openxmlformats.org/drawingml/2006/main">
              <a:ext uri="{FF2B5EF4-FFF2-40B4-BE49-F238E27FC236}">
                <a16:creationId xmlns:a16="http://schemas.microsoft.com/office/drawing/2014/main" id="{A463A195-B080-4396-B543-07A721F4A211}"/>
              </a:ext>
            </a:extLst>
          </p:cNvPr>
          <p:cNvSpPr>
            <a:spLocks xmlns:a="http://schemas.openxmlformats.org/drawingml/2006/main" noGrp="1"/>
          </p:cNvSpPr>
          <p:nvPr/>
        </p:nvSpPr>
        <p:spPr>
          <a:xfrm xmlns:a="http://schemas.openxmlformats.org/drawingml/2006/main">
            <a:off x="628650" y="1695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7. Tauro A, et al. Metronidazole-induced neurotoxicity in 26 dogs. Aust Vet J. 2018;96:495–501.</a:t>
            </a:r>
          </a:p>
        </p:txBody>
      </p:sp>
      <p:sp>
        <p:nvSpPr>
          <p:cNvPr id="5" name="text-135">
            <a:extLst xmlns:a="http://schemas.openxmlformats.org/drawingml/2006/main">
              <a:ext uri="{FF2B5EF4-FFF2-40B4-BE49-F238E27FC236}">
                <a16:creationId xmlns:a16="http://schemas.microsoft.com/office/drawing/2014/main" id="{C14D3354-3FF1-44CA-B3CC-0589E29D38BE}"/>
              </a:ext>
            </a:extLst>
          </p:cNvPr>
          <p:cNvSpPr>
            <a:spLocks xmlns:a="http://schemas.openxmlformats.org/drawingml/2006/main" noGrp="1"/>
          </p:cNvSpPr>
          <p:nvPr/>
        </p:nvSpPr>
        <p:spPr>
          <a:xfrm xmlns:a="http://schemas.openxmlformats.org/drawingml/2006/main">
            <a:off x="628650" y="2076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1ef5a0660942443a"/>
              </a:rPr>
              <a:t>https://doi.org/10.1111/avj.12772</a:t>
            </a:r>
          </a:p>
        </p:txBody>
      </p:sp>
      <p:sp>
        <p:nvSpPr>
          <p:cNvPr id="6" name="text-136">
            <a:extLst xmlns:a="http://schemas.openxmlformats.org/drawingml/2006/main">
              <a:ext uri="{FF2B5EF4-FFF2-40B4-BE49-F238E27FC236}">
                <a16:creationId xmlns:a16="http://schemas.microsoft.com/office/drawing/2014/main" id="{BC69F326-F551-47EA-8C22-D2B40FC4F0D5}"/>
              </a:ext>
            </a:extLst>
          </p:cNvPr>
          <p:cNvSpPr>
            <a:spLocks xmlns:a="http://schemas.openxmlformats.org/drawingml/2006/main" noGrp="1"/>
          </p:cNvSpPr>
          <p:nvPr/>
        </p:nvSpPr>
        <p:spPr>
          <a:xfrm xmlns:a="http://schemas.openxmlformats.org/drawingml/2006/main">
            <a:off x="628650" y="2457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8. James Brown Pharma. Relámpago. Antiparasitario interno.</a:t>
            </a:r>
          </a:p>
        </p:txBody>
      </p:sp>
      <p:sp>
        <p:nvSpPr>
          <p:cNvPr id="7" name="text-137">
            <a:extLst xmlns:a="http://schemas.openxmlformats.org/drawingml/2006/main">
              <a:ext uri="{FF2B5EF4-FFF2-40B4-BE49-F238E27FC236}">
                <a16:creationId xmlns:a16="http://schemas.microsoft.com/office/drawing/2014/main" id="{9E4DEC96-8B4F-4478-A67A-392002C6D7E7}"/>
              </a:ext>
            </a:extLst>
          </p:cNvPr>
          <p:cNvSpPr>
            <a:spLocks xmlns:a="http://schemas.openxmlformats.org/drawingml/2006/main" noGrp="1"/>
          </p:cNvSpPr>
          <p:nvPr/>
        </p:nvSpPr>
        <p:spPr>
          <a:xfrm xmlns:a="http://schemas.openxmlformats.org/drawingml/2006/main">
            <a:off x="628650" y="2838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42f728d02a634990"/>
              </a:rPr>
              <a:t>https://jamesbrownpharma.com/producto/relampago/</a:t>
            </a:r>
          </a:p>
        </p:txBody>
      </p:sp>
      <p:sp>
        <p:nvSpPr>
          <p:cNvPr id="8" name="text-138">
            <a:extLst xmlns:a="http://schemas.openxmlformats.org/drawingml/2006/main">
              <a:ext uri="{FF2B5EF4-FFF2-40B4-BE49-F238E27FC236}">
                <a16:creationId xmlns:a16="http://schemas.microsoft.com/office/drawing/2014/main" id="{880FA0A0-8BEB-4551-9F80-8C507760F741}"/>
              </a:ext>
            </a:extLst>
          </p:cNvPr>
          <p:cNvSpPr>
            <a:spLocks xmlns:a="http://schemas.openxmlformats.org/drawingml/2006/main" noGrp="1"/>
          </p:cNvSpPr>
          <p:nvPr/>
        </p:nvSpPr>
        <p:spPr>
          <a:xfrm xmlns:a="http://schemas.openxmlformats.org/drawingml/2006/main">
            <a:off x="628650" y="3219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9. ESCCAP. Control de vermes en perros y gatos. Guía 01. 6.ª ed.; 2021.</a:t>
            </a:r>
          </a:p>
        </p:txBody>
      </p:sp>
      <p:sp>
        <p:nvSpPr>
          <p:cNvPr id="9" name="text-139">
            <a:extLst xmlns:a="http://schemas.openxmlformats.org/drawingml/2006/main">
              <a:ext uri="{FF2B5EF4-FFF2-40B4-BE49-F238E27FC236}">
                <a16:creationId xmlns:a16="http://schemas.microsoft.com/office/drawing/2014/main" id="{5C345932-0F2A-478A-AE0C-10A2F3596E16}"/>
              </a:ext>
            </a:extLst>
          </p:cNvPr>
          <p:cNvSpPr>
            <a:spLocks xmlns:a="http://schemas.openxmlformats.org/drawingml/2006/main" noGrp="1"/>
          </p:cNvSpPr>
          <p:nvPr/>
        </p:nvSpPr>
        <p:spPr>
          <a:xfrm xmlns:a="http://schemas.openxmlformats.org/drawingml/2006/main">
            <a:off x="628650" y="3600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62129925dcef4596"/>
              </a:rPr>
              <a:t>https://www.esccap.es/wp-content/uploads/2022/03/ESCCAP-1-6ed.pdf</a:t>
            </a:r>
          </a:p>
        </p:txBody>
      </p:sp>
      <p:sp>
        <p:nvSpPr>
          <p:cNvPr id="10" name="text-140">
            <a:extLst xmlns:a="http://schemas.openxmlformats.org/drawingml/2006/main">
              <a:ext uri="{FF2B5EF4-FFF2-40B4-BE49-F238E27FC236}">
                <a16:creationId xmlns:a16="http://schemas.microsoft.com/office/drawing/2014/main" id="{0DA64513-B43C-4D2A-B6CF-1F1919621A05}"/>
              </a:ext>
            </a:extLst>
          </p:cNvPr>
          <p:cNvSpPr>
            <a:spLocks xmlns:a="http://schemas.openxmlformats.org/drawingml/2006/main" noGrp="1"/>
          </p:cNvSpPr>
          <p:nvPr/>
        </p:nvSpPr>
        <p:spPr>
          <a:xfrm xmlns:a="http://schemas.openxmlformats.org/drawingml/2006/main">
            <a:off x="628650" y="3981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10. Favetex. Apetomax. Estimulante de apetito. Ficha técnica.</a:t>
            </a:r>
          </a:p>
        </p:txBody>
      </p:sp>
      <p:sp>
        <p:nvSpPr>
          <p:cNvPr id="11" name="text-141">
            <a:extLst xmlns:a="http://schemas.openxmlformats.org/drawingml/2006/main">
              <a:ext uri="{FF2B5EF4-FFF2-40B4-BE49-F238E27FC236}">
                <a16:creationId xmlns:a16="http://schemas.microsoft.com/office/drawing/2014/main" id="{3AE29115-81EC-4931-8412-AD06AE9495AC}"/>
              </a:ext>
            </a:extLst>
          </p:cNvPr>
          <p:cNvSpPr>
            <a:spLocks xmlns:a="http://schemas.openxmlformats.org/drawingml/2006/main" noGrp="1"/>
          </p:cNvSpPr>
          <p:nvPr/>
        </p:nvSpPr>
        <p:spPr>
          <a:xfrm xmlns:a="http://schemas.openxmlformats.org/drawingml/2006/main">
            <a:off x="628650" y="4362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cc039b7128f440e3"/>
              </a:rPr>
              <a:t>https://favetex.com/wp-content/uploads/2026/04/Apetomax.pdf</a:t>
            </a:r>
          </a:p>
        </p:txBody>
      </p:sp>
      <p:sp>
        <p:nvSpPr>
          <p:cNvPr id="12" name="text-142">
            <a:extLst xmlns:a="http://schemas.openxmlformats.org/drawingml/2006/main">
              <a:ext uri="{FF2B5EF4-FFF2-40B4-BE49-F238E27FC236}">
                <a16:creationId xmlns:a16="http://schemas.microsoft.com/office/drawing/2014/main" id="{B106113A-2393-48D4-BC54-677469E5439D}"/>
              </a:ext>
            </a:extLst>
          </p:cNvPr>
          <p:cNvSpPr>
            <a:spLocks xmlns:a="http://schemas.openxmlformats.org/drawingml/2006/main" noGrp="1"/>
          </p:cNvSpPr>
          <p:nvPr/>
        </p:nvSpPr>
        <p:spPr>
          <a:xfrm xmlns:a="http://schemas.openxmlformats.org/drawingml/2006/main">
            <a:off x="628650" y="4743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11. Ekstrand C, et al. Adverse events of trimetroprim-sulphonamide. Vet Res Commun. 2026;50:224.</a:t>
            </a:r>
          </a:p>
        </p:txBody>
      </p:sp>
      <p:sp>
        <p:nvSpPr>
          <p:cNvPr id="13" name="text-143">
            <a:extLst xmlns:a="http://schemas.openxmlformats.org/drawingml/2006/main">
              <a:ext uri="{FF2B5EF4-FFF2-40B4-BE49-F238E27FC236}">
                <a16:creationId xmlns:a16="http://schemas.microsoft.com/office/drawing/2014/main" id="{A73FAEB7-6EF0-45B7-B185-3162C2955DD3}"/>
              </a:ext>
            </a:extLst>
          </p:cNvPr>
          <p:cNvSpPr>
            <a:spLocks xmlns:a="http://schemas.openxmlformats.org/drawingml/2006/main" noGrp="1"/>
          </p:cNvSpPr>
          <p:nvPr/>
        </p:nvSpPr>
        <p:spPr>
          <a:xfrm xmlns:a="http://schemas.openxmlformats.org/drawingml/2006/main">
            <a:off x="628650" y="5124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d80029729a0d41ed"/>
              </a:rPr>
              <a:t>https://doi.org/10.1007/s11259-026-11143-1</a:t>
            </a:r>
          </a:p>
        </p:txBody>
      </p:sp>
      <p:sp>
        <p:nvSpPr>
          <p:cNvPr id="14" name="text-144">
            <a:extLst xmlns:a="http://schemas.openxmlformats.org/drawingml/2006/main">
              <a:ext uri="{FF2B5EF4-FFF2-40B4-BE49-F238E27FC236}">
                <a16:creationId xmlns:a16="http://schemas.microsoft.com/office/drawing/2014/main" id="{3D435CA1-C080-4AE5-BA65-438E1CC23A5B}"/>
              </a:ext>
            </a:extLst>
          </p:cNvPr>
          <p:cNvSpPr>
            <a:spLocks xmlns:a="http://schemas.openxmlformats.org/drawingml/2006/main" noGrp="1"/>
          </p:cNvSpPr>
          <p:nvPr/>
        </p:nvSpPr>
        <p:spPr>
          <a:xfrm xmlns:a="http://schemas.openxmlformats.org/drawingml/2006/main">
            <a:off x="628650" y="5505450"/>
            <a:ext cx="1093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253A"/>
                </a:solidFill>
                <a:latin typeface="Times New Roman"/>
                <a:ea typeface="Times New Roman"/>
                <a:cs typeface="Times New Roman"/>
              </a:defRPr>
            </a:defPPr>
            <a:lvl1pPr algn="l">
              <a:defRPr sz="1725" b="0">
                <a:solidFill>
                  <a:srgbClr val="15253A"/>
                </a:solidFill>
                <a:latin typeface="Times New Roman"/>
                <a:ea typeface="Times New Roman"/>
                <a:cs typeface="Times New Roman"/>
              </a:defRPr>
            </a:lvl1pPr>
            <a:lvl2pPr algn="l">
              <a:defRPr sz="1725" b="0">
                <a:solidFill>
                  <a:srgbClr val="15253A"/>
                </a:solidFill>
                <a:latin typeface="Times New Roman"/>
                <a:ea typeface="Times New Roman"/>
                <a:cs typeface="Times New Roman"/>
              </a:defRPr>
            </a:lvl2pPr>
            <a:lvl3pPr algn="l">
              <a:defRPr sz="1725" b="0">
                <a:solidFill>
                  <a:srgbClr val="15253A"/>
                </a:solidFill>
                <a:latin typeface="Times New Roman"/>
                <a:ea typeface="Times New Roman"/>
                <a:cs typeface="Times New Roman"/>
              </a:defRPr>
            </a:lvl3pPr>
            <a:lvl4pPr algn="l">
              <a:defRPr sz="1725" b="0">
                <a:solidFill>
                  <a:srgbClr val="15253A"/>
                </a:solidFill>
                <a:latin typeface="Times New Roman"/>
                <a:ea typeface="Times New Roman"/>
                <a:cs typeface="Times New Roman"/>
              </a:defRPr>
            </a:lvl4pPr>
            <a:lvl5pPr algn="l">
              <a:defRPr sz="1725" b="0">
                <a:solidFill>
                  <a:srgbClr val="15253A"/>
                </a:solidFill>
                <a:latin typeface="Times New Roman"/>
                <a:ea typeface="Times New Roman"/>
                <a:cs typeface="Times New Roman"/>
              </a:defRPr>
            </a:lvl5pPr>
            <a:lvl6pPr algn="l">
              <a:defRPr sz="1725" b="0">
                <a:solidFill>
                  <a:srgbClr val="15253A"/>
                </a:solidFill>
                <a:latin typeface="Times New Roman"/>
                <a:ea typeface="Times New Roman"/>
                <a:cs typeface="Times New Roman"/>
              </a:defRPr>
            </a:lvl6pPr>
            <a:lvl7pPr algn="l">
              <a:defRPr sz="1725" b="0">
                <a:solidFill>
                  <a:srgbClr val="15253A"/>
                </a:solidFill>
                <a:latin typeface="Times New Roman"/>
                <a:ea typeface="Times New Roman"/>
                <a:cs typeface="Times New Roman"/>
              </a:defRPr>
            </a:lvl7pPr>
            <a:lvl8pPr algn="l">
              <a:defRPr sz="1725" b="0">
                <a:solidFill>
                  <a:srgbClr val="15253A"/>
                </a:solidFill>
                <a:latin typeface="Times New Roman"/>
                <a:ea typeface="Times New Roman"/>
                <a:cs typeface="Times New Roman"/>
              </a:defRPr>
            </a:lvl8pPr>
            <a:lvl9pPr algn="l">
              <a:defRPr sz="1725" b="0">
                <a:solidFill>
                  <a:srgbClr val="15253A"/>
                </a:solidFill>
                <a:latin typeface="Times New Roman"/>
                <a:ea typeface="Times New Roman"/>
                <a:cs typeface="Times New Roman"/>
              </a:defRPr>
            </a:lvl9pPr>
          </a:lstStyle>
          <a:p xmlns:a="http://schemas.openxmlformats.org/drawingml/2006/main">
            <a:pPr algn="l">
              <a:defRPr sz="1725" b="0">
                <a:solidFill>
                  <a:srgbClr val="15253A"/>
                </a:solidFill>
                <a:latin typeface="Times New Roman"/>
                <a:ea typeface="Times New Roman"/>
                <a:cs typeface="Times New Roman"/>
              </a:defRPr>
            </a:pPr>
            <a:r>
              <a:rPr sz="1725" b="0">
                <a:solidFill>
                  <a:srgbClr val="15253A"/>
                </a:solidFill>
                <a:latin typeface="Times New Roman"/>
                <a:ea typeface="Times New Roman"/>
                <a:cs typeface="Times New Roman"/>
              </a:rPr>
              <a:t>12. Pilla R, et al. Metronidazole effects on canine microbiome. J Vet Intern Med. 2020;34:1853–1866.</a:t>
            </a:r>
          </a:p>
        </p:txBody>
      </p:sp>
      <p:sp>
        <p:nvSpPr>
          <p:cNvPr id="15" name="text-145">
            <a:extLst xmlns:a="http://schemas.openxmlformats.org/drawingml/2006/main">
              <a:ext uri="{FF2B5EF4-FFF2-40B4-BE49-F238E27FC236}">
                <a16:creationId xmlns:a16="http://schemas.microsoft.com/office/drawing/2014/main" id="{63C2CF13-B029-4BC4-B13F-59AF058AF2E8}"/>
              </a:ext>
            </a:extLst>
          </p:cNvPr>
          <p:cNvSpPr>
            <a:spLocks xmlns:a="http://schemas.openxmlformats.org/drawingml/2006/main" noGrp="1"/>
          </p:cNvSpPr>
          <p:nvPr/>
        </p:nvSpPr>
        <p:spPr>
          <a:xfrm xmlns:a="http://schemas.openxmlformats.org/drawingml/2006/main">
            <a:off x="628650" y="588645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226C9C"/>
                </a:solidFill>
                <a:latin typeface="Times New Roman"/>
                <a:ea typeface="Times New Roman"/>
                <a:cs typeface="Times New Roman"/>
              </a:defRPr>
            </a:defPPr>
            <a:lvl1pPr algn="l">
              <a:defRPr sz="1500" b="0">
                <a:solidFill>
                  <a:srgbClr val="226C9C"/>
                </a:solidFill>
                <a:latin typeface="Times New Roman"/>
                <a:ea typeface="Times New Roman"/>
                <a:cs typeface="Times New Roman"/>
              </a:defRPr>
            </a:lvl1pPr>
            <a:lvl2pPr algn="l">
              <a:defRPr sz="1500" b="0">
                <a:solidFill>
                  <a:srgbClr val="226C9C"/>
                </a:solidFill>
                <a:latin typeface="Times New Roman"/>
                <a:ea typeface="Times New Roman"/>
                <a:cs typeface="Times New Roman"/>
              </a:defRPr>
            </a:lvl2pPr>
            <a:lvl3pPr algn="l">
              <a:defRPr sz="1500" b="0">
                <a:solidFill>
                  <a:srgbClr val="226C9C"/>
                </a:solidFill>
                <a:latin typeface="Times New Roman"/>
                <a:ea typeface="Times New Roman"/>
                <a:cs typeface="Times New Roman"/>
              </a:defRPr>
            </a:lvl3pPr>
            <a:lvl4pPr algn="l">
              <a:defRPr sz="1500" b="0">
                <a:solidFill>
                  <a:srgbClr val="226C9C"/>
                </a:solidFill>
                <a:latin typeface="Times New Roman"/>
                <a:ea typeface="Times New Roman"/>
                <a:cs typeface="Times New Roman"/>
              </a:defRPr>
            </a:lvl4pPr>
            <a:lvl5pPr algn="l">
              <a:defRPr sz="1500" b="0">
                <a:solidFill>
                  <a:srgbClr val="226C9C"/>
                </a:solidFill>
                <a:latin typeface="Times New Roman"/>
                <a:ea typeface="Times New Roman"/>
                <a:cs typeface="Times New Roman"/>
              </a:defRPr>
            </a:lvl5pPr>
            <a:lvl6pPr algn="l">
              <a:defRPr sz="1500" b="0">
                <a:solidFill>
                  <a:srgbClr val="226C9C"/>
                </a:solidFill>
                <a:latin typeface="Times New Roman"/>
                <a:ea typeface="Times New Roman"/>
                <a:cs typeface="Times New Roman"/>
              </a:defRPr>
            </a:lvl6pPr>
            <a:lvl7pPr algn="l">
              <a:defRPr sz="1500" b="0">
                <a:solidFill>
                  <a:srgbClr val="226C9C"/>
                </a:solidFill>
                <a:latin typeface="Times New Roman"/>
                <a:ea typeface="Times New Roman"/>
                <a:cs typeface="Times New Roman"/>
              </a:defRPr>
            </a:lvl7pPr>
            <a:lvl8pPr algn="l">
              <a:defRPr sz="1500" b="0">
                <a:solidFill>
                  <a:srgbClr val="226C9C"/>
                </a:solidFill>
                <a:latin typeface="Times New Roman"/>
                <a:ea typeface="Times New Roman"/>
                <a:cs typeface="Times New Roman"/>
              </a:defRPr>
            </a:lvl8pPr>
            <a:lvl9pPr algn="l">
              <a:defRPr sz="1500" b="0">
                <a:solidFill>
                  <a:srgbClr val="226C9C"/>
                </a:solidFill>
                <a:latin typeface="Times New Roman"/>
                <a:ea typeface="Times New Roman"/>
                <a:cs typeface="Times New Roman"/>
              </a:defRPr>
            </a:lvl9pPr>
          </a:lstStyle>
          <a:p xmlns:a="http://schemas.openxmlformats.org/drawingml/2006/main">
            <a:pPr algn="l">
              <a:defRPr sz="1500" b="0">
                <a:solidFill>
                  <a:srgbClr val="226C9C"/>
                </a:solidFill>
                <a:latin typeface="Times New Roman"/>
                <a:ea typeface="Times New Roman"/>
                <a:cs typeface="Times New Roman"/>
              </a:defRPr>
            </a:pPr>
            <a:r>
              <a:rPr>
                <a:hlinkClick xmlns:r="http://schemas.openxmlformats.org/officeDocument/2006/relationships" r:id="R4bf076a6129c4d08"/>
              </a:rPr>
              <a:t>https://doi.org/10.1111/jvim.15871</a:t>
            </a:r>
          </a:p>
        </p:txBody>
      </p:sp>
    </p:spTree>
    <p:extLst>
      <p:ext uri="{BB962C8B-B14F-4D97-AF65-F5344CB8AC3E}">
        <p14:creationId xmlns:p14="http://schemas.microsoft.com/office/powerpoint/2010/main" val="157712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2026-10-22T04:28:45.9120000Z</dcterms:created>
  <dcterms:modified xsi:type="dcterms:W3CDTF">2026-10-22T04:28:45.9120000Z</dcterms:modified>
</coreProperties>
</file>